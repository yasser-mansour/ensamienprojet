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P1 — MISSION COMMANDER</a:t>
            </a:r>
          </a:p>
          <a:p/>
          <a:p>
            <a:r>
              <a:rPr b="1"/>
              <a:t>TIME: </a:t>
            </a:r>
            <a:r>
              <a:t>Before class (0 min)</a:t>
            </a:r>
          </a:p>
          <a:p/>
          <a:p>
            <a:r>
              <a:rPr b="1"/>
              <a:t>OBJECTIVE: </a:t>
            </a:r>
            <a:r>
              <a:t>Set the atmosphere while students enter.</a:t>
            </a:r>
          </a:p>
          <a:p/>
          <a:p>
            <a:r>
              <a:rPr b="1"/>
              <a:t>ACTION: </a:t>
            </a:r>
            <a:r>
              <a:t>Keep this screen up while students arrive. P2–P8: stand next to your zone sign (ALPHA–HOTEL). P1: hold the ball. Check projector, sound, phone timer; keep the PDF backup open in another window.</a:t>
            </a:r>
          </a:p>
          <a:p/>
          <a:p>
            <a:r>
              <a:rPr b="1"/>
              <a:t>TRANSITION: </a:t>
            </a:r>
            <a:r>
              <a:t>When most students are seated → next slide (SYSTEM START).</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P1 — MISSION COMMANDER</a:t>
            </a:r>
          </a:p>
          <a:p/>
          <a:p>
            <a:r>
              <a:rPr b="1"/>
              <a:t>TIME: </a:t>
            </a:r>
            <a:r>
              <a:t>1 min</a:t>
            </a:r>
          </a:p>
          <a:p/>
          <a:p>
            <a:r>
              <a:rPr b="1"/>
              <a:t>OBJECTIVE: </a:t>
            </a:r>
            <a:r>
              <a:t>Welcome the class and call one volunteer.</a:t>
            </a:r>
          </a:p>
          <a:p/>
          <a:p>
            <a:r>
              <a:rPr b="1"/>
              <a:t>SAY: </a:t>
            </a:r>
            <a:r>
              <a:t>Good morning everyone.</a:t>
            </a:r>
          </a:p>
          <a:p>
            <a:r>
              <a:t>Before we start, I need one volunteer.</a:t>
            </a:r>
          </a:p>
          <a:p>
            <a:r>
              <a:t>(Optional: count '3, 2, 1' aloud — do not rely on an animation.)</a:t>
            </a:r>
          </a:p>
          <a:p/>
          <a:p>
            <a:r>
              <a:rPr b="1"/>
              <a:t>ACTION: </a:t>
            </a:r>
            <a:r>
              <a:t>Wait until a volunteer is standing next to you. Hold the ball behind your back for now.</a:t>
            </a:r>
          </a:p>
          <a:p/>
          <a:p>
            <a:r>
              <a:rPr b="1"/>
              <a:t>TRANSITION: </a:t>
            </a:r>
            <a:r>
              <a:t>Click when the volunteer is beside you → THE BALL QUESTION.</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P1 — MISSION COMMANDER</a:t>
            </a:r>
          </a:p>
          <a:p/>
          <a:p>
            <a:r>
              <a:rPr b="1"/>
              <a:t>TIME: </a:t>
            </a:r>
            <a:r>
              <a:t>2 min</a:t>
            </a:r>
          </a:p>
          <a:p/>
          <a:p>
            <a:r>
              <a:rPr b="1"/>
              <a:t>OBJECTIVE: </a:t>
            </a:r>
            <a:r>
              <a:t>Make students commit to an answer about energy BEFORE any teaching (curiosity gap).</a:t>
            </a:r>
          </a:p>
          <a:p/>
          <a:p>
            <a:r>
              <a:rPr b="1"/>
              <a:t>SAY: </a:t>
            </a:r>
            <a:r>
              <a:t>[Show the ball.] Is this ball moving?</a:t>
            </a:r>
          </a:p>
          <a:p>
            <a:r>
              <a:t>[Students: No.]</a:t>
            </a:r>
          </a:p>
          <a:p>
            <a:r>
              <a:t>Does it have energy? [Allow 2–3 answers. Do not correct.]</a:t>
            </a:r>
          </a:p>
          <a:p>
            <a:r>
              <a:t>[Raise the ball above your head.] What about now? [Allow answers.]</a:t>
            </a:r>
          </a:p>
          <a:p>
            <a:r>
              <a:t>[Let the volunteer drop or roll it safely.] And now? [Allow answers.]</a:t>
            </a:r>
          </a:p>
          <a:p>
            <a:r>
              <a:t>Interesting. Keep your answers in mind. By the end of today's session, you'll be able to explain exactly what is happening.</a:t>
            </a:r>
          </a:p>
          <a:p/>
          <a:p>
            <a:r>
              <a:rPr b="1"/>
              <a:t>ASK: </a:t>
            </a:r>
            <a:r>
              <a:t>Is it moving? Does it have energy? What about now? And now?</a:t>
            </a:r>
          </a:p>
          <a:p/>
          <a:p>
            <a:r>
              <a:rPr b="1"/>
              <a:t>EXPECTED ANSWER: </a:t>
            </a:r>
            <a:r>
              <a:t>Mixed answers (no / yes / maybe). All are fine — do NOT confirm or correct yet.</a:t>
            </a:r>
          </a:p>
          <a:p/>
          <a:p>
            <a:r>
              <a:rPr b="1"/>
              <a:t>ACTION: </a:t>
            </a:r>
            <a:r>
              <a:t>Use a real ball. Keep this slide on screen for the whole demonstration.</a:t>
            </a:r>
          </a:p>
          <a:p/>
          <a:p>
            <a:r>
              <a:rPr b="1"/>
              <a:t>TRANSITION: </a:t>
            </a:r>
            <a:r>
              <a:t>Click → reveal ENERGY LAB.</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P1 — MISSION COMMANDER</a:t>
            </a:r>
          </a:p>
          <a:p/>
          <a:p>
            <a:r>
              <a:rPr b="1"/>
              <a:t>TIME: </a:t>
            </a:r>
            <a:r>
              <a:t>1 min</a:t>
            </a:r>
          </a:p>
          <a:p/>
          <a:p>
            <a:r>
              <a:rPr b="1"/>
              <a:t>OBJECTIVE: </a:t>
            </a:r>
            <a:r>
              <a:t>Frame the whole lesson as one engineering mission.</a:t>
            </a:r>
          </a:p>
          <a:p/>
          <a:p>
            <a:r>
              <a:rPr b="1"/>
              <a:t>SAY: </a:t>
            </a:r>
            <a:r>
              <a:t>This is ENERGY LAB. Crash Test number five.</a:t>
            </a:r>
          </a:p>
          <a:p>
            <a:r>
              <a:t>For the next 100 minutes, you're not simply students. You're engineers.</a:t>
            </a:r>
          </a:p>
          <a:p>
            <a:r>
              <a:t>Your mission has four parts: understand energy… investigate a crash… design a safer seatbelt… and pass the final test.</a:t>
            </a:r>
          </a:p>
          <a:p/>
          <a:p>
            <a:r>
              <a:rPr b="1"/>
              <a:t>ACTION: </a:t>
            </a:r>
            <a:r>
              <a:t>Read the four lines slowly, pointing at each. One click = the whole screen (no build animations).</a:t>
            </a:r>
          </a:p>
          <a:p/>
          <a:p>
            <a:r>
              <a:rPr b="1"/>
              <a:t>TRANSITION: </a:t>
            </a:r>
            <a:r>
              <a:t>'But engineers never work alone. So — who are you?' → TEAMS.</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P1 — MISSION COMMANDER</a:t>
            </a:r>
          </a:p>
          <a:p/>
          <a:p>
            <a:r>
              <a:rPr b="1"/>
              <a:t>TIME: </a:t>
            </a:r>
            <a:r>
              <a:t>1 min</a:t>
            </a:r>
          </a:p>
          <a:p/>
          <a:p>
            <a:r>
              <a:rPr b="1"/>
              <a:t>OBJECTIVE: </a:t>
            </a:r>
            <a:r>
              <a:t>Explain teams and Energy Points (EP) in 20 seconds.</a:t>
            </a:r>
          </a:p>
          <a:p/>
          <a:p>
            <a:r>
              <a:rPr b="1"/>
              <a:t>SAY: </a:t>
            </a:r>
            <a:r>
              <a:t>Look at the sign in your zone. You belong to one of eight engineering companies — Alpha, Bravo, Charlie, Delta, Echo, Foxtrot, Golf, Hotel.</a:t>
            </a:r>
          </a:p>
          <a:p>
            <a:r>
              <a:t>Each company has a mentor — one of us — standing in your zone.</a:t>
            </a:r>
          </a:p>
          <a:p>
            <a:r>
              <a:t>You earn Energy Points: a correct team answer is plus 100 EP. A major challenge is plus 300. The final boss counts double.</a:t>
            </a:r>
          </a:p>
          <a:p>
            <a:r>
              <a:t>Your mentor keeps your score. The top company is announced at the end.</a:t>
            </a:r>
          </a:p>
          <a:p/>
          <a:p>
            <a:r>
              <a:rPr b="1"/>
              <a:t>ACTION: </a:t>
            </a:r>
            <a:r>
              <a:t>Mentors (P1–P8): raise a hand when your company is named. Keep it fast — 60 seconds max.</a:t>
            </a:r>
          </a:p>
          <a:p/>
          <a:p>
            <a:r>
              <a:rPr b="1"/>
              <a:t>TRANSITION: </a:t>
            </a:r>
            <a:r>
              <a:t>P1: 'Your first specialist is our Energy Engineer.' → P2 takes over.</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P2 — ENERGY ENGINEER</a:t>
            </a:r>
          </a:p>
          <a:p/>
          <a:p>
            <a:r>
              <a:rPr b="1"/>
              <a:t>TIME: </a:t>
            </a:r>
            <a:r>
              <a:t>1.5 min</a:t>
            </a:r>
          </a:p>
          <a:p/>
          <a:p>
            <a:r>
              <a:rPr b="1"/>
              <a:t>OBJECTIVE: </a:t>
            </a:r>
            <a:r>
              <a:t>Activate prior knowledge; open the unit with BOTH Get Ready questions.</a:t>
            </a:r>
          </a:p>
          <a:p/>
          <a:p>
            <a:r>
              <a:rPr b="1"/>
              <a:t>SAY: </a:t>
            </a:r>
            <a:r>
              <a:t>Before we read anything: talk to your neighbour for thirty seconds. What types of energy are there?</a:t>
            </a:r>
          </a:p>
          <a:p>
            <a:r>
              <a:t>[After 30 s, take 3–4 answers.] Solar, wind, electrical, chemical, thermal — all good.</a:t>
            </a:r>
          </a:p>
          <a:p>
            <a:r>
              <a:t>In this unit, two types matter most. You may know them, but maybe never named them: potential energy and kinetic energy.</a:t>
            </a:r>
          </a:p>
          <a:p>
            <a:r>
              <a:t>Hold onto the second question too — how do engineers make cars safer? We're not answering it yet. You'll get a real, evidence-based answer in Act 3, when we investigate an actual crash test.</a:t>
            </a:r>
          </a:p>
          <a:p/>
          <a:p>
            <a:r>
              <a:rPr b="1"/>
              <a:t>ASK: </a:t>
            </a:r>
            <a:r>
              <a:t>Q1: What types of energy are there? Q2 (park it for now): How do engineers make cars safer?</a:t>
            </a:r>
          </a:p>
          <a:p/>
          <a:p>
            <a:r>
              <a:rPr b="1"/>
              <a:t>EXPECTED ANSWER: </a:t>
            </a:r>
            <a:r>
              <a:t>Q1: any sensible answer (solar, wind, electrical, chemical, thermal, nuclear…) — the textbook has no fixed answer key. Q2: no answer expected yet — it's answered properly by the seatbelt investigation in Act 3.</a:t>
            </a:r>
          </a:p>
          <a:p/>
          <a:p>
            <a:r>
              <a:rPr b="1"/>
              <a:t>TRANSITION: </a:t>
            </a:r>
            <a:r>
              <a:t>'Two types. Let's meet the first one: potential energy.'</a:t>
            </a:r>
          </a:p>
          <a:p/>
          <a:p>
            <a:r>
              <a:rPr b="1"/>
              <a:t>SOURCE: </a:t>
            </a:r>
            <a:r>
              <a:t>Textbook Get Ready! Task 1, both questions. (The example energy types for Q1 are general knowledge.)</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P2 — ENERGY ENGINEER</a:t>
            </a:r>
          </a:p>
          <a:p/>
          <a:p>
            <a:r>
              <a:rPr b="1"/>
              <a:t>TIME: </a:t>
            </a:r>
            <a:r>
              <a:t>1.5 min</a:t>
            </a:r>
          </a:p>
          <a:p/>
          <a:p>
            <a:r>
              <a:rPr b="1"/>
              <a:t>OBJECTIVE: </a:t>
            </a:r>
            <a:r>
              <a:t>Define potential energy: stored energy of a still object (position).</a:t>
            </a:r>
          </a:p>
          <a:p/>
          <a:p>
            <a:r>
              <a:rPr b="1"/>
              <a:t>SAY: </a:t>
            </a:r>
            <a:r>
              <a:t>Potential energy is stored energy. Look at the ball on the table: it isn't moving, but because of its position it is 'ready' to move.</a:t>
            </a:r>
          </a:p>
          <a:p>
            <a:r>
              <a:t>The textbook says it simply: a still object has potential energy.</a:t>
            </a:r>
          </a:p>
          <a:p>
            <a:r>
              <a:t>Keywords to remember: STORED and POSITION.</a:t>
            </a:r>
          </a:p>
          <a:p/>
          <a:p>
            <a:r>
              <a:rPr b="1"/>
              <a:t>ASK: </a:t>
            </a:r>
            <a:r>
              <a:t>Is the ball moving? So which textbook word fits: still or moving?</a:t>
            </a:r>
          </a:p>
          <a:p/>
          <a:p>
            <a:r>
              <a:rPr b="1"/>
              <a:t>EXPECTED ANSWER: </a:t>
            </a:r>
            <a:r>
              <a:t>'Still' → potential energy.</a:t>
            </a:r>
          </a:p>
          <a:p/>
          <a:p>
            <a:r>
              <a:rPr b="1"/>
              <a:t>ACTION: </a:t>
            </a:r>
            <a:r>
              <a:t>Hold the real ball still on the table / above the desk while you explain.</a:t>
            </a:r>
          </a:p>
          <a:p/>
          <a:p>
            <a:r>
              <a:rPr b="1"/>
              <a:t>TRANSITION: </a:t>
            </a:r>
            <a:r>
              <a:t>'And when the ball moves? Kinetic energy.' → next.</a:t>
            </a:r>
          </a:p>
          <a:p/>
          <a:p>
            <a:r>
              <a:rPr b="1"/>
              <a:t>SOURCE: </a:t>
            </a:r>
            <a:r>
              <a:t>Sentence quoted from Textbook Task 3 (item 2). 'Stored / position' and 'higher = more stored energy' are teaching support, not textbook wording.</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P2 — ENERGY ENGINEER</a:t>
            </a:r>
          </a:p>
          <a:p/>
          <a:p>
            <a:r>
              <a:rPr b="1"/>
              <a:t>TIME: </a:t>
            </a:r>
            <a:r>
              <a:t>1.5 min</a:t>
            </a:r>
          </a:p>
          <a:p/>
          <a:p>
            <a:r>
              <a:rPr b="1"/>
              <a:t>OBJECTIVE: </a:t>
            </a:r>
            <a:r>
              <a:t>Define kinetic energy: the energy of motion.</a:t>
            </a:r>
          </a:p>
          <a:p/>
          <a:p>
            <a:r>
              <a:rPr b="1"/>
              <a:t>SAY: </a:t>
            </a:r>
            <a:r>
              <a:t>Kinetic energy is the energy of motion. A ball rolling, a car driving, a student running — all of them have kinetic energy.</a:t>
            </a:r>
          </a:p>
          <a:p>
            <a:r>
              <a:t>Textbook: a moving object has kinetic energy. Keywords: MOTION and MOVING.</a:t>
            </a:r>
          </a:p>
          <a:p/>
          <a:p>
            <a:r>
              <a:rPr b="1"/>
              <a:t>ASK: </a:t>
            </a:r>
            <a:r>
              <a:t>Give me one example of something with kinetic energy in this room.</a:t>
            </a:r>
          </a:p>
          <a:p/>
          <a:p>
            <a:r>
              <a:rPr b="1"/>
              <a:t>EXPECTED ANSWER: </a:t>
            </a:r>
            <a:r>
              <a:t>Anything moving: a hand, a falling pen, a person walking…</a:t>
            </a:r>
          </a:p>
          <a:p/>
          <a:p>
            <a:r>
              <a:rPr b="1"/>
              <a:t>ACTION: </a:t>
            </a:r>
            <a:r>
              <a:t>Roll the ball across the desk to show motion.</a:t>
            </a:r>
          </a:p>
          <a:p/>
          <a:p>
            <a:r>
              <a:rPr b="1"/>
              <a:t>TRANSITION: </a:t>
            </a:r>
            <a:r>
              <a:t>'Now let's put them side by side.' → comparison.</a:t>
            </a:r>
          </a:p>
          <a:p/>
          <a:p>
            <a:r>
              <a:rPr b="1"/>
              <a:t>SOURCE: </a:t>
            </a:r>
            <a:r>
              <a:t>Sentence quoted from Textbook Task 3 (item 2). 'Motion' keyword = teaching support.</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P2 — ENERGY ENGINEER</a:t>
            </a:r>
          </a:p>
          <a:p/>
          <a:p>
            <a:r>
              <a:rPr b="1"/>
              <a:t>TIME: </a:t>
            </a:r>
            <a:r>
              <a:t>2.5 min</a:t>
            </a:r>
          </a:p>
          <a:p/>
          <a:p>
            <a:r>
              <a:rPr b="1"/>
              <a:t>OBJECTIVE: </a:t>
            </a:r>
            <a:r>
              <a:t>Contrast the two types and plant the key idea: potential energy can become kinetic energy.</a:t>
            </a:r>
          </a:p>
          <a:p/>
          <a:p>
            <a:r>
              <a:rPr b="1"/>
              <a:t>SAY: </a:t>
            </a:r>
            <a:r>
              <a:t>Two types. Potential: stored, still, position. Kinetic: motion.</a:t>
            </a:r>
          </a:p>
          <a:p>
            <a:r>
              <a:t>And here is the key idea for today: energy can change form. A still ball on the shelf has potential energy. Release it — the potential energy becomes kinetic energy.</a:t>
            </a:r>
          </a:p>
          <a:p>
            <a:r>
              <a:t>Remember this sentence. In a few minutes you'll find it in a crash report.</a:t>
            </a:r>
          </a:p>
          <a:p/>
          <a:p>
            <a:r>
              <a:rPr b="1"/>
              <a:t>ASK: </a:t>
            </a:r>
            <a:r>
              <a:t>If I let go of the ball, what happens to its energy?</a:t>
            </a:r>
          </a:p>
          <a:p/>
          <a:p>
            <a:r>
              <a:rPr b="1"/>
              <a:t>EXPECTED ANSWER: </a:t>
            </a:r>
            <a:r>
              <a:t>Potential energy becomes kinetic energy.</a:t>
            </a:r>
          </a:p>
          <a:p/>
          <a:p>
            <a:r>
              <a:rPr b="1"/>
              <a:t>ACTION: </a:t>
            </a:r>
            <a:r>
              <a:t>Lift the real ball to shoulder height and drop it into the volunteer's hands.</a:t>
            </a:r>
          </a:p>
          <a:p/>
          <a:p>
            <a:r>
              <a:rPr b="1"/>
              <a:t>TRANSITION: </a:t>
            </a:r>
            <a:r>
              <a:t>'Enough talking — let's test your eyes. Game one: Energy Scan.'</a:t>
            </a:r>
          </a:p>
          <a:p/>
          <a:p>
            <a:r>
              <a:rPr b="1"/>
              <a:t>SOURCE: </a:t>
            </a:r>
            <a:r>
              <a:t>The idea 'potential energy becomes kinetic energy' is used in the textbook abstract (Background).</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P2 — ENERGY ENGINEER</a:t>
            </a:r>
          </a:p>
          <a:p/>
          <a:p>
            <a:r>
              <a:rPr b="1"/>
              <a:t>TIME: </a:t>
            </a:r>
            <a:r>
              <a:t>0.75 min</a:t>
            </a:r>
          </a:p>
          <a:p/>
          <a:p>
            <a:r>
              <a:rPr b="1"/>
              <a:t>OBJECTIVE: </a:t>
            </a:r>
            <a:r>
              <a:t>Explain the game in 30 seconds.</a:t>
            </a:r>
          </a:p>
          <a:p/>
          <a:p>
            <a:r>
              <a:rPr b="1"/>
              <a:t>SAY: </a:t>
            </a:r>
            <a:r>
              <a:t>Game one: Energy Scan. I'll show a situation. When I say 'show', make a fist for potential energy — open hand for kinetic energy.</a:t>
            </a:r>
          </a:p>
          <a:p>
            <a:r>
              <a:t>Your mentor checks your zone. If most of your team is right: plus 100 EP. Let's practise: fist… open hand. Good.</a:t>
            </a:r>
          </a:p>
          <a:p/>
          <a:p>
            <a:r>
              <a:rPr b="1"/>
              <a:t>ACTION: </a:t>
            </a:r>
            <a:r>
              <a:t>Mentors (P1–P8): stand at your zone, count hands quickly, keep the score on paper.</a:t>
            </a:r>
          </a:p>
          <a:p/>
          <a:p>
            <a:r>
              <a:rPr b="1"/>
              <a:t>TRANSITION: </a:t>
            </a:r>
            <a:r>
              <a:t>'First situation.'</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P2 — ENERGY ENGINEER</a:t>
            </a:r>
          </a:p>
          <a:p/>
          <a:p>
            <a:r>
              <a:rPr b="1"/>
              <a:t>TIME: </a:t>
            </a:r>
            <a:r>
              <a:t>0.25 min</a:t>
            </a:r>
          </a:p>
          <a:p/>
          <a:p>
            <a:r>
              <a:rPr b="1"/>
              <a:t>SAY: </a:t>
            </a:r>
            <a:r>
              <a:t>Situation 1: A ball is held still on a high shelf. Three… two… one… show!</a:t>
            </a:r>
          </a:p>
          <a:p/>
          <a:p>
            <a:r>
              <a:rPr b="1"/>
              <a:t>ASK: </a:t>
            </a:r>
            <a:r>
              <a:t>What energy does it have? Fist or open hand?</a:t>
            </a:r>
          </a:p>
          <a:p/>
          <a:p>
            <a:r>
              <a:rPr b="1"/>
              <a:t>EXPECTED ANSWER: </a:t>
            </a:r>
            <a:r>
              <a:t>Fist (potential)</a:t>
            </a:r>
          </a:p>
          <a:p/>
          <a:p>
            <a:r>
              <a:rPr b="1"/>
              <a:t>ACTION: </a:t>
            </a:r>
            <a:r>
              <a:t>Give 5 seconds of thinking, then count down. Mentors watch their zone.</a:t>
            </a:r>
          </a:p>
          <a:p/>
          <a:p>
            <a:r>
              <a:rPr b="1"/>
              <a:t>TRANSITION: </a:t>
            </a:r>
            <a:r>
              <a:t>Click → answer.</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P2 — ENERGY ENGINEER</a:t>
            </a:r>
          </a:p>
          <a:p/>
          <a:p>
            <a:r>
              <a:rPr b="1"/>
              <a:t>TIME: </a:t>
            </a:r>
            <a:r>
              <a:t>0.6 min</a:t>
            </a:r>
          </a:p>
          <a:p/>
          <a:p>
            <a:r>
              <a:rPr b="1"/>
              <a:t>SAY: </a:t>
            </a:r>
            <a:r>
              <a:t>The answer is POTENTIAL. Still object → potential energy.</a:t>
            </a:r>
          </a:p>
          <a:p/>
          <a:p>
            <a:r>
              <a:rPr b="1"/>
              <a:t>ASK: </a:t>
            </a:r>
            <a:r>
              <a:t>Who got it right? (Mentors: hands up for your team if most were correct.)</a:t>
            </a:r>
          </a:p>
          <a:p/>
          <a:p>
            <a:r>
              <a:rPr b="1"/>
              <a:t>ACTION: </a:t>
            </a:r>
            <a:r>
              <a:t>Mentors award +100 EP to zones where most people were right. Keep it quick.</a:t>
            </a:r>
          </a:p>
          <a:p/>
          <a:p>
            <a:r>
              <a:rPr b="1"/>
              <a:t>TRANSITION: </a:t>
            </a:r>
            <a:r>
              <a:t>Next situation.</a:t>
            </a:r>
          </a:p>
          <a:p/>
          <a:p>
            <a:r>
              <a:rPr b="1"/>
              <a:t>SOURCE: </a:t>
            </a:r>
            <a:r>
              <a:t>Supplementary game built on Textbook Task 3 (still = potential, moving = kinetic).</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P2 — ENERGY ENGINEER</a:t>
            </a:r>
          </a:p>
          <a:p/>
          <a:p>
            <a:r>
              <a:rPr b="1"/>
              <a:t>TIME: </a:t>
            </a:r>
            <a:r>
              <a:t>0.25 min</a:t>
            </a:r>
          </a:p>
          <a:p/>
          <a:p>
            <a:r>
              <a:rPr b="1"/>
              <a:t>SAY: </a:t>
            </a:r>
            <a:r>
              <a:t>Situation 2: A car is driving along a highway. Three… two… one… show!</a:t>
            </a:r>
          </a:p>
          <a:p/>
          <a:p>
            <a:r>
              <a:rPr b="1"/>
              <a:t>ASK: </a:t>
            </a:r>
            <a:r>
              <a:t>What energy does it have? Fist or open hand?</a:t>
            </a:r>
          </a:p>
          <a:p/>
          <a:p>
            <a:r>
              <a:rPr b="1"/>
              <a:t>EXPECTED ANSWER: </a:t>
            </a:r>
            <a:r>
              <a:t>Open hand (kinetic)</a:t>
            </a:r>
          </a:p>
          <a:p/>
          <a:p>
            <a:r>
              <a:rPr b="1"/>
              <a:t>ACTION: </a:t>
            </a:r>
            <a:r>
              <a:t>Give 5 seconds of thinking, then count down. Mentors watch their zone.</a:t>
            </a:r>
          </a:p>
          <a:p/>
          <a:p>
            <a:r>
              <a:rPr b="1"/>
              <a:t>TRANSITION: </a:t>
            </a:r>
            <a:r>
              <a:t>Click → answer.</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P2 — ENERGY ENGINEER</a:t>
            </a:r>
          </a:p>
          <a:p/>
          <a:p>
            <a:r>
              <a:rPr b="1"/>
              <a:t>TIME: </a:t>
            </a:r>
            <a:r>
              <a:t>0.6 min</a:t>
            </a:r>
          </a:p>
          <a:p/>
          <a:p>
            <a:r>
              <a:rPr b="1"/>
              <a:t>SAY: </a:t>
            </a:r>
            <a:r>
              <a:t>The answer is KINETIC. Moving object → kinetic energy.</a:t>
            </a:r>
          </a:p>
          <a:p/>
          <a:p>
            <a:r>
              <a:rPr b="1"/>
              <a:t>ASK: </a:t>
            </a:r>
            <a:r>
              <a:t>Who got it right? (Mentors: hands up for your team if most were correct.)</a:t>
            </a:r>
          </a:p>
          <a:p/>
          <a:p>
            <a:r>
              <a:rPr b="1"/>
              <a:t>ACTION: </a:t>
            </a:r>
            <a:r>
              <a:t>Mentors award +100 EP to zones where most people were right. Keep it quick.</a:t>
            </a:r>
          </a:p>
          <a:p/>
          <a:p>
            <a:r>
              <a:rPr b="1"/>
              <a:t>TRANSITION: </a:t>
            </a:r>
            <a:r>
              <a:t>Next situation.</a:t>
            </a:r>
          </a:p>
          <a:p/>
          <a:p>
            <a:r>
              <a:rPr b="1"/>
              <a:t>SOURCE: </a:t>
            </a:r>
            <a:r>
              <a:t>Supplementary game built on Textbook Task 3 (still = potential, moving = kinetic).</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P2 — ENERGY ENGINEER</a:t>
            </a:r>
          </a:p>
          <a:p/>
          <a:p>
            <a:r>
              <a:rPr b="1"/>
              <a:t>TIME: </a:t>
            </a:r>
            <a:r>
              <a:t>0.25 min</a:t>
            </a:r>
          </a:p>
          <a:p/>
          <a:p>
            <a:r>
              <a:rPr b="1"/>
              <a:t>SAY: </a:t>
            </a:r>
            <a:r>
              <a:t>Situation 3: A football is flying across the pitch. Three… two… one… show!</a:t>
            </a:r>
          </a:p>
          <a:p/>
          <a:p>
            <a:r>
              <a:rPr b="1"/>
              <a:t>ASK: </a:t>
            </a:r>
            <a:r>
              <a:t>What energy does it have? Fist or open hand?</a:t>
            </a:r>
          </a:p>
          <a:p/>
          <a:p>
            <a:r>
              <a:rPr b="1"/>
              <a:t>EXPECTED ANSWER: </a:t>
            </a:r>
            <a:r>
              <a:t>Open hand (kinetic)</a:t>
            </a:r>
          </a:p>
          <a:p/>
          <a:p>
            <a:r>
              <a:rPr b="1"/>
              <a:t>ACTION: </a:t>
            </a:r>
            <a:r>
              <a:t>Give 5 seconds of thinking, then count down. Mentors watch their zone.</a:t>
            </a:r>
          </a:p>
          <a:p/>
          <a:p>
            <a:r>
              <a:rPr b="1"/>
              <a:t>TRANSITION: </a:t>
            </a:r>
            <a:r>
              <a:t>Click → answer.</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P2 — ENERGY ENGINEER</a:t>
            </a:r>
          </a:p>
          <a:p/>
          <a:p>
            <a:r>
              <a:rPr b="1"/>
              <a:t>TIME: </a:t>
            </a:r>
            <a:r>
              <a:t>0.6 min</a:t>
            </a:r>
          </a:p>
          <a:p/>
          <a:p>
            <a:r>
              <a:rPr b="1"/>
              <a:t>SAY: </a:t>
            </a:r>
            <a:r>
              <a:t>The answer is KINETIC. Moving object → kinetic energy.</a:t>
            </a:r>
          </a:p>
          <a:p/>
          <a:p>
            <a:r>
              <a:rPr b="1"/>
              <a:t>ASK: </a:t>
            </a:r>
            <a:r>
              <a:t>Who got it right? (Mentors: hands up for your team if most were correct.)</a:t>
            </a:r>
          </a:p>
          <a:p/>
          <a:p>
            <a:r>
              <a:rPr b="1"/>
              <a:t>ACTION: </a:t>
            </a:r>
            <a:r>
              <a:t>Mentors award +100 EP to zones where most people were right. Keep it quick.</a:t>
            </a:r>
          </a:p>
          <a:p/>
          <a:p>
            <a:r>
              <a:rPr b="1"/>
              <a:t>TRANSITION: </a:t>
            </a:r>
            <a:r>
              <a:t>Next situation.</a:t>
            </a:r>
          </a:p>
          <a:p/>
          <a:p>
            <a:r>
              <a:rPr b="1"/>
              <a:t>SOURCE: </a:t>
            </a:r>
            <a:r>
              <a:t>Supplementary game built on Textbook Task 3 (still = potential, moving = kinetic).</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P2 — ENERGY ENGINEER</a:t>
            </a:r>
          </a:p>
          <a:p/>
          <a:p>
            <a:r>
              <a:rPr b="1"/>
              <a:t>TIME: </a:t>
            </a:r>
            <a:r>
              <a:t>0.25 min</a:t>
            </a:r>
          </a:p>
          <a:p/>
          <a:p>
            <a:r>
              <a:rPr b="1"/>
              <a:t>SAY: </a:t>
            </a:r>
            <a:r>
              <a:t>Situation 4: A box is resting on top of a tall cabinet. Three… two… one… show!</a:t>
            </a:r>
          </a:p>
          <a:p/>
          <a:p>
            <a:r>
              <a:rPr b="1"/>
              <a:t>ASK: </a:t>
            </a:r>
            <a:r>
              <a:t>What energy does it have? Fist or open hand?</a:t>
            </a:r>
          </a:p>
          <a:p/>
          <a:p>
            <a:r>
              <a:rPr b="1"/>
              <a:t>EXPECTED ANSWER: </a:t>
            </a:r>
            <a:r>
              <a:t>Fist (potential)</a:t>
            </a:r>
          </a:p>
          <a:p/>
          <a:p>
            <a:r>
              <a:rPr b="1"/>
              <a:t>ACTION: </a:t>
            </a:r>
            <a:r>
              <a:t>Give 5 seconds of thinking, then count down. Mentors watch their zone.</a:t>
            </a:r>
          </a:p>
          <a:p/>
          <a:p>
            <a:r>
              <a:rPr b="1"/>
              <a:t>TRANSITION: </a:t>
            </a:r>
            <a:r>
              <a:t>Click → answer.</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P2 — ENERGY ENGINEER</a:t>
            </a:r>
          </a:p>
          <a:p/>
          <a:p>
            <a:r>
              <a:rPr b="1"/>
              <a:t>TIME: </a:t>
            </a:r>
            <a:r>
              <a:t>0.6 min</a:t>
            </a:r>
          </a:p>
          <a:p/>
          <a:p>
            <a:r>
              <a:rPr b="1"/>
              <a:t>SAY: </a:t>
            </a:r>
            <a:r>
              <a:t>The answer is POTENTIAL. Still, and high up → potential energy.</a:t>
            </a:r>
          </a:p>
          <a:p/>
          <a:p>
            <a:r>
              <a:rPr b="1"/>
              <a:t>ASK: </a:t>
            </a:r>
            <a:r>
              <a:t>Who got it right? (Mentors: hands up for your team if most were correct.)</a:t>
            </a:r>
          </a:p>
          <a:p/>
          <a:p>
            <a:r>
              <a:rPr b="1"/>
              <a:t>ACTION: </a:t>
            </a:r>
            <a:r>
              <a:t>Mentors award +100 EP to zones where most people were right. Keep it quick.</a:t>
            </a:r>
          </a:p>
          <a:p/>
          <a:p>
            <a:r>
              <a:rPr b="1"/>
              <a:t>TRANSITION: </a:t>
            </a:r>
            <a:r>
              <a:t>Next situation.</a:t>
            </a:r>
          </a:p>
          <a:p/>
          <a:p>
            <a:r>
              <a:rPr b="1"/>
              <a:t>SOURCE: </a:t>
            </a:r>
            <a:r>
              <a:t>Supplementary game built on Textbook Task 3 (still = potential, moving = kinetic).</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P2 — ENERGY ENGINEER</a:t>
            </a:r>
          </a:p>
          <a:p/>
          <a:p>
            <a:r>
              <a:rPr b="1"/>
              <a:t>TIME: </a:t>
            </a:r>
            <a:r>
              <a:t>0.25 min</a:t>
            </a:r>
          </a:p>
          <a:p/>
          <a:p>
            <a:r>
              <a:rPr b="1"/>
              <a:t>SAY: </a:t>
            </a:r>
            <a:r>
              <a:t>Situation 5: A ball at the top of a ramp is released and rolls down. Three… two… one… show!</a:t>
            </a:r>
          </a:p>
          <a:p/>
          <a:p>
            <a:r>
              <a:rPr b="1"/>
              <a:t>ASK: </a:t>
            </a:r>
            <a:r>
              <a:t>What energy does it have? Fist or open hand?</a:t>
            </a:r>
          </a:p>
          <a:p/>
          <a:p>
            <a:r>
              <a:rPr b="1"/>
              <a:t>EXPECTED ANSWER: </a:t>
            </a:r>
            <a:r>
              <a:t>Harder one: a mix — accept fist then open hand, or 'both'.</a:t>
            </a:r>
          </a:p>
          <a:p/>
          <a:p>
            <a:r>
              <a:rPr b="1"/>
              <a:t>ACTION: </a:t>
            </a:r>
            <a:r>
              <a:t>Give 5 seconds of thinking, then count down. Mentors watch their zone.</a:t>
            </a:r>
          </a:p>
          <a:p/>
          <a:p>
            <a:r>
              <a:rPr b="1"/>
              <a:t>TRANSITION: </a:t>
            </a:r>
            <a:r>
              <a:t>Click → answer.</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P2 — ENERGY ENGINEER</a:t>
            </a:r>
          </a:p>
          <a:p/>
          <a:p>
            <a:r>
              <a:rPr b="1"/>
              <a:t>TIME: </a:t>
            </a:r>
            <a:r>
              <a:t>1.6 min</a:t>
            </a:r>
          </a:p>
          <a:p/>
          <a:p>
            <a:r>
              <a:rPr b="1"/>
              <a:t>SAY: </a:t>
            </a:r>
            <a:r>
              <a:t>The answer is both — in order: first potential, then kinetic. Still, then moving: potential energy becomes kinetic energy.</a:t>
            </a:r>
          </a:p>
          <a:p>
            <a:r>
              <a:t>Well done — that last one is exactly what happens to a passenger in a crash. Mentors: give me your EP totals so far.</a:t>
            </a:r>
          </a:p>
          <a:p/>
          <a:p>
            <a:r>
              <a:rPr b="1"/>
              <a:t>ASK: </a:t>
            </a:r>
            <a:r>
              <a:t>Who got it right? (Mentors: hands up for your team if most were correct.)</a:t>
            </a:r>
          </a:p>
          <a:p/>
          <a:p>
            <a:r>
              <a:rPr b="1"/>
              <a:t>ACTION: </a:t>
            </a:r>
            <a:r>
              <a:t>Mentors award +100 EP to zones where most people were right. Keep it quick.</a:t>
            </a:r>
          </a:p>
          <a:p/>
          <a:p>
            <a:r>
              <a:rPr b="1"/>
              <a:t>TRANSITION: </a:t>
            </a:r>
            <a:r>
              <a:t>'Now let's learn the engineering vocabulary — with the Dynamics Engineer.' → P3.</a:t>
            </a:r>
          </a:p>
          <a:p/>
          <a:p>
            <a:r>
              <a:rPr b="1"/>
              <a:t>SOURCE: </a:t>
            </a:r>
            <a:r>
              <a:t>Supplementary game built on Textbook Task 3 (still = potential, moving = kinetic).</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P3 — DYNAMICS ENGINEER</a:t>
            </a:r>
          </a:p>
          <a:p/>
          <a:p>
            <a:r>
              <a:rPr b="1"/>
              <a:t>TIME: </a:t>
            </a:r>
            <a:r>
              <a:t>1 min</a:t>
            </a:r>
          </a:p>
          <a:p/>
          <a:p>
            <a:r>
              <a:rPr b="1"/>
              <a:t>OBJECTIVE: </a:t>
            </a:r>
            <a:r>
              <a:t>Preview the vocabulary set before teaching it word by word.</a:t>
            </a:r>
          </a:p>
          <a:p/>
          <a:p>
            <a:r>
              <a:rPr b="1"/>
              <a:t>SAY: </a:t>
            </a:r>
            <a:r>
              <a:t>You already know the engineering: potential energy, kinetic energy. Now we need the exact words the textbook uses to talk about a crash — ten words. We'll go through six of them now (Task 3), then four more that unlock the reading (Task 4).</a:t>
            </a:r>
          </a:p>
          <a:p/>
          <a:p>
            <a:r>
              <a:rPr b="1"/>
              <a:t>ACTION: </a:t>
            </a:r>
            <a:r>
              <a:t>Point at the grid; don't read every word aloud.</a:t>
            </a:r>
          </a:p>
          <a:p/>
          <a:p>
            <a:r>
              <a:rPr b="1"/>
              <a:t>TRANSITION: </a:t>
            </a:r>
            <a:r>
              <a:t>'First word: decelerate.'</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P3 — DYNAMICS ENGINEER</a:t>
            </a:r>
          </a:p>
          <a:p/>
          <a:p>
            <a:r>
              <a:rPr b="1"/>
              <a:t>TIME: </a:t>
            </a:r>
            <a:r>
              <a:t>1.5 min</a:t>
            </a:r>
          </a:p>
          <a:p/>
          <a:p>
            <a:r>
              <a:rPr b="1"/>
              <a:t>OBJECTIVE: </a:t>
            </a:r>
            <a:r>
              <a:t>Teach 'decelerate' = to reduce speed (verb).</a:t>
            </a:r>
          </a:p>
          <a:p/>
          <a:p>
            <a:r>
              <a:rPr b="1"/>
              <a:t>SAY: </a:t>
            </a:r>
            <a:r>
              <a:t>Decelerate: to reduce speed. The opposite of accelerate. A car going 120, then 100, 70, 40, 0 — it decelerates.</a:t>
            </a:r>
          </a:p>
          <a:p>
            <a:r>
              <a:t>Textbook example: drivers decelerate when they press the brakes.</a:t>
            </a:r>
          </a:p>
          <a:p/>
          <a:p>
            <a:r>
              <a:rPr b="1"/>
              <a:t>ASK: </a:t>
            </a:r>
            <a:r>
              <a:t>What's the opposite of decelerate?</a:t>
            </a:r>
          </a:p>
          <a:p/>
          <a:p>
            <a:r>
              <a:rPr b="1"/>
              <a:t>EXPECTED ANSWER: </a:t>
            </a:r>
            <a:r>
              <a:t>Accelerate (to increase speed).</a:t>
            </a:r>
          </a:p>
          <a:p/>
          <a:p>
            <a:r>
              <a:rPr b="1"/>
              <a:t>TRANSITION: </a:t>
            </a:r>
            <a:r>
              <a:t>'Decelerating changes one important number: stopping distance.'</a:t>
            </a:r>
          </a:p>
          <a:p/>
          <a:p>
            <a:r>
              <a:rPr b="1"/>
              <a:t>SOURCE: </a:t>
            </a:r>
            <a:r>
              <a:t>Definition = teaching support at textbook level. Example sentence quoted from Task 3, item 1.</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P3 — DYNAMICS ENGINEER</a:t>
            </a:r>
          </a:p>
          <a:p/>
          <a:p>
            <a:r>
              <a:rPr b="1"/>
              <a:t>TIME: </a:t>
            </a:r>
            <a:r>
              <a:t>1.5 min</a:t>
            </a:r>
          </a:p>
          <a:p/>
          <a:p>
            <a:r>
              <a:rPr b="1"/>
              <a:t>OBJECTIVE: </a:t>
            </a:r>
            <a:r>
              <a:t>Teach 'stopping distance' visually: brake point to full stop.</a:t>
            </a:r>
          </a:p>
          <a:p/>
          <a:p>
            <a:r>
              <a:rPr b="1"/>
              <a:t>SAY: </a:t>
            </a:r>
            <a:r>
              <a:t>Stopping distance: the distance the car needs to go from 'brake' to a full stop.</a:t>
            </a:r>
          </a:p>
          <a:p>
            <a:r>
              <a:t>Long stopping distance is dangerous on a normal road — but stay with that idea, because in a seatbelt it works the other way.</a:t>
            </a:r>
          </a:p>
          <a:p/>
          <a:p>
            <a:r>
              <a:rPr b="1"/>
              <a:t>TRANSITION: </a:t>
            </a:r>
            <a:r>
              <a:t>'Now the two energies you already know — with their textbook definitions.'</a:t>
            </a:r>
          </a:p>
          <a:p/>
          <a:p>
            <a:r>
              <a:rPr b="1"/>
              <a:t>SOURCE: </a:t>
            </a:r>
            <a:r>
              <a:t>Example sentence quoted from Task 3, item 1. Diagram = teaching support.</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P3 — DYNAMICS ENGINEER</a:t>
            </a:r>
          </a:p>
          <a:p/>
          <a:p>
            <a:r>
              <a:rPr b="1"/>
              <a:t>TIME: </a:t>
            </a:r>
            <a:r>
              <a:t>1 min</a:t>
            </a:r>
          </a:p>
          <a:p/>
          <a:p>
            <a:r>
              <a:rPr b="1"/>
              <a:t>OBJECTIVE: </a:t>
            </a:r>
            <a:r>
              <a:t>Anchor kinetic/potential to their exact textbook sentence (Task 3.2).</a:t>
            </a:r>
          </a:p>
          <a:p/>
          <a:p>
            <a:r>
              <a:rPr b="1"/>
              <a:t>SAY: </a:t>
            </a:r>
            <a:r>
              <a:t>This is the sentence the textbook wants you to complete: a moving object has kinetic energy.</a:t>
            </a:r>
          </a:p>
          <a:p/>
          <a:p>
            <a:r>
              <a:rPr b="1"/>
              <a:t>TRANSITION: </a:t>
            </a:r>
            <a:r>
              <a:t>'Two more words: force and work — and they are NOT the same thing.'</a:t>
            </a:r>
          </a:p>
          <a:p/>
          <a:p>
            <a:r>
              <a:rPr b="1"/>
              <a:t>SOURCE: </a:t>
            </a:r>
            <a:r>
              <a:t>Both sentences quoted from Task 3, item 2.</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P3 — DYNAMICS ENGINEER</a:t>
            </a:r>
          </a:p>
          <a:p/>
          <a:p>
            <a:r>
              <a:rPr b="1"/>
              <a:t>TIME: </a:t>
            </a:r>
            <a:r>
              <a:t>1 min</a:t>
            </a:r>
          </a:p>
          <a:p/>
          <a:p>
            <a:r>
              <a:rPr b="1"/>
              <a:t>OBJECTIVE: </a:t>
            </a:r>
            <a:r>
              <a:t>Anchor kinetic/potential to their exact textbook sentence (Task 3.2).</a:t>
            </a:r>
          </a:p>
          <a:p/>
          <a:p>
            <a:r>
              <a:rPr b="1"/>
              <a:t>SAY: </a:t>
            </a:r>
            <a:r>
              <a:t>And the other half: a still object has potential energy. You already know this from Act 1 — now you know it's Task 3, item 2.</a:t>
            </a:r>
          </a:p>
          <a:p/>
          <a:p>
            <a:r>
              <a:rPr b="1"/>
              <a:t>TRANSITION: </a:t>
            </a:r>
            <a:r>
              <a:t>'Two more words: force and work — and they are NOT the same thing.'</a:t>
            </a:r>
          </a:p>
          <a:p/>
          <a:p>
            <a:r>
              <a:rPr b="1"/>
              <a:t>SOURCE: </a:t>
            </a:r>
            <a:r>
              <a:t>Both sentences quoted from Task 3, item 2.</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P3 — DYNAMICS ENGINEER</a:t>
            </a:r>
          </a:p>
          <a:p/>
          <a:p>
            <a:r>
              <a:rPr b="1"/>
              <a:t>TIME: </a:t>
            </a:r>
            <a:r>
              <a:t>2 min</a:t>
            </a:r>
          </a:p>
          <a:p/>
          <a:p>
            <a:r>
              <a:rPr b="1"/>
              <a:t>OBJECTIVE: </a:t>
            </a:r>
            <a:r>
              <a:t>Distinguish force (a push/pull) from work (what a force does when it moves an object).</a:t>
            </a:r>
          </a:p>
          <a:p/>
          <a:p>
            <a:r>
              <a:rPr b="1"/>
              <a:t>SAY: </a:t>
            </a:r>
            <a:r>
              <a:t>Force is a push or a pull — when you kick a ball, the force moves it forward.</a:t>
            </a:r>
          </a:p>
          <a:p>
            <a:r>
              <a:t>Work is different: work is what happens when a force actually moves something. A machine does work when it moves another object.</a:t>
            </a:r>
          </a:p>
          <a:p>
            <a:r>
              <a:t>So: force can exist without movement (you can push a wall and do no work). Work needs movement.</a:t>
            </a:r>
          </a:p>
          <a:p/>
          <a:p>
            <a:r>
              <a:rPr b="1"/>
              <a:t>ASK: </a:t>
            </a:r>
            <a:r>
              <a:t>If I push a wall and it doesn't move, have I done work?</a:t>
            </a:r>
          </a:p>
          <a:p/>
          <a:p>
            <a:r>
              <a:rPr b="1"/>
              <a:t>EXPECTED ANSWER: </a:t>
            </a:r>
            <a:r>
              <a:t>No — there's force, but no movement, so no work.</a:t>
            </a:r>
          </a:p>
          <a:p/>
          <a:p>
            <a:r>
              <a:rPr b="1"/>
              <a:t>TRANSITION: </a:t>
            </a:r>
            <a:r>
              <a:t>'That's six words. Four more, and they unlock the reading — the Research Engineer takes over.'</a:t>
            </a:r>
          </a:p>
          <a:p/>
          <a:p>
            <a:r>
              <a:rPr b="1"/>
              <a:t>SOURCE: </a:t>
            </a:r>
            <a:r>
              <a:t>Example sentences quoted from Task 3, item 3. The wall example is teaching support (not in the textbook).</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P4 — RESEARCH ENGINEER</a:t>
            </a:r>
          </a:p>
          <a:p/>
          <a:p>
            <a:r>
              <a:rPr b="1"/>
              <a:t>TIME: </a:t>
            </a:r>
            <a:r>
              <a:t>1 min</a:t>
            </a:r>
          </a:p>
          <a:p/>
          <a:p>
            <a:r>
              <a:rPr b="1"/>
              <a:t>OBJECTIVE: </a:t>
            </a:r>
            <a:r>
              <a:t>Teach 'abstract' before the reading — students must know this word before Task 2.</a:t>
            </a:r>
          </a:p>
          <a:p/>
          <a:p>
            <a:r>
              <a:rPr b="1"/>
              <a:t>SAY: </a:t>
            </a:r>
            <a:r>
              <a:t>Hi — I'm the Research Engineer. Before you read anything, you need to know what an abstract is.</a:t>
            </a:r>
          </a:p>
          <a:p>
            <a:r>
              <a:t>Abstract: a summary of an article, document, or other text. Long research document in, short summary out.</a:t>
            </a:r>
          </a:p>
          <a:p>
            <a:r>
              <a:t>The seatbelt test you're about to read is exactly that — an abstract.</a:t>
            </a:r>
          </a:p>
          <a:p/>
          <a:p>
            <a:r>
              <a:rPr b="1"/>
              <a:t>ACTION: </a:t>
            </a:r>
            <a:r>
              <a:t>Trace the arrow from the thick document to the small ABSTRACT card.</a:t>
            </a:r>
          </a:p>
          <a:p/>
          <a:p>
            <a:r>
              <a:rPr b="1"/>
              <a:t>TRANSITION: </a:t>
            </a:r>
            <a:r>
              <a:t>'Three more words hide inside that abstract — let's meet them.'</a:t>
            </a:r>
          </a:p>
          <a:p/>
          <a:p>
            <a:r>
              <a:rPr b="1"/>
              <a:t>SOURCE: </a:t>
            </a:r>
            <a:r>
              <a:t>Definition quoted from Task 4, matching item A.</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P4 — RESEARCH ENGINEER</a:t>
            </a:r>
          </a:p>
          <a:p/>
          <a:p>
            <a:r>
              <a:rPr b="1"/>
              <a:t>TIME: </a:t>
            </a:r>
            <a:r>
              <a:t>1 min</a:t>
            </a:r>
          </a:p>
          <a:p/>
          <a:p>
            <a:r>
              <a:rPr b="1"/>
              <a:t>OBJECTIVE: </a:t>
            </a:r>
            <a:r>
              <a:t>Run Task 4 live as a whole-class match (textbook exercise, not a game with EP).</a:t>
            </a:r>
          </a:p>
          <a:p/>
          <a:p>
            <a:r>
              <a:rPr b="1"/>
              <a:t>SAY: </a:t>
            </a:r>
            <a:r>
              <a:t>This is straight from the textbook, Task 4. Match each word on the left with its definition on the right. Thirty seconds, then shout your answers.</a:t>
            </a:r>
          </a:p>
          <a:p/>
          <a:p>
            <a:r>
              <a:rPr b="1"/>
              <a:t>ASK: </a:t>
            </a:r>
            <a:r>
              <a:t>1 = abstract, which letter? 2 = work-energy principle? 3 = G? 4 = transfer?</a:t>
            </a:r>
          </a:p>
          <a:p/>
          <a:p>
            <a:r>
              <a:rPr b="1"/>
              <a:t>EXPECTED ANSWER: </a:t>
            </a:r>
            <a:r>
              <a:t>1-A, 2-D, 3-C, 4-B.</a:t>
            </a:r>
          </a:p>
          <a:p/>
          <a:p>
            <a:r>
              <a:rPr b="1"/>
              <a:t>ACTION: </a:t>
            </a:r>
            <a:r>
              <a:t>Take answers by show of fingers (A/B/C/D) if useful, or cold-call. This is a textbook comprehension check, not an EP game.</a:t>
            </a:r>
          </a:p>
          <a:p/>
          <a:p>
            <a:r>
              <a:rPr b="1"/>
              <a:t>TRANSITION: </a:t>
            </a:r>
            <a:r>
              <a:t>'Let's look at each answer properly, starting with G and transfer.'</a:t>
            </a:r>
          </a:p>
          <a:p/>
          <a:p>
            <a:r>
              <a:rPr b="1"/>
              <a:t>SOURCE: </a:t>
            </a:r>
            <a:r>
              <a:t>Words and definitions A–D are Textbook Task 4 verbatim.</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P4 — RESEARCH ENGINEER</a:t>
            </a:r>
          </a:p>
          <a:p/>
          <a:p>
            <a:r>
              <a:rPr b="1"/>
              <a:t>TIME: </a:t>
            </a:r>
            <a:r>
              <a:t>2 min</a:t>
            </a:r>
          </a:p>
          <a:p/>
          <a:p>
            <a:r>
              <a:rPr b="1"/>
              <a:t>OBJECTIVE: </a:t>
            </a:r>
            <a:r>
              <a:t>Make 'G' and 'transfer' concrete before the reading uses both.</a:t>
            </a:r>
          </a:p>
          <a:p/>
          <a:p>
            <a:r>
              <a:rPr b="1"/>
              <a:t>SAY: </a:t>
            </a:r>
            <a:r>
              <a:t>G is a unit of force — one G equals the force of gravity you feel right now, sitting in your chair. In a crash, passengers can feel many Gs — much stronger than gravity.</a:t>
            </a:r>
          </a:p>
          <a:p>
            <a:r>
              <a:t>Transfer means energy moves from one object to another. In our seatbelt story, energy transfers FROM the passenger TO the belt.</a:t>
            </a:r>
          </a:p>
          <a:p/>
          <a:p>
            <a:r>
              <a:rPr b="1"/>
              <a:t>ASK: </a:t>
            </a:r>
            <a:r>
              <a:t>If energy transfers from the passenger to the belt, does the passenger keep all their kinetic energy?</a:t>
            </a:r>
          </a:p>
          <a:p/>
          <a:p>
            <a:r>
              <a:rPr b="1"/>
              <a:t>EXPECTED ANSWER: </a:t>
            </a:r>
            <a:r>
              <a:t>No — most of it moves to the belt instead.</a:t>
            </a:r>
          </a:p>
          <a:p/>
          <a:p>
            <a:r>
              <a:rPr b="1"/>
              <a:t>TRANSITION: </a:t>
            </a:r>
            <a:r>
              <a:t>'One idea left: the work-energy principle. This is the one rule that explains the whole experiment.'</a:t>
            </a:r>
          </a:p>
          <a:p/>
          <a:p>
            <a:r>
              <a:rPr b="1"/>
              <a:t>SOURCE: </a:t>
            </a:r>
            <a:r>
              <a:t>Definitions quoted from Task 4, items C and B. The '1 G = sitting in your chair' comparison is teaching support.</a:t>
            </a:r>
          </a:p>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P4 — RESEARCH ENGINEER</a:t>
            </a:r>
          </a:p>
          <a:p/>
          <a:p>
            <a:r>
              <a:rPr b="1"/>
              <a:t>TIME: </a:t>
            </a:r>
            <a:r>
              <a:t>2 min</a:t>
            </a:r>
          </a:p>
          <a:p/>
          <a:p>
            <a:r>
              <a:rPr b="1"/>
              <a:t>OBJECTIVE: </a:t>
            </a:r>
            <a:r>
              <a:t>Give the ONE rule that connects distance and force — this is the physics engine behind the whole unit.</a:t>
            </a:r>
          </a:p>
          <a:p/>
          <a:p>
            <a:r>
              <a:rPr b="1"/>
              <a:t>SAY: </a:t>
            </a:r>
            <a:r>
              <a:t>Last word: the work-energy principle. The textbook defines it exactly like this — the idea that a moving object's energy equals the distance it moves.</a:t>
            </a:r>
          </a:p>
          <a:p>
            <a:r>
              <a:t>Here's why this matters for us: if you stretch the stopping distance a little, the same energy is spread over a longer distance — so the FORCE at any instant is smaller.</a:t>
            </a:r>
          </a:p>
          <a:p>
            <a:r>
              <a:t>Hold that thought — that's the entire idea behind the stretching seatbelt.</a:t>
            </a:r>
          </a:p>
          <a:p/>
          <a:p>
            <a:r>
              <a:rPr b="1"/>
              <a:t>TRANSITION: </a:t>
            </a:r>
            <a:r>
              <a:t>'Ten words down. Time to prove it — Game 2: the Vocabulary Battle.'</a:t>
            </a:r>
          </a:p>
          <a:p/>
          <a:p>
            <a:r>
              <a:rPr b="1"/>
              <a:t>SOURCE: </a:t>
            </a:r>
            <a:r>
              <a:t>Definition quoted from Task 4, item D. The applied consequence line is teaching support that explains — not corrects — the textbook idea.</a:t>
            </a:r>
          </a:p>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P4 — RESEARCH ENGINEER</a:t>
            </a:r>
          </a:p>
          <a:p/>
          <a:p>
            <a:r>
              <a:rPr b="1"/>
              <a:t>TIME: </a:t>
            </a:r>
            <a:r>
              <a:t>1 min</a:t>
            </a:r>
          </a:p>
          <a:p/>
          <a:p>
            <a:r>
              <a:rPr b="1"/>
              <a:t>OBJECTIVE: </a:t>
            </a:r>
            <a:r>
              <a:t>Explain the live quiz mechanic in under a minute.</a:t>
            </a:r>
          </a:p>
          <a:p/>
          <a:p>
            <a:r>
              <a:rPr b="1"/>
              <a:t>SAY: </a:t>
            </a:r>
            <a:r>
              <a:t>Game two: a live vocabulary battle on your phones. Scan the QR code on the next slide, join with the PIN, and answer fast — speed gives bonus points.</a:t>
            </a:r>
          </a:p>
          <a:p>
            <a:r>
              <a:t>Eight questions, all ten words from today. Whole company: your combined score becomes your team's EP.</a:t>
            </a:r>
          </a:p>
          <a:p/>
          <a:p>
            <a:r>
              <a:rPr b="1"/>
              <a:t>ACTION: </a:t>
            </a:r>
            <a:r>
              <a:t>Confirm with the room that phones are ready. If Wi-Fi is a known problem, skip straight to the backup plan on the next slide.</a:t>
            </a:r>
          </a:p>
          <a:p/>
          <a:p>
            <a:r>
              <a:rPr b="1"/>
              <a:t>TRANSITION: </a:t>
            </a:r>
            <a:r>
              <a:t>'Here's the code.'</a:t>
            </a:r>
          </a:p>
          <a:p/>
          <a:p>
            <a:r>
              <a:rPr b="1"/>
              <a:t>SOURCE: </a:t>
            </a:r>
            <a:r>
              <a:t>Supplementary game. Question bank lives in quiz_questions.md — see the presenter guide for the no-internet fallback.</a:t>
            </a:r>
          </a:p>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P4 — RESEARCH ENGINEER</a:t>
            </a:r>
          </a:p>
          <a:p/>
          <a:p>
            <a:r>
              <a:rPr b="1"/>
              <a:t>TIME: </a:t>
            </a:r>
            <a:r>
              <a:t>5 min</a:t>
            </a:r>
          </a:p>
          <a:p/>
          <a:p>
            <a:r>
              <a:rPr b="1"/>
              <a:t>OBJECTIVE: </a:t>
            </a:r>
            <a:r>
              <a:t>Run the live quiz (or the offline fallback) for the 10-word vocabulary set.</a:t>
            </a:r>
          </a:p>
          <a:p/>
          <a:p>
            <a:r>
              <a:rPr b="1"/>
              <a:t>SAY: </a:t>
            </a:r>
            <a:r>
              <a:t>Scan now… PIN is on screen… you have 8 questions, go!</a:t>
            </a:r>
          </a:p>
          <a:p/>
          <a:p>
            <a:r>
              <a:rPr b="1"/>
              <a:t>ACTION: </a:t>
            </a:r>
            <a:r>
              <a:t>REPLACE BEFORE CLASS: this QR code and PIN are placeholders, not a real game. Presenter guide, section 'Online game setup', explains OPTION A (build the 8-question quiz in quiz_questions.md on Wayground/Quizizz/Kahoot) and OPTION B (use the offline fallback below).</a:t>
            </a:r>
          </a:p>
          <a:p/>
          <a:p>
            <a:r>
              <a:rPr b="1"/>
              <a:t>TRANSITION: </a:t>
            </a:r>
            <a:r>
              <a:t>'Scores are in. Alert — Alert — we have a situation.' → CRASH ALERT.</a:t>
            </a:r>
          </a:p>
          <a:p/>
          <a:p>
            <a:r>
              <a:rPr b="1"/>
              <a:t>NOTE: </a:t>
            </a:r>
            <a:r>
              <a:t>WI-FI FAILS? Skip the QR. Show quiz_questions.md questions 1-8 one at a time on this slide's place (or read them aloud); teams answer with A/B/C/D fingers or cards; mentors award +100 EP per correct company answer, no live leaderboard needed.</a:t>
            </a:r>
          </a:p>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P1 — MISSION COMMANDER</a:t>
            </a:r>
          </a:p>
          <a:p/>
          <a:p>
            <a:r>
              <a:rPr b="1"/>
              <a:t>TIME: </a:t>
            </a:r>
            <a:r>
              <a:t>1.5 min</a:t>
            </a:r>
          </a:p>
          <a:p/>
          <a:p>
            <a:r>
              <a:rPr b="1"/>
              <a:t>OBJECTIVE: </a:t>
            </a:r>
            <a:r>
              <a:t>Turn the page (literally) with a jolt of drama — new mission phase.</a:t>
            </a:r>
          </a:p>
          <a:p/>
          <a:p>
            <a:r>
              <a:rPr b="1"/>
              <a:t>SAY: </a:t>
            </a:r>
            <a:r>
              <a:t>Alert. Crash detected. The passenger safety system is under investigation.</a:t>
            </a:r>
          </a:p>
          <a:p>
            <a:r>
              <a:t>A company claims they've built a new seatbelt that reduces injuries. Our job, as engineers: find out if it actually works, and why.</a:t>
            </a:r>
          </a:p>
          <a:p/>
          <a:p>
            <a:r>
              <a:rPr b="1"/>
              <a:t>ACTION: </a:t>
            </a:r>
            <a:r>
              <a:t>Cut lights if possible / lower voice for effect. This is a transition slide, not a teaching slide — keep it under 30 seconds.</a:t>
            </a:r>
          </a:p>
          <a:p/>
          <a:p>
            <a:r>
              <a:rPr b="1"/>
              <a:t>TRANSITION: </a:t>
            </a:r>
            <a:r>
              <a:t>'Here's the mission brief.'</a:t>
            </a:r>
          </a:p>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P1 — MISSION COMMANDER</a:t>
            </a:r>
          </a:p>
          <a:p/>
          <a:p>
            <a:r>
              <a:rPr b="1"/>
              <a:t>TIME: </a:t>
            </a:r>
            <a:r>
              <a:t>1.5 min</a:t>
            </a:r>
          </a:p>
          <a:p/>
          <a:p>
            <a:r>
              <a:rPr b="1"/>
              <a:t>OBJECTIVE: </a:t>
            </a:r>
            <a:r>
              <a:t>State the investigative question the whole Act answers — this is the real answer to Get Ready Question 2 from the start of the lesson.</a:t>
            </a:r>
          </a:p>
          <a:p/>
          <a:p>
            <a:r>
              <a:rPr b="1"/>
              <a:t>SAY: </a:t>
            </a:r>
            <a:r>
              <a:t>Remember our second Get Ready question, right at the start: how do engineers make cars safer? Here's a real, evidence-based answer starting now.</a:t>
            </a:r>
          </a:p>
          <a:p>
            <a:r>
              <a:t>A new stretching seatbelt claims to reduce injuries. Your job as engineers: does it work — and why?</a:t>
            </a:r>
          </a:p>
          <a:p>
            <a:r>
              <a:t>To answer that, we read the actual test report. Real engineers call this an abstract.</a:t>
            </a:r>
          </a:p>
          <a:p/>
          <a:p>
            <a:r>
              <a:rPr b="1"/>
              <a:t>TRANSITION: </a:t>
            </a:r>
            <a:r>
              <a:t>'Let's open the file — six questions before we read.'</a:t>
            </a:r>
          </a:p>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P5 — CRASH INVESTIGATOR</a:t>
            </a:r>
          </a:p>
          <a:p/>
          <a:p>
            <a:r>
              <a:rPr b="1"/>
              <a:t>TIME: </a:t>
            </a:r>
            <a:r>
              <a:t>2 min</a:t>
            </a:r>
          </a:p>
          <a:p/>
          <a:p>
            <a:r>
              <a:rPr b="1"/>
              <a:t>OBJECTIVE: </a:t>
            </a:r>
            <a:r>
              <a:t>Give purpose before reading (scan for gist, not translation) — supports the textbook's Task 2 T/F.</a:t>
            </a:r>
          </a:p>
          <a:p/>
          <a:p>
            <a:r>
              <a:rPr b="1"/>
              <a:t>SAY: </a:t>
            </a:r>
            <a:r>
              <a:t>Before you read, here are six questions. You have three minutes. Don't translate every word — just find these six answers. Ready? Go.</a:t>
            </a:r>
          </a:p>
          <a:p/>
          <a:p>
            <a:r>
              <a:rPr b="1"/>
              <a:t>ASK: </a:t>
            </a:r>
            <a:r>
              <a:t>(Read the six questions aloud once, pointing at each.)</a:t>
            </a:r>
          </a:p>
          <a:p/>
          <a:p>
            <a:r>
              <a:rPr b="1"/>
              <a:t>ACTION: </a:t>
            </a:r>
            <a:r>
              <a:t>Start a visible phone timer for 3 minutes. Circulate. This reading passage is the Stretching Seatbelt Test abstract on the next slides (textbook Task 5: 'Listen and read the abstract').</a:t>
            </a:r>
          </a:p>
          <a:p/>
          <a:p>
            <a:r>
              <a:rPr b="1"/>
              <a:t>TRANSITION: </a:t>
            </a:r>
            <a:r>
              <a:t>'Time's up. Let's open the file.'</a:t>
            </a:r>
          </a:p>
          <a:p/>
          <a:p>
            <a:r>
              <a:rPr b="1"/>
              <a:t>SOURCE: </a:t>
            </a:r>
            <a:r>
              <a:t>These six guiding questions are teaching support (a reading-strategy scaffold). They map onto the textbook's own Background / Results / Conclusions abstract, carry out Task 5 (listen and read the abstract), and prepare students for Task 2.</a:t>
            </a:r>
          </a:p>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P5 — CRASH INVESTIGATOR</a:t>
            </a:r>
          </a:p>
          <a:p/>
          <a:p>
            <a:r>
              <a:rPr b="1"/>
              <a:t>TIME: </a:t>
            </a:r>
            <a:r>
              <a:t>1 min</a:t>
            </a:r>
          </a:p>
          <a:p/>
          <a:p>
            <a:r>
              <a:rPr b="1"/>
              <a:t>OBJECTIVE: </a:t>
            </a:r>
            <a:r>
              <a:t>Teach WHY abstracts use this fixed structure (transfers to reading any report); this slide and the three that follow ARE Task 5.</a:t>
            </a:r>
          </a:p>
          <a:p/>
          <a:p>
            <a:r>
              <a:rPr b="1"/>
              <a:t>SAY: </a:t>
            </a:r>
            <a:r>
              <a:t>Every research abstract — in any field — follows this order: Background, then Results, then Conclusions. Background says why they tested something. Results says what they measured. Conclusions says what it means.</a:t>
            </a:r>
          </a:p>
          <a:p>
            <a:r>
              <a:t>Our seatbelt report follows exactly this structure. As we go through it, we're doing Task 5: listen and read the abstract.</a:t>
            </a:r>
          </a:p>
          <a:p/>
          <a:p>
            <a:r>
              <a:rPr b="1"/>
              <a:t>ACTION: </a:t>
            </a:r>
            <a:r>
              <a:t>If the official audio includes a reading of the abstract, play it here or on the following slides while students read along.</a:t>
            </a:r>
          </a:p>
          <a:p/>
          <a:p>
            <a:r>
              <a:rPr b="1"/>
              <a:t>TRANSITION: </a:t>
            </a:r>
            <a:r>
              <a:t>'Background — the physics of a crash.'</a:t>
            </a:r>
          </a:p>
          <a:p/>
          <a:p>
            <a:r>
              <a:rPr b="1"/>
              <a:t>SOURCE: </a:t>
            </a:r>
            <a:r>
              <a:t>Teaching support: explains the genre convention behind the textbook's own three labelled sections. Reading the abstract itself is Task 5.</a:t>
            </a:r>
          </a:p>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P5 — CRASH INVESTIGATOR</a:t>
            </a:r>
          </a:p>
          <a:p/>
          <a:p>
            <a:r>
              <a:rPr b="1"/>
              <a:t>TIME: </a:t>
            </a:r>
            <a:r>
              <a:t>2 min</a:t>
            </a:r>
          </a:p>
          <a:p/>
          <a:p>
            <a:r>
              <a:rPr b="1"/>
              <a:t>OBJECTIVE: </a:t>
            </a:r>
            <a:r>
              <a:t>Walk through the Background section, sentence by sentence, matching each claim to the crash diagram.</a:t>
            </a:r>
          </a:p>
          <a:p/>
          <a:p>
            <a:r>
              <a:rPr b="1"/>
              <a:t>SAY: </a:t>
            </a:r>
            <a:r>
              <a:t>Background, sentence by sentence: passengers have potential energy. In a crash, the car decelerates quickly — that potential energy becomes kinetic energy. With a normal, non-stretching seatbelt, the stopping distance is short. A stretching seatbelt increases that distance.</a:t>
            </a:r>
          </a:p>
          <a:p/>
          <a:p>
            <a:r>
              <a:rPr b="1"/>
              <a:t>ASK: </a:t>
            </a:r>
            <a:r>
              <a:t>Which energy type does a moving passenger have, right before the crash?</a:t>
            </a:r>
          </a:p>
          <a:p/>
          <a:p>
            <a:r>
              <a:rPr b="1"/>
              <a:t>EXPECTED ANSWER: </a:t>
            </a:r>
            <a:r>
              <a:t>Kinetic energy.</a:t>
            </a:r>
          </a:p>
          <a:p/>
          <a:p>
            <a:r>
              <a:rPr b="1"/>
              <a:t>TRANSITION: </a:t>
            </a:r>
            <a:r>
              <a:t>'So what did the tests actually measure? Results.'</a:t>
            </a:r>
          </a:p>
          <a:p/>
          <a:p>
            <a:r>
              <a:rPr b="1"/>
              <a:t>SOURCE: </a:t>
            </a:r>
            <a:r>
              <a:t>Every clause quoted or lightly compressed from Textbook Abstract, Background. Diagram = teaching support.</a:t>
            </a:r>
          </a:p>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P5 — CRASH INVESTIGATOR</a:t>
            </a:r>
          </a:p>
          <a:p/>
          <a:p>
            <a:r>
              <a:rPr b="1"/>
              <a:t>TIME: </a:t>
            </a:r>
            <a:r>
              <a:t>1.5 min</a:t>
            </a:r>
          </a:p>
          <a:p/>
          <a:p>
            <a:r>
              <a:rPr b="1"/>
              <a:t>OBJECTIVE: </a:t>
            </a:r>
            <a:r>
              <a:t>Present the measured outcome (Results): force and Gs go down.</a:t>
            </a:r>
          </a:p>
          <a:p/>
          <a:p>
            <a:r>
              <a:rPr b="1"/>
              <a:t>SAY: </a:t>
            </a:r>
            <a:r>
              <a:t>Results: tests show that stretching seatbelts reduce the force and the Gs that passengers feel. Two numbers, both go down.</a:t>
            </a:r>
          </a:p>
          <a:p/>
          <a:p>
            <a:r>
              <a:rPr b="1"/>
              <a:t>ASK: </a:t>
            </a:r>
            <a:r>
              <a:t>Which two quantities were measured going down?</a:t>
            </a:r>
          </a:p>
          <a:p/>
          <a:p>
            <a:r>
              <a:rPr b="1"/>
              <a:t>EXPECTED ANSWER: </a:t>
            </a:r>
            <a:r>
              <a:t>Force, and Gs.</a:t>
            </a:r>
          </a:p>
          <a:p/>
          <a:p>
            <a:r>
              <a:rPr b="1"/>
              <a:t>TRANSITION: </a:t>
            </a:r>
            <a:r>
              <a:t>'Lower force is good — but WHY does that reduce injury? Conclusions.'</a:t>
            </a:r>
          </a:p>
          <a:p/>
          <a:p>
            <a:r>
              <a:rPr b="1"/>
              <a:t>SOURCE: </a:t>
            </a:r>
            <a:r>
              <a:t>Sentence quoted verbatim from Textbook Abstract, Results.</a:t>
            </a:r>
          </a:p>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P5 — CRASH INVESTIGATOR</a:t>
            </a:r>
          </a:p>
          <a:p/>
          <a:p>
            <a:r>
              <a:rPr b="1"/>
              <a:t>TIME: </a:t>
            </a:r>
            <a:r>
              <a:t>2 min</a:t>
            </a:r>
          </a:p>
          <a:p/>
          <a:p>
            <a:r>
              <a:rPr b="1"/>
              <a:t>OBJECTIVE: </a:t>
            </a:r>
            <a:r>
              <a:t>Deliver the causal chain of the Conclusions section — this is the answer to the mission-brief question.</a:t>
            </a:r>
          </a:p>
          <a:p/>
          <a:p>
            <a:r>
              <a:rPr b="1"/>
              <a:t>SAY: </a:t>
            </a:r>
            <a:r>
              <a:t>Conclusions: the new seatbelts reduce injuries. Why? Because less work is done on passengers — instead, most of the passenger's kinetic energy transfers to the belt.</a:t>
            </a:r>
          </a:p>
          <a:p>
            <a:r>
              <a:t>So the belt takes the energy instead of the passenger's body. That's the whole discovery.</a:t>
            </a:r>
          </a:p>
          <a:p/>
          <a:p>
            <a:r>
              <a:rPr b="1"/>
              <a:t>ASK: </a:t>
            </a:r>
            <a:r>
              <a:t>Where does most of the kinetic energy go, in the new design? (This directly answers Task 5's question: how do the new seatbelts reduce injuries?)</a:t>
            </a:r>
          </a:p>
          <a:p/>
          <a:p>
            <a:r>
              <a:rPr b="1"/>
              <a:t>EXPECTED ANSWER: </a:t>
            </a:r>
            <a:r>
              <a:t>It transfers to the belt (not the passenger).</a:t>
            </a:r>
          </a:p>
          <a:p/>
          <a:p>
            <a:r>
              <a:rPr b="1"/>
              <a:t>TRANSITION: </a:t>
            </a:r>
            <a:r>
              <a:t>'Let's put all three parts together — one picture, the whole discovery.'</a:t>
            </a:r>
          </a:p>
          <a:p/>
          <a:p>
            <a:r>
              <a:rPr b="1"/>
              <a:t>SOURCE: </a:t>
            </a:r>
            <a:r>
              <a:t>All three sentences quoted verbatim from Textbook Abstract, Conclusions.</a:t>
            </a:r>
          </a:p>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P5 — CRASH INVESTIGATOR</a:t>
            </a:r>
          </a:p>
          <a:p/>
          <a:p>
            <a:r>
              <a:rPr b="1"/>
              <a:t>TIME: </a:t>
            </a:r>
            <a:r>
              <a:t>2 min</a:t>
            </a:r>
          </a:p>
          <a:p/>
          <a:p>
            <a:r>
              <a:rPr b="1"/>
              <a:t>OBJECTIVE: </a:t>
            </a:r>
            <a:r>
              <a:t>Fuse Background+Results+Conclusions into ONE memorable causal chain — THE slide to remember for the exam.</a:t>
            </a:r>
          </a:p>
          <a:p/>
          <a:p>
            <a:r>
              <a:rPr b="1"/>
              <a:t>SAY: </a:t>
            </a:r>
            <a:r>
              <a:t>Here is the whole discovery as one chain. Car decelerates. Passenger keeps moving. Seatbelt stretches. That increases stopping distance. Greater stopping distance means less force and fewer Gs. Less force means fewer injuries.</a:t>
            </a:r>
          </a:p>
          <a:p>
            <a:r>
              <a:t>Six boxes. If you remember only one slide from today's class — remember this one.</a:t>
            </a:r>
          </a:p>
          <a:p/>
          <a:p>
            <a:r>
              <a:rPr b="1"/>
              <a:t>ASK: </a:t>
            </a:r>
            <a:r>
              <a:t>If I remove the word 'stretches' from box 3, does the rest of the chain still work?</a:t>
            </a:r>
          </a:p>
          <a:p/>
          <a:p>
            <a:r>
              <a:rPr b="1"/>
              <a:t>EXPECTED ANSWER: </a:t>
            </a:r>
            <a:r>
              <a:t>No — box 3 is the cause; without it, stopping distance never increases.</a:t>
            </a:r>
          </a:p>
          <a:p/>
          <a:p>
            <a:r>
              <a:rPr b="1"/>
              <a:t>ACTION: </a:t>
            </a:r>
            <a:r>
              <a:t>Trace the arrows top to bottom with your finger/pointer as you say each line.</a:t>
            </a:r>
          </a:p>
          <a:p/>
          <a:p>
            <a:r>
              <a:rPr b="1"/>
              <a:t>TRANSITION: </a:t>
            </a:r>
            <a:r>
              <a:t>'Time to prove you caught every step. Game three: Crash Detective.'</a:t>
            </a:r>
          </a:p>
          <a:p/>
          <a:p>
            <a:r>
              <a:rPr b="1"/>
              <a:t>SOURCE: </a:t>
            </a:r>
            <a:r>
              <a:t>Every box restates the textbook Abstract (Background + Results + Conclusions) as one visual chain — teaching support, not a new claim.</a:t>
            </a:r>
          </a:p>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P5 — CRASH INVESTIGATOR</a:t>
            </a:r>
          </a:p>
          <a:p/>
          <a:p>
            <a:r>
              <a:rPr b="1"/>
              <a:t>TIME: </a:t>
            </a:r>
            <a:r>
              <a:t>0.5 min</a:t>
            </a:r>
          </a:p>
          <a:p/>
          <a:p>
            <a:r>
              <a:rPr b="1"/>
              <a:t>OBJECTIVE: </a:t>
            </a:r>
            <a:r>
              <a:t>Explain the True/False mechanic in 20 seconds.</a:t>
            </a:r>
          </a:p>
          <a:p/>
          <a:p>
            <a:r>
              <a:rPr b="1"/>
              <a:t>SAY: </a:t>
            </a:r>
            <a:r>
              <a:t>Game three: Crash Detective. I'll read a statement from the report. Thumbs up for true, thumbs down for false. Let's practise once. Ready?</a:t>
            </a:r>
          </a:p>
          <a:p/>
          <a:p>
            <a:r>
              <a:rPr b="1"/>
              <a:t>ACTION: </a:t>
            </a:r>
            <a:r>
              <a:t>Mentors: watch your zone, not the front — you're checking students, not answering yourselves.</a:t>
            </a:r>
          </a:p>
          <a:p/>
          <a:p>
            <a:r>
              <a:rPr b="1"/>
              <a:t>TRANSITION: </a:t>
            </a:r>
            <a:r>
              <a:t>'Statement one.'</a:t>
            </a:r>
          </a:p>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P5 — CRASH INVESTIGATOR</a:t>
            </a:r>
          </a:p>
          <a:p/>
          <a:p>
            <a:r>
              <a:rPr b="1"/>
              <a:t>TIME: </a:t>
            </a:r>
            <a:r>
              <a:t>0.35 min</a:t>
            </a:r>
          </a:p>
          <a:p/>
          <a:p>
            <a:r>
              <a:rPr b="1"/>
              <a:t>SAY: </a:t>
            </a:r>
            <a:r>
              <a:t>Statement 1: Kinetic energy becomes potential energy in a crash. True or false? Thumbs — now!</a:t>
            </a:r>
          </a:p>
          <a:p/>
          <a:p>
            <a:r>
              <a:rPr b="1"/>
              <a:t>ASK: </a:t>
            </a:r>
            <a:r>
              <a:t>Thumbs up or thumbs down?</a:t>
            </a:r>
          </a:p>
          <a:p/>
          <a:p>
            <a:r>
              <a:rPr b="1"/>
              <a:t>EXPECTED ANSWER: </a:t>
            </a:r>
            <a:r>
              <a:t>FALSE.</a:t>
            </a:r>
          </a:p>
          <a:p/>
          <a:p>
            <a:r>
              <a:rPr b="1"/>
              <a:t>ACTION: </a:t>
            </a:r>
            <a:r>
              <a:t>Give 5 seconds thinking time before you say 'now'.</a:t>
            </a:r>
          </a:p>
          <a:p/>
          <a:p>
            <a:r>
              <a:rPr b="1"/>
              <a:t>TRANSITION: </a:t>
            </a:r>
            <a:r>
              <a:t>Click → answer.</a:t>
            </a:r>
          </a:p>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P5 — CRASH INVESTIGATOR</a:t>
            </a:r>
          </a:p>
          <a:p/>
          <a:p>
            <a:r>
              <a:rPr b="1"/>
              <a:t>TIME: </a:t>
            </a:r>
            <a:r>
              <a:t>0.55 min</a:t>
            </a:r>
          </a:p>
          <a:p/>
          <a:p>
            <a:r>
              <a:rPr b="1"/>
              <a:t>SAY: </a:t>
            </a:r>
            <a:r>
              <a:t>The abstract says the opposite: the passengers' POTENTIAL energy becomes KINETIC energy.</a:t>
            </a:r>
          </a:p>
          <a:p/>
          <a:p>
            <a:r>
              <a:rPr b="1"/>
              <a:t>ACTION: </a:t>
            </a:r>
            <a:r>
              <a:t>Award +100 EP to zones that were mostly correct.</a:t>
            </a:r>
          </a:p>
          <a:p/>
          <a:p>
            <a:r>
              <a:rPr b="1"/>
              <a:t>TRANSITION: </a:t>
            </a:r>
            <a:r>
              <a:t>Next statement.</a:t>
            </a:r>
          </a:p>
          <a:p/>
          <a:p>
            <a:r>
              <a:rPr b="1"/>
              <a:t>SOURCE: </a:t>
            </a:r>
            <a:r>
              <a:t>Textbook Task 2 statement, reworded/negated for the T/F game.</a:t>
            </a:r>
          </a:p>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P5 — CRASH INVESTIGATOR</a:t>
            </a:r>
          </a:p>
          <a:p/>
          <a:p>
            <a:r>
              <a:rPr b="1"/>
              <a:t>TIME: </a:t>
            </a:r>
            <a:r>
              <a:t>0.35 min</a:t>
            </a:r>
          </a:p>
          <a:p/>
          <a:p>
            <a:r>
              <a:rPr b="1"/>
              <a:t>SAY: </a:t>
            </a:r>
            <a:r>
              <a:t>Statement 2: Shorter stopping distances exert less force on people. True or false? Thumbs — now!</a:t>
            </a:r>
          </a:p>
          <a:p/>
          <a:p>
            <a:r>
              <a:rPr b="1"/>
              <a:t>ASK: </a:t>
            </a:r>
            <a:r>
              <a:t>Thumbs up or thumbs down?</a:t>
            </a:r>
          </a:p>
          <a:p/>
          <a:p>
            <a:r>
              <a:rPr b="1"/>
              <a:t>EXPECTED ANSWER: </a:t>
            </a:r>
            <a:r>
              <a:t>FALSE.</a:t>
            </a:r>
          </a:p>
          <a:p/>
          <a:p>
            <a:r>
              <a:rPr b="1"/>
              <a:t>ACTION: </a:t>
            </a:r>
            <a:r>
              <a:t>Give 5 seconds thinking time before you say 'now'.</a:t>
            </a:r>
          </a:p>
          <a:p/>
          <a:p>
            <a:r>
              <a:rPr b="1"/>
              <a:t>TRANSITION: </a:t>
            </a:r>
            <a:r>
              <a:t>Click → answer.</a:t>
            </a:r>
          </a:p>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P5 — CRASH INVESTIGATOR</a:t>
            </a:r>
          </a:p>
          <a:p/>
          <a:p>
            <a:r>
              <a:rPr b="1"/>
              <a:t>TIME: </a:t>
            </a:r>
            <a:r>
              <a:t>0.55 min</a:t>
            </a:r>
          </a:p>
          <a:p/>
          <a:p>
            <a:r>
              <a:rPr b="1"/>
              <a:t>SAY: </a:t>
            </a:r>
            <a:r>
              <a:t>A slightly GREATER stopping distance exerts LESS force. Shorter distance = more force.</a:t>
            </a:r>
          </a:p>
          <a:p/>
          <a:p>
            <a:r>
              <a:rPr b="1"/>
              <a:t>ACTION: </a:t>
            </a:r>
            <a:r>
              <a:t>Award +100 EP to zones that were mostly correct.</a:t>
            </a:r>
          </a:p>
          <a:p/>
          <a:p>
            <a:r>
              <a:rPr b="1"/>
              <a:t>TRANSITION: </a:t>
            </a:r>
            <a:r>
              <a:t>Next statement.</a:t>
            </a:r>
          </a:p>
          <a:p/>
          <a:p>
            <a:r>
              <a:rPr b="1"/>
              <a:t>SOURCE: </a:t>
            </a:r>
            <a:r>
              <a:t>Textbook Task 2 statement, reworded/negated for the T/F game.</a:t>
            </a:r>
          </a:p>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P5 — CRASH INVESTIGATOR</a:t>
            </a:r>
          </a:p>
          <a:p/>
          <a:p>
            <a:r>
              <a:rPr b="1"/>
              <a:t>TIME: </a:t>
            </a:r>
            <a:r>
              <a:t>0.35 min</a:t>
            </a:r>
          </a:p>
          <a:p/>
          <a:p>
            <a:r>
              <a:rPr b="1"/>
              <a:t>SAY: </a:t>
            </a:r>
            <a:r>
              <a:t>Statement 3: Stretching seatbelts cause less work to be done on people. True or false? Thumbs — now!</a:t>
            </a:r>
          </a:p>
          <a:p/>
          <a:p>
            <a:r>
              <a:rPr b="1"/>
              <a:t>ASK: </a:t>
            </a:r>
            <a:r>
              <a:t>Thumbs up or thumbs down?</a:t>
            </a:r>
          </a:p>
          <a:p/>
          <a:p>
            <a:r>
              <a:rPr b="1"/>
              <a:t>EXPECTED ANSWER: </a:t>
            </a:r>
            <a:r>
              <a:t>TRUE.</a:t>
            </a:r>
          </a:p>
          <a:p/>
          <a:p>
            <a:r>
              <a:rPr b="1"/>
              <a:t>ACTION: </a:t>
            </a:r>
            <a:r>
              <a:t>Give 5 seconds thinking time before you say 'now'.</a:t>
            </a:r>
          </a:p>
          <a:p/>
          <a:p>
            <a:r>
              <a:rPr b="1"/>
              <a:t>TRANSITION: </a:t>
            </a:r>
            <a:r>
              <a:t>Click → answer.</a:t>
            </a:r>
          </a:p>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P5 — CRASH INVESTIGATOR</a:t>
            </a:r>
          </a:p>
          <a:p/>
          <a:p>
            <a:r>
              <a:rPr b="1"/>
              <a:t>TIME: </a:t>
            </a:r>
            <a:r>
              <a:t>0.55 min</a:t>
            </a:r>
          </a:p>
          <a:p/>
          <a:p>
            <a:r>
              <a:rPr b="1"/>
              <a:t>SAY: </a:t>
            </a:r>
            <a:r>
              <a:t>Conclusions: 'less work is done on passengers'.</a:t>
            </a:r>
          </a:p>
          <a:p/>
          <a:p>
            <a:r>
              <a:rPr b="1"/>
              <a:t>ACTION: </a:t>
            </a:r>
            <a:r>
              <a:t>Award +100 EP to zones that were mostly correct.</a:t>
            </a:r>
          </a:p>
          <a:p/>
          <a:p>
            <a:r>
              <a:rPr b="1"/>
              <a:t>TRANSITION: </a:t>
            </a:r>
            <a:r>
              <a:t>Next statement.</a:t>
            </a:r>
          </a:p>
          <a:p/>
          <a:p>
            <a:r>
              <a:rPr b="1"/>
              <a:t>SOURCE: </a:t>
            </a:r>
            <a:r>
              <a:t>Textbook Task 2 statement, reworded/negated for the T/F game.</a:t>
            </a:r>
          </a:p>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P5 — CRASH INVESTIGATOR</a:t>
            </a:r>
          </a:p>
          <a:p/>
          <a:p>
            <a:r>
              <a:rPr b="1"/>
              <a:t>TIME: </a:t>
            </a:r>
            <a:r>
              <a:t>0.35 min</a:t>
            </a:r>
          </a:p>
          <a:p/>
          <a:p>
            <a:r>
              <a:rPr b="1"/>
              <a:t>SAY: </a:t>
            </a:r>
            <a:r>
              <a:t>Statement 4: Stretching the seatbelt increases the stopping distance. True or false? Thumbs — now!</a:t>
            </a:r>
          </a:p>
          <a:p/>
          <a:p>
            <a:r>
              <a:rPr b="1"/>
              <a:t>ASK: </a:t>
            </a:r>
            <a:r>
              <a:t>Thumbs up or thumbs down?</a:t>
            </a:r>
          </a:p>
          <a:p/>
          <a:p>
            <a:r>
              <a:rPr b="1"/>
              <a:t>EXPECTED ANSWER: </a:t>
            </a:r>
            <a:r>
              <a:t>TRUE.</a:t>
            </a:r>
          </a:p>
          <a:p/>
          <a:p>
            <a:r>
              <a:rPr b="1"/>
              <a:t>ACTION: </a:t>
            </a:r>
            <a:r>
              <a:t>Give 5 seconds thinking time before you say 'now'.</a:t>
            </a:r>
          </a:p>
          <a:p/>
          <a:p>
            <a:r>
              <a:rPr b="1"/>
              <a:t>TRANSITION: </a:t>
            </a:r>
            <a:r>
              <a:t>Click → answer.</a:t>
            </a:r>
          </a:p>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P5 — CRASH INVESTIGATOR</a:t>
            </a:r>
          </a:p>
          <a:p/>
          <a:p>
            <a:r>
              <a:rPr b="1"/>
              <a:t>TIME: </a:t>
            </a:r>
            <a:r>
              <a:t>0.55 min</a:t>
            </a:r>
          </a:p>
          <a:p/>
          <a:p>
            <a:r>
              <a:rPr b="1"/>
              <a:t>SAY: </a:t>
            </a:r>
            <a:r>
              <a:t>Background: 'Stretching seatbelts increase this distance.'</a:t>
            </a:r>
          </a:p>
          <a:p/>
          <a:p>
            <a:r>
              <a:rPr b="1"/>
              <a:t>ACTION: </a:t>
            </a:r>
            <a:r>
              <a:t>Award +100 EP to zones that were mostly correct.</a:t>
            </a:r>
          </a:p>
          <a:p/>
          <a:p>
            <a:r>
              <a:rPr b="1"/>
              <a:t>TRANSITION: </a:t>
            </a:r>
            <a:r>
              <a:t>Next statement.</a:t>
            </a:r>
          </a:p>
          <a:p/>
          <a:p>
            <a:r>
              <a:rPr b="1"/>
              <a:t>SOURCE: </a:t>
            </a:r>
            <a:r>
              <a:t>Supplementary revision statement built directly on the Abstract (not from Task 2).</a:t>
            </a:r>
          </a:p>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P5 — CRASH INVESTIGATOR</a:t>
            </a:r>
          </a:p>
          <a:p/>
          <a:p>
            <a:r>
              <a:rPr b="1"/>
              <a:t>TIME: </a:t>
            </a:r>
            <a:r>
              <a:t>0.35 min</a:t>
            </a:r>
          </a:p>
          <a:p/>
          <a:p>
            <a:r>
              <a:rPr b="1"/>
              <a:t>SAY: </a:t>
            </a:r>
            <a:r>
              <a:t>Statement 5: The tests showed an increase in Gs. True or false? Thumbs — now!</a:t>
            </a:r>
          </a:p>
          <a:p/>
          <a:p>
            <a:r>
              <a:rPr b="1"/>
              <a:t>ASK: </a:t>
            </a:r>
            <a:r>
              <a:t>Thumbs up or thumbs down?</a:t>
            </a:r>
          </a:p>
          <a:p/>
          <a:p>
            <a:r>
              <a:rPr b="1"/>
              <a:t>EXPECTED ANSWER: </a:t>
            </a:r>
            <a:r>
              <a:t>FALSE.</a:t>
            </a:r>
          </a:p>
          <a:p/>
          <a:p>
            <a:r>
              <a:rPr b="1"/>
              <a:t>ACTION: </a:t>
            </a:r>
            <a:r>
              <a:t>Give 5 seconds thinking time before you say 'now'.</a:t>
            </a:r>
          </a:p>
          <a:p/>
          <a:p>
            <a:r>
              <a:rPr b="1"/>
              <a:t>TRANSITION: </a:t>
            </a:r>
            <a:r>
              <a:t>Click → answer.</a:t>
            </a:r>
          </a:p>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P5 — CRASH INVESTIGATOR</a:t>
            </a:r>
          </a:p>
          <a:p/>
          <a:p>
            <a:r>
              <a:rPr b="1"/>
              <a:t>TIME: </a:t>
            </a:r>
            <a:r>
              <a:t>0.55 min</a:t>
            </a:r>
          </a:p>
          <a:p/>
          <a:p>
            <a:r>
              <a:rPr b="1"/>
              <a:t>SAY: </a:t>
            </a:r>
            <a:r>
              <a:t>Results: stretching seatbelts REDUCE the force and Gs that passengers feel.</a:t>
            </a:r>
          </a:p>
          <a:p/>
          <a:p>
            <a:r>
              <a:rPr b="1"/>
              <a:t>ACTION: </a:t>
            </a:r>
            <a:r>
              <a:t>Award +100 EP to zones that were mostly correct.</a:t>
            </a:r>
          </a:p>
          <a:p/>
          <a:p>
            <a:r>
              <a:rPr b="1"/>
              <a:t>TRANSITION: </a:t>
            </a:r>
            <a:r>
              <a:t>Next statement.</a:t>
            </a:r>
          </a:p>
          <a:p/>
          <a:p>
            <a:r>
              <a:rPr b="1"/>
              <a:t>SOURCE: </a:t>
            </a:r>
            <a:r>
              <a:t>Supplementary revision statement built directly on the Abstract (not from Task 2).</a:t>
            </a:r>
          </a:p>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P5 — CRASH INVESTIGATOR</a:t>
            </a:r>
          </a:p>
          <a:p/>
          <a:p>
            <a:r>
              <a:rPr b="1"/>
              <a:t>TIME: </a:t>
            </a:r>
            <a:r>
              <a:t>0.35 min</a:t>
            </a:r>
          </a:p>
          <a:p/>
          <a:p>
            <a:r>
              <a:rPr b="1"/>
              <a:t>SAY: </a:t>
            </a:r>
            <a:r>
              <a:t>Statement 6: With non-stretching seatbelts, the stopping distance is long. True or false? Thumbs — now!</a:t>
            </a:r>
          </a:p>
          <a:p/>
          <a:p>
            <a:r>
              <a:rPr b="1"/>
              <a:t>ASK: </a:t>
            </a:r>
            <a:r>
              <a:t>Thumbs up or thumbs down?</a:t>
            </a:r>
          </a:p>
          <a:p/>
          <a:p>
            <a:r>
              <a:rPr b="1"/>
              <a:t>EXPECTED ANSWER: </a:t>
            </a:r>
            <a:r>
              <a:t>FALSE.</a:t>
            </a:r>
          </a:p>
          <a:p/>
          <a:p>
            <a:r>
              <a:rPr b="1"/>
              <a:t>ACTION: </a:t>
            </a:r>
            <a:r>
              <a:t>Give 5 seconds thinking time before you say 'now'.</a:t>
            </a:r>
          </a:p>
          <a:p/>
          <a:p>
            <a:r>
              <a:rPr b="1"/>
              <a:t>TRANSITION: </a:t>
            </a:r>
            <a:r>
              <a:t>Click → answer.</a:t>
            </a:r>
          </a:p>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P5 — CRASH INVESTIGATOR</a:t>
            </a:r>
          </a:p>
          <a:p/>
          <a:p>
            <a:r>
              <a:rPr b="1"/>
              <a:t>TIME: </a:t>
            </a:r>
            <a:r>
              <a:t>0.55 min</a:t>
            </a:r>
          </a:p>
          <a:p/>
          <a:p>
            <a:r>
              <a:rPr b="1"/>
              <a:t>SAY: </a:t>
            </a:r>
            <a:r>
              <a:t>Background: with non-stretching seatbelts the stopping distance is SHORT.</a:t>
            </a:r>
          </a:p>
          <a:p/>
          <a:p>
            <a:r>
              <a:rPr b="1"/>
              <a:t>ACTION: </a:t>
            </a:r>
            <a:r>
              <a:t>Award +100 EP to zones that were mostly correct.</a:t>
            </a:r>
          </a:p>
          <a:p/>
          <a:p>
            <a:r>
              <a:rPr b="1"/>
              <a:t>TRANSITION: </a:t>
            </a:r>
            <a:r>
              <a:t>Next statement.</a:t>
            </a:r>
          </a:p>
          <a:p/>
          <a:p>
            <a:r>
              <a:rPr b="1"/>
              <a:t>SOURCE: </a:t>
            </a:r>
            <a:r>
              <a:t>Supplementary revision statement built directly on the Abstract (not from Task 2).</a:t>
            </a:r>
          </a:p>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P5 — CRASH INVESTIGATOR</a:t>
            </a:r>
          </a:p>
          <a:p/>
          <a:p>
            <a:r>
              <a:rPr b="1"/>
              <a:t>TIME: </a:t>
            </a:r>
            <a:r>
              <a:t>0.35 min</a:t>
            </a:r>
          </a:p>
          <a:p/>
          <a:p>
            <a:r>
              <a:rPr b="1"/>
              <a:t>SAY: </a:t>
            </a:r>
            <a:r>
              <a:t>Statement 7: Most of the passenger's kinetic energy transfers to the belt. True or false? Thumbs — now!</a:t>
            </a:r>
          </a:p>
          <a:p/>
          <a:p>
            <a:r>
              <a:rPr b="1"/>
              <a:t>ASK: </a:t>
            </a:r>
            <a:r>
              <a:t>Thumbs up or thumbs down?</a:t>
            </a:r>
          </a:p>
          <a:p/>
          <a:p>
            <a:r>
              <a:rPr b="1"/>
              <a:t>EXPECTED ANSWER: </a:t>
            </a:r>
            <a:r>
              <a:t>TRUE.</a:t>
            </a:r>
          </a:p>
          <a:p/>
          <a:p>
            <a:r>
              <a:rPr b="1"/>
              <a:t>ACTION: </a:t>
            </a:r>
            <a:r>
              <a:t>Give 5 seconds thinking time before you say 'now'.</a:t>
            </a:r>
          </a:p>
          <a:p/>
          <a:p>
            <a:r>
              <a:rPr b="1"/>
              <a:t>TRANSITION: </a:t>
            </a:r>
            <a:r>
              <a:t>Click → answer.</a:t>
            </a:r>
          </a:p>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P5 — CRASH INVESTIGATOR</a:t>
            </a:r>
          </a:p>
          <a:p/>
          <a:p>
            <a:r>
              <a:rPr b="1"/>
              <a:t>TIME: </a:t>
            </a:r>
            <a:r>
              <a:t>1.1 min</a:t>
            </a:r>
          </a:p>
          <a:p/>
          <a:p>
            <a:r>
              <a:rPr b="1"/>
              <a:t>SAY: </a:t>
            </a:r>
            <a:r>
              <a:t>Conclusions: 'most of the passenger's kinetic energy transfers to the belt'. That's five for five — nice detective work. Mentors, lock in your EP totals.</a:t>
            </a:r>
          </a:p>
          <a:p/>
          <a:p>
            <a:r>
              <a:rPr b="1"/>
              <a:t>ACTION: </a:t>
            </a:r>
            <a:r>
              <a:t>Award +100 EP to zones that were mostly correct.</a:t>
            </a:r>
          </a:p>
          <a:p/>
          <a:p>
            <a:r>
              <a:rPr b="1"/>
              <a:t>TRANSITION: </a:t>
            </a:r>
            <a:r>
              <a:t>'You've earned the right to talk like engineers. Next: the Language of Engineers.' → P6.</a:t>
            </a:r>
          </a:p>
          <a:p/>
          <a:p>
            <a:r>
              <a:rPr b="1"/>
              <a:t>SOURCE: </a:t>
            </a:r>
            <a:r>
              <a:t>Supplementary revision statement built directly on the Abstract (not from Task 2).</a:t>
            </a:r>
          </a:p>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P6 — COMMUNICATION ENGINEER</a:t>
            </a:r>
          </a:p>
          <a:p/>
          <a:p>
            <a:r>
              <a:rPr b="1"/>
              <a:t>TIME: </a:t>
            </a:r>
            <a:r>
              <a:t>0.5 min</a:t>
            </a:r>
          </a:p>
          <a:p/>
          <a:p>
            <a:r>
              <a:rPr b="1"/>
              <a:t>OBJECTIVE: </a:t>
            </a:r>
            <a:r>
              <a:t>Bridge from content mastery to accurate language use.</a:t>
            </a:r>
          </a:p>
          <a:p/>
          <a:p>
            <a:r>
              <a:rPr b="1"/>
              <a:t>SAY: </a:t>
            </a:r>
            <a:r>
              <a:t>You now understand the engineering. But can you talk about it correctly? Five structures, all straight from this unit's language.</a:t>
            </a:r>
          </a:p>
          <a:p/>
          <a:p>
            <a:r>
              <a:rPr b="1"/>
              <a:t>TRANSITION: </a:t>
            </a:r>
            <a:r>
              <a:t>'First: comparing old and new.'</a:t>
            </a:r>
          </a:p>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P6 — COMMUNICATION ENGINEER</a:t>
            </a:r>
          </a:p>
          <a:p/>
          <a:p>
            <a:r>
              <a:rPr b="1"/>
              <a:t>TIME: </a:t>
            </a:r>
            <a:r>
              <a:t>2.5 min</a:t>
            </a:r>
          </a:p>
          <a:p/>
          <a:p>
            <a:r>
              <a:rPr b="1"/>
              <a:t>OBJECTIVE: </a:t>
            </a:r>
            <a:r>
              <a:t>Teach short-adjective comparatives (+er) with the seatbelt context; give the one working example sentence.</a:t>
            </a:r>
          </a:p>
          <a:p/>
          <a:p>
            <a:r>
              <a:rPr b="1"/>
              <a:t>SAY: </a:t>
            </a:r>
            <a:r>
              <a:t>Comparatives: for short adjectives, we add -er. Long becomes longer, short becomes shorter, safe becomes safer, great becomes greater.</a:t>
            </a:r>
          </a:p>
          <a:p>
            <a:r>
              <a:t>Engineer sentence: the new seatbelt is safer than the current seatbelt. Notice the pattern: adjective + ER + THAN.</a:t>
            </a:r>
          </a:p>
          <a:p/>
          <a:p>
            <a:r>
              <a:rPr b="1"/>
              <a:t>ASK: </a:t>
            </a:r>
            <a:r>
              <a:t>Complete it: the new design has a ______ (long) stopping distance than the old one.</a:t>
            </a:r>
          </a:p>
          <a:p/>
          <a:p>
            <a:r>
              <a:rPr b="1"/>
              <a:t>EXPECTED ANSWER: </a:t>
            </a:r>
            <a:r>
              <a:t>longer</a:t>
            </a:r>
          </a:p>
          <a:p/>
          <a:p>
            <a:r>
              <a:rPr b="1"/>
              <a:t>TRANSITION: </a:t>
            </a:r>
            <a:r>
              <a:t>'Comparatives describe the belt. Now — how do we talk about the PLAN to test it?'</a:t>
            </a:r>
          </a:p>
          <a:p/>
          <a:p>
            <a:r>
              <a:rPr b="1"/>
              <a:t>SOURCE: </a:t>
            </a:r>
            <a:r>
              <a:t>Comparative pattern is teaching support built for this unit's needed structures; 'safer' appears in the textbook's Speaking/Listening language box (Task 8).</a:t>
            </a:r>
          </a:p>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P6 — COMMUNICATION ENGINEER</a:t>
            </a:r>
          </a:p>
          <a:p/>
          <a:p>
            <a:r>
              <a:rPr b="1"/>
              <a:t>TIME: </a:t>
            </a:r>
            <a:r>
              <a:t>2 min</a:t>
            </a:r>
          </a:p>
          <a:p/>
          <a:p>
            <a:r>
              <a:rPr b="1"/>
              <a:t>OBJECTIVE: </a:t>
            </a:r>
            <a:r>
              <a:t>Teach be+going to+base verb = plan/intention, using the exact textbook question.</a:t>
            </a:r>
          </a:p>
          <a:p/>
          <a:p>
            <a:r>
              <a:rPr b="1"/>
              <a:t>SAY: </a:t>
            </a:r>
            <a:r>
              <a:t>Be going to plus the base verb. The textbook asks: are you going to make the seatbelts stretch more? This means a plan or an intention — a decision already made.</a:t>
            </a:r>
          </a:p>
          <a:p>
            <a:r>
              <a:t>Structure: subject, be, going to, base verb. We ARE GOING TO test it.</a:t>
            </a:r>
          </a:p>
          <a:p/>
          <a:p>
            <a:r>
              <a:rPr b="1"/>
              <a:t>ASK: </a:t>
            </a:r>
            <a:r>
              <a:t>Make your own sentence: 'The company _____ (plan) test three new designs.'</a:t>
            </a:r>
          </a:p>
          <a:p/>
          <a:p>
            <a:r>
              <a:rPr b="1"/>
              <a:t>EXPECTED ANSWER: </a:t>
            </a:r>
            <a:r>
              <a:t>is going to test</a:t>
            </a:r>
          </a:p>
          <a:p/>
          <a:p>
            <a:r>
              <a:rPr b="1"/>
              <a:t>TRANSITION: </a:t>
            </a:r>
            <a:r>
              <a:t>'Now a different structure — for something already scheduled.'</a:t>
            </a:r>
          </a:p>
          <a:p/>
          <a:p>
            <a:r>
              <a:rPr b="1"/>
              <a:t>SOURCE: </a:t>
            </a:r>
            <a:r>
              <a:t>Question quoted from Task 8 'Use language such as' box.</a:t>
            </a:r>
          </a:p>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P6 — COMMUNICATION ENGINEER</a:t>
            </a:r>
          </a:p>
          <a:p/>
          <a:p>
            <a:r>
              <a:rPr b="1"/>
              <a:t>TIME: </a:t>
            </a:r>
            <a:r>
              <a:t>2.5 min</a:t>
            </a:r>
          </a:p>
          <a:p/>
          <a:p>
            <a:r>
              <a:rPr b="1"/>
              <a:t>OBJECTIVE: </a:t>
            </a:r>
            <a:r>
              <a:t>Contrast be-going-to (plan) with present continuous (fixed arrangement) using the two textbook sentences.</a:t>
            </a:r>
          </a:p>
          <a:p/>
          <a:p>
            <a:r>
              <a:rPr b="1"/>
              <a:t>SAY: </a:t>
            </a:r>
            <a:r>
              <a:t>Both sentences talk about the future — but they're different. 'We're going to test it' is a plan; no fixed date. 'We're testing it next week' is an arrangement — the time next week is already fixed. Same idea, more certainty.</a:t>
            </a:r>
          </a:p>
          <a:p/>
          <a:p>
            <a:r>
              <a:rPr b="1"/>
              <a:t>ASK: </a:t>
            </a:r>
            <a:r>
              <a:t>Which sentence sounds more certain, more organised?</a:t>
            </a:r>
          </a:p>
          <a:p/>
          <a:p>
            <a:r>
              <a:rPr b="1"/>
              <a:t>EXPECTED ANSWER: </a:t>
            </a:r>
            <a:r>
              <a:t>'We're testing it next week' — because a time is already fixed.</a:t>
            </a:r>
          </a:p>
          <a:p/>
          <a:p>
            <a:r>
              <a:rPr b="1"/>
              <a:t>TRANSITION: </a:t>
            </a:r>
            <a:r>
              <a:t>'One more structure hides inside a textbook question: can.'</a:t>
            </a:r>
          </a:p>
          <a:p/>
          <a:p>
            <a:r>
              <a:rPr b="1"/>
              <a:t>SOURCE: </a:t>
            </a:r>
            <a:r>
              <a:t>Both example sentences quoted from Task 7/8 (the engineer dialogue and the language box).</a:t>
            </a:r>
          </a:p>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P6 — COMMUNICATION ENGINEER</a:t>
            </a:r>
          </a:p>
          <a:p/>
          <a:p>
            <a:r>
              <a:rPr b="1"/>
              <a:t>TIME: </a:t>
            </a:r>
            <a:r>
              <a:t>2.5 min</a:t>
            </a:r>
          </a:p>
          <a:p/>
          <a:p>
            <a:r>
              <a:rPr b="1"/>
              <a:t>OBJECTIVE: </a:t>
            </a:r>
            <a:r>
              <a:t>Fix the most common error: can + BASE VERB, never 'can to' or 'can + -s'.</a:t>
            </a:r>
          </a:p>
          <a:p/>
          <a:p>
            <a:r>
              <a:rPr b="1"/>
              <a:t>SAY: </a:t>
            </a:r>
            <a:r>
              <a:t>Can plus the base verb — no 'to', no '-s'. Can make, can reduce, can transfer — all correct. 'Can to make' and 'can reduces' are both wrong, even though students say them all the time.</a:t>
            </a:r>
          </a:p>
          <a:p/>
          <a:p>
            <a:r>
              <a:rPr b="1"/>
              <a:t>ASK: </a:t>
            </a:r>
            <a:r>
              <a:t>Which is correct: 'the belt can reduces injuries' or 'the belt can reduce injuries'?</a:t>
            </a:r>
          </a:p>
          <a:p/>
          <a:p>
            <a:r>
              <a:rPr b="1"/>
              <a:t>EXPECTED ANSWER: </a:t>
            </a:r>
            <a:r>
              <a:t>can reduce (no -s).</a:t>
            </a:r>
          </a:p>
          <a:p/>
          <a:p>
            <a:r>
              <a:rPr b="1"/>
              <a:t>TRANSITION: </a:t>
            </a:r>
            <a:r>
              <a:t>'One structure left — and it's the strangest-looking one: the passive.'</a:t>
            </a:r>
          </a:p>
          <a:p/>
          <a:p>
            <a:r>
              <a:rPr b="1"/>
              <a:t>SOURCE: </a:t>
            </a:r>
            <a:r>
              <a:t>Question quoted from Task 8 language box. Correct/incorrect examples = teaching support anticipating a common learner error.</a:t>
            </a:r>
          </a:p>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P6 — COMMUNICATION ENGINEER</a:t>
            </a:r>
          </a:p>
          <a:p/>
          <a:p>
            <a:r>
              <a:rPr b="1"/>
              <a:t>TIME: </a:t>
            </a:r>
            <a:r>
              <a:t>3 min</a:t>
            </a:r>
          </a:p>
          <a:p/>
          <a:p>
            <a:r>
              <a:rPr b="1"/>
              <a:t>OBJECTIVE: </a:t>
            </a:r>
            <a:r>
              <a:t>Recognise the passive (be + past participle) in the two forms the textbook actually uses.</a:t>
            </a:r>
          </a:p>
          <a:p/>
          <a:p>
            <a:r>
              <a:rPr b="1"/>
              <a:t>SAY: </a:t>
            </a:r>
            <a:r>
              <a:t>Last structure: the passive. Pattern: be plus the past participle. 'Work is done on passengers' — present tense passive. 'Energy will be transferred to the belt' — future passive: will + be + past participle.</a:t>
            </a:r>
          </a:p>
          <a:p>
            <a:r>
              <a:t>Why passive? Because the textbook wants to focus on the PASSENGER and the ENERGY — not on who does the action.</a:t>
            </a:r>
          </a:p>
          <a:p/>
          <a:p>
            <a:r>
              <a:rPr b="1"/>
              <a:t>ASK: </a:t>
            </a:r>
            <a:r>
              <a:t>In 'energy will be transferred', which two words together make it passive?</a:t>
            </a:r>
          </a:p>
          <a:p/>
          <a:p>
            <a:r>
              <a:rPr b="1"/>
              <a:t>EXPECTED ANSWER: </a:t>
            </a:r>
            <a:r>
              <a:t>will be (+ the past participle 'transferred').</a:t>
            </a:r>
          </a:p>
          <a:p/>
          <a:p>
            <a:r>
              <a:rPr b="1"/>
              <a:t>TRANSITION: </a:t>
            </a:r>
            <a:r>
              <a:t>'Five structures. Time to fix some broken English — Game four: Error 404.'</a:t>
            </a:r>
          </a:p>
          <a:p/>
          <a:p>
            <a:r>
              <a:rPr b="1"/>
              <a:t>SOURCE: </a:t>
            </a:r>
            <a:r>
              <a:t>'Work is done on passengers' quoted from the Abstract Conclusions. 'Energy will be transferred to the belt' quoted from Task 7, item 3-4.</a:t>
            </a:r>
          </a:p>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P6 — COMMUNICATION ENGINEER</a:t>
            </a:r>
          </a:p>
          <a:p/>
          <a:p>
            <a:r>
              <a:rPr b="1"/>
              <a:t>TIME: </a:t>
            </a:r>
            <a:r>
              <a:t>0.5 min</a:t>
            </a:r>
          </a:p>
          <a:p/>
          <a:p>
            <a:r>
              <a:rPr b="1"/>
              <a:t>OBJECTIVE: </a:t>
            </a:r>
            <a:r>
              <a:t>Explain the error-correction game in 20 seconds.</a:t>
            </a:r>
          </a:p>
          <a:p/>
          <a:p>
            <a:r>
              <a:rPr b="1"/>
              <a:t>SAY: </a:t>
            </a:r>
            <a:r>
              <a:t>Language system failure. Engineer-dot-exe is speaking bad English. Your job: repair the sentence, out loud, correctly. Fastest correct team: plus 100 EP.</a:t>
            </a:r>
          </a:p>
          <a:p/>
          <a:p>
            <a:r>
              <a:rPr b="1"/>
              <a:t>TRANSITION: </a:t>
            </a:r>
            <a:r>
              <a:t>'Bug one.'</a:t>
            </a:r>
          </a:p>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P6 — COMMUNICATION ENGINEER</a:t>
            </a:r>
          </a:p>
          <a:p/>
          <a:p>
            <a:r>
              <a:rPr b="1"/>
              <a:t>TIME: </a:t>
            </a:r>
            <a:r>
              <a:t>0.35 min</a:t>
            </a:r>
          </a:p>
          <a:p/>
          <a:p>
            <a:r>
              <a:rPr b="1"/>
              <a:t>SAY: </a:t>
            </a:r>
            <a:r>
              <a:t>Bug 1: We can to make it safer. What's wrong, and what's the fix?</a:t>
            </a:r>
          </a:p>
          <a:p/>
          <a:p>
            <a:r>
              <a:rPr b="1"/>
              <a:t>ASK: </a:t>
            </a:r>
            <a:r>
              <a:t>What's the correct sentence?</a:t>
            </a:r>
          </a:p>
          <a:p/>
          <a:p>
            <a:r>
              <a:rPr b="1"/>
              <a:t>EXPECTED ANSWER: </a:t>
            </a:r>
            <a:r>
              <a:t>We can make it safer.</a:t>
            </a:r>
          </a:p>
          <a:p/>
          <a:p>
            <a:r>
              <a:rPr b="1"/>
              <a:t>ACTION: </a:t>
            </a:r>
            <a:r>
              <a:t>Give 10 seconds; take a verbal answer from a fast zone.</a:t>
            </a:r>
          </a:p>
          <a:p/>
          <a:p>
            <a:r>
              <a:rPr b="1"/>
              <a:t>TRANSITION: </a:t>
            </a:r>
            <a:r>
              <a:t>Click → fix.</a:t>
            </a:r>
          </a:p>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P6 — COMMUNICATION ENGINEER</a:t>
            </a:r>
          </a:p>
          <a:p/>
          <a:p>
            <a:r>
              <a:rPr b="1"/>
              <a:t>TIME: </a:t>
            </a:r>
            <a:r>
              <a:t>0.75 min</a:t>
            </a:r>
          </a:p>
          <a:p/>
          <a:p>
            <a:r>
              <a:rPr b="1"/>
              <a:t>SAY: </a:t>
            </a:r>
            <a:r>
              <a:t>Fixed: We can make it safer.. Rule: can + BASE VERB (no 'to').</a:t>
            </a:r>
          </a:p>
          <a:p/>
          <a:p>
            <a:r>
              <a:rPr b="1"/>
              <a:t>ACTION: </a:t>
            </a:r>
            <a:r>
              <a:t>Confirm the team(s) who said it correctly first; award EP.</a:t>
            </a:r>
          </a:p>
          <a:p/>
          <a:p>
            <a:r>
              <a:rPr b="1"/>
              <a:t>TRANSITION: </a:t>
            </a:r>
            <a:r>
              <a:t>'Bug 2.'</a:t>
            </a:r>
          </a:p>
          <a:p/>
          <a:p>
            <a:r>
              <a:rPr b="1"/>
              <a:t>SOURCE: </a:t>
            </a:r>
            <a:r>
              <a:t>Error built on the language point just taught; 'seen in' phrase is the authentic textbook sentence that uses the same structure correctly.</a:t>
            </a:r>
          </a:p>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P6 — COMMUNICATION ENGINEER</a:t>
            </a:r>
          </a:p>
          <a:p/>
          <a:p>
            <a:r>
              <a:rPr b="1"/>
              <a:t>TIME: </a:t>
            </a:r>
            <a:r>
              <a:t>0.35 min</a:t>
            </a:r>
          </a:p>
          <a:p/>
          <a:p>
            <a:r>
              <a:rPr b="1"/>
              <a:t>SAY: </a:t>
            </a:r>
            <a:r>
              <a:t>Bug 2: The new seatbelt is more safer. What's wrong, and what's the fix?</a:t>
            </a:r>
          </a:p>
          <a:p/>
          <a:p>
            <a:r>
              <a:rPr b="1"/>
              <a:t>ASK: </a:t>
            </a:r>
            <a:r>
              <a:t>What's the correct sentence?</a:t>
            </a:r>
          </a:p>
          <a:p/>
          <a:p>
            <a:r>
              <a:rPr b="1"/>
              <a:t>EXPECTED ANSWER: </a:t>
            </a:r>
            <a:r>
              <a:t>The new seatbelt is safer.</a:t>
            </a:r>
          </a:p>
          <a:p/>
          <a:p>
            <a:r>
              <a:rPr b="1"/>
              <a:t>ACTION: </a:t>
            </a:r>
            <a:r>
              <a:t>Give 10 seconds; take a verbal answer from a fast zone.</a:t>
            </a:r>
          </a:p>
          <a:p/>
          <a:p>
            <a:r>
              <a:rPr b="1"/>
              <a:t>TRANSITION: </a:t>
            </a:r>
            <a:r>
              <a:t>Click → fix.</a:t>
            </a:r>
          </a:p>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P6 — COMMUNICATION ENGINEER</a:t>
            </a:r>
          </a:p>
          <a:p/>
          <a:p>
            <a:r>
              <a:rPr b="1"/>
              <a:t>TIME: </a:t>
            </a:r>
            <a:r>
              <a:t>0.75 min</a:t>
            </a:r>
          </a:p>
          <a:p/>
          <a:p>
            <a:r>
              <a:rPr b="1"/>
              <a:t>SAY: </a:t>
            </a:r>
            <a:r>
              <a:t>Fixed: The new seatbelt is safer.. Rule: short adjective → -er (never 'more' + -er).</a:t>
            </a:r>
          </a:p>
          <a:p/>
          <a:p>
            <a:r>
              <a:rPr b="1"/>
              <a:t>ACTION: </a:t>
            </a:r>
            <a:r>
              <a:t>Confirm the team(s) who said it correctly first; award EP.</a:t>
            </a:r>
          </a:p>
          <a:p/>
          <a:p>
            <a:r>
              <a:rPr b="1"/>
              <a:t>TRANSITION: </a:t>
            </a:r>
            <a:r>
              <a:t>'Bug 3.'</a:t>
            </a:r>
          </a:p>
          <a:p/>
          <a:p>
            <a:r>
              <a:rPr b="1"/>
              <a:t>SOURCE: </a:t>
            </a:r>
            <a:r>
              <a:t>Error built on the language point just taught; 'seen in' phrase is the authentic textbook sentence that uses the same structure correctly.</a:t>
            </a:r>
          </a:p>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P6 — COMMUNICATION ENGINEER</a:t>
            </a:r>
          </a:p>
          <a:p/>
          <a:p>
            <a:r>
              <a:rPr b="1"/>
              <a:t>TIME: </a:t>
            </a:r>
            <a:r>
              <a:t>0.35 min</a:t>
            </a:r>
          </a:p>
          <a:p/>
          <a:p>
            <a:r>
              <a:rPr b="1"/>
              <a:t>SAY: </a:t>
            </a:r>
            <a:r>
              <a:t>Bug 3: We going to test it. What's wrong, and what's the fix?</a:t>
            </a:r>
          </a:p>
          <a:p/>
          <a:p>
            <a:r>
              <a:rPr b="1"/>
              <a:t>ASK: </a:t>
            </a:r>
            <a:r>
              <a:t>What's the correct sentence?</a:t>
            </a:r>
          </a:p>
          <a:p/>
          <a:p>
            <a:r>
              <a:rPr b="1"/>
              <a:t>EXPECTED ANSWER: </a:t>
            </a:r>
            <a:r>
              <a:t>We're going to test it.</a:t>
            </a:r>
          </a:p>
          <a:p/>
          <a:p>
            <a:r>
              <a:rPr b="1"/>
              <a:t>ACTION: </a:t>
            </a:r>
            <a:r>
              <a:t>Give 10 seconds; take a verbal answer from a fast zone.</a:t>
            </a:r>
          </a:p>
          <a:p/>
          <a:p>
            <a:r>
              <a:rPr b="1"/>
              <a:t>TRANSITION: </a:t>
            </a:r>
            <a:r>
              <a:t>Click → fix.</a:t>
            </a:r>
          </a:p>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P6 — COMMUNICATION ENGINEER</a:t>
            </a:r>
          </a:p>
          <a:p/>
          <a:p>
            <a:r>
              <a:rPr b="1"/>
              <a:t>TIME: </a:t>
            </a:r>
            <a:r>
              <a:t>0.75 min</a:t>
            </a:r>
          </a:p>
          <a:p/>
          <a:p>
            <a:r>
              <a:rPr b="1"/>
              <a:t>SAY: </a:t>
            </a:r>
            <a:r>
              <a:t>Fixed: We're going to test it.. Rule: be + going to + base verb (don't forget 'be').</a:t>
            </a:r>
          </a:p>
          <a:p/>
          <a:p>
            <a:r>
              <a:rPr b="1"/>
              <a:t>ACTION: </a:t>
            </a:r>
            <a:r>
              <a:t>Confirm the team(s) who said it correctly first; award EP.</a:t>
            </a:r>
          </a:p>
          <a:p/>
          <a:p>
            <a:r>
              <a:rPr b="1"/>
              <a:t>TRANSITION: </a:t>
            </a:r>
            <a:r>
              <a:t>'Bug 4.'</a:t>
            </a:r>
          </a:p>
          <a:p/>
          <a:p>
            <a:r>
              <a:rPr b="1"/>
              <a:t>SOURCE: </a:t>
            </a:r>
            <a:r>
              <a:t>Error built on the language point just taught; 'seen in' phrase is the authentic textbook sentence that uses the same structure correctly.</a:t>
            </a:r>
          </a:p>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P6 — COMMUNICATION ENGINEER</a:t>
            </a:r>
          </a:p>
          <a:p/>
          <a:p>
            <a:r>
              <a:rPr b="1"/>
              <a:t>TIME: </a:t>
            </a:r>
            <a:r>
              <a:t>0.35 min</a:t>
            </a:r>
          </a:p>
          <a:p/>
          <a:p>
            <a:r>
              <a:rPr b="1"/>
              <a:t>SAY: </a:t>
            </a:r>
            <a:r>
              <a:t>Bug 4: We're test it next week. What's wrong, and what's the fix?</a:t>
            </a:r>
          </a:p>
          <a:p/>
          <a:p>
            <a:r>
              <a:rPr b="1"/>
              <a:t>ASK: </a:t>
            </a:r>
            <a:r>
              <a:t>What's the correct sentence?</a:t>
            </a:r>
          </a:p>
          <a:p/>
          <a:p>
            <a:r>
              <a:rPr b="1"/>
              <a:t>EXPECTED ANSWER: </a:t>
            </a:r>
            <a:r>
              <a:t>We're testing it next week.</a:t>
            </a:r>
          </a:p>
          <a:p/>
          <a:p>
            <a:r>
              <a:rPr b="1"/>
              <a:t>ACTION: </a:t>
            </a:r>
            <a:r>
              <a:t>Give 10 seconds; take a verbal answer from a fast zone.</a:t>
            </a:r>
          </a:p>
          <a:p/>
          <a:p>
            <a:r>
              <a:rPr b="1"/>
              <a:t>TRANSITION: </a:t>
            </a:r>
            <a:r>
              <a:t>Click → fix.</a:t>
            </a:r>
          </a:p>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P6 — COMMUNICATION ENGINEER</a:t>
            </a:r>
          </a:p>
          <a:p/>
          <a:p>
            <a:r>
              <a:rPr b="1"/>
              <a:t>TIME: </a:t>
            </a:r>
            <a:r>
              <a:t>0.75 min</a:t>
            </a:r>
          </a:p>
          <a:p/>
          <a:p>
            <a:r>
              <a:rPr b="1"/>
              <a:t>SAY: </a:t>
            </a:r>
            <a:r>
              <a:t>Fixed: We're testing it next week.. Rule: present continuous = be + verb-ing.</a:t>
            </a:r>
          </a:p>
          <a:p/>
          <a:p>
            <a:r>
              <a:rPr b="1"/>
              <a:t>ACTION: </a:t>
            </a:r>
            <a:r>
              <a:t>Confirm the team(s) who said it correctly first; award EP.</a:t>
            </a:r>
          </a:p>
          <a:p/>
          <a:p>
            <a:r>
              <a:rPr b="1"/>
              <a:t>TRANSITION: </a:t>
            </a:r>
            <a:r>
              <a:t>'Bug 5.'</a:t>
            </a:r>
          </a:p>
          <a:p/>
          <a:p>
            <a:r>
              <a:rPr b="1"/>
              <a:t>SOURCE: </a:t>
            </a:r>
            <a:r>
              <a:t>Error built on the language point just taught; 'seen in' phrase is the authentic textbook sentence that uses the same structure correctly.</a:t>
            </a:r>
          </a:p>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P6 — COMMUNICATION ENGINEER</a:t>
            </a:r>
          </a:p>
          <a:p/>
          <a:p>
            <a:r>
              <a:rPr b="1"/>
              <a:t>TIME: </a:t>
            </a:r>
            <a:r>
              <a:t>0.35 min</a:t>
            </a:r>
          </a:p>
          <a:p/>
          <a:p>
            <a:r>
              <a:rPr b="1"/>
              <a:t>SAY: </a:t>
            </a:r>
            <a:r>
              <a:t>Bug 5: Energy will transferred to the belt. What's wrong, and what's the fix?</a:t>
            </a:r>
          </a:p>
          <a:p/>
          <a:p>
            <a:r>
              <a:rPr b="1"/>
              <a:t>ASK: </a:t>
            </a:r>
            <a:r>
              <a:t>What's the correct sentence?</a:t>
            </a:r>
          </a:p>
          <a:p/>
          <a:p>
            <a:r>
              <a:rPr b="1"/>
              <a:t>EXPECTED ANSWER: </a:t>
            </a:r>
            <a:r>
              <a:t>Energy will be transferred to the belt.</a:t>
            </a:r>
          </a:p>
          <a:p/>
          <a:p>
            <a:r>
              <a:rPr b="1"/>
              <a:t>ACTION: </a:t>
            </a:r>
            <a:r>
              <a:t>Give 10 seconds; take a verbal answer from a fast zone.</a:t>
            </a:r>
          </a:p>
          <a:p/>
          <a:p>
            <a:r>
              <a:rPr b="1"/>
              <a:t>TRANSITION: </a:t>
            </a:r>
            <a:r>
              <a:t>Click → fix.</a:t>
            </a:r>
          </a:p>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P6 — COMMUNICATION ENGINEER</a:t>
            </a:r>
          </a:p>
          <a:p/>
          <a:p>
            <a:r>
              <a:rPr b="1"/>
              <a:t>TIME: </a:t>
            </a:r>
            <a:r>
              <a:t>0.75 min</a:t>
            </a:r>
          </a:p>
          <a:p/>
          <a:p>
            <a:r>
              <a:rPr b="1"/>
              <a:t>SAY: </a:t>
            </a:r>
            <a:r>
              <a:t>Fixed: Energy will be transferred to the belt.. Rule: will + be + past participle. That's the whole system patched. Nice work, engineers.</a:t>
            </a:r>
          </a:p>
          <a:p/>
          <a:p>
            <a:r>
              <a:rPr b="1"/>
              <a:t>ACTION: </a:t>
            </a:r>
            <a:r>
              <a:t>Confirm the team(s) who said it correctly first; award EP.</a:t>
            </a:r>
          </a:p>
          <a:p/>
          <a:p>
            <a:r>
              <a:rPr b="1"/>
              <a:t>TRANSITION: </a:t>
            </a:r>
            <a:r>
              <a:t>'Time to listen to real engineers.' → Listening.</a:t>
            </a:r>
          </a:p>
          <a:p/>
          <a:p>
            <a:r>
              <a:rPr b="1"/>
              <a:t>SOURCE: </a:t>
            </a:r>
            <a:r>
              <a:t>Error built on the language point just taught; 'seen in' phrase is the authentic textbook sentence that uses the same structure correctly.</a:t>
            </a:r>
          </a:p>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P7 — TESTING ENGINEER</a:t>
            </a:r>
          </a:p>
          <a:p/>
          <a:p>
            <a:r>
              <a:rPr b="1"/>
              <a:t>TIME: </a:t>
            </a:r>
            <a:r>
              <a:t>1 min</a:t>
            </a:r>
          </a:p>
          <a:p/>
          <a:p>
            <a:r>
              <a:rPr b="1"/>
              <a:t>OBJECTIVE: </a:t>
            </a:r>
            <a:r>
              <a:t>Set up the listening as an authentic overheard exchange (raises attention).</a:t>
            </a:r>
          </a:p>
          <a:p/>
          <a:p>
            <a:r>
              <a:rPr b="1"/>
              <a:t>SAY: </a:t>
            </a:r>
            <a:r>
              <a:t>We've intercepted a conversation between two engineers. Listen carefully — first listen, no writing.</a:t>
            </a:r>
          </a:p>
          <a:p/>
          <a:p>
            <a:r>
              <a:rPr b="1"/>
              <a:t>ACTION: </a:t>
            </a:r>
            <a:r>
              <a:t>Cue the official Unit 5 audio/player now if available; otherwise use the presenter script in listening_fallback.md.</a:t>
            </a:r>
          </a:p>
          <a:p/>
          <a:p>
            <a:r>
              <a:rPr b="1"/>
              <a:t>TRANSITION: </a:t>
            </a:r>
            <a:r>
              <a:t>'First listen — one big question.'</a:t>
            </a:r>
          </a:p>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P7 — TESTING ENGINEER</a:t>
            </a:r>
          </a:p>
          <a:p/>
          <a:p>
            <a:r>
              <a:rPr b="1"/>
              <a:t>TIME: </a:t>
            </a:r>
            <a:r>
              <a:t>2 min</a:t>
            </a:r>
          </a:p>
          <a:p/>
          <a:p>
            <a:r>
              <a:rPr b="1"/>
              <a:t>OBJECTIVE: </a:t>
            </a:r>
            <a:r>
              <a:t>Run Task 6, question 1 (multiple choice, main idea).</a:t>
            </a:r>
          </a:p>
          <a:p/>
          <a:p>
            <a:r>
              <a:rPr b="1"/>
              <a:t>SAY: </a:t>
            </a:r>
            <a:r>
              <a:t>Question one: what is the conversation mostly about? Four options — listen and choose.</a:t>
            </a:r>
          </a:p>
          <a:p/>
          <a:p>
            <a:r>
              <a:rPr b="1"/>
              <a:t>ACTION: </a:t>
            </a:r>
            <a:r>
              <a:t>Play the official audio once (or read the printed dialogue live per listening_fallback.md). Do not reveal the answer yet — go straight to round 2, then reveal both together.</a:t>
            </a:r>
          </a:p>
          <a:p/>
          <a:p>
            <a:r>
              <a:rPr b="1"/>
              <a:t>TRANSITION: </a:t>
            </a:r>
            <a:r>
              <a:t>'Second question — before we reveal round one.'</a:t>
            </a:r>
          </a:p>
          <a:p/>
          <a:p>
            <a:r>
              <a:rPr b="1"/>
              <a:t>SOURCE: </a:t>
            </a:r>
            <a:r>
              <a:t>Options quoted verbatim from Task 6, question 1.</a:t>
            </a:r>
          </a:p>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P7 — TESTING ENGINEER</a:t>
            </a:r>
          </a:p>
          <a:p/>
          <a:p>
            <a:r>
              <a:rPr b="1"/>
              <a:t>TIME: </a:t>
            </a:r>
            <a:r>
              <a:t>2 min</a:t>
            </a:r>
          </a:p>
          <a:p/>
          <a:p>
            <a:r>
              <a:rPr b="1"/>
              <a:t>OBJECTIVE: </a:t>
            </a:r>
            <a:r>
              <a:t>Run Task 6, question 2, then reveal both Task 6 answers together.</a:t>
            </a:r>
          </a:p>
          <a:p/>
          <a:p>
            <a:r>
              <a:rPr b="1"/>
              <a:t>SAY: </a:t>
            </a:r>
            <a:r>
              <a:t>Question two: the woman thinks the new seatbelt will… Listen again if needed, then choose.</a:t>
            </a:r>
          </a:p>
          <a:p>
            <a:r>
              <a:t>Reveal: round one was B — the benefits of a new seatbelt design. Round two is D — safer than the current seatbelts.</a:t>
            </a:r>
          </a:p>
          <a:p/>
          <a:p>
            <a:r>
              <a:rPr b="1"/>
              <a:t>EXPECTED ANSWER: </a:t>
            </a:r>
            <a:r>
              <a:t>Round 1: B. Round 2: D.</a:t>
            </a:r>
          </a:p>
          <a:p/>
          <a:p>
            <a:r>
              <a:rPr b="1"/>
              <a:t>TRANSITION: </a:t>
            </a:r>
            <a:r>
              <a:t>'Now the hard part — filling in the gaps while they talk.'</a:t>
            </a:r>
          </a:p>
          <a:p/>
          <a:p>
            <a:r>
              <a:rPr b="1"/>
              <a:t>SOURCE: </a:t>
            </a:r>
            <a:r>
              <a:t>Options and correct answers quoted/matched from Task 6, questions 1–2 (answers are the option consistent with the abstract's own claims — verify against the official audio/answer key before class).</a:t>
            </a:r>
          </a:p>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P7 — TESTING ENGINEER</a:t>
            </a:r>
          </a:p>
          <a:p/>
          <a:p>
            <a:r>
              <a:rPr b="1"/>
              <a:t>TIME: </a:t>
            </a:r>
            <a:r>
              <a:t>3 min</a:t>
            </a:r>
          </a:p>
          <a:p/>
          <a:p>
            <a:r>
              <a:rPr b="1"/>
              <a:t>OBJECTIVE: </a:t>
            </a:r>
            <a:r>
              <a:t>Run Task 7 (gap-fill) — the exact dialogue also used in Speaking Task 8 and Writing Task 9.</a:t>
            </a:r>
          </a:p>
          <a:p/>
          <a:p>
            <a:r>
              <a:rPr b="1"/>
              <a:t>SAY: </a:t>
            </a:r>
            <a:r>
              <a:t>Same conversation — six gaps this time. Listen again and write the missing words. This is the exact dialogue you'll act out next, and write about after that — learn it well.</a:t>
            </a:r>
          </a:p>
          <a:p/>
          <a:p>
            <a:r>
              <a:rPr b="1"/>
              <a:t>ACTION: </a:t>
            </a:r>
            <a:r>
              <a:t>[AUDIO] Play the official Unit 5 Task 6/7 audio here if available (check with your teacher beforehand). If it is NOT available, two presenters perform this dialogue live and slowly — see listening_fallback.md for the reduced-risk delivery notes. Do not invent an 'official' recording.</a:t>
            </a:r>
          </a:p>
          <a:p/>
          <a:p>
            <a:r>
              <a:rPr b="1"/>
              <a:t>TRANSITION: </a:t>
            </a:r>
            <a:r>
              <a:t>'Let's check your six answers.'</a:t>
            </a:r>
          </a:p>
          <a:p/>
          <a:p>
            <a:r>
              <a:rPr b="1"/>
              <a:t>NOTE: </a:t>
            </a:r>
            <a:r>
              <a:t>Numbered gaps 1–6 correspond to the textbook Task 7 blanks. Gaps 1–4 and 6 can be reliably filled from the printed textbook language box and the abstract ('safer than', 'stopping distance', 'kinetic energy', 'belt', 'testing'). Gap 5 (a two-word positive phrase, e.g. an adjective + noun such as 'great idea') is NOT printed in the visible textbook page — take it from the official audio/answer key, and do not present a guess as the confirmed textbook answer.</a:t>
            </a:r>
          </a:p>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P7 — TESTING ENGINEER</a:t>
            </a:r>
          </a:p>
          <a:p/>
          <a:p>
            <a:r>
              <a:rPr b="1"/>
              <a:t>TIME: </a:t>
            </a:r>
            <a:r>
              <a:t>0.5 min (folded into round 3)</a:t>
            </a:r>
          </a:p>
          <a:p/>
          <a:p>
            <a:r>
              <a:rPr b="1"/>
              <a:t>OBJECTIVE: </a:t>
            </a:r>
            <a:r>
              <a:t>Confirm the six gap-fill answers.</a:t>
            </a:r>
          </a:p>
          <a:p/>
          <a:p>
            <a:r>
              <a:rPr b="1"/>
              <a:t>SAY: </a:t>
            </a:r>
            <a:r>
              <a:t>One, safer than. Two, stopping distance. Three, kinetic energy. Four, belt. Five — that one's on the official audio, confirm it together. Six, testing.</a:t>
            </a:r>
          </a:p>
          <a:p/>
          <a:p>
            <a:r>
              <a:rPr b="1"/>
              <a:t>TRANSITION: </a:t>
            </a:r>
            <a:r>
              <a:t>'Now put that language to work — board meeting, five minutes.'</a:t>
            </a:r>
          </a:p>
          <a:p/>
          <a:p>
            <a:r>
              <a:rPr b="1"/>
              <a:t>SOURCE: </a:t>
            </a:r>
            <a:r>
              <a:t>Gaps 1-4 and 6 follow directly from the textbook's printed language box and abstract; gap 5 must be confirmed from the official audio/teacher's answer key before class — do not present an invented word as textbook fact.</a:t>
            </a:r>
          </a:p>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P7 — TESTING ENGINEER</a:t>
            </a:r>
          </a:p>
          <a:p/>
          <a:p>
            <a:r>
              <a:rPr b="1"/>
              <a:t>TIME: </a:t>
            </a:r>
            <a:r>
              <a:t>1 min</a:t>
            </a:r>
          </a:p>
          <a:p/>
          <a:p>
            <a:r>
              <a:rPr b="1"/>
              <a:t>OBJECTIVE: </a:t>
            </a:r>
            <a:r>
              <a:t>Frame Speaking Task 8 as a high-stakes company presentation (raises register and motivation).</a:t>
            </a:r>
          </a:p>
          <a:p/>
          <a:p>
            <a:r>
              <a:rPr b="1"/>
              <a:t>SAY: </a:t>
            </a:r>
            <a:r>
              <a:t>Board meeting — five minutes. Your engineering company must explain the new seatbelt design to the board. This is Task 8, with a twist: you're presenting, not just chatting in pairs.</a:t>
            </a:r>
          </a:p>
          <a:p/>
          <a:p>
            <a:r>
              <a:rPr b="1"/>
              <a:t>TRANSITION: </a:t>
            </a:r>
            <a:r>
              <a:t>'Here's what your pitch must include.'</a:t>
            </a:r>
          </a:p>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P7 — TESTING ENGINEER</a:t>
            </a:r>
          </a:p>
          <a:p/>
          <a:p>
            <a:r>
              <a:rPr b="1"/>
              <a:t>TIME: </a:t>
            </a:r>
            <a:r>
              <a:t>2 min</a:t>
            </a:r>
          </a:p>
          <a:p/>
          <a:p>
            <a:r>
              <a:rPr b="1"/>
              <a:t>OBJECTIVE: </a:t>
            </a:r>
            <a:r>
              <a:t>Give the exact checklist the pitch must hit — links Task 8 roles to the vocabulary and grammar just taught.</a:t>
            </a:r>
          </a:p>
          <a:p/>
          <a:p>
            <a:r>
              <a:rPr b="1"/>
              <a:t>SAY: </a:t>
            </a:r>
            <a:r>
              <a:t>Your 45-second pitch must include six things: stopping distance, kinetic energy, transfer, force, one comparative, and one future structure — going-to or present continuous. And you must answer: why is your design safer?</a:t>
            </a:r>
          </a:p>
          <a:p/>
          <a:p>
            <a:r>
              <a:rPr b="1"/>
              <a:t>ACTION: </a:t>
            </a:r>
            <a:r>
              <a:t>Assign roles inside each company now: use Task 8's Student A (seatbelt designer) / Student B (engineer) roles as a starting point, but let the whole team contribute.</a:t>
            </a:r>
          </a:p>
          <a:p/>
          <a:p>
            <a:r>
              <a:rPr b="1"/>
              <a:t>TRANSITION: </a:t>
            </a:r>
            <a:r>
              <a:t>'Four minutes. Go.'</a:t>
            </a:r>
          </a:p>
          <a:p/>
          <a:p>
            <a:r>
              <a:rPr b="1"/>
              <a:t>SOURCE: </a:t>
            </a:r>
            <a:r>
              <a:t>The six talking points are teaching support (an assessment checklist built from this unit's vocabulary + Task 8's roles); the closing question echoes Task 8's own dialogue purpose.</a:t>
            </a:r>
          </a:p>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P7 — TESTING ENGINEER</a:t>
            </a:r>
          </a:p>
          <a:p/>
          <a:p>
            <a:r>
              <a:rPr b="1"/>
              <a:t>TIME: </a:t>
            </a:r>
            <a:r>
              <a:t>4 min</a:t>
            </a:r>
          </a:p>
          <a:p/>
          <a:p>
            <a:r>
              <a:rPr b="1"/>
              <a:t>OBJECTIVE: </a:t>
            </a:r>
            <a:r>
              <a:t>Give visible, reliable prep time (static slide, not a live countdown).</a:t>
            </a:r>
          </a:p>
          <a:p/>
          <a:p>
            <a:r>
              <a:rPr b="1"/>
              <a:t>SAY: </a:t>
            </a:r>
            <a:r>
              <a:t>Four minutes. Use your zone. Write key words, not full sentences — you're presenting, not reading.</a:t>
            </a:r>
          </a:p>
          <a:p/>
          <a:p>
            <a:r>
              <a:rPr b="1"/>
              <a:t>ACTION: </a:t>
            </a:r>
            <a:r>
              <a:t>Start a PHONE timer visibly (do not rely on slide animation). Mentors circulate and coach their company using the checklist from the previous slide.</a:t>
            </a:r>
          </a:p>
          <a:p/>
          <a:p>
            <a:r>
              <a:rPr b="1"/>
              <a:t>TRANSITION: </a:t>
            </a:r>
            <a:r>
              <a:t>'Time's up — let's choose who presents first.'</a:t>
            </a:r>
          </a:p>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P7 — TESTING ENGINEER</a:t>
            </a:r>
          </a:p>
          <a:p/>
          <a:p>
            <a:r>
              <a:rPr b="1"/>
              <a:t>TIME: </a:t>
            </a:r>
            <a:r>
              <a:t>1 min</a:t>
            </a:r>
          </a:p>
          <a:p/>
          <a:p>
            <a:r>
              <a:rPr b="1"/>
              <a:t>OBJECTIVE: </a:t>
            </a:r>
            <a:r>
              <a:t>Select 2-3 companies to present live without burning the whole 8-minute budget on all eight.</a:t>
            </a:r>
          </a:p>
          <a:p/>
          <a:p>
            <a:r>
              <a:rPr b="1"/>
              <a:t>SAY: </a:t>
            </a:r>
            <a:r>
              <a:t>Let's see who's first. [Open the team selector.]</a:t>
            </a:r>
          </a:p>
          <a:p/>
          <a:p>
            <a:r>
              <a:rPr b="1"/>
              <a:t>ACTION: </a:t>
            </a:r>
            <a:r>
              <a:t>Open extras/team_selector.html BEFORE class and keep it ready in another window/tab; click Select Company. Realistically pick 2-3 companies to present live in the time available; other companies hand in their notes for a quick mentor check.</a:t>
            </a:r>
          </a:p>
          <a:p/>
          <a:p>
            <a:r>
              <a:rPr b="1"/>
              <a:t>TRANSITION: </a:t>
            </a:r>
            <a:r>
              <a:t>'Selected company — you have the floor. Everyone else: listen for the checklist.'</a:t>
            </a:r>
          </a:p>
          <a:p/>
          <a:p>
            <a:r>
              <a:rPr b="1"/>
              <a:t>SOURCE: </a:t>
            </a:r>
            <a:r>
              <a:t>Supplementary game mechanic (company selection is not in the textbook).</a:t>
            </a:r>
          </a:p>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P8 — CHIEF ENGINEER</a:t>
            </a:r>
          </a:p>
          <a:p/>
          <a:p>
            <a:r>
              <a:rPr b="1"/>
              <a:t>TIME: </a:t>
            </a:r>
            <a:r>
              <a:t>1 min</a:t>
            </a:r>
          </a:p>
          <a:p/>
          <a:p>
            <a:r>
              <a:rPr b="1"/>
              <a:t>OBJECTIVE: </a:t>
            </a:r>
            <a:r>
              <a:t>Present Task 9's three writing prompts as a three-paragraph report structure.</a:t>
            </a:r>
          </a:p>
          <a:p/>
          <a:p>
            <a:r>
              <a:rPr b="1"/>
              <a:t>SAY: </a:t>
            </a:r>
            <a:r>
              <a:t>Chief Engineer here. Task 9: write your engineering report, 100 to 120 words, in three paragraphs — the design, the energy, and the safety.</a:t>
            </a:r>
          </a:p>
          <a:p/>
          <a:p>
            <a:r>
              <a:rPr b="1"/>
              <a:t>TRANSITION: </a:t>
            </a:r>
            <a:r>
              <a:t>'A few connectors will make this sound like a real report.'</a:t>
            </a:r>
          </a:p>
          <a:p/>
          <a:p>
            <a:r>
              <a:rPr b="1"/>
              <a:t>SOURCE: </a:t>
            </a:r>
            <a:r>
              <a:t>The three bullet prompts are quoted from Task 9. The paragraph structure/labels are teaching support to organise them.</a:t>
            </a:r>
          </a:p>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P8 — CHIEF ENGINEER</a:t>
            </a:r>
          </a:p>
          <a:p/>
          <a:p>
            <a:r>
              <a:rPr b="1"/>
              <a:t>TIME: </a:t>
            </a:r>
            <a:r>
              <a:t>1 min</a:t>
            </a:r>
          </a:p>
          <a:p/>
          <a:p>
            <a:r>
              <a:rPr b="1"/>
              <a:t>OBJECTIVE: </a:t>
            </a:r>
            <a:r>
              <a:t>Give sentence-linking tools without writing the essay for them.</a:t>
            </a:r>
          </a:p>
          <a:p/>
          <a:p>
            <a:r>
              <a:rPr b="1"/>
              <a:t>SAY: </a:t>
            </a:r>
            <a:r>
              <a:t>Use these connectors to link your ideas: first, when, as a result, therefore, this means that. I will not put a full model paragraph on the board — this has to be your own writing.</a:t>
            </a:r>
          </a:p>
          <a:p/>
          <a:p>
            <a:r>
              <a:rPr b="1"/>
              <a:t>ACTION: </a:t>
            </a:r>
            <a:r>
              <a:t>A complete faithful model answer (109 words) is in the presenter guide for YOUR preparation only — never project it before students write.</a:t>
            </a:r>
          </a:p>
          <a:p/>
          <a:p>
            <a:r>
              <a:rPr b="1"/>
              <a:t>TRANSITION: </a:t>
            </a:r>
            <a:r>
              <a:t>'Two minutes, quiet writing. Go.'</a:t>
            </a:r>
          </a:p>
          <a:p/>
          <a:p>
            <a:r>
              <a:rPr b="1"/>
              <a:t>SOURCE: </a:t>
            </a:r>
            <a:r>
              <a:t>Connector list = teaching support (general academic linkers appropriate to a report).</a:t>
            </a:r>
          </a:p>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P1 — MISSION COMMANDER</a:t>
            </a:r>
          </a:p>
          <a:p/>
          <a:p>
            <a:r>
              <a:rPr b="1"/>
              <a:t>TIME: </a:t>
            </a:r>
            <a:r>
              <a:t>0.5 min</a:t>
            </a:r>
          </a:p>
          <a:p/>
          <a:p>
            <a:r>
              <a:rPr b="1"/>
              <a:t>OBJECTIVE: </a:t>
            </a:r>
            <a:r>
              <a:t>Build final drama — highest-stakes moment of the lesson (double EP).</a:t>
            </a:r>
          </a:p>
          <a:p/>
          <a:p>
            <a:r>
              <a:rPr b="1"/>
              <a:t>SAY: </a:t>
            </a:r>
            <a:r>
              <a:t>Final crash simulation. The system requires the correct sequence — and this one is worth DOUBLE points.</a:t>
            </a:r>
          </a:p>
          <a:p/>
          <a:p>
            <a:r>
              <a:rPr b="1"/>
              <a:t>TRANSITION: </a:t>
            </a:r>
            <a:r>
              <a:t>'Here is your sequence — out of order.'</a:t>
            </a:r>
          </a:p>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P1 — MISSION COMMANDER</a:t>
            </a:r>
          </a:p>
          <a:p/>
          <a:p>
            <a:r>
              <a:rPr b="1"/>
              <a:t>TIME: </a:t>
            </a:r>
            <a:r>
              <a:t>1.25 min</a:t>
            </a:r>
          </a:p>
          <a:p/>
          <a:p>
            <a:r>
              <a:rPr b="1"/>
              <a:t>OBJECTIVE: </a:t>
            </a:r>
            <a:r>
              <a:t>Whole-class final check: sequence the crash-to-safety causal chain from memory.</a:t>
            </a:r>
          </a:p>
          <a:p/>
          <a:p>
            <a:r>
              <a:rPr b="1"/>
              <a:t>SAY: </a:t>
            </a:r>
            <a:r>
              <a:t>Put these four cards in the correct order: force on passenger decreases, seatbelt stretches, injuries decrease, stopping distance increases. Talk to your team — thirty seconds.</a:t>
            </a:r>
          </a:p>
          <a:p/>
          <a:p>
            <a:r>
              <a:rPr b="1"/>
              <a:t>ASK: </a:t>
            </a:r>
            <a:r>
              <a:t>What is the correct order, A-B-C-D relabelled?</a:t>
            </a:r>
          </a:p>
          <a:p/>
          <a:p>
            <a:r>
              <a:rPr b="1"/>
              <a:t>EXPECTED ANSWER: </a:t>
            </a:r>
            <a:r>
              <a:t>B (stretches) → D (stopping distance increases) → A (force decreases) → C (injuries decrease).</a:t>
            </a:r>
          </a:p>
          <a:p/>
          <a:p>
            <a:r>
              <a:rPr b="1"/>
              <a:t>ACTION: </a:t>
            </a:r>
            <a:r>
              <a:t>Mentors collect one final written order per zone (on paper/fingers) before reveal.</a:t>
            </a:r>
          </a:p>
          <a:p/>
          <a:p>
            <a:r>
              <a:rPr b="1"/>
              <a:t>TRANSITION: </a:t>
            </a:r>
            <a:r>
              <a:t>'Reveal!'</a:t>
            </a:r>
          </a:p>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P1 — MISSION COMMANDER</a:t>
            </a:r>
          </a:p>
          <a:p/>
          <a:p>
            <a:r>
              <a:rPr b="1"/>
              <a:t>TIME: </a:t>
            </a:r>
            <a:r>
              <a:t>0.5 min</a:t>
            </a:r>
          </a:p>
          <a:p/>
          <a:p>
            <a:r>
              <a:rPr b="1"/>
              <a:t>OBJECTIVE: </a:t>
            </a:r>
            <a:r>
              <a:t>Confirm the sequence and its meaning together.</a:t>
            </a:r>
          </a:p>
          <a:p/>
          <a:p>
            <a:r>
              <a:rPr b="1"/>
              <a:t>SAY: </a:t>
            </a:r>
            <a:r>
              <a:t>B, D, A, C. Seatbelt stretches, stopping distance increases, force decreases, injuries decrease. That's the whole discovery, in order, from memory.</a:t>
            </a:r>
          </a:p>
          <a:p/>
          <a:p>
            <a:r>
              <a:rPr b="1"/>
              <a:t>ACTION: </a:t>
            </a:r>
            <a:r>
              <a:t>Award double EP now to every zone that got the order right (or mostly right).</a:t>
            </a:r>
          </a:p>
          <a:p/>
          <a:p>
            <a:r>
              <a:rPr b="1"/>
              <a:t>TRANSITION: </a:t>
            </a:r>
            <a:r>
              <a:t>'Mission complete.'</a:t>
            </a:r>
          </a:p>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P1 — MISSION COMMANDER</a:t>
            </a:r>
          </a:p>
          <a:p/>
          <a:p>
            <a:r>
              <a:rPr b="1"/>
              <a:t>TIME: </a:t>
            </a:r>
            <a:r>
              <a:t>0.25 min</a:t>
            </a:r>
          </a:p>
          <a:p/>
          <a:p>
            <a:r>
              <a:rPr b="1"/>
              <a:t>OBJECTIVE: </a:t>
            </a:r>
            <a:r>
              <a:t>Mark closure of the mission before the human conclusion.</a:t>
            </a:r>
          </a:p>
          <a:p/>
          <a:p>
            <a:r>
              <a:rPr b="1"/>
              <a:t>SAY: </a:t>
            </a:r>
            <a:r>
              <a:t>Mission complete. Energy Lab, Crash Test number five. Engineers — certified.</a:t>
            </a:r>
          </a:p>
          <a:p/>
          <a:p>
            <a:r>
              <a:rPr b="1"/>
              <a:t>TRANSITION: </a:t>
            </a:r>
            <a:r>
              <a:t>'Bring back the ball.'</a:t>
            </a:r>
          </a:p>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PRESENTER: </a:t>
            </a:r>
            <a:r>
              <a:t>P1 — MISSION COMMANDER</a:t>
            </a:r>
          </a:p>
          <a:p/>
          <a:p>
            <a:r>
              <a:rPr b="1"/>
              <a:t>TIME: </a:t>
            </a:r>
            <a:r>
              <a:t>0.5 min</a:t>
            </a:r>
          </a:p>
          <a:p/>
          <a:p>
            <a:r>
              <a:rPr b="1"/>
              <a:t>OBJECTIVE: </a:t>
            </a:r>
            <a:r>
              <a:t>Close the frame story with the same ball from minute zero.</a:t>
            </a:r>
          </a:p>
          <a:p/>
          <a:p>
            <a:r>
              <a:rPr b="1"/>
              <a:t>SAY: </a:t>
            </a:r>
            <a:r>
              <a:t>One hour and forty-five minutes ago, we showed you this ball and asked one simple question: does it have energy?</a:t>
            </a:r>
          </a:p>
          <a:p>
            <a:r>
              <a:t>Now you can distinguish potential and kinetic energy. You can explain what happens in the seatbelt experiment. You can use the engineering vocabulary. You can discuss an engineering design in English.</a:t>
            </a:r>
          </a:p>
          <a:p>
            <a:r>
              <a:t>And most importantly — you didn't just study Unit 5. You engineered it.</a:t>
            </a:r>
          </a:p>
          <a:p>
            <a:r>
              <a:t>Thank you, engineers.</a:t>
            </a:r>
          </a:p>
          <a:p/>
          <a:p>
            <a:r>
              <a:rPr b="1"/>
              <a:t>ACTION: </a:t>
            </a:r>
            <a:r>
              <a:t>Hold up the same ball from the cold open. Let the last line land in silence before applause/dismissal.</a:t>
            </a:r>
          </a:p>
          <a:p/>
          <a:p>
            <a:r>
              <a:rPr b="1"/>
              <a:t>TRANSITION: </a:t>
            </a:r>
            <a:r>
              <a:t>End of session.</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5"/>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0"/>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0"/>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cxnSp>
        <p:nvCxnSpPr>
          <p:cNvPr id="2" name="Connector 1"/>
          <p:cNvCxnSpPr/>
          <p:nvPr/>
        </p:nvCxnSpPr>
        <p:spPr>
          <a:xfrm>
            <a:off x="914400" y="0"/>
            <a:ext cx="0" cy="6858000"/>
          </a:xfrm>
          <a:prstGeom prst="line">
            <a:avLst/>
          </a:prstGeom>
          <a:ln w="9525">
            <a:solidFill>
              <a:srgbClr val="151A22"/>
            </a:solidFill>
          </a:ln>
        </p:spPr>
      </p:cxnSp>
      <p:cxnSp>
        <p:nvCxnSpPr>
          <p:cNvPr id="3" name="Connector 2"/>
          <p:cNvCxnSpPr/>
          <p:nvPr/>
        </p:nvCxnSpPr>
        <p:spPr>
          <a:xfrm>
            <a:off x="1828800" y="0"/>
            <a:ext cx="0" cy="6858000"/>
          </a:xfrm>
          <a:prstGeom prst="line">
            <a:avLst/>
          </a:prstGeom>
          <a:ln w="9525">
            <a:solidFill>
              <a:srgbClr val="151A22"/>
            </a:solidFill>
          </a:ln>
        </p:spPr>
      </p:cxnSp>
      <p:cxnSp>
        <p:nvCxnSpPr>
          <p:cNvPr id="4" name="Connector 3"/>
          <p:cNvCxnSpPr/>
          <p:nvPr/>
        </p:nvCxnSpPr>
        <p:spPr>
          <a:xfrm>
            <a:off x="2743200" y="0"/>
            <a:ext cx="0" cy="6858000"/>
          </a:xfrm>
          <a:prstGeom prst="line">
            <a:avLst/>
          </a:prstGeom>
          <a:ln w="9525">
            <a:solidFill>
              <a:srgbClr val="151A22"/>
            </a:solidFill>
          </a:ln>
        </p:spPr>
      </p:cxnSp>
      <p:cxnSp>
        <p:nvCxnSpPr>
          <p:cNvPr id="5" name="Connector 4"/>
          <p:cNvCxnSpPr/>
          <p:nvPr/>
        </p:nvCxnSpPr>
        <p:spPr>
          <a:xfrm>
            <a:off x="3657600" y="0"/>
            <a:ext cx="0" cy="6858000"/>
          </a:xfrm>
          <a:prstGeom prst="line">
            <a:avLst/>
          </a:prstGeom>
          <a:ln w="9525">
            <a:solidFill>
              <a:srgbClr val="151A22"/>
            </a:solidFill>
          </a:ln>
        </p:spPr>
      </p:cxnSp>
      <p:cxnSp>
        <p:nvCxnSpPr>
          <p:cNvPr id="6" name="Connector 5"/>
          <p:cNvCxnSpPr/>
          <p:nvPr/>
        </p:nvCxnSpPr>
        <p:spPr>
          <a:xfrm>
            <a:off x="4572000" y="0"/>
            <a:ext cx="0" cy="6858000"/>
          </a:xfrm>
          <a:prstGeom prst="line">
            <a:avLst/>
          </a:prstGeom>
          <a:ln w="9525">
            <a:solidFill>
              <a:srgbClr val="151A22"/>
            </a:solidFill>
          </a:ln>
        </p:spPr>
      </p:cxnSp>
      <p:cxnSp>
        <p:nvCxnSpPr>
          <p:cNvPr id="7" name="Connector 6"/>
          <p:cNvCxnSpPr/>
          <p:nvPr/>
        </p:nvCxnSpPr>
        <p:spPr>
          <a:xfrm>
            <a:off x="5486400" y="0"/>
            <a:ext cx="0" cy="6858000"/>
          </a:xfrm>
          <a:prstGeom prst="line">
            <a:avLst/>
          </a:prstGeom>
          <a:ln w="9525">
            <a:solidFill>
              <a:srgbClr val="151A22"/>
            </a:solidFill>
          </a:ln>
        </p:spPr>
      </p:cxnSp>
      <p:cxnSp>
        <p:nvCxnSpPr>
          <p:cNvPr id="8" name="Connector 7"/>
          <p:cNvCxnSpPr/>
          <p:nvPr/>
        </p:nvCxnSpPr>
        <p:spPr>
          <a:xfrm>
            <a:off x="6400800" y="0"/>
            <a:ext cx="0" cy="6858000"/>
          </a:xfrm>
          <a:prstGeom prst="line">
            <a:avLst/>
          </a:prstGeom>
          <a:ln w="9525">
            <a:solidFill>
              <a:srgbClr val="151A22"/>
            </a:solidFill>
          </a:ln>
        </p:spPr>
      </p:cxnSp>
      <p:cxnSp>
        <p:nvCxnSpPr>
          <p:cNvPr id="9" name="Connector 8"/>
          <p:cNvCxnSpPr/>
          <p:nvPr/>
        </p:nvCxnSpPr>
        <p:spPr>
          <a:xfrm>
            <a:off x="7315200" y="0"/>
            <a:ext cx="0" cy="6858000"/>
          </a:xfrm>
          <a:prstGeom prst="line">
            <a:avLst/>
          </a:prstGeom>
          <a:ln w="9525">
            <a:solidFill>
              <a:srgbClr val="151A22"/>
            </a:solidFill>
          </a:ln>
        </p:spPr>
      </p:cxnSp>
      <p:cxnSp>
        <p:nvCxnSpPr>
          <p:cNvPr id="10" name="Connector 9"/>
          <p:cNvCxnSpPr/>
          <p:nvPr/>
        </p:nvCxnSpPr>
        <p:spPr>
          <a:xfrm>
            <a:off x="8229600" y="0"/>
            <a:ext cx="0" cy="6858000"/>
          </a:xfrm>
          <a:prstGeom prst="line">
            <a:avLst/>
          </a:prstGeom>
          <a:ln w="9525">
            <a:solidFill>
              <a:srgbClr val="151A22"/>
            </a:solidFill>
          </a:ln>
        </p:spPr>
      </p:cxnSp>
      <p:cxnSp>
        <p:nvCxnSpPr>
          <p:cNvPr id="11" name="Connector 10"/>
          <p:cNvCxnSpPr/>
          <p:nvPr/>
        </p:nvCxnSpPr>
        <p:spPr>
          <a:xfrm>
            <a:off x="9144000" y="0"/>
            <a:ext cx="0" cy="6858000"/>
          </a:xfrm>
          <a:prstGeom prst="line">
            <a:avLst/>
          </a:prstGeom>
          <a:ln w="9525">
            <a:solidFill>
              <a:srgbClr val="151A22"/>
            </a:solidFill>
          </a:ln>
        </p:spPr>
      </p:cxnSp>
      <p:cxnSp>
        <p:nvCxnSpPr>
          <p:cNvPr id="12" name="Connector 11"/>
          <p:cNvCxnSpPr/>
          <p:nvPr/>
        </p:nvCxnSpPr>
        <p:spPr>
          <a:xfrm>
            <a:off x="10058400" y="0"/>
            <a:ext cx="0" cy="6858000"/>
          </a:xfrm>
          <a:prstGeom prst="line">
            <a:avLst/>
          </a:prstGeom>
          <a:ln w="9525">
            <a:solidFill>
              <a:srgbClr val="151A22"/>
            </a:solidFill>
          </a:ln>
        </p:spPr>
      </p:cxnSp>
      <p:cxnSp>
        <p:nvCxnSpPr>
          <p:cNvPr id="13" name="Connector 12"/>
          <p:cNvCxnSpPr/>
          <p:nvPr/>
        </p:nvCxnSpPr>
        <p:spPr>
          <a:xfrm>
            <a:off x="10972800" y="0"/>
            <a:ext cx="0" cy="6858000"/>
          </a:xfrm>
          <a:prstGeom prst="line">
            <a:avLst/>
          </a:prstGeom>
          <a:ln w="9525">
            <a:solidFill>
              <a:srgbClr val="151A22"/>
            </a:solidFill>
          </a:ln>
        </p:spPr>
      </p:cxnSp>
      <p:cxnSp>
        <p:nvCxnSpPr>
          <p:cNvPr id="14" name="Connector 13"/>
          <p:cNvCxnSpPr/>
          <p:nvPr/>
        </p:nvCxnSpPr>
        <p:spPr>
          <a:xfrm>
            <a:off x="11887200" y="0"/>
            <a:ext cx="0" cy="6858000"/>
          </a:xfrm>
          <a:prstGeom prst="line">
            <a:avLst/>
          </a:prstGeom>
          <a:ln w="9525">
            <a:solidFill>
              <a:srgbClr val="151A22"/>
            </a:solidFill>
          </a:ln>
        </p:spPr>
      </p:cxnSp>
      <p:cxnSp>
        <p:nvCxnSpPr>
          <p:cNvPr id="15" name="Connector 14"/>
          <p:cNvCxnSpPr/>
          <p:nvPr/>
        </p:nvCxnSpPr>
        <p:spPr>
          <a:xfrm>
            <a:off x="0" y="914400"/>
            <a:ext cx="12192000" cy="0"/>
          </a:xfrm>
          <a:prstGeom prst="line">
            <a:avLst/>
          </a:prstGeom>
          <a:ln w="9525">
            <a:solidFill>
              <a:srgbClr val="151A22"/>
            </a:solidFill>
          </a:ln>
        </p:spPr>
      </p:cxnSp>
      <p:cxnSp>
        <p:nvCxnSpPr>
          <p:cNvPr id="16" name="Connector 15"/>
          <p:cNvCxnSpPr/>
          <p:nvPr/>
        </p:nvCxnSpPr>
        <p:spPr>
          <a:xfrm>
            <a:off x="0" y="1828800"/>
            <a:ext cx="12192000" cy="0"/>
          </a:xfrm>
          <a:prstGeom prst="line">
            <a:avLst/>
          </a:prstGeom>
          <a:ln w="9525">
            <a:solidFill>
              <a:srgbClr val="151A22"/>
            </a:solidFill>
          </a:ln>
        </p:spPr>
      </p:cxnSp>
      <p:cxnSp>
        <p:nvCxnSpPr>
          <p:cNvPr id="17" name="Connector 16"/>
          <p:cNvCxnSpPr/>
          <p:nvPr/>
        </p:nvCxnSpPr>
        <p:spPr>
          <a:xfrm>
            <a:off x="0" y="2743200"/>
            <a:ext cx="12192000" cy="0"/>
          </a:xfrm>
          <a:prstGeom prst="line">
            <a:avLst/>
          </a:prstGeom>
          <a:ln w="9525">
            <a:solidFill>
              <a:srgbClr val="151A22"/>
            </a:solidFill>
          </a:ln>
        </p:spPr>
      </p:cxnSp>
      <p:cxnSp>
        <p:nvCxnSpPr>
          <p:cNvPr id="18" name="Connector 17"/>
          <p:cNvCxnSpPr/>
          <p:nvPr/>
        </p:nvCxnSpPr>
        <p:spPr>
          <a:xfrm>
            <a:off x="0" y="3657600"/>
            <a:ext cx="12192000" cy="0"/>
          </a:xfrm>
          <a:prstGeom prst="line">
            <a:avLst/>
          </a:prstGeom>
          <a:ln w="9525">
            <a:solidFill>
              <a:srgbClr val="151A22"/>
            </a:solidFill>
          </a:ln>
        </p:spPr>
      </p:cxnSp>
      <p:cxnSp>
        <p:nvCxnSpPr>
          <p:cNvPr id="19" name="Connector 18"/>
          <p:cNvCxnSpPr/>
          <p:nvPr/>
        </p:nvCxnSpPr>
        <p:spPr>
          <a:xfrm>
            <a:off x="0" y="4572000"/>
            <a:ext cx="12192000" cy="0"/>
          </a:xfrm>
          <a:prstGeom prst="line">
            <a:avLst/>
          </a:prstGeom>
          <a:ln w="9525">
            <a:solidFill>
              <a:srgbClr val="151A22"/>
            </a:solidFill>
          </a:ln>
        </p:spPr>
      </p:cxnSp>
      <p:cxnSp>
        <p:nvCxnSpPr>
          <p:cNvPr id="20" name="Connector 19"/>
          <p:cNvCxnSpPr/>
          <p:nvPr/>
        </p:nvCxnSpPr>
        <p:spPr>
          <a:xfrm>
            <a:off x="0" y="5486400"/>
            <a:ext cx="12192000" cy="0"/>
          </a:xfrm>
          <a:prstGeom prst="line">
            <a:avLst/>
          </a:prstGeom>
          <a:ln w="9525">
            <a:solidFill>
              <a:srgbClr val="151A22"/>
            </a:solidFill>
          </a:ln>
        </p:spPr>
      </p:cxnSp>
      <p:cxnSp>
        <p:nvCxnSpPr>
          <p:cNvPr id="21" name="Connector 20"/>
          <p:cNvCxnSpPr/>
          <p:nvPr/>
        </p:nvCxnSpPr>
        <p:spPr>
          <a:xfrm>
            <a:off x="0" y="6400800"/>
            <a:ext cx="12192000" cy="0"/>
          </a:xfrm>
          <a:prstGeom prst="line">
            <a:avLst/>
          </a:prstGeom>
          <a:ln w="9525">
            <a:solidFill>
              <a:srgbClr val="151A22"/>
            </a:solidFill>
          </a:ln>
        </p:spPr>
      </p:cxnSp>
      <p:sp>
        <p:nvSpPr>
          <p:cNvPr id="22" name="Oval 21"/>
          <p:cNvSpPr/>
          <p:nvPr/>
        </p:nvSpPr>
        <p:spPr>
          <a:xfrm>
            <a:off x="9281160" y="2560320"/>
            <a:ext cx="1737360" cy="1737360"/>
          </a:xfrm>
          <a:prstGeom prst="ellipse">
            <a:avLst/>
          </a:prstGeom>
          <a:noFill/>
          <a:ln w="15875">
            <a:solidFill>
              <a:srgbClr val="323C4A"/>
            </a:solidFill>
          </a:ln>
        </p:spPr>
        <p:txBody>
          <a:bodyPr rtlCol="0" anchor="ctr"/>
          <a:lstStyle/>
          <a:p>
            <a:pPr algn="ctr"/>
          </a:p>
        </p:txBody>
      </p:sp>
      <p:sp>
        <p:nvSpPr>
          <p:cNvPr id="23" name="Oval 22"/>
          <p:cNvSpPr/>
          <p:nvPr/>
        </p:nvSpPr>
        <p:spPr>
          <a:xfrm>
            <a:off x="8595360" y="1874520"/>
            <a:ext cx="3108960" cy="3108960"/>
          </a:xfrm>
          <a:prstGeom prst="ellipse">
            <a:avLst/>
          </a:prstGeom>
          <a:noFill/>
          <a:ln w="15875">
            <a:solidFill>
              <a:srgbClr val="323C4A"/>
            </a:solidFill>
          </a:ln>
        </p:spPr>
        <p:txBody>
          <a:bodyPr rtlCol="0" anchor="ctr"/>
          <a:lstStyle/>
          <a:p>
            <a:pPr algn="ctr"/>
          </a:p>
        </p:txBody>
      </p:sp>
      <p:sp>
        <p:nvSpPr>
          <p:cNvPr id="24" name="Oval 23"/>
          <p:cNvSpPr/>
          <p:nvPr/>
        </p:nvSpPr>
        <p:spPr>
          <a:xfrm>
            <a:off x="7955280" y="1234440"/>
            <a:ext cx="4389120" cy="4389120"/>
          </a:xfrm>
          <a:prstGeom prst="ellipse">
            <a:avLst/>
          </a:prstGeom>
          <a:noFill/>
          <a:ln w="15875">
            <a:solidFill>
              <a:srgbClr val="323C4A"/>
            </a:solidFill>
          </a:ln>
        </p:spPr>
        <p:txBody>
          <a:bodyPr rtlCol="0" anchor="ctr"/>
          <a:lstStyle/>
          <a:p>
            <a:pPr algn="ctr"/>
          </a:p>
        </p:txBody>
      </p:sp>
      <p:cxnSp>
        <p:nvCxnSpPr>
          <p:cNvPr id="25" name="Connector 24"/>
          <p:cNvCxnSpPr/>
          <p:nvPr/>
        </p:nvCxnSpPr>
        <p:spPr>
          <a:xfrm>
            <a:off x="7498080" y="3429000"/>
            <a:ext cx="5303520" cy="0"/>
          </a:xfrm>
          <a:prstGeom prst="line">
            <a:avLst/>
          </a:prstGeom>
          <a:ln w="12700">
            <a:solidFill>
              <a:srgbClr val="323C4A"/>
            </a:solidFill>
          </a:ln>
        </p:spPr>
      </p:cxnSp>
      <p:cxnSp>
        <p:nvCxnSpPr>
          <p:cNvPr id="26" name="Connector 25"/>
          <p:cNvCxnSpPr/>
          <p:nvPr/>
        </p:nvCxnSpPr>
        <p:spPr>
          <a:xfrm>
            <a:off x="10149840" y="960120"/>
            <a:ext cx="0" cy="4937760"/>
          </a:xfrm>
          <a:prstGeom prst="line">
            <a:avLst/>
          </a:prstGeom>
          <a:ln w="12700">
            <a:solidFill>
              <a:srgbClr val="323C4A"/>
            </a:solidFill>
          </a:ln>
        </p:spPr>
      </p:cxnSp>
      <p:sp>
        <p:nvSpPr>
          <p:cNvPr id="27" name="Oval 26"/>
          <p:cNvSpPr/>
          <p:nvPr/>
        </p:nvSpPr>
        <p:spPr>
          <a:xfrm>
            <a:off x="10067544" y="3346704"/>
            <a:ext cx="164592" cy="164592"/>
          </a:xfrm>
          <a:prstGeom prst="ellipse">
            <a:avLst/>
          </a:prstGeom>
          <a:solidFill>
            <a:srgbClr val="FFB400"/>
          </a:solidFill>
          <a:ln>
            <a:noFill/>
          </a:ln>
        </p:spPr>
        <p:txBody>
          <a:bodyPr rtlCol="0" anchor="ctr"/>
          <a:lstStyle/>
          <a:p>
            <a:pPr algn="ctr"/>
          </a:p>
        </p:txBody>
      </p:sp>
      <p:sp>
        <p:nvSpPr>
          <p:cNvPr id="28" name="Rectangle 27"/>
          <p:cNvSpPr/>
          <p:nvPr/>
        </p:nvSpPr>
        <p:spPr>
          <a:xfrm>
            <a:off x="685800" y="1892808"/>
            <a:ext cx="118872" cy="118872"/>
          </a:xfrm>
          <a:prstGeom prst="rect">
            <a:avLst/>
          </a:prstGeom>
          <a:solidFill>
            <a:srgbClr val="FFB400"/>
          </a:solidFill>
          <a:ln>
            <a:noFill/>
          </a:ln>
        </p:spPr>
        <p:txBody>
          <a:bodyPr rtlCol="0" anchor="ctr"/>
          <a:lstStyle/>
          <a:p>
            <a:pPr algn="ctr"/>
          </a:p>
        </p:txBody>
      </p:sp>
      <p:sp>
        <p:nvSpPr>
          <p:cNvPr id="29" name="TextBox 28"/>
          <p:cNvSpPr txBox="1"/>
          <p:nvPr/>
        </p:nvSpPr>
        <p:spPr>
          <a:xfrm>
            <a:off x="932688" y="1801368"/>
            <a:ext cx="5486400" cy="274320"/>
          </a:xfrm>
          <a:prstGeom prst="rect">
            <a:avLst/>
          </a:prstGeom>
          <a:noFill/>
        </p:spPr>
        <p:txBody>
          <a:bodyPr wrap="square" anchor="t" lIns="0" rIns="0" tIns="0" bIns="0">
            <a:noAutofit/>
          </a:bodyPr>
          <a:lstStyle/>
          <a:p>
            <a:pPr algn="l">
              <a:lnSpc>
                <a:spcPct val="100000"/>
              </a:lnSpc>
              <a:spcBef>
                <a:spcPts val="0"/>
              </a:spcBef>
              <a:spcAft>
                <a:spcPts val="0"/>
              </a:spcAft>
            </a:pPr>
            <a:r>
              <a:rPr sz="1500" b="1" i="0" spc="400">
                <a:solidFill>
                  <a:srgbClr val="A9B3C0"/>
                </a:solidFill>
                <a:latin typeface="Arial Narrow"/>
              </a:rPr>
              <a:t>CRASH TEST #05</a:t>
            </a:r>
          </a:p>
        </p:txBody>
      </p:sp>
      <p:sp>
        <p:nvSpPr>
          <p:cNvPr id="30" name="TextBox 29"/>
          <p:cNvSpPr txBox="1"/>
          <p:nvPr/>
        </p:nvSpPr>
        <p:spPr>
          <a:xfrm>
            <a:off x="685800" y="2148840"/>
            <a:ext cx="7589520" cy="1188720"/>
          </a:xfrm>
          <a:prstGeom prst="rect">
            <a:avLst/>
          </a:prstGeom>
          <a:noFill/>
        </p:spPr>
        <p:txBody>
          <a:bodyPr wrap="square" anchor="t" lIns="0" rIns="0" tIns="0" bIns="0">
            <a:noAutofit/>
          </a:bodyPr>
          <a:lstStyle/>
          <a:p>
            <a:pPr algn="l">
              <a:lnSpc>
                <a:spcPct val="100000"/>
              </a:lnSpc>
              <a:spcBef>
                <a:spcPts val="0"/>
              </a:spcBef>
              <a:spcAft>
                <a:spcPts val="0"/>
              </a:spcAft>
            </a:pPr>
            <a:r>
              <a:rPr sz="8000" b="0" i="0" spc="-100">
                <a:solidFill>
                  <a:srgbClr val="FFB400"/>
                </a:solidFill>
                <a:latin typeface="Arial Black"/>
              </a:rPr>
              <a:t>ENERGY LAB</a:t>
            </a:r>
          </a:p>
        </p:txBody>
      </p:sp>
      <p:sp>
        <p:nvSpPr>
          <p:cNvPr id="31" name="TextBox 30"/>
          <p:cNvSpPr txBox="1"/>
          <p:nvPr/>
        </p:nvSpPr>
        <p:spPr>
          <a:xfrm>
            <a:off x="685800" y="3611880"/>
            <a:ext cx="7315200" cy="36576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6F7A89"/>
                </a:solidFill>
                <a:latin typeface="Arial Narrow"/>
              </a:rPr>
              <a:t>STATUS</a:t>
            </a:r>
          </a:p>
        </p:txBody>
      </p:sp>
      <p:sp>
        <p:nvSpPr>
          <p:cNvPr id="32" name="TextBox 31"/>
          <p:cNvSpPr txBox="1"/>
          <p:nvPr/>
        </p:nvSpPr>
        <p:spPr>
          <a:xfrm>
            <a:off x="685800" y="3931920"/>
            <a:ext cx="7315200" cy="548640"/>
          </a:xfrm>
          <a:prstGeom prst="rect">
            <a:avLst/>
          </a:prstGeom>
          <a:noFill/>
        </p:spPr>
        <p:txBody>
          <a:bodyPr wrap="square" anchor="t" lIns="0" rIns="0" tIns="0" bIns="0">
            <a:noAutofit/>
          </a:bodyPr>
          <a:lstStyle/>
          <a:p>
            <a:pPr algn="l">
              <a:lnSpc>
                <a:spcPct val="100000"/>
              </a:lnSpc>
              <a:spcBef>
                <a:spcPts val="0"/>
              </a:spcBef>
              <a:spcAft>
                <a:spcPts val="0"/>
              </a:spcAft>
            </a:pPr>
            <a:r>
              <a:rPr sz="2600" b="1" i="0" spc="300">
                <a:solidFill>
                  <a:srgbClr val="F4F6F8"/>
                </a:solidFill>
                <a:latin typeface="Arial Narrow"/>
              </a:rPr>
              <a:t>WAITING FOR ENGINEERS</a:t>
            </a:r>
            <a:r>
              <a:rPr sz="2600" b="1" i="0" spc="300">
                <a:solidFill>
                  <a:srgbClr val="FFB400"/>
                </a:solidFill>
                <a:latin typeface="Arial Narrow"/>
              </a:rPr>
              <a:t>_</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cxnSp>
        <p:nvCxnSpPr>
          <p:cNvPr id="2" name="Connector 1"/>
          <p:cNvCxnSpPr/>
          <p:nvPr/>
        </p:nvCxnSpPr>
        <p:spPr>
          <a:xfrm>
            <a:off x="914400" y="0"/>
            <a:ext cx="0" cy="6858000"/>
          </a:xfrm>
          <a:prstGeom prst="line">
            <a:avLst/>
          </a:prstGeom>
          <a:ln w="9525">
            <a:solidFill>
              <a:srgbClr val="151A22"/>
            </a:solidFill>
          </a:ln>
        </p:spPr>
      </p:cxnSp>
      <p:cxnSp>
        <p:nvCxnSpPr>
          <p:cNvPr id="3" name="Connector 2"/>
          <p:cNvCxnSpPr/>
          <p:nvPr/>
        </p:nvCxnSpPr>
        <p:spPr>
          <a:xfrm>
            <a:off x="1828800" y="0"/>
            <a:ext cx="0" cy="6858000"/>
          </a:xfrm>
          <a:prstGeom prst="line">
            <a:avLst/>
          </a:prstGeom>
          <a:ln w="9525">
            <a:solidFill>
              <a:srgbClr val="151A22"/>
            </a:solidFill>
          </a:ln>
        </p:spPr>
      </p:cxnSp>
      <p:cxnSp>
        <p:nvCxnSpPr>
          <p:cNvPr id="4" name="Connector 3"/>
          <p:cNvCxnSpPr/>
          <p:nvPr/>
        </p:nvCxnSpPr>
        <p:spPr>
          <a:xfrm>
            <a:off x="2743200" y="0"/>
            <a:ext cx="0" cy="6858000"/>
          </a:xfrm>
          <a:prstGeom prst="line">
            <a:avLst/>
          </a:prstGeom>
          <a:ln w="9525">
            <a:solidFill>
              <a:srgbClr val="151A22"/>
            </a:solidFill>
          </a:ln>
        </p:spPr>
      </p:cxnSp>
      <p:cxnSp>
        <p:nvCxnSpPr>
          <p:cNvPr id="5" name="Connector 4"/>
          <p:cNvCxnSpPr/>
          <p:nvPr/>
        </p:nvCxnSpPr>
        <p:spPr>
          <a:xfrm>
            <a:off x="3657600" y="0"/>
            <a:ext cx="0" cy="6858000"/>
          </a:xfrm>
          <a:prstGeom prst="line">
            <a:avLst/>
          </a:prstGeom>
          <a:ln w="9525">
            <a:solidFill>
              <a:srgbClr val="151A22"/>
            </a:solidFill>
          </a:ln>
        </p:spPr>
      </p:cxnSp>
      <p:cxnSp>
        <p:nvCxnSpPr>
          <p:cNvPr id="6" name="Connector 5"/>
          <p:cNvCxnSpPr/>
          <p:nvPr/>
        </p:nvCxnSpPr>
        <p:spPr>
          <a:xfrm>
            <a:off x="4572000" y="0"/>
            <a:ext cx="0" cy="6858000"/>
          </a:xfrm>
          <a:prstGeom prst="line">
            <a:avLst/>
          </a:prstGeom>
          <a:ln w="9525">
            <a:solidFill>
              <a:srgbClr val="151A22"/>
            </a:solidFill>
          </a:ln>
        </p:spPr>
      </p:cxnSp>
      <p:cxnSp>
        <p:nvCxnSpPr>
          <p:cNvPr id="7" name="Connector 6"/>
          <p:cNvCxnSpPr/>
          <p:nvPr/>
        </p:nvCxnSpPr>
        <p:spPr>
          <a:xfrm>
            <a:off x="5486400" y="0"/>
            <a:ext cx="0" cy="6858000"/>
          </a:xfrm>
          <a:prstGeom prst="line">
            <a:avLst/>
          </a:prstGeom>
          <a:ln w="9525">
            <a:solidFill>
              <a:srgbClr val="151A22"/>
            </a:solidFill>
          </a:ln>
        </p:spPr>
      </p:cxnSp>
      <p:cxnSp>
        <p:nvCxnSpPr>
          <p:cNvPr id="8" name="Connector 7"/>
          <p:cNvCxnSpPr/>
          <p:nvPr/>
        </p:nvCxnSpPr>
        <p:spPr>
          <a:xfrm>
            <a:off x="6400800" y="0"/>
            <a:ext cx="0" cy="6858000"/>
          </a:xfrm>
          <a:prstGeom prst="line">
            <a:avLst/>
          </a:prstGeom>
          <a:ln w="9525">
            <a:solidFill>
              <a:srgbClr val="151A22"/>
            </a:solidFill>
          </a:ln>
        </p:spPr>
      </p:cxnSp>
      <p:cxnSp>
        <p:nvCxnSpPr>
          <p:cNvPr id="9" name="Connector 8"/>
          <p:cNvCxnSpPr/>
          <p:nvPr/>
        </p:nvCxnSpPr>
        <p:spPr>
          <a:xfrm>
            <a:off x="7315200" y="0"/>
            <a:ext cx="0" cy="6858000"/>
          </a:xfrm>
          <a:prstGeom prst="line">
            <a:avLst/>
          </a:prstGeom>
          <a:ln w="9525">
            <a:solidFill>
              <a:srgbClr val="151A22"/>
            </a:solidFill>
          </a:ln>
        </p:spPr>
      </p:cxnSp>
      <p:cxnSp>
        <p:nvCxnSpPr>
          <p:cNvPr id="10" name="Connector 9"/>
          <p:cNvCxnSpPr/>
          <p:nvPr/>
        </p:nvCxnSpPr>
        <p:spPr>
          <a:xfrm>
            <a:off x="8229600" y="0"/>
            <a:ext cx="0" cy="6858000"/>
          </a:xfrm>
          <a:prstGeom prst="line">
            <a:avLst/>
          </a:prstGeom>
          <a:ln w="9525">
            <a:solidFill>
              <a:srgbClr val="151A22"/>
            </a:solidFill>
          </a:ln>
        </p:spPr>
      </p:cxnSp>
      <p:cxnSp>
        <p:nvCxnSpPr>
          <p:cNvPr id="11" name="Connector 10"/>
          <p:cNvCxnSpPr/>
          <p:nvPr/>
        </p:nvCxnSpPr>
        <p:spPr>
          <a:xfrm>
            <a:off x="9144000" y="0"/>
            <a:ext cx="0" cy="6858000"/>
          </a:xfrm>
          <a:prstGeom prst="line">
            <a:avLst/>
          </a:prstGeom>
          <a:ln w="9525">
            <a:solidFill>
              <a:srgbClr val="151A22"/>
            </a:solidFill>
          </a:ln>
        </p:spPr>
      </p:cxnSp>
      <p:cxnSp>
        <p:nvCxnSpPr>
          <p:cNvPr id="12" name="Connector 11"/>
          <p:cNvCxnSpPr/>
          <p:nvPr/>
        </p:nvCxnSpPr>
        <p:spPr>
          <a:xfrm>
            <a:off x="10058400" y="0"/>
            <a:ext cx="0" cy="6858000"/>
          </a:xfrm>
          <a:prstGeom prst="line">
            <a:avLst/>
          </a:prstGeom>
          <a:ln w="9525">
            <a:solidFill>
              <a:srgbClr val="151A22"/>
            </a:solidFill>
          </a:ln>
        </p:spPr>
      </p:cxnSp>
      <p:cxnSp>
        <p:nvCxnSpPr>
          <p:cNvPr id="13" name="Connector 12"/>
          <p:cNvCxnSpPr/>
          <p:nvPr/>
        </p:nvCxnSpPr>
        <p:spPr>
          <a:xfrm>
            <a:off x="10972800" y="0"/>
            <a:ext cx="0" cy="6858000"/>
          </a:xfrm>
          <a:prstGeom prst="line">
            <a:avLst/>
          </a:prstGeom>
          <a:ln w="9525">
            <a:solidFill>
              <a:srgbClr val="151A22"/>
            </a:solidFill>
          </a:ln>
        </p:spPr>
      </p:cxnSp>
      <p:cxnSp>
        <p:nvCxnSpPr>
          <p:cNvPr id="14" name="Connector 13"/>
          <p:cNvCxnSpPr/>
          <p:nvPr/>
        </p:nvCxnSpPr>
        <p:spPr>
          <a:xfrm>
            <a:off x="11887200" y="0"/>
            <a:ext cx="0" cy="6858000"/>
          </a:xfrm>
          <a:prstGeom prst="line">
            <a:avLst/>
          </a:prstGeom>
          <a:ln w="9525">
            <a:solidFill>
              <a:srgbClr val="151A22"/>
            </a:solidFill>
          </a:ln>
        </p:spPr>
      </p:cxnSp>
      <p:cxnSp>
        <p:nvCxnSpPr>
          <p:cNvPr id="15" name="Connector 14"/>
          <p:cNvCxnSpPr/>
          <p:nvPr/>
        </p:nvCxnSpPr>
        <p:spPr>
          <a:xfrm>
            <a:off x="0" y="914400"/>
            <a:ext cx="12192000" cy="0"/>
          </a:xfrm>
          <a:prstGeom prst="line">
            <a:avLst/>
          </a:prstGeom>
          <a:ln w="9525">
            <a:solidFill>
              <a:srgbClr val="151A22"/>
            </a:solidFill>
          </a:ln>
        </p:spPr>
      </p:cxnSp>
      <p:cxnSp>
        <p:nvCxnSpPr>
          <p:cNvPr id="16" name="Connector 15"/>
          <p:cNvCxnSpPr/>
          <p:nvPr/>
        </p:nvCxnSpPr>
        <p:spPr>
          <a:xfrm>
            <a:off x="0" y="1828800"/>
            <a:ext cx="12192000" cy="0"/>
          </a:xfrm>
          <a:prstGeom prst="line">
            <a:avLst/>
          </a:prstGeom>
          <a:ln w="9525">
            <a:solidFill>
              <a:srgbClr val="151A22"/>
            </a:solidFill>
          </a:ln>
        </p:spPr>
      </p:cxnSp>
      <p:cxnSp>
        <p:nvCxnSpPr>
          <p:cNvPr id="17" name="Connector 16"/>
          <p:cNvCxnSpPr/>
          <p:nvPr/>
        </p:nvCxnSpPr>
        <p:spPr>
          <a:xfrm>
            <a:off x="0" y="2743200"/>
            <a:ext cx="12192000" cy="0"/>
          </a:xfrm>
          <a:prstGeom prst="line">
            <a:avLst/>
          </a:prstGeom>
          <a:ln w="9525">
            <a:solidFill>
              <a:srgbClr val="151A22"/>
            </a:solidFill>
          </a:ln>
        </p:spPr>
      </p:cxnSp>
      <p:cxnSp>
        <p:nvCxnSpPr>
          <p:cNvPr id="18" name="Connector 17"/>
          <p:cNvCxnSpPr/>
          <p:nvPr/>
        </p:nvCxnSpPr>
        <p:spPr>
          <a:xfrm>
            <a:off x="0" y="3657600"/>
            <a:ext cx="12192000" cy="0"/>
          </a:xfrm>
          <a:prstGeom prst="line">
            <a:avLst/>
          </a:prstGeom>
          <a:ln w="9525">
            <a:solidFill>
              <a:srgbClr val="151A22"/>
            </a:solidFill>
          </a:ln>
        </p:spPr>
      </p:cxnSp>
      <p:cxnSp>
        <p:nvCxnSpPr>
          <p:cNvPr id="19" name="Connector 18"/>
          <p:cNvCxnSpPr/>
          <p:nvPr/>
        </p:nvCxnSpPr>
        <p:spPr>
          <a:xfrm>
            <a:off x="0" y="4572000"/>
            <a:ext cx="12192000" cy="0"/>
          </a:xfrm>
          <a:prstGeom prst="line">
            <a:avLst/>
          </a:prstGeom>
          <a:ln w="9525">
            <a:solidFill>
              <a:srgbClr val="151A22"/>
            </a:solidFill>
          </a:ln>
        </p:spPr>
      </p:cxnSp>
      <p:cxnSp>
        <p:nvCxnSpPr>
          <p:cNvPr id="20" name="Connector 19"/>
          <p:cNvCxnSpPr/>
          <p:nvPr/>
        </p:nvCxnSpPr>
        <p:spPr>
          <a:xfrm>
            <a:off x="0" y="5486400"/>
            <a:ext cx="12192000" cy="0"/>
          </a:xfrm>
          <a:prstGeom prst="line">
            <a:avLst/>
          </a:prstGeom>
          <a:ln w="9525">
            <a:solidFill>
              <a:srgbClr val="151A22"/>
            </a:solidFill>
          </a:ln>
        </p:spPr>
      </p:cxnSp>
      <p:cxnSp>
        <p:nvCxnSpPr>
          <p:cNvPr id="21" name="Connector 20"/>
          <p:cNvCxnSpPr/>
          <p:nvPr/>
        </p:nvCxnSpPr>
        <p:spPr>
          <a:xfrm>
            <a:off x="0" y="6400800"/>
            <a:ext cx="12192000" cy="0"/>
          </a:xfrm>
          <a:prstGeom prst="line">
            <a:avLst/>
          </a:prstGeom>
          <a:ln w="9525">
            <a:solidFill>
              <a:srgbClr val="151A22"/>
            </a:solidFill>
          </a:ln>
        </p:spPr>
      </p:cxnSp>
      <p:sp>
        <p:nvSpPr>
          <p:cNvPr id="22" name="Rectangle 2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23" name="TextBox 2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A9B3C0"/>
                </a:solidFill>
                <a:latin typeface="Arial Narrow"/>
              </a:rPr>
              <a:t>ACT 0 · ARRIVAL</a:t>
            </a:r>
          </a:p>
        </p:txBody>
      </p:sp>
      <p:sp>
        <p:nvSpPr>
          <p:cNvPr id="24" name="TextBox 23"/>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6F7A89"/>
                </a:solidFill>
                <a:latin typeface="Arial Narrow"/>
              </a:rPr>
              <a:t>ENERGY LAB  ·  CRASH TEST #05</a:t>
            </a:r>
          </a:p>
        </p:txBody>
      </p:sp>
      <p:sp>
        <p:nvSpPr>
          <p:cNvPr id="25" name="Rectangle 24"/>
          <p:cNvSpPr/>
          <p:nvPr/>
        </p:nvSpPr>
        <p:spPr>
          <a:xfrm>
            <a:off x="4526280" y="6510528"/>
            <a:ext cx="127363" cy="54864"/>
          </a:xfrm>
          <a:prstGeom prst="rect">
            <a:avLst/>
          </a:prstGeom>
          <a:solidFill>
            <a:srgbClr val="FFB400"/>
          </a:solidFill>
          <a:ln>
            <a:noFill/>
          </a:ln>
        </p:spPr>
        <p:txBody>
          <a:bodyPr rtlCol="0" anchor="ctr"/>
          <a:lstStyle/>
          <a:p>
            <a:pPr algn="ctr"/>
          </a:p>
        </p:txBody>
      </p:sp>
      <p:sp>
        <p:nvSpPr>
          <p:cNvPr id="26" name="Rectangle 25"/>
          <p:cNvSpPr/>
          <p:nvPr/>
        </p:nvSpPr>
        <p:spPr>
          <a:xfrm>
            <a:off x="4676503" y="6510528"/>
            <a:ext cx="187452" cy="54864"/>
          </a:xfrm>
          <a:prstGeom prst="rect">
            <a:avLst/>
          </a:prstGeom>
          <a:solidFill>
            <a:srgbClr val="2A3240"/>
          </a:solidFill>
          <a:ln>
            <a:noFill/>
          </a:ln>
        </p:spPr>
        <p:txBody>
          <a:bodyPr rtlCol="0" anchor="ctr"/>
          <a:lstStyle/>
          <a:p>
            <a:pPr algn="ctr"/>
          </a:p>
        </p:txBody>
      </p:sp>
      <p:sp>
        <p:nvSpPr>
          <p:cNvPr id="27" name="Rectangle 26"/>
          <p:cNvSpPr/>
          <p:nvPr/>
        </p:nvSpPr>
        <p:spPr>
          <a:xfrm>
            <a:off x="4886815" y="6510528"/>
            <a:ext cx="157407" cy="54864"/>
          </a:xfrm>
          <a:prstGeom prst="rect">
            <a:avLst/>
          </a:prstGeom>
          <a:solidFill>
            <a:srgbClr val="2A3240"/>
          </a:solidFill>
          <a:ln>
            <a:noFill/>
          </a:ln>
        </p:spPr>
        <p:txBody>
          <a:bodyPr rtlCol="0" anchor="ctr"/>
          <a:lstStyle/>
          <a:p>
            <a:pPr algn="ctr"/>
          </a:p>
        </p:txBody>
      </p:sp>
      <p:sp>
        <p:nvSpPr>
          <p:cNvPr id="28" name="Rectangle 27"/>
          <p:cNvSpPr/>
          <p:nvPr/>
        </p:nvSpPr>
        <p:spPr>
          <a:xfrm>
            <a:off x="5067082" y="6510528"/>
            <a:ext cx="337675" cy="54864"/>
          </a:xfrm>
          <a:prstGeom prst="rect">
            <a:avLst/>
          </a:prstGeom>
          <a:solidFill>
            <a:srgbClr val="2A3240"/>
          </a:solidFill>
          <a:ln>
            <a:noFill/>
          </a:ln>
        </p:spPr>
        <p:txBody>
          <a:bodyPr rtlCol="0" anchor="ctr"/>
          <a:lstStyle/>
          <a:p>
            <a:pPr algn="ctr"/>
          </a:p>
        </p:txBody>
      </p:sp>
      <p:sp>
        <p:nvSpPr>
          <p:cNvPr id="29" name="Rectangle 28"/>
          <p:cNvSpPr/>
          <p:nvPr/>
        </p:nvSpPr>
        <p:spPr>
          <a:xfrm>
            <a:off x="5427617" y="6510528"/>
            <a:ext cx="247541" cy="54864"/>
          </a:xfrm>
          <a:prstGeom prst="rect">
            <a:avLst/>
          </a:prstGeom>
          <a:solidFill>
            <a:srgbClr val="2A3240"/>
          </a:solidFill>
          <a:ln>
            <a:noFill/>
          </a:ln>
        </p:spPr>
        <p:txBody>
          <a:bodyPr rtlCol="0" anchor="ctr"/>
          <a:lstStyle/>
          <a:p>
            <a:pPr algn="ctr"/>
          </a:p>
        </p:txBody>
      </p:sp>
      <p:sp>
        <p:nvSpPr>
          <p:cNvPr id="30" name="Rectangle 29"/>
          <p:cNvSpPr/>
          <p:nvPr/>
        </p:nvSpPr>
        <p:spPr>
          <a:xfrm>
            <a:off x="5698018" y="6510528"/>
            <a:ext cx="67274" cy="54864"/>
          </a:xfrm>
          <a:prstGeom prst="rect">
            <a:avLst/>
          </a:prstGeom>
          <a:solidFill>
            <a:srgbClr val="2A3240"/>
          </a:solidFill>
          <a:ln>
            <a:noFill/>
          </a:ln>
        </p:spPr>
        <p:txBody>
          <a:bodyPr rtlCol="0" anchor="ctr"/>
          <a:lstStyle/>
          <a:p>
            <a:pPr algn="ctr"/>
          </a:p>
        </p:txBody>
      </p:sp>
      <p:sp>
        <p:nvSpPr>
          <p:cNvPr id="31" name="Rectangle 30"/>
          <p:cNvSpPr/>
          <p:nvPr/>
        </p:nvSpPr>
        <p:spPr>
          <a:xfrm>
            <a:off x="5788152" y="6510528"/>
            <a:ext cx="397764" cy="54864"/>
          </a:xfrm>
          <a:prstGeom prst="rect">
            <a:avLst/>
          </a:prstGeom>
          <a:solidFill>
            <a:srgbClr val="2A3240"/>
          </a:solidFill>
          <a:ln>
            <a:noFill/>
          </a:ln>
        </p:spPr>
        <p:txBody>
          <a:bodyPr rtlCol="0" anchor="ctr"/>
          <a:lstStyle/>
          <a:p>
            <a:pPr algn="ctr"/>
          </a:p>
        </p:txBody>
      </p:sp>
      <p:sp>
        <p:nvSpPr>
          <p:cNvPr id="32" name="Rectangle 31"/>
          <p:cNvSpPr/>
          <p:nvPr/>
        </p:nvSpPr>
        <p:spPr>
          <a:xfrm>
            <a:off x="6208776" y="6510528"/>
            <a:ext cx="187452" cy="54864"/>
          </a:xfrm>
          <a:prstGeom prst="rect">
            <a:avLst/>
          </a:prstGeom>
          <a:solidFill>
            <a:srgbClr val="2A3240"/>
          </a:solidFill>
          <a:ln>
            <a:noFill/>
          </a:ln>
        </p:spPr>
        <p:txBody>
          <a:bodyPr rtlCol="0" anchor="ctr"/>
          <a:lstStyle/>
          <a:p>
            <a:pPr algn="ctr"/>
          </a:p>
        </p:txBody>
      </p:sp>
      <p:sp>
        <p:nvSpPr>
          <p:cNvPr id="33" name="Rectangle 32"/>
          <p:cNvSpPr/>
          <p:nvPr/>
        </p:nvSpPr>
        <p:spPr>
          <a:xfrm>
            <a:off x="6419088" y="6510528"/>
            <a:ext cx="367719" cy="54864"/>
          </a:xfrm>
          <a:prstGeom prst="rect">
            <a:avLst/>
          </a:prstGeom>
          <a:solidFill>
            <a:srgbClr val="2A3240"/>
          </a:solidFill>
          <a:ln>
            <a:noFill/>
          </a:ln>
        </p:spPr>
        <p:txBody>
          <a:bodyPr rtlCol="0" anchor="ctr"/>
          <a:lstStyle/>
          <a:p>
            <a:pPr algn="ctr"/>
          </a:p>
        </p:txBody>
      </p:sp>
      <p:sp>
        <p:nvSpPr>
          <p:cNvPr id="34" name="Rectangle 33"/>
          <p:cNvSpPr/>
          <p:nvPr/>
        </p:nvSpPr>
        <p:spPr>
          <a:xfrm>
            <a:off x="6809667" y="6510528"/>
            <a:ext cx="157407" cy="54864"/>
          </a:xfrm>
          <a:prstGeom prst="rect">
            <a:avLst/>
          </a:prstGeom>
          <a:solidFill>
            <a:srgbClr val="2A3240"/>
          </a:solidFill>
          <a:ln>
            <a:noFill/>
          </a:ln>
        </p:spPr>
        <p:txBody>
          <a:bodyPr rtlCol="0" anchor="ctr"/>
          <a:lstStyle/>
          <a:p>
            <a:pPr algn="ctr"/>
          </a:p>
        </p:txBody>
      </p:sp>
      <p:sp>
        <p:nvSpPr>
          <p:cNvPr id="35" name="Rectangle 34"/>
          <p:cNvSpPr/>
          <p:nvPr/>
        </p:nvSpPr>
        <p:spPr>
          <a:xfrm>
            <a:off x="6989935" y="6510528"/>
            <a:ext cx="217497" cy="54864"/>
          </a:xfrm>
          <a:prstGeom prst="rect">
            <a:avLst/>
          </a:prstGeom>
          <a:solidFill>
            <a:srgbClr val="2A3240"/>
          </a:solidFill>
          <a:ln>
            <a:noFill/>
          </a:ln>
        </p:spPr>
        <p:txBody>
          <a:bodyPr rtlCol="0" anchor="ctr"/>
          <a:lstStyle/>
          <a:p>
            <a:pPr algn="ctr"/>
          </a:p>
        </p:txBody>
      </p:sp>
      <p:sp>
        <p:nvSpPr>
          <p:cNvPr id="36" name="Rectangle 35"/>
          <p:cNvSpPr/>
          <p:nvPr/>
        </p:nvSpPr>
        <p:spPr>
          <a:xfrm>
            <a:off x="7230291" y="6510528"/>
            <a:ext cx="217497" cy="54864"/>
          </a:xfrm>
          <a:prstGeom prst="rect">
            <a:avLst/>
          </a:prstGeom>
          <a:solidFill>
            <a:srgbClr val="2A3240"/>
          </a:solidFill>
          <a:ln>
            <a:noFill/>
          </a:ln>
        </p:spPr>
        <p:txBody>
          <a:bodyPr rtlCol="0" anchor="ctr"/>
          <a:lstStyle/>
          <a:p>
            <a:pPr algn="ctr"/>
          </a:p>
        </p:txBody>
      </p:sp>
      <p:sp>
        <p:nvSpPr>
          <p:cNvPr id="37" name="Rectangle 36"/>
          <p:cNvSpPr/>
          <p:nvPr/>
        </p:nvSpPr>
        <p:spPr>
          <a:xfrm>
            <a:off x="7470648" y="6510528"/>
            <a:ext cx="97318" cy="54864"/>
          </a:xfrm>
          <a:prstGeom prst="rect">
            <a:avLst/>
          </a:prstGeom>
          <a:solidFill>
            <a:srgbClr val="2A3240"/>
          </a:solidFill>
          <a:ln>
            <a:noFill/>
          </a:ln>
        </p:spPr>
        <p:txBody>
          <a:bodyPr rtlCol="0" anchor="ctr"/>
          <a:lstStyle/>
          <a:p>
            <a:pPr algn="ctr"/>
          </a:p>
        </p:txBody>
      </p:sp>
      <p:sp>
        <p:nvSpPr>
          <p:cNvPr id="38" name="Rectangle 37"/>
          <p:cNvSpPr/>
          <p:nvPr/>
        </p:nvSpPr>
        <p:spPr>
          <a:xfrm>
            <a:off x="7590826" y="6510528"/>
            <a:ext cx="67274" cy="54864"/>
          </a:xfrm>
          <a:prstGeom prst="rect">
            <a:avLst/>
          </a:prstGeom>
          <a:solidFill>
            <a:srgbClr val="2A3240"/>
          </a:solidFill>
          <a:ln>
            <a:noFill/>
          </a:ln>
        </p:spPr>
        <p:txBody>
          <a:bodyPr rtlCol="0" anchor="ctr"/>
          <a:lstStyle/>
          <a:p>
            <a:pPr algn="ctr"/>
          </a:p>
        </p:txBody>
      </p:sp>
      <p:sp>
        <p:nvSpPr>
          <p:cNvPr id="39" name="TextBox 38"/>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6F7A89"/>
                </a:solidFill>
                <a:latin typeface="Arial Narrow"/>
              </a:rPr>
              <a:t>2</a:t>
            </a:fld>
          </a:p>
        </p:txBody>
      </p:sp>
      <p:sp>
        <p:nvSpPr>
          <p:cNvPr id="40" name="TextBox 39"/>
          <p:cNvSpPr txBox="1"/>
          <p:nvPr/>
        </p:nvSpPr>
        <p:spPr>
          <a:xfrm>
            <a:off x="685800" y="11430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A9B3C0"/>
                </a:solidFill>
                <a:latin typeface="Arial Narrow"/>
              </a:rPr>
              <a:t>INITIALISING</a:t>
            </a:r>
          </a:p>
        </p:txBody>
      </p:sp>
      <p:sp>
        <p:nvSpPr>
          <p:cNvPr id="41" name="TextBox 40"/>
          <p:cNvSpPr txBox="1"/>
          <p:nvPr/>
        </p:nvSpPr>
        <p:spPr>
          <a:xfrm>
            <a:off x="685800" y="1417320"/>
            <a:ext cx="10789920" cy="1005840"/>
          </a:xfrm>
          <a:prstGeom prst="rect">
            <a:avLst/>
          </a:prstGeom>
          <a:noFill/>
        </p:spPr>
        <p:txBody>
          <a:bodyPr wrap="square" anchor="t" lIns="0" rIns="0" tIns="0" bIns="0">
            <a:noAutofit/>
          </a:bodyPr>
          <a:lstStyle/>
          <a:p>
            <a:pPr algn="l">
              <a:lnSpc>
                <a:spcPct val="100000"/>
              </a:lnSpc>
              <a:spcBef>
                <a:spcPts val="0"/>
              </a:spcBef>
              <a:spcAft>
                <a:spcPts val="0"/>
              </a:spcAft>
            </a:pPr>
            <a:r>
              <a:rPr sz="5400" b="0" i="0">
                <a:solidFill>
                  <a:srgbClr val="F4F6F8"/>
                </a:solidFill>
                <a:latin typeface="Arial Black"/>
              </a:rPr>
              <a:t>SYSTEM START</a:t>
            </a:r>
          </a:p>
        </p:txBody>
      </p:sp>
      <p:cxnSp>
        <p:nvCxnSpPr>
          <p:cNvPr id="42" name="Connector 41"/>
          <p:cNvCxnSpPr/>
          <p:nvPr/>
        </p:nvCxnSpPr>
        <p:spPr>
          <a:xfrm>
            <a:off x="685800" y="3447288"/>
            <a:ext cx="7452360" cy="0"/>
          </a:xfrm>
          <a:prstGeom prst="line">
            <a:avLst/>
          </a:prstGeom>
          <a:ln w="15875">
            <a:solidFill>
              <a:srgbClr val="323C4A"/>
            </a:solidFill>
          </a:ln>
        </p:spPr>
      </p:cxnSp>
      <p:sp>
        <p:nvSpPr>
          <p:cNvPr id="43" name="TextBox 42"/>
          <p:cNvSpPr txBox="1"/>
          <p:nvPr/>
        </p:nvSpPr>
        <p:spPr>
          <a:xfrm>
            <a:off x="685800" y="2788920"/>
            <a:ext cx="4572000" cy="548640"/>
          </a:xfrm>
          <a:prstGeom prst="rect">
            <a:avLst/>
          </a:prstGeom>
          <a:noFill/>
        </p:spPr>
        <p:txBody>
          <a:bodyPr wrap="square" anchor="t" lIns="0" rIns="0" tIns="0" bIns="0">
            <a:noAutofit/>
          </a:bodyPr>
          <a:lstStyle/>
          <a:p>
            <a:pPr algn="l">
              <a:lnSpc>
                <a:spcPct val="100000"/>
              </a:lnSpc>
              <a:spcBef>
                <a:spcPts val="0"/>
              </a:spcBef>
              <a:spcAft>
                <a:spcPts val="0"/>
              </a:spcAft>
            </a:pPr>
            <a:r>
              <a:rPr sz="2800" b="1" i="0" spc="250">
                <a:solidFill>
                  <a:srgbClr val="F4F6F8"/>
                </a:solidFill>
                <a:latin typeface="Arial Narrow"/>
              </a:rPr>
              <a:t>ENERGY MODULE</a:t>
            </a:r>
          </a:p>
        </p:txBody>
      </p:sp>
      <p:sp>
        <p:nvSpPr>
          <p:cNvPr id="44" name="TextBox 43"/>
          <p:cNvSpPr txBox="1"/>
          <p:nvPr/>
        </p:nvSpPr>
        <p:spPr>
          <a:xfrm>
            <a:off x="5120640" y="2788920"/>
            <a:ext cx="3017520" cy="548640"/>
          </a:xfrm>
          <a:prstGeom prst="rect">
            <a:avLst/>
          </a:prstGeom>
          <a:noFill/>
        </p:spPr>
        <p:txBody>
          <a:bodyPr wrap="square" anchor="t" lIns="0" rIns="0" tIns="0" bIns="0">
            <a:noAutofit/>
          </a:bodyPr>
          <a:lstStyle/>
          <a:p>
            <a:pPr algn="r">
              <a:lnSpc>
                <a:spcPct val="100000"/>
              </a:lnSpc>
              <a:spcBef>
                <a:spcPts val="0"/>
              </a:spcBef>
              <a:spcAft>
                <a:spcPts val="0"/>
              </a:spcAft>
            </a:pPr>
            <a:r>
              <a:rPr sz="2800" b="1" i="0" spc="250">
                <a:solidFill>
                  <a:srgbClr val="34C77B"/>
                </a:solidFill>
                <a:latin typeface="Arial Narrow"/>
              </a:rPr>
              <a:t>ONLINE</a:t>
            </a:r>
          </a:p>
        </p:txBody>
      </p:sp>
      <p:cxnSp>
        <p:nvCxnSpPr>
          <p:cNvPr id="45" name="Connector 44"/>
          <p:cNvCxnSpPr/>
          <p:nvPr/>
        </p:nvCxnSpPr>
        <p:spPr>
          <a:xfrm>
            <a:off x="685800" y="4224528"/>
            <a:ext cx="7452360" cy="0"/>
          </a:xfrm>
          <a:prstGeom prst="line">
            <a:avLst/>
          </a:prstGeom>
          <a:ln w="15875">
            <a:solidFill>
              <a:srgbClr val="323C4A"/>
            </a:solidFill>
          </a:ln>
        </p:spPr>
      </p:cxnSp>
      <p:sp>
        <p:nvSpPr>
          <p:cNvPr id="46" name="TextBox 45"/>
          <p:cNvSpPr txBox="1"/>
          <p:nvPr/>
        </p:nvSpPr>
        <p:spPr>
          <a:xfrm>
            <a:off x="685800" y="3566160"/>
            <a:ext cx="4572000" cy="548640"/>
          </a:xfrm>
          <a:prstGeom prst="rect">
            <a:avLst/>
          </a:prstGeom>
          <a:noFill/>
        </p:spPr>
        <p:txBody>
          <a:bodyPr wrap="square" anchor="t" lIns="0" rIns="0" tIns="0" bIns="0">
            <a:noAutofit/>
          </a:bodyPr>
          <a:lstStyle/>
          <a:p>
            <a:pPr algn="l">
              <a:lnSpc>
                <a:spcPct val="100000"/>
              </a:lnSpc>
              <a:spcBef>
                <a:spcPts val="0"/>
              </a:spcBef>
              <a:spcAft>
                <a:spcPts val="0"/>
              </a:spcAft>
            </a:pPr>
            <a:r>
              <a:rPr sz="2800" b="1" i="0" spc="250">
                <a:solidFill>
                  <a:srgbClr val="F4F6F8"/>
                </a:solidFill>
                <a:latin typeface="Arial Narrow"/>
              </a:rPr>
              <a:t>CRASH TEST RIG</a:t>
            </a:r>
          </a:p>
        </p:txBody>
      </p:sp>
      <p:sp>
        <p:nvSpPr>
          <p:cNvPr id="47" name="TextBox 46"/>
          <p:cNvSpPr txBox="1"/>
          <p:nvPr/>
        </p:nvSpPr>
        <p:spPr>
          <a:xfrm>
            <a:off x="5120640" y="3566160"/>
            <a:ext cx="3017520" cy="548640"/>
          </a:xfrm>
          <a:prstGeom prst="rect">
            <a:avLst/>
          </a:prstGeom>
          <a:noFill/>
        </p:spPr>
        <p:txBody>
          <a:bodyPr wrap="square" anchor="t" lIns="0" rIns="0" tIns="0" bIns="0">
            <a:noAutofit/>
          </a:bodyPr>
          <a:lstStyle/>
          <a:p>
            <a:pPr algn="r">
              <a:lnSpc>
                <a:spcPct val="100000"/>
              </a:lnSpc>
              <a:spcBef>
                <a:spcPts val="0"/>
              </a:spcBef>
              <a:spcAft>
                <a:spcPts val="0"/>
              </a:spcAft>
            </a:pPr>
            <a:r>
              <a:rPr sz="2800" b="1" i="0" spc="250">
                <a:solidFill>
                  <a:srgbClr val="34C77B"/>
                </a:solidFill>
                <a:latin typeface="Arial Narrow"/>
              </a:rPr>
              <a:t>ONLINE</a:t>
            </a:r>
          </a:p>
        </p:txBody>
      </p:sp>
      <p:cxnSp>
        <p:nvCxnSpPr>
          <p:cNvPr id="48" name="Connector 47"/>
          <p:cNvCxnSpPr/>
          <p:nvPr/>
        </p:nvCxnSpPr>
        <p:spPr>
          <a:xfrm>
            <a:off x="685800" y="5001768"/>
            <a:ext cx="7452360" cy="0"/>
          </a:xfrm>
          <a:prstGeom prst="line">
            <a:avLst/>
          </a:prstGeom>
          <a:ln w="15875">
            <a:solidFill>
              <a:srgbClr val="323C4A"/>
            </a:solidFill>
          </a:ln>
        </p:spPr>
      </p:cxnSp>
      <p:sp>
        <p:nvSpPr>
          <p:cNvPr id="49" name="TextBox 48"/>
          <p:cNvSpPr txBox="1"/>
          <p:nvPr/>
        </p:nvSpPr>
        <p:spPr>
          <a:xfrm>
            <a:off x="685800" y="4343400"/>
            <a:ext cx="4572000" cy="548640"/>
          </a:xfrm>
          <a:prstGeom prst="rect">
            <a:avLst/>
          </a:prstGeom>
          <a:noFill/>
        </p:spPr>
        <p:txBody>
          <a:bodyPr wrap="square" anchor="t" lIns="0" rIns="0" tIns="0" bIns="0">
            <a:noAutofit/>
          </a:bodyPr>
          <a:lstStyle/>
          <a:p>
            <a:pPr algn="l">
              <a:lnSpc>
                <a:spcPct val="100000"/>
              </a:lnSpc>
              <a:spcBef>
                <a:spcPts val="0"/>
              </a:spcBef>
              <a:spcAft>
                <a:spcPts val="0"/>
              </a:spcAft>
            </a:pPr>
            <a:r>
              <a:rPr sz="2800" b="1" i="0" spc="250">
                <a:solidFill>
                  <a:srgbClr val="F4F6F8"/>
                </a:solidFill>
                <a:latin typeface="Arial Narrow"/>
              </a:rPr>
              <a:t>ENGINEERS</a:t>
            </a:r>
          </a:p>
        </p:txBody>
      </p:sp>
      <p:sp>
        <p:nvSpPr>
          <p:cNvPr id="50" name="TextBox 49"/>
          <p:cNvSpPr txBox="1"/>
          <p:nvPr/>
        </p:nvSpPr>
        <p:spPr>
          <a:xfrm>
            <a:off x="5120640" y="4343400"/>
            <a:ext cx="3017520" cy="548640"/>
          </a:xfrm>
          <a:prstGeom prst="rect">
            <a:avLst/>
          </a:prstGeom>
          <a:noFill/>
        </p:spPr>
        <p:txBody>
          <a:bodyPr wrap="square" anchor="t" lIns="0" rIns="0" tIns="0" bIns="0">
            <a:noAutofit/>
          </a:bodyPr>
          <a:lstStyle/>
          <a:p>
            <a:pPr algn="r">
              <a:lnSpc>
                <a:spcPct val="100000"/>
              </a:lnSpc>
              <a:spcBef>
                <a:spcPts val="0"/>
              </a:spcBef>
              <a:spcAft>
                <a:spcPts val="0"/>
              </a:spcAft>
            </a:pPr>
            <a:r>
              <a:rPr sz="2800" b="1" i="0" spc="250">
                <a:solidFill>
                  <a:srgbClr val="FFB400"/>
                </a:solidFill>
                <a:latin typeface="Arial Narrow"/>
              </a:rPr>
              <a:t>REQUIRED</a:t>
            </a:r>
          </a:p>
        </p:txBody>
      </p:sp>
      <p:cxnSp>
        <p:nvCxnSpPr>
          <p:cNvPr id="51" name="Connector 50"/>
          <p:cNvCxnSpPr/>
          <p:nvPr/>
        </p:nvCxnSpPr>
        <p:spPr>
          <a:xfrm>
            <a:off x="685800" y="5779008"/>
            <a:ext cx="7452360" cy="0"/>
          </a:xfrm>
          <a:prstGeom prst="line">
            <a:avLst/>
          </a:prstGeom>
          <a:ln w="15875">
            <a:solidFill>
              <a:srgbClr val="323C4A"/>
            </a:solidFill>
          </a:ln>
        </p:spPr>
      </p:cxnSp>
      <p:sp>
        <p:nvSpPr>
          <p:cNvPr id="52" name="TextBox 51"/>
          <p:cNvSpPr txBox="1"/>
          <p:nvPr/>
        </p:nvSpPr>
        <p:spPr>
          <a:xfrm>
            <a:off x="685800" y="5120640"/>
            <a:ext cx="4572000" cy="548640"/>
          </a:xfrm>
          <a:prstGeom prst="rect">
            <a:avLst/>
          </a:prstGeom>
          <a:noFill/>
        </p:spPr>
        <p:txBody>
          <a:bodyPr wrap="square" anchor="t" lIns="0" rIns="0" tIns="0" bIns="0">
            <a:noAutofit/>
          </a:bodyPr>
          <a:lstStyle/>
          <a:p>
            <a:pPr algn="l">
              <a:lnSpc>
                <a:spcPct val="100000"/>
              </a:lnSpc>
              <a:spcBef>
                <a:spcPts val="0"/>
              </a:spcBef>
              <a:spcAft>
                <a:spcPts val="0"/>
              </a:spcAft>
            </a:pPr>
            <a:r>
              <a:rPr sz="2800" b="1" i="0" spc="250">
                <a:solidFill>
                  <a:srgbClr val="F4F6F8"/>
                </a:solidFill>
                <a:latin typeface="Arial Narrow"/>
              </a:rPr>
              <a:t>MISSION #05</a:t>
            </a:r>
          </a:p>
        </p:txBody>
      </p:sp>
      <p:sp>
        <p:nvSpPr>
          <p:cNvPr id="53" name="TextBox 52"/>
          <p:cNvSpPr txBox="1"/>
          <p:nvPr/>
        </p:nvSpPr>
        <p:spPr>
          <a:xfrm>
            <a:off x="5120640" y="5120640"/>
            <a:ext cx="3017520" cy="548640"/>
          </a:xfrm>
          <a:prstGeom prst="rect">
            <a:avLst/>
          </a:prstGeom>
          <a:noFill/>
        </p:spPr>
        <p:txBody>
          <a:bodyPr wrap="square" anchor="t" lIns="0" rIns="0" tIns="0" bIns="0">
            <a:noAutofit/>
          </a:bodyPr>
          <a:lstStyle/>
          <a:p>
            <a:pPr algn="r">
              <a:lnSpc>
                <a:spcPct val="100000"/>
              </a:lnSpc>
              <a:spcBef>
                <a:spcPts val="0"/>
              </a:spcBef>
              <a:spcAft>
                <a:spcPts val="0"/>
              </a:spcAft>
            </a:pPr>
            <a:r>
              <a:rPr sz="2800" b="1" i="0" spc="250">
                <a:solidFill>
                  <a:srgbClr val="FFB400"/>
                </a:solidFill>
                <a:latin typeface="Arial Narrow"/>
              </a:rPr>
              <a:t>LOADING</a:t>
            </a:r>
          </a:p>
        </p:txBody>
      </p:sp>
      <p:sp>
        <p:nvSpPr>
          <p:cNvPr id="54" name="Oval 53"/>
          <p:cNvSpPr/>
          <p:nvPr/>
        </p:nvSpPr>
        <p:spPr>
          <a:xfrm>
            <a:off x="10058400" y="2926080"/>
            <a:ext cx="1371600" cy="1371600"/>
          </a:xfrm>
          <a:prstGeom prst="ellipse">
            <a:avLst/>
          </a:prstGeom>
          <a:noFill/>
          <a:ln w="15875">
            <a:solidFill>
              <a:srgbClr val="323C4A"/>
            </a:solidFill>
          </a:ln>
        </p:spPr>
        <p:txBody>
          <a:bodyPr rtlCol="0" anchor="ctr"/>
          <a:lstStyle/>
          <a:p>
            <a:pPr algn="ctr"/>
          </a:p>
        </p:txBody>
      </p:sp>
      <p:sp>
        <p:nvSpPr>
          <p:cNvPr id="55" name="Oval 54"/>
          <p:cNvSpPr/>
          <p:nvPr/>
        </p:nvSpPr>
        <p:spPr>
          <a:xfrm>
            <a:off x="9509760" y="2377440"/>
            <a:ext cx="2468880" cy="2468880"/>
          </a:xfrm>
          <a:prstGeom prst="ellipse">
            <a:avLst/>
          </a:prstGeom>
          <a:noFill/>
          <a:ln w="15875">
            <a:solidFill>
              <a:srgbClr val="323C4A"/>
            </a:solidFill>
          </a:ln>
        </p:spPr>
        <p:txBody>
          <a:bodyPr rtlCol="0" anchor="ctr"/>
          <a:lstStyle/>
          <a:p>
            <a:pPr algn="ctr"/>
          </a:p>
        </p:txBody>
      </p:sp>
      <p:sp>
        <p:nvSpPr>
          <p:cNvPr id="56" name="Oval 55"/>
          <p:cNvSpPr/>
          <p:nvPr/>
        </p:nvSpPr>
        <p:spPr>
          <a:xfrm>
            <a:off x="8961120" y="1828800"/>
            <a:ext cx="3566160" cy="3566160"/>
          </a:xfrm>
          <a:prstGeom prst="ellipse">
            <a:avLst/>
          </a:prstGeom>
          <a:noFill/>
          <a:ln w="15875">
            <a:solidFill>
              <a:srgbClr val="323C4A"/>
            </a:solidFill>
          </a:ln>
        </p:spPr>
        <p:txBody>
          <a:bodyPr rtlCol="0" anchor="ctr"/>
          <a:lstStyle/>
          <a:p>
            <a:pPr algn="ctr"/>
          </a:p>
        </p:txBody>
      </p:sp>
      <p:cxnSp>
        <p:nvCxnSpPr>
          <p:cNvPr id="57" name="Connector 56"/>
          <p:cNvCxnSpPr/>
          <p:nvPr/>
        </p:nvCxnSpPr>
        <p:spPr>
          <a:xfrm>
            <a:off x="8503920" y="3611880"/>
            <a:ext cx="4480560" cy="0"/>
          </a:xfrm>
          <a:prstGeom prst="line">
            <a:avLst/>
          </a:prstGeom>
          <a:ln w="12700">
            <a:solidFill>
              <a:srgbClr val="323C4A"/>
            </a:solidFill>
          </a:ln>
        </p:spPr>
      </p:cxnSp>
      <p:cxnSp>
        <p:nvCxnSpPr>
          <p:cNvPr id="58" name="Connector 57"/>
          <p:cNvCxnSpPr/>
          <p:nvPr/>
        </p:nvCxnSpPr>
        <p:spPr>
          <a:xfrm>
            <a:off x="10744200" y="1554480"/>
            <a:ext cx="0" cy="4114800"/>
          </a:xfrm>
          <a:prstGeom prst="line">
            <a:avLst/>
          </a:prstGeom>
          <a:ln w="12700">
            <a:solidFill>
              <a:srgbClr val="323C4A"/>
            </a:solidFill>
          </a:ln>
        </p:spPr>
      </p:cxnSp>
      <p:sp>
        <p:nvSpPr>
          <p:cNvPr id="59" name="TextBox 58"/>
          <p:cNvSpPr txBox="1"/>
          <p:nvPr/>
        </p:nvSpPr>
        <p:spPr>
          <a:xfrm>
            <a:off x="10012680" y="3291840"/>
            <a:ext cx="1463040" cy="822960"/>
          </a:xfrm>
          <a:prstGeom prst="rect">
            <a:avLst/>
          </a:prstGeom>
          <a:noFill/>
        </p:spPr>
        <p:txBody>
          <a:bodyPr wrap="square" anchor="t" lIns="0" rIns="0" tIns="0" bIns="0">
            <a:noAutofit/>
          </a:bodyPr>
          <a:lstStyle/>
          <a:p>
            <a:pPr algn="ctr">
              <a:lnSpc>
                <a:spcPct val="100000"/>
              </a:lnSpc>
              <a:spcBef>
                <a:spcPts val="0"/>
              </a:spcBef>
              <a:spcAft>
                <a:spcPts val="0"/>
              </a:spcAft>
            </a:pPr>
            <a:r>
              <a:rPr sz="5400" b="0" i="0">
                <a:solidFill>
                  <a:srgbClr val="FFB400"/>
                </a:solidFill>
                <a:latin typeface="Arial Black"/>
              </a:rPr>
              <a:t>05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Oval 1"/>
          <p:cNvSpPr/>
          <p:nvPr/>
        </p:nvSpPr>
        <p:spPr>
          <a:xfrm>
            <a:off x="1371600" y="1554480"/>
            <a:ext cx="3749040" cy="3749040"/>
          </a:xfrm>
          <a:prstGeom prst="ellipse">
            <a:avLst/>
          </a:prstGeom>
          <a:solidFill>
            <a:srgbClr val="F4F1E8"/>
          </a:solidFill>
          <a:ln w="78105">
            <a:solidFill>
              <a:srgbClr val="6F7A89"/>
            </a:solidFill>
          </a:ln>
        </p:spPr>
        <p:txBody>
          <a:bodyPr rtlCol="0" anchor="ctr"/>
          <a:lstStyle/>
          <a:p>
            <a:pPr algn="ctr"/>
          </a:p>
        </p:txBody>
      </p:sp>
      <p:sp>
        <p:nvSpPr>
          <p:cNvPr id="3" name="Freeform 2"/>
          <p:cNvSpPr/>
          <p:nvPr/>
        </p:nvSpPr>
        <p:spPr>
          <a:xfrm>
            <a:off x="1906841" y="2332316"/>
            <a:ext cx="345492" cy="2165867"/>
          </a:xfrm>
          <a:custGeom>
            <a:avLst/>
            <a:gdLst/>
            <a:ahLst/>
            <a:cxnLst/>
            <a:rect l="l" t="t" r="r" b="b"/>
            <a:pathLst>
              <a:path w="345492" h="2165867">
                <a:moveTo>
                  <a:pt x="0" y="0"/>
                </a:moveTo>
                <a:lnTo>
                  <a:pt x="55250" y="83473"/>
                </a:lnTo>
                <a:lnTo>
                  <a:pt x="106055" y="169723"/>
                </a:lnTo>
                <a:lnTo>
                  <a:pt x="152277" y="258514"/>
                </a:lnTo>
                <a:lnTo>
                  <a:pt x="193788" y="349602"/>
                </a:lnTo>
                <a:lnTo>
                  <a:pt x="230475" y="442738"/>
                </a:lnTo>
                <a:lnTo>
                  <a:pt x="262238" y="537666"/>
                </a:lnTo>
                <a:lnTo>
                  <a:pt x="288989" y="634127"/>
                </a:lnTo>
                <a:lnTo>
                  <a:pt x="310654" y="731855"/>
                </a:lnTo>
                <a:lnTo>
                  <a:pt x="327176" y="830584"/>
                </a:lnTo>
                <a:lnTo>
                  <a:pt x="338508" y="930041"/>
                </a:lnTo>
                <a:lnTo>
                  <a:pt x="344619" y="1029956"/>
                </a:lnTo>
                <a:lnTo>
                  <a:pt x="345492" y="1130053"/>
                </a:lnTo>
                <a:lnTo>
                  <a:pt x="341126" y="1230059"/>
                </a:lnTo>
                <a:lnTo>
                  <a:pt x="331532" y="1329699"/>
                </a:lnTo>
                <a:lnTo>
                  <a:pt x="316736" y="1428701"/>
                </a:lnTo>
                <a:lnTo>
                  <a:pt x="296779" y="1526793"/>
                </a:lnTo>
                <a:lnTo>
                  <a:pt x="271715" y="1623705"/>
                </a:lnTo>
                <a:lnTo>
                  <a:pt x="241614" y="1719174"/>
                </a:lnTo>
                <a:lnTo>
                  <a:pt x="206558" y="1812936"/>
                </a:lnTo>
                <a:lnTo>
                  <a:pt x="166643" y="1904735"/>
                </a:lnTo>
                <a:lnTo>
                  <a:pt x="121978" y="1994319"/>
                </a:lnTo>
                <a:lnTo>
                  <a:pt x="72686" y="2081442"/>
                </a:lnTo>
                <a:lnTo>
                  <a:pt x="18901" y="2165867"/>
                </a:lnTo>
              </a:path>
            </a:pathLst>
          </a:custGeom>
          <a:noFill/>
          <a:ln w="83312" cap="rnd">
            <a:solidFill>
              <a:srgbClr val="F0525A"/>
            </a:solidFill>
            <a:round/>
          </a:ln>
        </p:spPr>
        <p:txBody>
          <a:bodyPr rtlCol="0" anchor="ctr"/>
          <a:lstStyle/>
          <a:p>
            <a:pPr algn="ctr"/>
          </a:p>
        </p:txBody>
      </p:sp>
      <p:sp>
        <p:nvSpPr>
          <p:cNvPr id="4" name="Freeform 3"/>
          <p:cNvSpPr/>
          <p:nvPr/>
        </p:nvSpPr>
        <p:spPr>
          <a:xfrm>
            <a:off x="4239907" y="2332316"/>
            <a:ext cx="345492" cy="2165867"/>
          </a:xfrm>
          <a:custGeom>
            <a:avLst/>
            <a:gdLst/>
            <a:ahLst/>
            <a:cxnLst/>
            <a:rect l="l" t="t" r="r" b="b"/>
            <a:pathLst>
              <a:path w="345492" h="2165867">
                <a:moveTo>
                  <a:pt x="345492" y="0"/>
                </a:moveTo>
                <a:lnTo>
                  <a:pt x="290242" y="83473"/>
                </a:lnTo>
                <a:lnTo>
                  <a:pt x="239437" y="169723"/>
                </a:lnTo>
                <a:lnTo>
                  <a:pt x="193215" y="258514"/>
                </a:lnTo>
                <a:lnTo>
                  <a:pt x="151704" y="349602"/>
                </a:lnTo>
                <a:lnTo>
                  <a:pt x="115017" y="442738"/>
                </a:lnTo>
                <a:lnTo>
                  <a:pt x="83254" y="537666"/>
                </a:lnTo>
                <a:lnTo>
                  <a:pt x="56503" y="634127"/>
                </a:lnTo>
                <a:lnTo>
                  <a:pt x="34838" y="731855"/>
                </a:lnTo>
                <a:lnTo>
                  <a:pt x="18316" y="830584"/>
                </a:lnTo>
                <a:lnTo>
                  <a:pt x="6984" y="930041"/>
                </a:lnTo>
                <a:lnTo>
                  <a:pt x="873" y="1029956"/>
                </a:lnTo>
                <a:lnTo>
                  <a:pt x="0" y="1130053"/>
                </a:lnTo>
                <a:lnTo>
                  <a:pt x="4366" y="1230059"/>
                </a:lnTo>
                <a:lnTo>
                  <a:pt x="13960" y="1329699"/>
                </a:lnTo>
                <a:lnTo>
                  <a:pt x="28756" y="1428701"/>
                </a:lnTo>
                <a:lnTo>
                  <a:pt x="48713" y="1526793"/>
                </a:lnTo>
                <a:lnTo>
                  <a:pt x="73777" y="1623705"/>
                </a:lnTo>
                <a:lnTo>
                  <a:pt x="103878" y="1719174"/>
                </a:lnTo>
                <a:lnTo>
                  <a:pt x="138934" y="1812936"/>
                </a:lnTo>
                <a:lnTo>
                  <a:pt x="178849" y="1904735"/>
                </a:lnTo>
                <a:lnTo>
                  <a:pt x="223514" y="1994319"/>
                </a:lnTo>
                <a:lnTo>
                  <a:pt x="272806" y="2081442"/>
                </a:lnTo>
                <a:lnTo>
                  <a:pt x="326591" y="2165867"/>
                </a:lnTo>
              </a:path>
            </a:pathLst>
          </a:custGeom>
          <a:noFill/>
          <a:ln w="83312" cap="rnd">
            <a:solidFill>
              <a:srgbClr val="F0525A"/>
            </a:solidFill>
            <a:round/>
          </a:ln>
        </p:spPr>
        <p:txBody>
          <a:bodyPr rtlCol="0" anchor="ctr"/>
          <a:lstStyle/>
          <a:p>
            <a:pPr algn="ctr"/>
          </a:p>
        </p:txBody>
      </p:sp>
      <p:sp>
        <p:nvSpPr>
          <p:cNvPr id="5" name="TextBox 4"/>
          <p:cNvSpPr txBox="1"/>
          <p:nvPr/>
        </p:nvSpPr>
        <p:spPr>
          <a:xfrm>
            <a:off x="6309360" y="1691640"/>
            <a:ext cx="5486400" cy="3474720"/>
          </a:xfrm>
          <a:prstGeom prst="rect">
            <a:avLst/>
          </a:prstGeom>
          <a:noFill/>
        </p:spPr>
        <p:txBody>
          <a:bodyPr wrap="square" anchor="t" lIns="0" rIns="0" tIns="0" bIns="0">
            <a:noAutofit/>
          </a:bodyPr>
          <a:lstStyle/>
          <a:p>
            <a:pPr algn="l">
              <a:lnSpc>
                <a:spcPct val="95000"/>
              </a:lnSpc>
              <a:spcBef>
                <a:spcPts val="0"/>
              </a:spcBef>
              <a:spcAft>
                <a:spcPts val="0"/>
              </a:spcAft>
            </a:pPr>
            <a:r>
              <a:rPr sz="6200" b="0" i="0">
                <a:solidFill>
                  <a:srgbClr val="F4F6F8"/>
                </a:solidFill>
                <a:latin typeface="Arial Black"/>
              </a:rPr>
              <a:t>DOES THIS</a:t>
            </a:r>
          </a:p>
          <a:p>
            <a:pPr algn="l">
              <a:lnSpc>
                <a:spcPct val="95000"/>
              </a:lnSpc>
              <a:spcBef>
                <a:spcPts val="0"/>
              </a:spcBef>
              <a:spcAft>
                <a:spcPts val="0"/>
              </a:spcAft>
            </a:pPr>
            <a:r>
              <a:rPr sz="6200" b="0" i="0">
                <a:solidFill>
                  <a:srgbClr val="F4F6F8"/>
                </a:solidFill>
                <a:latin typeface="Arial Black"/>
              </a:rPr>
              <a:t>BALL HAVE</a:t>
            </a:r>
          </a:p>
          <a:p>
            <a:pPr algn="l">
              <a:lnSpc>
                <a:spcPct val="95000"/>
              </a:lnSpc>
              <a:spcBef>
                <a:spcPts val="0"/>
              </a:spcBef>
              <a:spcAft>
                <a:spcPts val="0"/>
              </a:spcAft>
            </a:pPr>
            <a:r>
              <a:rPr sz="6200" b="0" i="0">
                <a:solidFill>
                  <a:srgbClr val="FFB400"/>
                </a:solidFill>
                <a:latin typeface="Arial Black"/>
              </a:rPr>
              <a:t>ENERGY?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cxnSp>
        <p:nvCxnSpPr>
          <p:cNvPr id="2" name="Connector 1"/>
          <p:cNvCxnSpPr/>
          <p:nvPr/>
        </p:nvCxnSpPr>
        <p:spPr>
          <a:xfrm>
            <a:off x="914400" y="0"/>
            <a:ext cx="0" cy="6858000"/>
          </a:xfrm>
          <a:prstGeom prst="line">
            <a:avLst/>
          </a:prstGeom>
          <a:ln w="9525">
            <a:solidFill>
              <a:srgbClr val="151A22"/>
            </a:solidFill>
          </a:ln>
        </p:spPr>
      </p:cxnSp>
      <p:cxnSp>
        <p:nvCxnSpPr>
          <p:cNvPr id="3" name="Connector 2"/>
          <p:cNvCxnSpPr/>
          <p:nvPr/>
        </p:nvCxnSpPr>
        <p:spPr>
          <a:xfrm>
            <a:off x="1828800" y="0"/>
            <a:ext cx="0" cy="6858000"/>
          </a:xfrm>
          <a:prstGeom prst="line">
            <a:avLst/>
          </a:prstGeom>
          <a:ln w="9525">
            <a:solidFill>
              <a:srgbClr val="151A22"/>
            </a:solidFill>
          </a:ln>
        </p:spPr>
      </p:cxnSp>
      <p:cxnSp>
        <p:nvCxnSpPr>
          <p:cNvPr id="4" name="Connector 3"/>
          <p:cNvCxnSpPr/>
          <p:nvPr/>
        </p:nvCxnSpPr>
        <p:spPr>
          <a:xfrm>
            <a:off x="2743200" y="0"/>
            <a:ext cx="0" cy="6858000"/>
          </a:xfrm>
          <a:prstGeom prst="line">
            <a:avLst/>
          </a:prstGeom>
          <a:ln w="9525">
            <a:solidFill>
              <a:srgbClr val="151A22"/>
            </a:solidFill>
          </a:ln>
        </p:spPr>
      </p:cxnSp>
      <p:cxnSp>
        <p:nvCxnSpPr>
          <p:cNvPr id="5" name="Connector 4"/>
          <p:cNvCxnSpPr/>
          <p:nvPr/>
        </p:nvCxnSpPr>
        <p:spPr>
          <a:xfrm>
            <a:off x="3657600" y="0"/>
            <a:ext cx="0" cy="6858000"/>
          </a:xfrm>
          <a:prstGeom prst="line">
            <a:avLst/>
          </a:prstGeom>
          <a:ln w="9525">
            <a:solidFill>
              <a:srgbClr val="151A22"/>
            </a:solidFill>
          </a:ln>
        </p:spPr>
      </p:cxnSp>
      <p:cxnSp>
        <p:nvCxnSpPr>
          <p:cNvPr id="6" name="Connector 5"/>
          <p:cNvCxnSpPr/>
          <p:nvPr/>
        </p:nvCxnSpPr>
        <p:spPr>
          <a:xfrm>
            <a:off x="4572000" y="0"/>
            <a:ext cx="0" cy="6858000"/>
          </a:xfrm>
          <a:prstGeom prst="line">
            <a:avLst/>
          </a:prstGeom>
          <a:ln w="9525">
            <a:solidFill>
              <a:srgbClr val="151A22"/>
            </a:solidFill>
          </a:ln>
        </p:spPr>
      </p:cxnSp>
      <p:cxnSp>
        <p:nvCxnSpPr>
          <p:cNvPr id="7" name="Connector 6"/>
          <p:cNvCxnSpPr/>
          <p:nvPr/>
        </p:nvCxnSpPr>
        <p:spPr>
          <a:xfrm>
            <a:off x="5486400" y="0"/>
            <a:ext cx="0" cy="6858000"/>
          </a:xfrm>
          <a:prstGeom prst="line">
            <a:avLst/>
          </a:prstGeom>
          <a:ln w="9525">
            <a:solidFill>
              <a:srgbClr val="151A22"/>
            </a:solidFill>
          </a:ln>
        </p:spPr>
      </p:cxnSp>
      <p:cxnSp>
        <p:nvCxnSpPr>
          <p:cNvPr id="8" name="Connector 7"/>
          <p:cNvCxnSpPr/>
          <p:nvPr/>
        </p:nvCxnSpPr>
        <p:spPr>
          <a:xfrm>
            <a:off x="6400800" y="0"/>
            <a:ext cx="0" cy="6858000"/>
          </a:xfrm>
          <a:prstGeom prst="line">
            <a:avLst/>
          </a:prstGeom>
          <a:ln w="9525">
            <a:solidFill>
              <a:srgbClr val="151A22"/>
            </a:solidFill>
          </a:ln>
        </p:spPr>
      </p:cxnSp>
      <p:cxnSp>
        <p:nvCxnSpPr>
          <p:cNvPr id="9" name="Connector 8"/>
          <p:cNvCxnSpPr/>
          <p:nvPr/>
        </p:nvCxnSpPr>
        <p:spPr>
          <a:xfrm>
            <a:off x="7315200" y="0"/>
            <a:ext cx="0" cy="6858000"/>
          </a:xfrm>
          <a:prstGeom prst="line">
            <a:avLst/>
          </a:prstGeom>
          <a:ln w="9525">
            <a:solidFill>
              <a:srgbClr val="151A22"/>
            </a:solidFill>
          </a:ln>
        </p:spPr>
      </p:cxnSp>
      <p:cxnSp>
        <p:nvCxnSpPr>
          <p:cNvPr id="10" name="Connector 9"/>
          <p:cNvCxnSpPr/>
          <p:nvPr/>
        </p:nvCxnSpPr>
        <p:spPr>
          <a:xfrm>
            <a:off x="8229600" y="0"/>
            <a:ext cx="0" cy="6858000"/>
          </a:xfrm>
          <a:prstGeom prst="line">
            <a:avLst/>
          </a:prstGeom>
          <a:ln w="9525">
            <a:solidFill>
              <a:srgbClr val="151A22"/>
            </a:solidFill>
          </a:ln>
        </p:spPr>
      </p:cxnSp>
      <p:cxnSp>
        <p:nvCxnSpPr>
          <p:cNvPr id="11" name="Connector 10"/>
          <p:cNvCxnSpPr/>
          <p:nvPr/>
        </p:nvCxnSpPr>
        <p:spPr>
          <a:xfrm>
            <a:off x="9144000" y="0"/>
            <a:ext cx="0" cy="6858000"/>
          </a:xfrm>
          <a:prstGeom prst="line">
            <a:avLst/>
          </a:prstGeom>
          <a:ln w="9525">
            <a:solidFill>
              <a:srgbClr val="151A22"/>
            </a:solidFill>
          </a:ln>
        </p:spPr>
      </p:cxnSp>
      <p:cxnSp>
        <p:nvCxnSpPr>
          <p:cNvPr id="12" name="Connector 11"/>
          <p:cNvCxnSpPr/>
          <p:nvPr/>
        </p:nvCxnSpPr>
        <p:spPr>
          <a:xfrm>
            <a:off x="10058400" y="0"/>
            <a:ext cx="0" cy="6858000"/>
          </a:xfrm>
          <a:prstGeom prst="line">
            <a:avLst/>
          </a:prstGeom>
          <a:ln w="9525">
            <a:solidFill>
              <a:srgbClr val="151A22"/>
            </a:solidFill>
          </a:ln>
        </p:spPr>
      </p:cxnSp>
      <p:cxnSp>
        <p:nvCxnSpPr>
          <p:cNvPr id="13" name="Connector 12"/>
          <p:cNvCxnSpPr/>
          <p:nvPr/>
        </p:nvCxnSpPr>
        <p:spPr>
          <a:xfrm>
            <a:off x="10972800" y="0"/>
            <a:ext cx="0" cy="6858000"/>
          </a:xfrm>
          <a:prstGeom prst="line">
            <a:avLst/>
          </a:prstGeom>
          <a:ln w="9525">
            <a:solidFill>
              <a:srgbClr val="151A22"/>
            </a:solidFill>
          </a:ln>
        </p:spPr>
      </p:cxnSp>
      <p:cxnSp>
        <p:nvCxnSpPr>
          <p:cNvPr id="14" name="Connector 13"/>
          <p:cNvCxnSpPr/>
          <p:nvPr/>
        </p:nvCxnSpPr>
        <p:spPr>
          <a:xfrm>
            <a:off x="11887200" y="0"/>
            <a:ext cx="0" cy="6858000"/>
          </a:xfrm>
          <a:prstGeom prst="line">
            <a:avLst/>
          </a:prstGeom>
          <a:ln w="9525">
            <a:solidFill>
              <a:srgbClr val="151A22"/>
            </a:solidFill>
          </a:ln>
        </p:spPr>
      </p:cxnSp>
      <p:cxnSp>
        <p:nvCxnSpPr>
          <p:cNvPr id="15" name="Connector 14"/>
          <p:cNvCxnSpPr/>
          <p:nvPr/>
        </p:nvCxnSpPr>
        <p:spPr>
          <a:xfrm>
            <a:off x="0" y="914400"/>
            <a:ext cx="12192000" cy="0"/>
          </a:xfrm>
          <a:prstGeom prst="line">
            <a:avLst/>
          </a:prstGeom>
          <a:ln w="9525">
            <a:solidFill>
              <a:srgbClr val="151A22"/>
            </a:solidFill>
          </a:ln>
        </p:spPr>
      </p:cxnSp>
      <p:cxnSp>
        <p:nvCxnSpPr>
          <p:cNvPr id="16" name="Connector 15"/>
          <p:cNvCxnSpPr/>
          <p:nvPr/>
        </p:nvCxnSpPr>
        <p:spPr>
          <a:xfrm>
            <a:off x="0" y="1828800"/>
            <a:ext cx="12192000" cy="0"/>
          </a:xfrm>
          <a:prstGeom prst="line">
            <a:avLst/>
          </a:prstGeom>
          <a:ln w="9525">
            <a:solidFill>
              <a:srgbClr val="151A22"/>
            </a:solidFill>
          </a:ln>
        </p:spPr>
      </p:cxnSp>
      <p:cxnSp>
        <p:nvCxnSpPr>
          <p:cNvPr id="17" name="Connector 16"/>
          <p:cNvCxnSpPr/>
          <p:nvPr/>
        </p:nvCxnSpPr>
        <p:spPr>
          <a:xfrm>
            <a:off x="0" y="2743200"/>
            <a:ext cx="12192000" cy="0"/>
          </a:xfrm>
          <a:prstGeom prst="line">
            <a:avLst/>
          </a:prstGeom>
          <a:ln w="9525">
            <a:solidFill>
              <a:srgbClr val="151A22"/>
            </a:solidFill>
          </a:ln>
        </p:spPr>
      </p:cxnSp>
      <p:cxnSp>
        <p:nvCxnSpPr>
          <p:cNvPr id="18" name="Connector 17"/>
          <p:cNvCxnSpPr/>
          <p:nvPr/>
        </p:nvCxnSpPr>
        <p:spPr>
          <a:xfrm>
            <a:off x="0" y="3657600"/>
            <a:ext cx="12192000" cy="0"/>
          </a:xfrm>
          <a:prstGeom prst="line">
            <a:avLst/>
          </a:prstGeom>
          <a:ln w="9525">
            <a:solidFill>
              <a:srgbClr val="151A22"/>
            </a:solidFill>
          </a:ln>
        </p:spPr>
      </p:cxnSp>
      <p:cxnSp>
        <p:nvCxnSpPr>
          <p:cNvPr id="19" name="Connector 18"/>
          <p:cNvCxnSpPr/>
          <p:nvPr/>
        </p:nvCxnSpPr>
        <p:spPr>
          <a:xfrm>
            <a:off x="0" y="4572000"/>
            <a:ext cx="12192000" cy="0"/>
          </a:xfrm>
          <a:prstGeom prst="line">
            <a:avLst/>
          </a:prstGeom>
          <a:ln w="9525">
            <a:solidFill>
              <a:srgbClr val="151A22"/>
            </a:solidFill>
          </a:ln>
        </p:spPr>
      </p:cxnSp>
      <p:cxnSp>
        <p:nvCxnSpPr>
          <p:cNvPr id="20" name="Connector 19"/>
          <p:cNvCxnSpPr/>
          <p:nvPr/>
        </p:nvCxnSpPr>
        <p:spPr>
          <a:xfrm>
            <a:off x="0" y="5486400"/>
            <a:ext cx="12192000" cy="0"/>
          </a:xfrm>
          <a:prstGeom prst="line">
            <a:avLst/>
          </a:prstGeom>
          <a:ln w="9525">
            <a:solidFill>
              <a:srgbClr val="151A22"/>
            </a:solidFill>
          </a:ln>
        </p:spPr>
      </p:cxnSp>
      <p:cxnSp>
        <p:nvCxnSpPr>
          <p:cNvPr id="21" name="Connector 20"/>
          <p:cNvCxnSpPr/>
          <p:nvPr/>
        </p:nvCxnSpPr>
        <p:spPr>
          <a:xfrm>
            <a:off x="0" y="6400800"/>
            <a:ext cx="12192000" cy="0"/>
          </a:xfrm>
          <a:prstGeom prst="line">
            <a:avLst/>
          </a:prstGeom>
          <a:ln w="9525">
            <a:solidFill>
              <a:srgbClr val="151A22"/>
            </a:solidFill>
          </a:ln>
        </p:spPr>
      </p:cxnSp>
      <p:sp>
        <p:nvSpPr>
          <p:cNvPr id="22" name="Rectangle 2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23" name="TextBox 2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A9B3C0"/>
                </a:solidFill>
                <a:latin typeface="Arial Narrow"/>
              </a:rPr>
              <a:t>ACT 0 · ARRIVAL</a:t>
            </a:r>
          </a:p>
        </p:txBody>
      </p:sp>
      <p:sp>
        <p:nvSpPr>
          <p:cNvPr id="24" name="TextBox 23"/>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6F7A89"/>
                </a:solidFill>
                <a:latin typeface="Arial Narrow"/>
              </a:rPr>
              <a:t>ENERGY LAB  ·  CRASH TEST #05</a:t>
            </a:r>
          </a:p>
        </p:txBody>
      </p:sp>
      <p:sp>
        <p:nvSpPr>
          <p:cNvPr id="25" name="Rectangle 24"/>
          <p:cNvSpPr/>
          <p:nvPr/>
        </p:nvSpPr>
        <p:spPr>
          <a:xfrm>
            <a:off x="4526280" y="6510528"/>
            <a:ext cx="127363" cy="54864"/>
          </a:xfrm>
          <a:prstGeom prst="rect">
            <a:avLst/>
          </a:prstGeom>
          <a:solidFill>
            <a:srgbClr val="FFB400"/>
          </a:solidFill>
          <a:ln>
            <a:noFill/>
          </a:ln>
        </p:spPr>
        <p:txBody>
          <a:bodyPr rtlCol="0" anchor="ctr"/>
          <a:lstStyle/>
          <a:p>
            <a:pPr algn="ctr"/>
          </a:p>
        </p:txBody>
      </p:sp>
      <p:sp>
        <p:nvSpPr>
          <p:cNvPr id="26" name="Rectangle 25"/>
          <p:cNvSpPr/>
          <p:nvPr/>
        </p:nvSpPr>
        <p:spPr>
          <a:xfrm>
            <a:off x="4676503" y="6510528"/>
            <a:ext cx="187452" cy="54864"/>
          </a:xfrm>
          <a:prstGeom prst="rect">
            <a:avLst/>
          </a:prstGeom>
          <a:solidFill>
            <a:srgbClr val="2A3240"/>
          </a:solidFill>
          <a:ln>
            <a:noFill/>
          </a:ln>
        </p:spPr>
        <p:txBody>
          <a:bodyPr rtlCol="0" anchor="ctr"/>
          <a:lstStyle/>
          <a:p>
            <a:pPr algn="ctr"/>
          </a:p>
        </p:txBody>
      </p:sp>
      <p:sp>
        <p:nvSpPr>
          <p:cNvPr id="27" name="Rectangle 26"/>
          <p:cNvSpPr/>
          <p:nvPr/>
        </p:nvSpPr>
        <p:spPr>
          <a:xfrm>
            <a:off x="4886815" y="6510528"/>
            <a:ext cx="157407" cy="54864"/>
          </a:xfrm>
          <a:prstGeom prst="rect">
            <a:avLst/>
          </a:prstGeom>
          <a:solidFill>
            <a:srgbClr val="2A3240"/>
          </a:solidFill>
          <a:ln>
            <a:noFill/>
          </a:ln>
        </p:spPr>
        <p:txBody>
          <a:bodyPr rtlCol="0" anchor="ctr"/>
          <a:lstStyle/>
          <a:p>
            <a:pPr algn="ctr"/>
          </a:p>
        </p:txBody>
      </p:sp>
      <p:sp>
        <p:nvSpPr>
          <p:cNvPr id="28" name="Rectangle 27"/>
          <p:cNvSpPr/>
          <p:nvPr/>
        </p:nvSpPr>
        <p:spPr>
          <a:xfrm>
            <a:off x="5067082" y="6510528"/>
            <a:ext cx="337675" cy="54864"/>
          </a:xfrm>
          <a:prstGeom prst="rect">
            <a:avLst/>
          </a:prstGeom>
          <a:solidFill>
            <a:srgbClr val="2A3240"/>
          </a:solidFill>
          <a:ln>
            <a:noFill/>
          </a:ln>
        </p:spPr>
        <p:txBody>
          <a:bodyPr rtlCol="0" anchor="ctr"/>
          <a:lstStyle/>
          <a:p>
            <a:pPr algn="ctr"/>
          </a:p>
        </p:txBody>
      </p:sp>
      <p:sp>
        <p:nvSpPr>
          <p:cNvPr id="29" name="Rectangle 28"/>
          <p:cNvSpPr/>
          <p:nvPr/>
        </p:nvSpPr>
        <p:spPr>
          <a:xfrm>
            <a:off x="5427617" y="6510528"/>
            <a:ext cx="247541" cy="54864"/>
          </a:xfrm>
          <a:prstGeom prst="rect">
            <a:avLst/>
          </a:prstGeom>
          <a:solidFill>
            <a:srgbClr val="2A3240"/>
          </a:solidFill>
          <a:ln>
            <a:noFill/>
          </a:ln>
        </p:spPr>
        <p:txBody>
          <a:bodyPr rtlCol="0" anchor="ctr"/>
          <a:lstStyle/>
          <a:p>
            <a:pPr algn="ctr"/>
          </a:p>
        </p:txBody>
      </p:sp>
      <p:sp>
        <p:nvSpPr>
          <p:cNvPr id="30" name="Rectangle 29"/>
          <p:cNvSpPr/>
          <p:nvPr/>
        </p:nvSpPr>
        <p:spPr>
          <a:xfrm>
            <a:off x="5698018" y="6510528"/>
            <a:ext cx="67274" cy="54864"/>
          </a:xfrm>
          <a:prstGeom prst="rect">
            <a:avLst/>
          </a:prstGeom>
          <a:solidFill>
            <a:srgbClr val="2A3240"/>
          </a:solidFill>
          <a:ln>
            <a:noFill/>
          </a:ln>
        </p:spPr>
        <p:txBody>
          <a:bodyPr rtlCol="0" anchor="ctr"/>
          <a:lstStyle/>
          <a:p>
            <a:pPr algn="ctr"/>
          </a:p>
        </p:txBody>
      </p:sp>
      <p:sp>
        <p:nvSpPr>
          <p:cNvPr id="31" name="Rectangle 30"/>
          <p:cNvSpPr/>
          <p:nvPr/>
        </p:nvSpPr>
        <p:spPr>
          <a:xfrm>
            <a:off x="5788152" y="6510528"/>
            <a:ext cx="397764" cy="54864"/>
          </a:xfrm>
          <a:prstGeom prst="rect">
            <a:avLst/>
          </a:prstGeom>
          <a:solidFill>
            <a:srgbClr val="2A3240"/>
          </a:solidFill>
          <a:ln>
            <a:noFill/>
          </a:ln>
        </p:spPr>
        <p:txBody>
          <a:bodyPr rtlCol="0" anchor="ctr"/>
          <a:lstStyle/>
          <a:p>
            <a:pPr algn="ctr"/>
          </a:p>
        </p:txBody>
      </p:sp>
      <p:sp>
        <p:nvSpPr>
          <p:cNvPr id="32" name="Rectangle 31"/>
          <p:cNvSpPr/>
          <p:nvPr/>
        </p:nvSpPr>
        <p:spPr>
          <a:xfrm>
            <a:off x="6208776" y="6510528"/>
            <a:ext cx="187452" cy="54864"/>
          </a:xfrm>
          <a:prstGeom prst="rect">
            <a:avLst/>
          </a:prstGeom>
          <a:solidFill>
            <a:srgbClr val="2A3240"/>
          </a:solidFill>
          <a:ln>
            <a:noFill/>
          </a:ln>
        </p:spPr>
        <p:txBody>
          <a:bodyPr rtlCol="0" anchor="ctr"/>
          <a:lstStyle/>
          <a:p>
            <a:pPr algn="ctr"/>
          </a:p>
        </p:txBody>
      </p:sp>
      <p:sp>
        <p:nvSpPr>
          <p:cNvPr id="33" name="Rectangle 32"/>
          <p:cNvSpPr/>
          <p:nvPr/>
        </p:nvSpPr>
        <p:spPr>
          <a:xfrm>
            <a:off x="6419088" y="6510528"/>
            <a:ext cx="367719" cy="54864"/>
          </a:xfrm>
          <a:prstGeom prst="rect">
            <a:avLst/>
          </a:prstGeom>
          <a:solidFill>
            <a:srgbClr val="2A3240"/>
          </a:solidFill>
          <a:ln>
            <a:noFill/>
          </a:ln>
        </p:spPr>
        <p:txBody>
          <a:bodyPr rtlCol="0" anchor="ctr"/>
          <a:lstStyle/>
          <a:p>
            <a:pPr algn="ctr"/>
          </a:p>
        </p:txBody>
      </p:sp>
      <p:sp>
        <p:nvSpPr>
          <p:cNvPr id="34" name="Rectangle 33"/>
          <p:cNvSpPr/>
          <p:nvPr/>
        </p:nvSpPr>
        <p:spPr>
          <a:xfrm>
            <a:off x="6809667" y="6510528"/>
            <a:ext cx="157407" cy="54864"/>
          </a:xfrm>
          <a:prstGeom prst="rect">
            <a:avLst/>
          </a:prstGeom>
          <a:solidFill>
            <a:srgbClr val="2A3240"/>
          </a:solidFill>
          <a:ln>
            <a:noFill/>
          </a:ln>
        </p:spPr>
        <p:txBody>
          <a:bodyPr rtlCol="0" anchor="ctr"/>
          <a:lstStyle/>
          <a:p>
            <a:pPr algn="ctr"/>
          </a:p>
        </p:txBody>
      </p:sp>
      <p:sp>
        <p:nvSpPr>
          <p:cNvPr id="35" name="Rectangle 34"/>
          <p:cNvSpPr/>
          <p:nvPr/>
        </p:nvSpPr>
        <p:spPr>
          <a:xfrm>
            <a:off x="6989935" y="6510528"/>
            <a:ext cx="217497" cy="54864"/>
          </a:xfrm>
          <a:prstGeom prst="rect">
            <a:avLst/>
          </a:prstGeom>
          <a:solidFill>
            <a:srgbClr val="2A3240"/>
          </a:solidFill>
          <a:ln>
            <a:noFill/>
          </a:ln>
        </p:spPr>
        <p:txBody>
          <a:bodyPr rtlCol="0" anchor="ctr"/>
          <a:lstStyle/>
          <a:p>
            <a:pPr algn="ctr"/>
          </a:p>
        </p:txBody>
      </p:sp>
      <p:sp>
        <p:nvSpPr>
          <p:cNvPr id="36" name="Rectangle 35"/>
          <p:cNvSpPr/>
          <p:nvPr/>
        </p:nvSpPr>
        <p:spPr>
          <a:xfrm>
            <a:off x="7230291" y="6510528"/>
            <a:ext cx="217497" cy="54864"/>
          </a:xfrm>
          <a:prstGeom prst="rect">
            <a:avLst/>
          </a:prstGeom>
          <a:solidFill>
            <a:srgbClr val="2A3240"/>
          </a:solidFill>
          <a:ln>
            <a:noFill/>
          </a:ln>
        </p:spPr>
        <p:txBody>
          <a:bodyPr rtlCol="0" anchor="ctr"/>
          <a:lstStyle/>
          <a:p>
            <a:pPr algn="ctr"/>
          </a:p>
        </p:txBody>
      </p:sp>
      <p:sp>
        <p:nvSpPr>
          <p:cNvPr id="37" name="Rectangle 36"/>
          <p:cNvSpPr/>
          <p:nvPr/>
        </p:nvSpPr>
        <p:spPr>
          <a:xfrm>
            <a:off x="7470648" y="6510528"/>
            <a:ext cx="97318" cy="54864"/>
          </a:xfrm>
          <a:prstGeom prst="rect">
            <a:avLst/>
          </a:prstGeom>
          <a:solidFill>
            <a:srgbClr val="2A3240"/>
          </a:solidFill>
          <a:ln>
            <a:noFill/>
          </a:ln>
        </p:spPr>
        <p:txBody>
          <a:bodyPr rtlCol="0" anchor="ctr"/>
          <a:lstStyle/>
          <a:p>
            <a:pPr algn="ctr"/>
          </a:p>
        </p:txBody>
      </p:sp>
      <p:sp>
        <p:nvSpPr>
          <p:cNvPr id="38" name="Rectangle 37"/>
          <p:cNvSpPr/>
          <p:nvPr/>
        </p:nvSpPr>
        <p:spPr>
          <a:xfrm>
            <a:off x="7590826" y="6510528"/>
            <a:ext cx="67274" cy="54864"/>
          </a:xfrm>
          <a:prstGeom prst="rect">
            <a:avLst/>
          </a:prstGeom>
          <a:solidFill>
            <a:srgbClr val="2A3240"/>
          </a:solidFill>
          <a:ln>
            <a:noFill/>
          </a:ln>
        </p:spPr>
        <p:txBody>
          <a:bodyPr rtlCol="0" anchor="ctr"/>
          <a:lstStyle/>
          <a:p>
            <a:pPr algn="ctr"/>
          </a:p>
        </p:txBody>
      </p:sp>
      <p:sp>
        <p:nvSpPr>
          <p:cNvPr id="39" name="TextBox 38"/>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6F7A89"/>
                </a:solidFill>
                <a:latin typeface="Arial Narrow"/>
              </a:rPr>
              <a:t>4</a:t>
            </a:fld>
          </a:p>
        </p:txBody>
      </p:sp>
      <p:sp>
        <p:nvSpPr>
          <p:cNvPr id="40" name="TextBox 39"/>
          <p:cNvSpPr txBox="1"/>
          <p:nvPr/>
        </p:nvSpPr>
        <p:spPr>
          <a:xfrm>
            <a:off x="685800" y="1783080"/>
            <a:ext cx="4206240" cy="1828800"/>
          </a:xfrm>
          <a:prstGeom prst="rect">
            <a:avLst/>
          </a:prstGeom>
          <a:noFill/>
        </p:spPr>
        <p:txBody>
          <a:bodyPr wrap="square" anchor="t" lIns="0" rIns="0" tIns="0" bIns="0">
            <a:noAutofit/>
          </a:bodyPr>
          <a:lstStyle/>
          <a:p>
            <a:pPr algn="l">
              <a:lnSpc>
                <a:spcPct val="95000"/>
              </a:lnSpc>
              <a:spcBef>
                <a:spcPts val="0"/>
              </a:spcBef>
              <a:spcAft>
                <a:spcPts val="0"/>
              </a:spcAft>
            </a:pPr>
            <a:r>
              <a:rPr sz="6000" b="0" i="0">
                <a:solidFill>
                  <a:srgbClr val="FFB400"/>
                </a:solidFill>
                <a:latin typeface="Arial Black"/>
              </a:rPr>
              <a:t>ENERGY</a:t>
            </a:r>
          </a:p>
          <a:p>
            <a:pPr algn="l">
              <a:lnSpc>
                <a:spcPct val="95000"/>
              </a:lnSpc>
              <a:spcBef>
                <a:spcPts val="0"/>
              </a:spcBef>
              <a:spcAft>
                <a:spcPts val="0"/>
              </a:spcAft>
            </a:pPr>
            <a:r>
              <a:rPr sz="6000" b="0" i="0">
                <a:solidFill>
                  <a:srgbClr val="FFB400"/>
                </a:solidFill>
                <a:latin typeface="Arial Black"/>
              </a:rPr>
              <a:t>LAB</a:t>
            </a:r>
          </a:p>
        </p:txBody>
      </p:sp>
      <p:sp>
        <p:nvSpPr>
          <p:cNvPr id="41" name="TextBox 40"/>
          <p:cNvSpPr txBox="1"/>
          <p:nvPr/>
        </p:nvSpPr>
        <p:spPr>
          <a:xfrm>
            <a:off x="713232" y="3931920"/>
            <a:ext cx="4206240" cy="365760"/>
          </a:xfrm>
          <a:prstGeom prst="rect">
            <a:avLst/>
          </a:prstGeom>
          <a:noFill/>
        </p:spPr>
        <p:txBody>
          <a:bodyPr wrap="square" anchor="t" lIns="0" rIns="0" tIns="0" bIns="0">
            <a:noAutofit/>
          </a:bodyPr>
          <a:lstStyle/>
          <a:p>
            <a:pPr algn="l">
              <a:lnSpc>
                <a:spcPct val="100000"/>
              </a:lnSpc>
              <a:spcBef>
                <a:spcPts val="0"/>
              </a:spcBef>
              <a:spcAft>
                <a:spcPts val="0"/>
              </a:spcAft>
            </a:pPr>
            <a:r>
              <a:rPr sz="2000" b="1" i="0" spc="400">
                <a:solidFill>
                  <a:srgbClr val="A9B3C0"/>
                </a:solidFill>
                <a:latin typeface="Arial Narrow"/>
              </a:rPr>
              <a:t>CRASH TEST #05</a:t>
            </a:r>
          </a:p>
        </p:txBody>
      </p:sp>
      <p:sp>
        <p:nvSpPr>
          <p:cNvPr id="42" name="TextBox 41"/>
          <p:cNvSpPr txBox="1"/>
          <p:nvPr/>
        </p:nvSpPr>
        <p:spPr>
          <a:xfrm>
            <a:off x="5257800" y="123444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FFB400"/>
                </a:solidFill>
                <a:latin typeface="Arial Narrow"/>
              </a:rPr>
              <a:t>TODAY'S MISSION</a:t>
            </a:r>
          </a:p>
        </p:txBody>
      </p:sp>
      <p:cxnSp>
        <p:nvCxnSpPr>
          <p:cNvPr id="43" name="Connector 42"/>
          <p:cNvCxnSpPr/>
          <p:nvPr/>
        </p:nvCxnSpPr>
        <p:spPr>
          <a:xfrm>
            <a:off x="5257800" y="1673352"/>
            <a:ext cx="6245352" cy="0"/>
          </a:xfrm>
          <a:prstGeom prst="line">
            <a:avLst/>
          </a:prstGeom>
          <a:ln w="15875">
            <a:solidFill>
              <a:srgbClr val="323C4A"/>
            </a:solidFill>
          </a:ln>
        </p:spPr>
      </p:cxnSp>
      <p:sp>
        <p:nvSpPr>
          <p:cNvPr id="44" name="TextBox 43"/>
          <p:cNvSpPr txBox="1"/>
          <p:nvPr/>
        </p:nvSpPr>
        <p:spPr>
          <a:xfrm>
            <a:off x="5257800" y="1783080"/>
            <a:ext cx="868680" cy="731520"/>
          </a:xfrm>
          <a:prstGeom prst="rect">
            <a:avLst/>
          </a:prstGeom>
          <a:noFill/>
        </p:spPr>
        <p:txBody>
          <a:bodyPr wrap="square" anchor="t" lIns="0" rIns="0" tIns="0" bIns="0">
            <a:noAutofit/>
          </a:bodyPr>
          <a:lstStyle/>
          <a:p>
            <a:pPr algn="l">
              <a:lnSpc>
                <a:spcPct val="100000"/>
              </a:lnSpc>
              <a:spcBef>
                <a:spcPts val="0"/>
              </a:spcBef>
              <a:spcAft>
                <a:spcPts val="0"/>
              </a:spcAft>
            </a:pPr>
            <a:r>
              <a:rPr sz="3000" b="0" i="0">
                <a:solidFill>
                  <a:srgbClr val="FFB400"/>
                </a:solidFill>
                <a:latin typeface="Arial Black"/>
              </a:rPr>
              <a:t>01</a:t>
            </a:r>
          </a:p>
        </p:txBody>
      </p:sp>
      <p:sp>
        <p:nvSpPr>
          <p:cNvPr id="45" name="TextBox 44"/>
          <p:cNvSpPr txBox="1"/>
          <p:nvPr/>
        </p:nvSpPr>
        <p:spPr>
          <a:xfrm>
            <a:off x="6172200" y="1819656"/>
            <a:ext cx="5349240" cy="731520"/>
          </a:xfrm>
          <a:prstGeom prst="rect">
            <a:avLst/>
          </a:prstGeom>
          <a:noFill/>
        </p:spPr>
        <p:txBody>
          <a:bodyPr wrap="square" anchor="t" lIns="0" rIns="0" tIns="0" bIns="0">
            <a:noAutofit/>
          </a:bodyPr>
          <a:lstStyle/>
          <a:p>
            <a:pPr algn="l">
              <a:lnSpc>
                <a:spcPct val="100000"/>
              </a:lnSpc>
              <a:spcBef>
                <a:spcPts val="0"/>
              </a:spcBef>
              <a:spcAft>
                <a:spcPts val="0"/>
              </a:spcAft>
            </a:pPr>
            <a:r>
              <a:rPr sz="2700" b="1" i="0">
                <a:solidFill>
                  <a:srgbClr val="F4F6F8"/>
                </a:solidFill>
                <a:latin typeface="Arial"/>
              </a:rPr>
              <a:t>UNDERSTAND ENERGY</a:t>
            </a:r>
          </a:p>
        </p:txBody>
      </p:sp>
      <p:cxnSp>
        <p:nvCxnSpPr>
          <p:cNvPr id="46" name="Connector 45"/>
          <p:cNvCxnSpPr/>
          <p:nvPr/>
        </p:nvCxnSpPr>
        <p:spPr>
          <a:xfrm>
            <a:off x="5257800" y="2697480"/>
            <a:ext cx="6245352" cy="0"/>
          </a:xfrm>
          <a:prstGeom prst="line">
            <a:avLst/>
          </a:prstGeom>
          <a:ln w="15875">
            <a:solidFill>
              <a:srgbClr val="323C4A"/>
            </a:solidFill>
          </a:ln>
        </p:spPr>
      </p:cxnSp>
      <p:sp>
        <p:nvSpPr>
          <p:cNvPr id="47" name="TextBox 46"/>
          <p:cNvSpPr txBox="1"/>
          <p:nvPr/>
        </p:nvSpPr>
        <p:spPr>
          <a:xfrm>
            <a:off x="5257800" y="2807208"/>
            <a:ext cx="868680" cy="731520"/>
          </a:xfrm>
          <a:prstGeom prst="rect">
            <a:avLst/>
          </a:prstGeom>
          <a:noFill/>
        </p:spPr>
        <p:txBody>
          <a:bodyPr wrap="square" anchor="t" lIns="0" rIns="0" tIns="0" bIns="0">
            <a:noAutofit/>
          </a:bodyPr>
          <a:lstStyle/>
          <a:p>
            <a:pPr algn="l">
              <a:lnSpc>
                <a:spcPct val="100000"/>
              </a:lnSpc>
              <a:spcBef>
                <a:spcPts val="0"/>
              </a:spcBef>
              <a:spcAft>
                <a:spcPts val="0"/>
              </a:spcAft>
            </a:pPr>
            <a:r>
              <a:rPr sz="3000" b="0" i="0">
                <a:solidFill>
                  <a:srgbClr val="FFB400"/>
                </a:solidFill>
                <a:latin typeface="Arial Black"/>
              </a:rPr>
              <a:t>02</a:t>
            </a:r>
          </a:p>
        </p:txBody>
      </p:sp>
      <p:sp>
        <p:nvSpPr>
          <p:cNvPr id="48" name="TextBox 47"/>
          <p:cNvSpPr txBox="1"/>
          <p:nvPr/>
        </p:nvSpPr>
        <p:spPr>
          <a:xfrm>
            <a:off x="6172200" y="2843784"/>
            <a:ext cx="5349240" cy="731520"/>
          </a:xfrm>
          <a:prstGeom prst="rect">
            <a:avLst/>
          </a:prstGeom>
          <a:noFill/>
        </p:spPr>
        <p:txBody>
          <a:bodyPr wrap="square" anchor="t" lIns="0" rIns="0" tIns="0" bIns="0">
            <a:noAutofit/>
          </a:bodyPr>
          <a:lstStyle/>
          <a:p>
            <a:pPr algn="l">
              <a:lnSpc>
                <a:spcPct val="100000"/>
              </a:lnSpc>
              <a:spcBef>
                <a:spcPts val="0"/>
              </a:spcBef>
              <a:spcAft>
                <a:spcPts val="0"/>
              </a:spcAft>
            </a:pPr>
            <a:r>
              <a:rPr sz="2700" b="1" i="0">
                <a:solidFill>
                  <a:srgbClr val="F4F6F8"/>
                </a:solidFill>
                <a:latin typeface="Arial"/>
              </a:rPr>
              <a:t>INVESTIGATE A CRASH</a:t>
            </a:r>
          </a:p>
        </p:txBody>
      </p:sp>
      <p:cxnSp>
        <p:nvCxnSpPr>
          <p:cNvPr id="49" name="Connector 48"/>
          <p:cNvCxnSpPr/>
          <p:nvPr/>
        </p:nvCxnSpPr>
        <p:spPr>
          <a:xfrm>
            <a:off x="5257800" y="3721608"/>
            <a:ext cx="6245352" cy="0"/>
          </a:xfrm>
          <a:prstGeom prst="line">
            <a:avLst/>
          </a:prstGeom>
          <a:ln w="15875">
            <a:solidFill>
              <a:srgbClr val="323C4A"/>
            </a:solidFill>
          </a:ln>
        </p:spPr>
      </p:cxnSp>
      <p:sp>
        <p:nvSpPr>
          <p:cNvPr id="50" name="TextBox 49"/>
          <p:cNvSpPr txBox="1"/>
          <p:nvPr/>
        </p:nvSpPr>
        <p:spPr>
          <a:xfrm>
            <a:off x="5257800" y="3831336"/>
            <a:ext cx="868680" cy="731520"/>
          </a:xfrm>
          <a:prstGeom prst="rect">
            <a:avLst/>
          </a:prstGeom>
          <a:noFill/>
        </p:spPr>
        <p:txBody>
          <a:bodyPr wrap="square" anchor="t" lIns="0" rIns="0" tIns="0" bIns="0">
            <a:noAutofit/>
          </a:bodyPr>
          <a:lstStyle/>
          <a:p>
            <a:pPr algn="l">
              <a:lnSpc>
                <a:spcPct val="100000"/>
              </a:lnSpc>
              <a:spcBef>
                <a:spcPts val="0"/>
              </a:spcBef>
              <a:spcAft>
                <a:spcPts val="0"/>
              </a:spcAft>
            </a:pPr>
            <a:r>
              <a:rPr sz="3000" b="0" i="0">
                <a:solidFill>
                  <a:srgbClr val="FFB400"/>
                </a:solidFill>
                <a:latin typeface="Arial Black"/>
              </a:rPr>
              <a:t>03</a:t>
            </a:r>
          </a:p>
        </p:txBody>
      </p:sp>
      <p:sp>
        <p:nvSpPr>
          <p:cNvPr id="51" name="TextBox 50"/>
          <p:cNvSpPr txBox="1"/>
          <p:nvPr/>
        </p:nvSpPr>
        <p:spPr>
          <a:xfrm>
            <a:off x="6172200" y="3867912"/>
            <a:ext cx="5349240" cy="731520"/>
          </a:xfrm>
          <a:prstGeom prst="rect">
            <a:avLst/>
          </a:prstGeom>
          <a:noFill/>
        </p:spPr>
        <p:txBody>
          <a:bodyPr wrap="square" anchor="t" lIns="0" rIns="0" tIns="0" bIns="0">
            <a:noAutofit/>
          </a:bodyPr>
          <a:lstStyle/>
          <a:p>
            <a:pPr algn="l">
              <a:lnSpc>
                <a:spcPct val="100000"/>
              </a:lnSpc>
              <a:spcBef>
                <a:spcPts val="0"/>
              </a:spcBef>
              <a:spcAft>
                <a:spcPts val="0"/>
              </a:spcAft>
            </a:pPr>
            <a:r>
              <a:rPr sz="2700" b="1" i="0">
                <a:solidFill>
                  <a:srgbClr val="F4F6F8"/>
                </a:solidFill>
                <a:latin typeface="Arial"/>
              </a:rPr>
              <a:t>DESIGN A SAFER SEATBELT</a:t>
            </a:r>
          </a:p>
        </p:txBody>
      </p:sp>
      <p:cxnSp>
        <p:nvCxnSpPr>
          <p:cNvPr id="52" name="Connector 51"/>
          <p:cNvCxnSpPr/>
          <p:nvPr/>
        </p:nvCxnSpPr>
        <p:spPr>
          <a:xfrm>
            <a:off x="5257800" y="4745736"/>
            <a:ext cx="6245352" cy="0"/>
          </a:xfrm>
          <a:prstGeom prst="line">
            <a:avLst/>
          </a:prstGeom>
          <a:ln w="15875">
            <a:solidFill>
              <a:srgbClr val="323C4A"/>
            </a:solidFill>
          </a:ln>
        </p:spPr>
      </p:cxnSp>
      <p:sp>
        <p:nvSpPr>
          <p:cNvPr id="53" name="TextBox 52"/>
          <p:cNvSpPr txBox="1"/>
          <p:nvPr/>
        </p:nvSpPr>
        <p:spPr>
          <a:xfrm>
            <a:off x="5257800" y="4855464"/>
            <a:ext cx="868680" cy="731520"/>
          </a:xfrm>
          <a:prstGeom prst="rect">
            <a:avLst/>
          </a:prstGeom>
          <a:noFill/>
        </p:spPr>
        <p:txBody>
          <a:bodyPr wrap="square" anchor="t" lIns="0" rIns="0" tIns="0" bIns="0">
            <a:noAutofit/>
          </a:bodyPr>
          <a:lstStyle/>
          <a:p>
            <a:pPr algn="l">
              <a:lnSpc>
                <a:spcPct val="100000"/>
              </a:lnSpc>
              <a:spcBef>
                <a:spcPts val="0"/>
              </a:spcBef>
              <a:spcAft>
                <a:spcPts val="0"/>
              </a:spcAft>
            </a:pPr>
            <a:r>
              <a:rPr sz="3000" b="0" i="0">
                <a:solidFill>
                  <a:srgbClr val="FFB400"/>
                </a:solidFill>
                <a:latin typeface="Arial Black"/>
              </a:rPr>
              <a:t>04</a:t>
            </a:r>
          </a:p>
        </p:txBody>
      </p:sp>
      <p:sp>
        <p:nvSpPr>
          <p:cNvPr id="54" name="TextBox 53"/>
          <p:cNvSpPr txBox="1"/>
          <p:nvPr/>
        </p:nvSpPr>
        <p:spPr>
          <a:xfrm>
            <a:off x="6172200" y="4892040"/>
            <a:ext cx="5349240" cy="731520"/>
          </a:xfrm>
          <a:prstGeom prst="rect">
            <a:avLst/>
          </a:prstGeom>
          <a:noFill/>
        </p:spPr>
        <p:txBody>
          <a:bodyPr wrap="square" anchor="t" lIns="0" rIns="0" tIns="0" bIns="0">
            <a:noAutofit/>
          </a:bodyPr>
          <a:lstStyle/>
          <a:p>
            <a:pPr algn="l">
              <a:lnSpc>
                <a:spcPct val="100000"/>
              </a:lnSpc>
              <a:spcBef>
                <a:spcPts val="0"/>
              </a:spcBef>
              <a:spcAft>
                <a:spcPts val="0"/>
              </a:spcAft>
            </a:pPr>
            <a:r>
              <a:rPr sz="2700" b="1" i="0">
                <a:solidFill>
                  <a:srgbClr val="F4F6F8"/>
                </a:solidFill>
                <a:latin typeface="Arial"/>
              </a:rPr>
              <a:t>PASS THE FINAL TEST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A9B3C0"/>
                </a:solidFill>
                <a:latin typeface="Arial Narrow"/>
              </a:rPr>
              <a:t>ACT 0 · ARRIVAL</a:t>
            </a:r>
          </a:p>
        </p:txBody>
      </p:sp>
      <p:sp>
        <p:nvSpPr>
          <p:cNvPr id="4" name="TextBox 3"/>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6F7A89"/>
                </a:solidFill>
                <a:latin typeface="Arial Narrow"/>
              </a:rPr>
              <a:t>ENERGY LAB  ·  CRASH TEST #05</a:t>
            </a:r>
          </a:p>
        </p:txBody>
      </p:sp>
      <p:sp>
        <p:nvSpPr>
          <p:cNvPr id="5" name="Rectangle 4"/>
          <p:cNvSpPr/>
          <p:nvPr/>
        </p:nvSpPr>
        <p:spPr>
          <a:xfrm>
            <a:off x="4526280" y="6510528"/>
            <a:ext cx="127363" cy="54864"/>
          </a:xfrm>
          <a:prstGeom prst="rect">
            <a:avLst/>
          </a:prstGeom>
          <a:solidFill>
            <a:srgbClr val="FFB400"/>
          </a:solidFill>
          <a:ln>
            <a:noFill/>
          </a:ln>
        </p:spPr>
        <p:txBody>
          <a:bodyPr rtlCol="0" anchor="ctr"/>
          <a:lstStyle/>
          <a:p>
            <a:pPr algn="ctr"/>
          </a:p>
        </p:txBody>
      </p:sp>
      <p:sp>
        <p:nvSpPr>
          <p:cNvPr id="6" name="Rectangle 5"/>
          <p:cNvSpPr/>
          <p:nvPr/>
        </p:nvSpPr>
        <p:spPr>
          <a:xfrm>
            <a:off x="4676503" y="6510528"/>
            <a:ext cx="187452" cy="54864"/>
          </a:xfrm>
          <a:prstGeom prst="rect">
            <a:avLst/>
          </a:prstGeom>
          <a:solidFill>
            <a:srgbClr val="2A3240"/>
          </a:solidFill>
          <a:ln>
            <a:noFill/>
          </a:ln>
        </p:spPr>
        <p:txBody>
          <a:bodyPr rtlCol="0" anchor="ctr"/>
          <a:lstStyle/>
          <a:p>
            <a:pPr algn="ctr"/>
          </a:p>
        </p:txBody>
      </p:sp>
      <p:sp>
        <p:nvSpPr>
          <p:cNvPr id="7" name="Rectangle 6"/>
          <p:cNvSpPr/>
          <p:nvPr/>
        </p:nvSpPr>
        <p:spPr>
          <a:xfrm>
            <a:off x="4886815" y="6510528"/>
            <a:ext cx="157407" cy="54864"/>
          </a:xfrm>
          <a:prstGeom prst="rect">
            <a:avLst/>
          </a:prstGeom>
          <a:solidFill>
            <a:srgbClr val="2A3240"/>
          </a:solidFill>
          <a:ln>
            <a:noFill/>
          </a:ln>
        </p:spPr>
        <p:txBody>
          <a:bodyPr rtlCol="0" anchor="ctr"/>
          <a:lstStyle/>
          <a:p>
            <a:pPr algn="ctr"/>
          </a:p>
        </p:txBody>
      </p:sp>
      <p:sp>
        <p:nvSpPr>
          <p:cNvPr id="8" name="Rectangle 7"/>
          <p:cNvSpPr/>
          <p:nvPr/>
        </p:nvSpPr>
        <p:spPr>
          <a:xfrm>
            <a:off x="5067082" y="6510528"/>
            <a:ext cx="337675" cy="54864"/>
          </a:xfrm>
          <a:prstGeom prst="rect">
            <a:avLst/>
          </a:prstGeom>
          <a:solidFill>
            <a:srgbClr val="2A3240"/>
          </a:solidFill>
          <a:ln>
            <a:noFill/>
          </a:ln>
        </p:spPr>
        <p:txBody>
          <a:bodyPr rtlCol="0" anchor="ctr"/>
          <a:lstStyle/>
          <a:p>
            <a:pPr algn="ctr"/>
          </a:p>
        </p:txBody>
      </p:sp>
      <p:sp>
        <p:nvSpPr>
          <p:cNvPr id="9" name="Rectangle 8"/>
          <p:cNvSpPr/>
          <p:nvPr/>
        </p:nvSpPr>
        <p:spPr>
          <a:xfrm>
            <a:off x="5427617" y="6510528"/>
            <a:ext cx="247541" cy="54864"/>
          </a:xfrm>
          <a:prstGeom prst="rect">
            <a:avLst/>
          </a:prstGeom>
          <a:solidFill>
            <a:srgbClr val="2A3240"/>
          </a:solidFill>
          <a:ln>
            <a:noFill/>
          </a:ln>
        </p:spPr>
        <p:txBody>
          <a:bodyPr rtlCol="0" anchor="ctr"/>
          <a:lstStyle/>
          <a:p>
            <a:pPr algn="ctr"/>
          </a:p>
        </p:txBody>
      </p:sp>
      <p:sp>
        <p:nvSpPr>
          <p:cNvPr id="10" name="Rectangle 9"/>
          <p:cNvSpPr/>
          <p:nvPr/>
        </p:nvSpPr>
        <p:spPr>
          <a:xfrm>
            <a:off x="5698018" y="6510528"/>
            <a:ext cx="67274" cy="54864"/>
          </a:xfrm>
          <a:prstGeom prst="rect">
            <a:avLst/>
          </a:prstGeom>
          <a:solidFill>
            <a:srgbClr val="2A3240"/>
          </a:solidFill>
          <a:ln>
            <a:noFill/>
          </a:ln>
        </p:spPr>
        <p:txBody>
          <a:bodyPr rtlCol="0" anchor="ctr"/>
          <a:lstStyle/>
          <a:p>
            <a:pPr algn="ctr"/>
          </a:p>
        </p:txBody>
      </p:sp>
      <p:sp>
        <p:nvSpPr>
          <p:cNvPr id="11" name="Rectangle 10"/>
          <p:cNvSpPr/>
          <p:nvPr/>
        </p:nvSpPr>
        <p:spPr>
          <a:xfrm>
            <a:off x="5788152" y="6510528"/>
            <a:ext cx="397764" cy="54864"/>
          </a:xfrm>
          <a:prstGeom prst="rect">
            <a:avLst/>
          </a:prstGeom>
          <a:solidFill>
            <a:srgbClr val="2A3240"/>
          </a:solidFill>
          <a:ln>
            <a:noFill/>
          </a:ln>
        </p:spPr>
        <p:txBody>
          <a:bodyPr rtlCol="0" anchor="ctr"/>
          <a:lstStyle/>
          <a:p>
            <a:pPr algn="ctr"/>
          </a:p>
        </p:txBody>
      </p:sp>
      <p:sp>
        <p:nvSpPr>
          <p:cNvPr id="12" name="Rectangle 11"/>
          <p:cNvSpPr/>
          <p:nvPr/>
        </p:nvSpPr>
        <p:spPr>
          <a:xfrm>
            <a:off x="6208776" y="6510528"/>
            <a:ext cx="187452" cy="54864"/>
          </a:xfrm>
          <a:prstGeom prst="rect">
            <a:avLst/>
          </a:prstGeom>
          <a:solidFill>
            <a:srgbClr val="2A3240"/>
          </a:solidFill>
          <a:ln>
            <a:noFill/>
          </a:ln>
        </p:spPr>
        <p:txBody>
          <a:bodyPr rtlCol="0" anchor="ctr"/>
          <a:lstStyle/>
          <a:p>
            <a:pPr algn="ctr"/>
          </a:p>
        </p:txBody>
      </p:sp>
      <p:sp>
        <p:nvSpPr>
          <p:cNvPr id="13" name="Rectangle 12"/>
          <p:cNvSpPr/>
          <p:nvPr/>
        </p:nvSpPr>
        <p:spPr>
          <a:xfrm>
            <a:off x="6419088" y="6510528"/>
            <a:ext cx="367719" cy="54864"/>
          </a:xfrm>
          <a:prstGeom prst="rect">
            <a:avLst/>
          </a:prstGeom>
          <a:solidFill>
            <a:srgbClr val="2A3240"/>
          </a:solidFill>
          <a:ln>
            <a:noFill/>
          </a:ln>
        </p:spPr>
        <p:txBody>
          <a:bodyPr rtlCol="0" anchor="ctr"/>
          <a:lstStyle/>
          <a:p>
            <a:pPr algn="ctr"/>
          </a:p>
        </p:txBody>
      </p:sp>
      <p:sp>
        <p:nvSpPr>
          <p:cNvPr id="14" name="Rectangle 13"/>
          <p:cNvSpPr/>
          <p:nvPr/>
        </p:nvSpPr>
        <p:spPr>
          <a:xfrm>
            <a:off x="6809667" y="6510528"/>
            <a:ext cx="157407" cy="54864"/>
          </a:xfrm>
          <a:prstGeom prst="rect">
            <a:avLst/>
          </a:prstGeom>
          <a:solidFill>
            <a:srgbClr val="2A3240"/>
          </a:solidFill>
          <a:ln>
            <a:noFill/>
          </a:ln>
        </p:spPr>
        <p:txBody>
          <a:bodyPr rtlCol="0" anchor="ctr"/>
          <a:lstStyle/>
          <a:p>
            <a:pPr algn="ctr"/>
          </a:p>
        </p:txBody>
      </p:sp>
      <p:sp>
        <p:nvSpPr>
          <p:cNvPr id="15" name="Rectangle 14"/>
          <p:cNvSpPr/>
          <p:nvPr/>
        </p:nvSpPr>
        <p:spPr>
          <a:xfrm>
            <a:off x="6989935" y="6510528"/>
            <a:ext cx="217497" cy="54864"/>
          </a:xfrm>
          <a:prstGeom prst="rect">
            <a:avLst/>
          </a:prstGeom>
          <a:solidFill>
            <a:srgbClr val="2A3240"/>
          </a:solidFill>
          <a:ln>
            <a:noFill/>
          </a:ln>
        </p:spPr>
        <p:txBody>
          <a:bodyPr rtlCol="0" anchor="ctr"/>
          <a:lstStyle/>
          <a:p>
            <a:pPr algn="ctr"/>
          </a:p>
        </p:txBody>
      </p:sp>
      <p:sp>
        <p:nvSpPr>
          <p:cNvPr id="16" name="Rectangle 15"/>
          <p:cNvSpPr/>
          <p:nvPr/>
        </p:nvSpPr>
        <p:spPr>
          <a:xfrm>
            <a:off x="7230291" y="6510528"/>
            <a:ext cx="217497" cy="54864"/>
          </a:xfrm>
          <a:prstGeom prst="rect">
            <a:avLst/>
          </a:prstGeom>
          <a:solidFill>
            <a:srgbClr val="2A3240"/>
          </a:solidFill>
          <a:ln>
            <a:noFill/>
          </a:ln>
        </p:spPr>
        <p:txBody>
          <a:bodyPr rtlCol="0" anchor="ctr"/>
          <a:lstStyle/>
          <a:p>
            <a:pPr algn="ctr"/>
          </a:p>
        </p:txBody>
      </p:sp>
      <p:sp>
        <p:nvSpPr>
          <p:cNvPr id="17" name="Rectangle 16"/>
          <p:cNvSpPr/>
          <p:nvPr/>
        </p:nvSpPr>
        <p:spPr>
          <a:xfrm>
            <a:off x="7470648" y="6510528"/>
            <a:ext cx="97318" cy="54864"/>
          </a:xfrm>
          <a:prstGeom prst="rect">
            <a:avLst/>
          </a:prstGeom>
          <a:solidFill>
            <a:srgbClr val="2A3240"/>
          </a:solidFill>
          <a:ln>
            <a:noFill/>
          </a:ln>
        </p:spPr>
        <p:txBody>
          <a:bodyPr rtlCol="0" anchor="ctr"/>
          <a:lstStyle/>
          <a:p>
            <a:pPr algn="ctr"/>
          </a:p>
        </p:txBody>
      </p:sp>
      <p:sp>
        <p:nvSpPr>
          <p:cNvPr id="18" name="Rectangle 17"/>
          <p:cNvSpPr/>
          <p:nvPr/>
        </p:nvSpPr>
        <p:spPr>
          <a:xfrm>
            <a:off x="7590826" y="6510528"/>
            <a:ext cx="67274" cy="54864"/>
          </a:xfrm>
          <a:prstGeom prst="rect">
            <a:avLst/>
          </a:prstGeom>
          <a:solidFill>
            <a:srgbClr val="2A3240"/>
          </a:solidFill>
          <a:ln>
            <a:noFill/>
          </a:ln>
        </p:spPr>
        <p:txBody>
          <a:bodyPr rtlCol="0" anchor="ctr"/>
          <a:lstStyle/>
          <a:p>
            <a:pPr algn="ctr"/>
          </a:p>
        </p:txBody>
      </p:sp>
      <p:sp>
        <p:nvSpPr>
          <p:cNvPr id="19" name="TextBox 18"/>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6F7A89"/>
                </a:solidFill>
                <a:latin typeface="Arial Narrow"/>
              </a:rPr>
              <a:t>5</a:t>
            </a:fld>
          </a:p>
        </p:txBody>
      </p:sp>
      <p:sp>
        <p:nvSpPr>
          <p:cNvPr id="20" name="TextBox 19"/>
          <p:cNvSpPr txBox="1"/>
          <p:nvPr/>
        </p:nvSpPr>
        <p:spPr>
          <a:xfrm>
            <a:off x="685800" y="86868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A9B3C0"/>
                </a:solidFill>
                <a:latin typeface="Arial Narrow"/>
              </a:rPr>
              <a:t>8 ENGINEERING COMPANIES</a:t>
            </a:r>
          </a:p>
        </p:txBody>
      </p:sp>
      <p:sp>
        <p:nvSpPr>
          <p:cNvPr id="21" name="TextBox 20"/>
          <p:cNvSpPr txBox="1"/>
          <p:nvPr/>
        </p:nvSpPr>
        <p:spPr>
          <a:xfrm>
            <a:off x="685800" y="1143000"/>
            <a:ext cx="10789920" cy="731520"/>
          </a:xfrm>
          <a:prstGeom prst="rect">
            <a:avLst/>
          </a:prstGeom>
          <a:noFill/>
        </p:spPr>
        <p:txBody>
          <a:bodyPr wrap="square" anchor="t" lIns="0" rIns="0" tIns="0" bIns="0">
            <a:noAutofit/>
          </a:bodyPr>
          <a:lstStyle/>
          <a:p>
            <a:pPr algn="l">
              <a:lnSpc>
                <a:spcPct val="100000"/>
              </a:lnSpc>
              <a:spcBef>
                <a:spcPts val="0"/>
              </a:spcBef>
              <a:spcAft>
                <a:spcPts val="0"/>
              </a:spcAft>
            </a:pPr>
            <a:r>
              <a:rPr sz="4400" b="0" i="0">
                <a:solidFill>
                  <a:srgbClr val="F4F6F8"/>
                </a:solidFill>
                <a:latin typeface="Arial Black"/>
              </a:rPr>
              <a:t>YOU ARE THE ENGINEERS.</a:t>
            </a:r>
          </a:p>
        </p:txBody>
      </p:sp>
      <p:sp>
        <p:nvSpPr>
          <p:cNvPr id="22" name="Rounded Rectangle 21"/>
          <p:cNvSpPr/>
          <p:nvPr/>
        </p:nvSpPr>
        <p:spPr>
          <a:xfrm>
            <a:off x="685800" y="2148840"/>
            <a:ext cx="2514600" cy="1371600"/>
          </a:xfrm>
          <a:prstGeom prst="roundRect">
            <a:avLst>
              <a:gd name="adj" fmla="val 9333"/>
            </a:avLst>
          </a:prstGeom>
          <a:solidFill>
            <a:srgbClr val="1A2029"/>
          </a:solidFill>
          <a:ln w="19050">
            <a:solidFill>
              <a:srgbClr val="323C4A"/>
            </a:solidFill>
          </a:ln>
        </p:spPr>
        <p:txBody>
          <a:bodyPr rtlCol="0" anchor="ctr"/>
          <a:lstStyle/>
          <a:p>
            <a:pPr algn="ctr"/>
          </a:p>
        </p:txBody>
      </p:sp>
      <p:sp>
        <p:nvSpPr>
          <p:cNvPr id="23" name="Rounded Rectangle 22"/>
          <p:cNvSpPr/>
          <p:nvPr/>
        </p:nvSpPr>
        <p:spPr>
          <a:xfrm>
            <a:off x="886968" y="2331720"/>
            <a:ext cx="566928" cy="566928"/>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2600" b="1" i="0">
                <a:solidFill>
                  <a:srgbClr val="12161C"/>
                </a:solidFill>
                <a:latin typeface="Arial Black"/>
              </a:rPr>
              <a:t>A</a:t>
            </a:r>
          </a:p>
        </p:txBody>
      </p:sp>
      <p:sp>
        <p:nvSpPr>
          <p:cNvPr id="24" name="TextBox 23"/>
          <p:cNvSpPr txBox="1"/>
          <p:nvPr/>
        </p:nvSpPr>
        <p:spPr>
          <a:xfrm>
            <a:off x="886968" y="2990088"/>
            <a:ext cx="2194560" cy="411480"/>
          </a:xfrm>
          <a:prstGeom prst="rect">
            <a:avLst/>
          </a:prstGeom>
          <a:noFill/>
        </p:spPr>
        <p:txBody>
          <a:bodyPr wrap="square" anchor="t" lIns="0" rIns="0" tIns="0" bIns="0">
            <a:noAutofit/>
          </a:bodyPr>
          <a:lstStyle/>
          <a:p>
            <a:pPr algn="l">
              <a:lnSpc>
                <a:spcPct val="100000"/>
              </a:lnSpc>
              <a:spcBef>
                <a:spcPts val="0"/>
              </a:spcBef>
              <a:spcAft>
                <a:spcPts val="0"/>
              </a:spcAft>
            </a:pPr>
            <a:r>
              <a:rPr sz="2400" b="0" i="0">
                <a:solidFill>
                  <a:srgbClr val="F4F6F8"/>
                </a:solidFill>
                <a:latin typeface="Arial Black"/>
              </a:rPr>
              <a:t>ALPHA</a:t>
            </a:r>
          </a:p>
        </p:txBody>
      </p:sp>
      <p:sp>
        <p:nvSpPr>
          <p:cNvPr id="25" name="Rounded Rectangle 24"/>
          <p:cNvSpPr/>
          <p:nvPr/>
        </p:nvSpPr>
        <p:spPr>
          <a:xfrm>
            <a:off x="3456432" y="2148840"/>
            <a:ext cx="2514600" cy="1371600"/>
          </a:xfrm>
          <a:prstGeom prst="roundRect">
            <a:avLst>
              <a:gd name="adj" fmla="val 9333"/>
            </a:avLst>
          </a:prstGeom>
          <a:solidFill>
            <a:srgbClr val="1A2029"/>
          </a:solidFill>
          <a:ln w="19050">
            <a:solidFill>
              <a:srgbClr val="323C4A"/>
            </a:solidFill>
          </a:ln>
        </p:spPr>
        <p:txBody>
          <a:bodyPr rtlCol="0" anchor="ctr"/>
          <a:lstStyle/>
          <a:p>
            <a:pPr algn="ctr"/>
          </a:p>
        </p:txBody>
      </p:sp>
      <p:sp>
        <p:nvSpPr>
          <p:cNvPr id="26" name="Rounded Rectangle 25"/>
          <p:cNvSpPr/>
          <p:nvPr/>
        </p:nvSpPr>
        <p:spPr>
          <a:xfrm>
            <a:off x="3657600" y="2331720"/>
            <a:ext cx="566928" cy="566928"/>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2600" b="1" i="0">
                <a:solidFill>
                  <a:srgbClr val="12161C"/>
                </a:solidFill>
                <a:latin typeface="Arial Black"/>
              </a:rPr>
              <a:t>B</a:t>
            </a:r>
          </a:p>
        </p:txBody>
      </p:sp>
      <p:sp>
        <p:nvSpPr>
          <p:cNvPr id="27" name="TextBox 26"/>
          <p:cNvSpPr txBox="1"/>
          <p:nvPr/>
        </p:nvSpPr>
        <p:spPr>
          <a:xfrm>
            <a:off x="3657600" y="2990088"/>
            <a:ext cx="2194560" cy="411480"/>
          </a:xfrm>
          <a:prstGeom prst="rect">
            <a:avLst/>
          </a:prstGeom>
          <a:noFill/>
        </p:spPr>
        <p:txBody>
          <a:bodyPr wrap="square" anchor="t" lIns="0" rIns="0" tIns="0" bIns="0">
            <a:noAutofit/>
          </a:bodyPr>
          <a:lstStyle/>
          <a:p>
            <a:pPr algn="l">
              <a:lnSpc>
                <a:spcPct val="100000"/>
              </a:lnSpc>
              <a:spcBef>
                <a:spcPts val="0"/>
              </a:spcBef>
              <a:spcAft>
                <a:spcPts val="0"/>
              </a:spcAft>
            </a:pPr>
            <a:r>
              <a:rPr sz="2400" b="0" i="0">
                <a:solidFill>
                  <a:srgbClr val="F4F6F8"/>
                </a:solidFill>
                <a:latin typeface="Arial Black"/>
              </a:rPr>
              <a:t>BRAVO</a:t>
            </a:r>
          </a:p>
        </p:txBody>
      </p:sp>
      <p:sp>
        <p:nvSpPr>
          <p:cNvPr id="28" name="Rounded Rectangle 27"/>
          <p:cNvSpPr/>
          <p:nvPr/>
        </p:nvSpPr>
        <p:spPr>
          <a:xfrm>
            <a:off x="6227064" y="2148840"/>
            <a:ext cx="2514600" cy="1371600"/>
          </a:xfrm>
          <a:prstGeom prst="roundRect">
            <a:avLst>
              <a:gd name="adj" fmla="val 9333"/>
            </a:avLst>
          </a:prstGeom>
          <a:solidFill>
            <a:srgbClr val="1A2029"/>
          </a:solidFill>
          <a:ln w="19050">
            <a:solidFill>
              <a:srgbClr val="323C4A"/>
            </a:solidFill>
          </a:ln>
        </p:spPr>
        <p:txBody>
          <a:bodyPr rtlCol="0" anchor="ctr"/>
          <a:lstStyle/>
          <a:p>
            <a:pPr algn="ctr"/>
          </a:p>
        </p:txBody>
      </p:sp>
      <p:sp>
        <p:nvSpPr>
          <p:cNvPr id="29" name="Rounded Rectangle 28"/>
          <p:cNvSpPr/>
          <p:nvPr/>
        </p:nvSpPr>
        <p:spPr>
          <a:xfrm>
            <a:off x="6428232" y="2331720"/>
            <a:ext cx="566928" cy="566928"/>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2600" b="1" i="0">
                <a:solidFill>
                  <a:srgbClr val="12161C"/>
                </a:solidFill>
                <a:latin typeface="Arial Black"/>
              </a:rPr>
              <a:t>C</a:t>
            </a:r>
          </a:p>
        </p:txBody>
      </p:sp>
      <p:sp>
        <p:nvSpPr>
          <p:cNvPr id="30" name="TextBox 29"/>
          <p:cNvSpPr txBox="1"/>
          <p:nvPr/>
        </p:nvSpPr>
        <p:spPr>
          <a:xfrm>
            <a:off x="6428232" y="2990088"/>
            <a:ext cx="2194560" cy="411480"/>
          </a:xfrm>
          <a:prstGeom prst="rect">
            <a:avLst/>
          </a:prstGeom>
          <a:noFill/>
        </p:spPr>
        <p:txBody>
          <a:bodyPr wrap="square" anchor="t" lIns="0" rIns="0" tIns="0" bIns="0">
            <a:noAutofit/>
          </a:bodyPr>
          <a:lstStyle/>
          <a:p>
            <a:pPr algn="l">
              <a:lnSpc>
                <a:spcPct val="100000"/>
              </a:lnSpc>
              <a:spcBef>
                <a:spcPts val="0"/>
              </a:spcBef>
              <a:spcAft>
                <a:spcPts val="0"/>
              </a:spcAft>
            </a:pPr>
            <a:r>
              <a:rPr sz="2400" b="0" i="0">
                <a:solidFill>
                  <a:srgbClr val="F4F6F8"/>
                </a:solidFill>
                <a:latin typeface="Arial Black"/>
              </a:rPr>
              <a:t>CHARLIE</a:t>
            </a:r>
          </a:p>
        </p:txBody>
      </p:sp>
      <p:sp>
        <p:nvSpPr>
          <p:cNvPr id="31" name="Rounded Rectangle 30"/>
          <p:cNvSpPr/>
          <p:nvPr/>
        </p:nvSpPr>
        <p:spPr>
          <a:xfrm>
            <a:off x="8997696" y="2148840"/>
            <a:ext cx="2514600" cy="1371600"/>
          </a:xfrm>
          <a:prstGeom prst="roundRect">
            <a:avLst>
              <a:gd name="adj" fmla="val 9333"/>
            </a:avLst>
          </a:prstGeom>
          <a:solidFill>
            <a:srgbClr val="1A2029"/>
          </a:solidFill>
          <a:ln w="19050">
            <a:solidFill>
              <a:srgbClr val="323C4A"/>
            </a:solidFill>
          </a:ln>
        </p:spPr>
        <p:txBody>
          <a:bodyPr rtlCol="0" anchor="ctr"/>
          <a:lstStyle/>
          <a:p>
            <a:pPr algn="ctr"/>
          </a:p>
        </p:txBody>
      </p:sp>
      <p:sp>
        <p:nvSpPr>
          <p:cNvPr id="32" name="Rounded Rectangle 31"/>
          <p:cNvSpPr/>
          <p:nvPr/>
        </p:nvSpPr>
        <p:spPr>
          <a:xfrm>
            <a:off x="9198864" y="2331720"/>
            <a:ext cx="566928" cy="566928"/>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2600" b="1" i="0">
                <a:solidFill>
                  <a:srgbClr val="12161C"/>
                </a:solidFill>
                <a:latin typeface="Arial Black"/>
              </a:rPr>
              <a:t>D</a:t>
            </a:r>
          </a:p>
        </p:txBody>
      </p:sp>
      <p:sp>
        <p:nvSpPr>
          <p:cNvPr id="33" name="TextBox 32"/>
          <p:cNvSpPr txBox="1"/>
          <p:nvPr/>
        </p:nvSpPr>
        <p:spPr>
          <a:xfrm>
            <a:off x="9198864" y="2990088"/>
            <a:ext cx="2194560" cy="411480"/>
          </a:xfrm>
          <a:prstGeom prst="rect">
            <a:avLst/>
          </a:prstGeom>
          <a:noFill/>
        </p:spPr>
        <p:txBody>
          <a:bodyPr wrap="square" anchor="t" lIns="0" rIns="0" tIns="0" bIns="0">
            <a:noAutofit/>
          </a:bodyPr>
          <a:lstStyle/>
          <a:p>
            <a:pPr algn="l">
              <a:lnSpc>
                <a:spcPct val="100000"/>
              </a:lnSpc>
              <a:spcBef>
                <a:spcPts val="0"/>
              </a:spcBef>
              <a:spcAft>
                <a:spcPts val="0"/>
              </a:spcAft>
            </a:pPr>
            <a:r>
              <a:rPr sz="2400" b="0" i="0">
                <a:solidFill>
                  <a:srgbClr val="F4F6F8"/>
                </a:solidFill>
                <a:latin typeface="Arial Black"/>
              </a:rPr>
              <a:t>DELTA</a:t>
            </a:r>
          </a:p>
        </p:txBody>
      </p:sp>
      <p:sp>
        <p:nvSpPr>
          <p:cNvPr id="34" name="Rounded Rectangle 33"/>
          <p:cNvSpPr/>
          <p:nvPr/>
        </p:nvSpPr>
        <p:spPr>
          <a:xfrm>
            <a:off x="685800" y="3721608"/>
            <a:ext cx="2514600" cy="1371600"/>
          </a:xfrm>
          <a:prstGeom prst="roundRect">
            <a:avLst>
              <a:gd name="adj" fmla="val 9333"/>
            </a:avLst>
          </a:prstGeom>
          <a:solidFill>
            <a:srgbClr val="1A2029"/>
          </a:solidFill>
          <a:ln w="19050">
            <a:solidFill>
              <a:srgbClr val="323C4A"/>
            </a:solidFill>
          </a:ln>
        </p:spPr>
        <p:txBody>
          <a:bodyPr rtlCol="0" anchor="ctr"/>
          <a:lstStyle/>
          <a:p>
            <a:pPr algn="ctr"/>
          </a:p>
        </p:txBody>
      </p:sp>
      <p:sp>
        <p:nvSpPr>
          <p:cNvPr id="35" name="Rounded Rectangle 34"/>
          <p:cNvSpPr/>
          <p:nvPr/>
        </p:nvSpPr>
        <p:spPr>
          <a:xfrm>
            <a:off x="886968" y="3904488"/>
            <a:ext cx="566928" cy="566928"/>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2600" b="1" i="0">
                <a:solidFill>
                  <a:srgbClr val="12161C"/>
                </a:solidFill>
                <a:latin typeface="Arial Black"/>
              </a:rPr>
              <a:t>E</a:t>
            </a:r>
          </a:p>
        </p:txBody>
      </p:sp>
      <p:sp>
        <p:nvSpPr>
          <p:cNvPr id="36" name="TextBox 35"/>
          <p:cNvSpPr txBox="1"/>
          <p:nvPr/>
        </p:nvSpPr>
        <p:spPr>
          <a:xfrm>
            <a:off x="886968" y="4562856"/>
            <a:ext cx="2194560" cy="411480"/>
          </a:xfrm>
          <a:prstGeom prst="rect">
            <a:avLst/>
          </a:prstGeom>
          <a:noFill/>
        </p:spPr>
        <p:txBody>
          <a:bodyPr wrap="square" anchor="t" lIns="0" rIns="0" tIns="0" bIns="0">
            <a:noAutofit/>
          </a:bodyPr>
          <a:lstStyle/>
          <a:p>
            <a:pPr algn="l">
              <a:lnSpc>
                <a:spcPct val="100000"/>
              </a:lnSpc>
              <a:spcBef>
                <a:spcPts val="0"/>
              </a:spcBef>
              <a:spcAft>
                <a:spcPts val="0"/>
              </a:spcAft>
            </a:pPr>
            <a:r>
              <a:rPr sz="2400" b="0" i="0">
                <a:solidFill>
                  <a:srgbClr val="F4F6F8"/>
                </a:solidFill>
                <a:latin typeface="Arial Black"/>
              </a:rPr>
              <a:t>ECHO</a:t>
            </a:r>
          </a:p>
        </p:txBody>
      </p:sp>
      <p:sp>
        <p:nvSpPr>
          <p:cNvPr id="37" name="Rounded Rectangle 36"/>
          <p:cNvSpPr/>
          <p:nvPr/>
        </p:nvSpPr>
        <p:spPr>
          <a:xfrm>
            <a:off x="3456432" y="3721608"/>
            <a:ext cx="2514600" cy="1371600"/>
          </a:xfrm>
          <a:prstGeom prst="roundRect">
            <a:avLst>
              <a:gd name="adj" fmla="val 9333"/>
            </a:avLst>
          </a:prstGeom>
          <a:solidFill>
            <a:srgbClr val="1A2029"/>
          </a:solidFill>
          <a:ln w="19050">
            <a:solidFill>
              <a:srgbClr val="323C4A"/>
            </a:solidFill>
          </a:ln>
        </p:spPr>
        <p:txBody>
          <a:bodyPr rtlCol="0" anchor="ctr"/>
          <a:lstStyle/>
          <a:p>
            <a:pPr algn="ctr"/>
          </a:p>
        </p:txBody>
      </p:sp>
      <p:sp>
        <p:nvSpPr>
          <p:cNvPr id="38" name="Rounded Rectangle 37"/>
          <p:cNvSpPr/>
          <p:nvPr/>
        </p:nvSpPr>
        <p:spPr>
          <a:xfrm>
            <a:off x="3657600" y="3904488"/>
            <a:ext cx="566928" cy="566928"/>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2600" b="1" i="0">
                <a:solidFill>
                  <a:srgbClr val="12161C"/>
                </a:solidFill>
                <a:latin typeface="Arial Black"/>
              </a:rPr>
              <a:t>F</a:t>
            </a:r>
          </a:p>
        </p:txBody>
      </p:sp>
      <p:sp>
        <p:nvSpPr>
          <p:cNvPr id="39" name="TextBox 38"/>
          <p:cNvSpPr txBox="1"/>
          <p:nvPr/>
        </p:nvSpPr>
        <p:spPr>
          <a:xfrm>
            <a:off x="3657600" y="4562856"/>
            <a:ext cx="2194560" cy="411480"/>
          </a:xfrm>
          <a:prstGeom prst="rect">
            <a:avLst/>
          </a:prstGeom>
          <a:noFill/>
        </p:spPr>
        <p:txBody>
          <a:bodyPr wrap="square" anchor="t" lIns="0" rIns="0" tIns="0" bIns="0">
            <a:noAutofit/>
          </a:bodyPr>
          <a:lstStyle/>
          <a:p>
            <a:pPr algn="l">
              <a:lnSpc>
                <a:spcPct val="100000"/>
              </a:lnSpc>
              <a:spcBef>
                <a:spcPts val="0"/>
              </a:spcBef>
              <a:spcAft>
                <a:spcPts val="0"/>
              </a:spcAft>
            </a:pPr>
            <a:r>
              <a:rPr sz="2400" b="0" i="0">
                <a:solidFill>
                  <a:srgbClr val="F4F6F8"/>
                </a:solidFill>
                <a:latin typeface="Arial Black"/>
              </a:rPr>
              <a:t>FOXTROT</a:t>
            </a:r>
          </a:p>
        </p:txBody>
      </p:sp>
      <p:sp>
        <p:nvSpPr>
          <p:cNvPr id="40" name="Rounded Rectangle 39"/>
          <p:cNvSpPr/>
          <p:nvPr/>
        </p:nvSpPr>
        <p:spPr>
          <a:xfrm>
            <a:off x="6227064" y="3721608"/>
            <a:ext cx="2514600" cy="1371600"/>
          </a:xfrm>
          <a:prstGeom prst="roundRect">
            <a:avLst>
              <a:gd name="adj" fmla="val 9333"/>
            </a:avLst>
          </a:prstGeom>
          <a:solidFill>
            <a:srgbClr val="1A2029"/>
          </a:solidFill>
          <a:ln w="19050">
            <a:solidFill>
              <a:srgbClr val="323C4A"/>
            </a:solidFill>
          </a:ln>
        </p:spPr>
        <p:txBody>
          <a:bodyPr rtlCol="0" anchor="ctr"/>
          <a:lstStyle/>
          <a:p>
            <a:pPr algn="ctr"/>
          </a:p>
        </p:txBody>
      </p:sp>
      <p:sp>
        <p:nvSpPr>
          <p:cNvPr id="41" name="Rounded Rectangle 40"/>
          <p:cNvSpPr/>
          <p:nvPr/>
        </p:nvSpPr>
        <p:spPr>
          <a:xfrm>
            <a:off x="6428232" y="3904488"/>
            <a:ext cx="566928" cy="566928"/>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2600" b="1" i="0">
                <a:solidFill>
                  <a:srgbClr val="12161C"/>
                </a:solidFill>
                <a:latin typeface="Arial Black"/>
              </a:rPr>
              <a:t>G</a:t>
            </a:r>
          </a:p>
        </p:txBody>
      </p:sp>
      <p:sp>
        <p:nvSpPr>
          <p:cNvPr id="42" name="TextBox 41"/>
          <p:cNvSpPr txBox="1"/>
          <p:nvPr/>
        </p:nvSpPr>
        <p:spPr>
          <a:xfrm>
            <a:off x="6428232" y="4562856"/>
            <a:ext cx="2194560" cy="411480"/>
          </a:xfrm>
          <a:prstGeom prst="rect">
            <a:avLst/>
          </a:prstGeom>
          <a:noFill/>
        </p:spPr>
        <p:txBody>
          <a:bodyPr wrap="square" anchor="t" lIns="0" rIns="0" tIns="0" bIns="0">
            <a:noAutofit/>
          </a:bodyPr>
          <a:lstStyle/>
          <a:p>
            <a:pPr algn="l">
              <a:lnSpc>
                <a:spcPct val="100000"/>
              </a:lnSpc>
              <a:spcBef>
                <a:spcPts val="0"/>
              </a:spcBef>
              <a:spcAft>
                <a:spcPts val="0"/>
              </a:spcAft>
            </a:pPr>
            <a:r>
              <a:rPr sz="2400" b="0" i="0">
                <a:solidFill>
                  <a:srgbClr val="F4F6F8"/>
                </a:solidFill>
                <a:latin typeface="Arial Black"/>
              </a:rPr>
              <a:t>GOLF</a:t>
            </a:r>
          </a:p>
        </p:txBody>
      </p:sp>
      <p:sp>
        <p:nvSpPr>
          <p:cNvPr id="43" name="Rounded Rectangle 42"/>
          <p:cNvSpPr/>
          <p:nvPr/>
        </p:nvSpPr>
        <p:spPr>
          <a:xfrm>
            <a:off x="8997696" y="3721608"/>
            <a:ext cx="2514600" cy="1371600"/>
          </a:xfrm>
          <a:prstGeom prst="roundRect">
            <a:avLst>
              <a:gd name="adj" fmla="val 9333"/>
            </a:avLst>
          </a:prstGeom>
          <a:solidFill>
            <a:srgbClr val="1A2029"/>
          </a:solidFill>
          <a:ln w="19050">
            <a:solidFill>
              <a:srgbClr val="323C4A"/>
            </a:solidFill>
          </a:ln>
        </p:spPr>
        <p:txBody>
          <a:bodyPr rtlCol="0" anchor="ctr"/>
          <a:lstStyle/>
          <a:p>
            <a:pPr algn="ctr"/>
          </a:p>
        </p:txBody>
      </p:sp>
      <p:sp>
        <p:nvSpPr>
          <p:cNvPr id="44" name="Rounded Rectangle 43"/>
          <p:cNvSpPr/>
          <p:nvPr/>
        </p:nvSpPr>
        <p:spPr>
          <a:xfrm>
            <a:off x="9198864" y="3904488"/>
            <a:ext cx="566928" cy="566928"/>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2600" b="1" i="0">
                <a:solidFill>
                  <a:srgbClr val="12161C"/>
                </a:solidFill>
                <a:latin typeface="Arial Black"/>
              </a:rPr>
              <a:t>H</a:t>
            </a:r>
          </a:p>
        </p:txBody>
      </p:sp>
      <p:sp>
        <p:nvSpPr>
          <p:cNvPr id="45" name="TextBox 44"/>
          <p:cNvSpPr txBox="1"/>
          <p:nvPr/>
        </p:nvSpPr>
        <p:spPr>
          <a:xfrm>
            <a:off x="9198864" y="4562856"/>
            <a:ext cx="2194560" cy="411480"/>
          </a:xfrm>
          <a:prstGeom prst="rect">
            <a:avLst/>
          </a:prstGeom>
          <a:noFill/>
        </p:spPr>
        <p:txBody>
          <a:bodyPr wrap="square" anchor="t" lIns="0" rIns="0" tIns="0" bIns="0">
            <a:noAutofit/>
          </a:bodyPr>
          <a:lstStyle/>
          <a:p>
            <a:pPr algn="l">
              <a:lnSpc>
                <a:spcPct val="100000"/>
              </a:lnSpc>
              <a:spcBef>
                <a:spcPts val="0"/>
              </a:spcBef>
              <a:spcAft>
                <a:spcPts val="0"/>
              </a:spcAft>
            </a:pPr>
            <a:r>
              <a:rPr sz="2400" b="0" i="0">
                <a:solidFill>
                  <a:srgbClr val="F4F6F8"/>
                </a:solidFill>
                <a:latin typeface="Arial Black"/>
              </a:rPr>
              <a:t>HOTEL</a:t>
            </a:r>
          </a:p>
        </p:txBody>
      </p:sp>
      <p:sp>
        <p:nvSpPr>
          <p:cNvPr id="46" name="Rounded Rectangle 45"/>
          <p:cNvSpPr/>
          <p:nvPr/>
        </p:nvSpPr>
        <p:spPr>
          <a:xfrm>
            <a:off x="685800" y="5285232"/>
            <a:ext cx="3502152" cy="914400"/>
          </a:xfrm>
          <a:prstGeom prst="roundRect">
            <a:avLst>
              <a:gd name="adj" fmla="val 14000"/>
            </a:avLst>
          </a:prstGeom>
          <a:solidFill>
            <a:srgbClr val="1A2029"/>
          </a:solidFill>
          <a:ln w="22225">
            <a:solidFill>
              <a:srgbClr val="FFB400"/>
            </a:solidFill>
          </a:ln>
        </p:spPr>
        <p:txBody>
          <a:bodyPr rtlCol="0" anchor="ctr" wrap="square" lIns="0" rIns="0" tIns="0" bIns="0">
            <a:noAutofit/>
          </a:bodyPr>
          <a:lstStyle/>
          <a:p>
            <a:pPr algn="ctr">
              <a:lnSpc>
                <a:spcPct val="100000"/>
              </a:lnSpc>
              <a:spcBef>
                <a:spcPts val="0"/>
              </a:spcBef>
              <a:spcAft>
                <a:spcPts val="0"/>
              </a:spcAft>
            </a:pPr>
            <a:r>
              <a:rPr sz="1500" b="1" i="0" spc="200">
                <a:solidFill>
                  <a:srgbClr val="A9B3C0"/>
                </a:solidFill>
                <a:latin typeface="Arial Narrow"/>
              </a:rPr>
              <a:t>CORRECT TEAM ANSWER</a:t>
            </a:r>
          </a:p>
          <a:p>
            <a:pPr algn="ctr">
              <a:lnSpc>
                <a:spcPct val="100000"/>
              </a:lnSpc>
              <a:spcBef>
                <a:spcPts val="0"/>
              </a:spcBef>
              <a:spcAft>
                <a:spcPts val="0"/>
              </a:spcAft>
            </a:pPr>
            <a:r>
              <a:rPr sz="2800" b="1" i="0">
                <a:solidFill>
                  <a:srgbClr val="FFB400"/>
                </a:solidFill>
                <a:latin typeface="Arial Black"/>
              </a:rPr>
              <a:t>+100 EP</a:t>
            </a:r>
          </a:p>
        </p:txBody>
      </p:sp>
      <p:sp>
        <p:nvSpPr>
          <p:cNvPr id="47" name="Rounded Rectangle 46"/>
          <p:cNvSpPr/>
          <p:nvPr/>
        </p:nvSpPr>
        <p:spPr>
          <a:xfrm>
            <a:off x="4343400" y="5285232"/>
            <a:ext cx="3502152" cy="914400"/>
          </a:xfrm>
          <a:prstGeom prst="roundRect">
            <a:avLst>
              <a:gd name="adj" fmla="val 14000"/>
            </a:avLst>
          </a:prstGeom>
          <a:solidFill>
            <a:srgbClr val="1A2029"/>
          </a:solidFill>
          <a:ln w="22225">
            <a:solidFill>
              <a:srgbClr val="FFB400"/>
            </a:solidFill>
          </a:ln>
        </p:spPr>
        <p:txBody>
          <a:bodyPr rtlCol="0" anchor="ctr" wrap="square" lIns="0" rIns="0" tIns="0" bIns="0">
            <a:noAutofit/>
          </a:bodyPr>
          <a:lstStyle/>
          <a:p>
            <a:pPr algn="ctr">
              <a:lnSpc>
                <a:spcPct val="100000"/>
              </a:lnSpc>
              <a:spcBef>
                <a:spcPts val="0"/>
              </a:spcBef>
              <a:spcAft>
                <a:spcPts val="0"/>
              </a:spcAft>
            </a:pPr>
            <a:r>
              <a:rPr sz="1500" b="1" i="0" spc="200">
                <a:solidFill>
                  <a:srgbClr val="A9B3C0"/>
                </a:solidFill>
                <a:latin typeface="Arial Narrow"/>
              </a:rPr>
              <a:t>MAJOR CHALLENGE</a:t>
            </a:r>
          </a:p>
          <a:p>
            <a:pPr algn="ctr">
              <a:lnSpc>
                <a:spcPct val="100000"/>
              </a:lnSpc>
              <a:spcBef>
                <a:spcPts val="0"/>
              </a:spcBef>
              <a:spcAft>
                <a:spcPts val="0"/>
              </a:spcAft>
            </a:pPr>
            <a:r>
              <a:rPr sz="2800" b="1" i="0">
                <a:solidFill>
                  <a:srgbClr val="FFB400"/>
                </a:solidFill>
                <a:latin typeface="Arial Black"/>
              </a:rPr>
              <a:t>+300 EP</a:t>
            </a:r>
          </a:p>
        </p:txBody>
      </p:sp>
      <p:sp>
        <p:nvSpPr>
          <p:cNvPr id="48" name="Rounded Rectangle 47"/>
          <p:cNvSpPr/>
          <p:nvPr/>
        </p:nvSpPr>
        <p:spPr>
          <a:xfrm>
            <a:off x="8001000" y="5285232"/>
            <a:ext cx="3502152" cy="914400"/>
          </a:xfrm>
          <a:prstGeom prst="roundRect">
            <a:avLst>
              <a:gd name="adj" fmla="val 14000"/>
            </a:avLst>
          </a:prstGeom>
          <a:solidFill>
            <a:srgbClr val="1A2029"/>
          </a:solidFill>
          <a:ln w="22225">
            <a:solidFill>
              <a:srgbClr val="FFB400"/>
            </a:solidFill>
          </a:ln>
        </p:spPr>
        <p:txBody>
          <a:bodyPr rtlCol="0" anchor="ctr" wrap="square" lIns="0" rIns="0" tIns="0" bIns="0">
            <a:noAutofit/>
          </a:bodyPr>
          <a:lstStyle/>
          <a:p>
            <a:pPr algn="ctr">
              <a:lnSpc>
                <a:spcPct val="100000"/>
              </a:lnSpc>
              <a:spcBef>
                <a:spcPts val="0"/>
              </a:spcBef>
              <a:spcAft>
                <a:spcPts val="0"/>
              </a:spcAft>
            </a:pPr>
            <a:r>
              <a:rPr sz="1500" b="1" i="0" spc="200">
                <a:solidFill>
                  <a:srgbClr val="A9B3C0"/>
                </a:solidFill>
                <a:latin typeface="Arial Narrow"/>
              </a:rPr>
              <a:t>FINAL BOSS</a:t>
            </a:r>
          </a:p>
          <a:p>
            <a:pPr algn="ctr">
              <a:lnSpc>
                <a:spcPct val="100000"/>
              </a:lnSpc>
              <a:spcBef>
                <a:spcPts val="0"/>
              </a:spcBef>
              <a:spcAft>
                <a:spcPts val="0"/>
              </a:spcAft>
            </a:pPr>
            <a:r>
              <a:rPr sz="2800" b="1" i="0">
                <a:solidFill>
                  <a:srgbClr val="FFB400"/>
                </a:solidFill>
                <a:latin typeface="Arial Black"/>
              </a:rPr>
              <a:t>DOUBLE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12161C"/>
                </a:solidFill>
                <a:latin typeface="Arial Narrow"/>
              </a:rPr>
              <a:t>ACT 1 · ENERGY</a:t>
            </a:r>
          </a:p>
        </p:txBody>
      </p:sp>
      <p:sp>
        <p:nvSpPr>
          <p:cNvPr id="4" name="TextBox 3"/>
          <p:cNvSpPr txBox="1"/>
          <p:nvPr/>
        </p:nvSpPr>
        <p:spPr>
          <a:xfrm>
            <a:off x="7315200" y="310896"/>
            <a:ext cx="4187952" cy="274320"/>
          </a:xfrm>
          <a:prstGeom prst="rect">
            <a:avLst/>
          </a:prstGeom>
          <a:noFill/>
        </p:spPr>
        <p:txBody>
          <a:bodyPr wrap="square" anchor="t" lIns="0" rIns="0" tIns="0" bIns="0">
            <a:noAutofit/>
          </a:bodyPr>
          <a:lstStyle/>
          <a:p>
            <a:pPr algn="r">
              <a:lnSpc>
                <a:spcPct val="100000"/>
              </a:lnSpc>
              <a:spcBef>
                <a:spcPts val="0"/>
              </a:spcBef>
              <a:spcAft>
                <a:spcPts val="0"/>
              </a:spcAft>
            </a:pPr>
            <a:r>
              <a:rPr sz="1300" b="1" i="0" spc="220">
                <a:solidFill>
                  <a:srgbClr val="8A93A0"/>
                </a:solidFill>
                <a:latin typeface="Arial Narrow"/>
              </a:rPr>
              <a:t>ENERGY ENGINEER</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8A93A0"/>
                </a:solidFill>
                <a:latin typeface="Arial Narrow"/>
              </a:rPr>
              <a:t>ENERGY LAB  ·  CRASH TEST #05</a:t>
            </a:r>
          </a:p>
        </p:txBody>
      </p:sp>
      <p:sp>
        <p:nvSpPr>
          <p:cNvPr id="6" name="Rectangle 5"/>
          <p:cNvSpPr/>
          <p:nvPr/>
        </p:nvSpPr>
        <p:spPr>
          <a:xfrm>
            <a:off x="4526280" y="6510528"/>
            <a:ext cx="127363" cy="54864"/>
          </a:xfrm>
          <a:prstGeom prst="rect">
            <a:avLst/>
          </a:prstGeom>
          <a:solidFill>
            <a:srgbClr val="D9B55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FFB400"/>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D5D0C4"/>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D5D0C4"/>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D5D0C4"/>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D5D0C4"/>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D5D0C4"/>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D5D0C4"/>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D5D0C4"/>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D5D0C4"/>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D5D0C4"/>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D5D0C4"/>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D5D0C4"/>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D5D0C4"/>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8A93A0"/>
                </a:solidFill>
                <a:latin typeface="Arial Narrow"/>
              </a:rPr>
              <a:t>6</a:t>
            </a:fld>
          </a:p>
        </p:txBody>
      </p:sp>
      <p:sp>
        <p:nvSpPr>
          <p:cNvPr id="21" name="TextBox 20"/>
          <p:cNvSpPr txBox="1"/>
          <p:nvPr/>
        </p:nvSpPr>
        <p:spPr>
          <a:xfrm>
            <a:off x="8869680" y="777240"/>
            <a:ext cx="3291840" cy="4206240"/>
          </a:xfrm>
          <a:prstGeom prst="rect">
            <a:avLst/>
          </a:prstGeom>
          <a:noFill/>
        </p:spPr>
        <p:txBody>
          <a:bodyPr wrap="square" anchor="t" lIns="0" rIns="0" tIns="0" bIns="0">
            <a:noAutofit/>
          </a:bodyPr>
          <a:lstStyle/>
          <a:p>
            <a:pPr algn="ctr">
              <a:lnSpc>
                <a:spcPct val="100000"/>
              </a:lnSpc>
              <a:spcBef>
                <a:spcPts val="0"/>
              </a:spcBef>
              <a:spcAft>
                <a:spcPts val="0"/>
              </a:spcAft>
            </a:pPr>
            <a:r>
              <a:rPr sz="30000" b="0" i="0">
                <a:solidFill>
                  <a:srgbClr val="F2D27A"/>
                </a:solidFill>
                <a:latin typeface="Arial Black"/>
              </a:rPr>
              <a:t>?</a:t>
            </a:r>
          </a:p>
        </p:txBody>
      </p:sp>
      <p:sp>
        <p:nvSpPr>
          <p:cNvPr id="22" name="TextBox 21"/>
          <p:cNvSpPr txBox="1"/>
          <p:nvPr/>
        </p:nvSpPr>
        <p:spPr>
          <a:xfrm>
            <a:off x="685800" y="109728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56606E"/>
                </a:solidFill>
                <a:latin typeface="Arial Narrow"/>
              </a:rPr>
              <a:t>GET READY!  ·  TASK 1</a:t>
            </a:r>
          </a:p>
        </p:txBody>
      </p:sp>
      <p:sp>
        <p:nvSpPr>
          <p:cNvPr id="23" name="TextBox 22"/>
          <p:cNvSpPr txBox="1"/>
          <p:nvPr/>
        </p:nvSpPr>
        <p:spPr>
          <a:xfrm>
            <a:off x="685800" y="1463040"/>
            <a:ext cx="8229600" cy="2286000"/>
          </a:xfrm>
          <a:prstGeom prst="rect">
            <a:avLst/>
          </a:prstGeom>
          <a:noFill/>
        </p:spPr>
        <p:txBody>
          <a:bodyPr wrap="square" anchor="t" lIns="0" rIns="0" tIns="0" bIns="0">
            <a:noAutofit/>
          </a:bodyPr>
          <a:lstStyle/>
          <a:p>
            <a:pPr algn="l">
              <a:lnSpc>
                <a:spcPct val="102000"/>
              </a:lnSpc>
              <a:spcBef>
                <a:spcPts val="0"/>
              </a:spcBef>
              <a:spcAft>
                <a:spcPts val="0"/>
              </a:spcAft>
            </a:pPr>
            <a:r>
              <a:rPr sz="5200" b="0" i="0">
                <a:solidFill>
                  <a:srgbClr val="12161C"/>
                </a:solidFill>
                <a:latin typeface="Arial Black"/>
              </a:rPr>
              <a:t>WHAT TYPES OF</a:t>
            </a:r>
          </a:p>
          <a:p>
            <a:pPr algn="l">
              <a:lnSpc>
                <a:spcPct val="102000"/>
              </a:lnSpc>
              <a:spcBef>
                <a:spcPts val="0"/>
              </a:spcBef>
              <a:spcAft>
                <a:spcPts val="0"/>
              </a:spcAft>
            </a:pPr>
            <a:r>
              <a:rPr sz="5200" b="0" i="0">
                <a:solidFill>
                  <a:srgbClr val="12161C"/>
                </a:solidFill>
                <a:latin typeface="Arial Black"/>
              </a:rPr>
              <a:t>ENERGY ARE THERE?</a:t>
            </a:r>
          </a:p>
        </p:txBody>
      </p:sp>
      <p:sp>
        <p:nvSpPr>
          <p:cNvPr id="24" name="TextBox 23"/>
          <p:cNvSpPr txBox="1"/>
          <p:nvPr/>
        </p:nvSpPr>
        <p:spPr>
          <a:xfrm>
            <a:off x="713232" y="3822192"/>
            <a:ext cx="7589520" cy="320040"/>
          </a:xfrm>
          <a:prstGeom prst="rect">
            <a:avLst/>
          </a:prstGeom>
          <a:noFill/>
        </p:spPr>
        <p:txBody>
          <a:bodyPr wrap="square" anchor="t" lIns="0" rIns="0" tIns="0" bIns="0">
            <a:noAutofit/>
          </a:bodyPr>
          <a:lstStyle/>
          <a:p>
            <a:pPr algn="l">
              <a:lnSpc>
                <a:spcPct val="100000"/>
              </a:lnSpc>
              <a:spcBef>
                <a:spcPts val="0"/>
              </a:spcBef>
              <a:spcAft>
                <a:spcPts val="0"/>
              </a:spcAft>
            </a:pPr>
            <a:r>
              <a:rPr sz="1400" b="1" i="0" spc="150">
                <a:solidFill>
                  <a:srgbClr val="9C5A00"/>
                </a:solidFill>
                <a:latin typeface="Arial Narrow"/>
              </a:rPr>
              <a:t>ALSO KEEP THIS IN MIND — WE ANSWER IT LATER:</a:t>
            </a:r>
          </a:p>
        </p:txBody>
      </p:sp>
      <p:sp>
        <p:nvSpPr>
          <p:cNvPr id="25" name="TextBox 24"/>
          <p:cNvSpPr txBox="1"/>
          <p:nvPr/>
        </p:nvSpPr>
        <p:spPr>
          <a:xfrm>
            <a:off x="685800" y="4114800"/>
            <a:ext cx="7589520" cy="502920"/>
          </a:xfrm>
          <a:prstGeom prst="rect">
            <a:avLst/>
          </a:prstGeom>
          <a:noFill/>
        </p:spPr>
        <p:txBody>
          <a:bodyPr wrap="square" anchor="t" lIns="0" rIns="0" tIns="0" bIns="0">
            <a:noAutofit/>
          </a:bodyPr>
          <a:lstStyle/>
          <a:p>
            <a:pPr algn="l">
              <a:lnSpc>
                <a:spcPct val="100000"/>
              </a:lnSpc>
              <a:spcBef>
                <a:spcPts val="0"/>
              </a:spcBef>
              <a:spcAft>
                <a:spcPts val="0"/>
              </a:spcAft>
            </a:pPr>
            <a:r>
              <a:rPr sz="2300" b="1" i="0">
                <a:solidFill>
                  <a:srgbClr val="12161C"/>
                </a:solidFill>
                <a:latin typeface="Arial"/>
              </a:rPr>
              <a:t>Question 2: How do engineers make cars safer?</a:t>
            </a:r>
          </a:p>
        </p:txBody>
      </p:sp>
      <p:sp>
        <p:nvSpPr>
          <p:cNvPr id="26" name="Rounded Rectangle 25"/>
          <p:cNvSpPr/>
          <p:nvPr/>
        </p:nvSpPr>
        <p:spPr>
          <a:xfrm>
            <a:off x="685800" y="4892040"/>
            <a:ext cx="7406640" cy="685800"/>
          </a:xfrm>
          <a:prstGeom prst="roundRect">
            <a:avLst>
              <a:gd name="adj" fmla="val 38461"/>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2200" b="1" i="0">
                <a:solidFill>
                  <a:srgbClr val="12161C"/>
                </a:solidFill>
                <a:latin typeface="Arial"/>
              </a:rPr>
              <a:t>TALK TO YOUR NEIGHBOUR · 30 SECONDS</a:t>
            </a:r>
          </a:p>
        </p:txBody>
      </p:sp>
      <p:sp>
        <p:nvSpPr>
          <p:cNvPr id="27" name="Rounded Rectangle 26"/>
          <p:cNvSpPr/>
          <p:nvPr/>
        </p:nvSpPr>
        <p:spPr>
          <a:xfrm>
            <a:off x="685800" y="5806440"/>
            <a:ext cx="4236934" cy="274320"/>
          </a:xfrm>
          <a:prstGeom prst="roundRect">
            <a:avLst>
              <a:gd name="adj" fmla="val 50000"/>
            </a:avLst>
          </a:prstGeom>
          <a:noFill/>
          <a:ln w="19050">
            <a:solidFill>
              <a:srgbClr val="0B6A96"/>
            </a:solidFill>
          </a:ln>
        </p:spPr>
        <p:txBody>
          <a:bodyPr rtlCol="0" anchor="ctr" wrap="square" lIns="0" rIns="0" tIns="0" bIns="0">
            <a:noAutofit/>
          </a:bodyPr>
          <a:lstStyle/>
          <a:p>
            <a:pPr algn="ctr">
              <a:lnSpc>
                <a:spcPct val="100000"/>
              </a:lnSpc>
              <a:spcBef>
                <a:spcPts val="0"/>
              </a:spcBef>
              <a:spcAft>
                <a:spcPts val="0"/>
              </a:spcAft>
            </a:pPr>
            <a:r>
              <a:rPr sz="1300" b="1" i="0" spc="200">
                <a:solidFill>
                  <a:srgbClr val="0B6A96"/>
                </a:solidFill>
                <a:latin typeface="Arial Narrow"/>
              </a:rPr>
              <a:t>TEXTBOOK · GET READY · QUESTIONS 1 &amp; 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12161C"/>
                </a:solidFill>
                <a:latin typeface="Arial Narrow"/>
              </a:rPr>
              <a:t>ACT 1 · ENERGY</a:t>
            </a:r>
          </a:p>
        </p:txBody>
      </p:sp>
      <p:sp>
        <p:nvSpPr>
          <p:cNvPr id="4" name="TextBox 3"/>
          <p:cNvSpPr txBox="1"/>
          <p:nvPr/>
        </p:nvSpPr>
        <p:spPr>
          <a:xfrm>
            <a:off x="7315200" y="310896"/>
            <a:ext cx="4187952" cy="274320"/>
          </a:xfrm>
          <a:prstGeom prst="rect">
            <a:avLst/>
          </a:prstGeom>
          <a:noFill/>
        </p:spPr>
        <p:txBody>
          <a:bodyPr wrap="square" anchor="t" lIns="0" rIns="0" tIns="0" bIns="0">
            <a:noAutofit/>
          </a:bodyPr>
          <a:lstStyle/>
          <a:p>
            <a:pPr algn="r">
              <a:lnSpc>
                <a:spcPct val="100000"/>
              </a:lnSpc>
              <a:spcBef>
                <a:spcPts val="0"/>
              </a:spcBef>
              <a:spcAft>
                <a:spcPts val="0"/>
              </a:spcAft>
            </a:pPr>
            <a:r>
              <a:rPr sz="1300" b="1" i="0" spc="220">
                <a:solidFill>
                  <a:srgbClr val="8A93A0"/>
                </a:solidFill>
                <a:latin typeface="Arial Narrow"/>
              </a:rPr>
              <a:t>ENERGY ENGINEER</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8A93A0"/>
                </a:solidFill>
                <a:latin typeface="Arial Narrow"/>
              </a:rPr>
              <a:t>ENERGY LAB  ·  CRASH TEST #05</a:t>
            </a:r>
          </a:p>
        </p:txBody>
      </p:sp>
      <p:sp>
        <p:nvSpPr>
          <p:cNvPr id="6" name="Rectangle 5"/>
          <p:cNvSpPr/>
          <p:nvPr/>
        </p:nvSpPr>
        <p:spPr>
          <a:xfrm>
            <a:off x="4526280" y="6510528"/>
            <a:ext cx="127363" cy="54864"/>
          </a:xfrm>
          <a:prstGeom prst="rect">
            <a:avLst/>
          </a:prstGeom>
          <a:solidFill>
            <a:srgbClr val="D9B55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FFB400"/>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D5D0C4"/>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D5D0C4"/>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D5D0C4"/>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D5D0C4"/>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D5D0C4"/>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D5D0C4"/>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D5D0C4"/>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D5D0C4"/>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D5D0C4"/>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D5D0C4"/>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D5D0C4"/>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D5D0C4"/>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8A93A0"/>
                </a:solidFill>
                <a:latin typeface="Arial Narrow"/>
              </a:rPr>
              <a:t>7</a:t>
            </a:fld>
          </a:p>
        </p:txBody>
      </p:sp>
      <p:sp>
        <p:nvSpPr>
          <p:cNvPr id="21" name="TextBox 20"/>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56606E"/>
                </a:solidFill>
                <a:latin typeface="Arial Narrow"/>
              </a:rPr>
              <a:t>TYPE 1 OF 2</a:t>
            </a:r>
          </a:p>
        </p:txBody>
      </p:sp>
      <p:sp>
        <p:nvSpPr>
          <p:cNvPr id="22" name="TextBox 21"/>
          <p:cNvSpPr txBox="1"/>
          <p:nvPr/>
        </p:nvSpPr>
        <p:spPr>
          <a:xfrm>
            <a:off x="685800" y="1234440"/>
            <a:ext cx="5486400" cy="914400"/>
          </a:xfrm>
          <a:prstGeom prst="rect">
            <a:avLst/>
          </a:prstGeom>
          <a:noFill/>
        </p:spPr>
        <p:txBody>
          <a:bodyPr wrap="square" anchor="t" lIns="0" rIns="0" tIns="0" bIns="0">
            <a:noAutofit/>
          </a:bodyPr>
          <a:lstStyle/>
          <a:p>
            <a:pPr algn="l">
              <a:lnSpc>
                <a:spcPct val="100000"/>
              </a:lnSpc>
              <a:spcBef>
                <a:spcPts val="0"/>
              </a:spcBef>
              <a:spcAft>
                <a:spcPts val="0"/>
              </a:spcAft>
            </a:pPr>
            <a:r>
              <a:rPr sz="5800" b="0" i="0">
                <a:solidFill>
                  <a:srgbClr val="12161C"/>
                </a:solidFill>
                <a:latin typeface="Arial Black"/>
              </a:rPr>
              <a:t>POTENTIAL</a:t>
            </a:r>
          </a:p>
        </p:txBody>
      </p:sp>
      <p:sp>
        <p:nvSpPr>
          <p:cNvPr id="23" name="TextBox 22"/>
          <p:cNvSpPr txBox="1"/>
          <p:nvPr/>
        </p:nvSpPr>
        <p:spPr>
          <a:xfrm>
            <a:off x="713232" y="2194560"/>
            <a:ext cx="5029200" cy="548640"/>
          </a:xfrm>
          <a:prstGeom prst="rect">
            <a:avLst/>
          </a:prstGeom>
          <a:noFill/>
        </p:spPr>
        <p:txBody>
          <a:bodyPr wrap="square" anchor="t" lIns="0" rIns="0" tIns="0" bIns="0">
            <a:noAutofit/>
          </a:bodyPr>
          <a:lstStyle/>
          <a:p>
            <a:pPr algn="l">
              <a:lnSpc>
                <a:spcPct val="100000"/>
              </a:lnSpc>
              <a:spcBef>
                <a:spcPts val="0"/>
              </a:spcBef>
              <a:spcAft>
                <a:spcPts val="0"/>
              </a:spcAft>
            </a:pPr>
            <a:r>
              <a:rPr sz="3000" b="1" i="0" spc="500">
                <a:solidFill>
                  <a:srgbClr val="56606E"/>
                </a:solidFill>
                <a:latin typeface="Arial Narrow"/>
              </a:rPr>
              <a:t>ENERGY</a:t>
            </a:r>
          </a:p>
        </p:txBody>
      </p:sp>
      <p:sp>
        <p:nvSpPr>
          <p:cNvPr id="24" name="Rounded Rectangle 23"/>
          <p:cNvSpPr/>
          <p:nvPr/>
        </p:nvSpPr>
        <p:spPr>
          <a:xfrm>
            <a:off x="685800" y="3063240"/>
            <a:ext cx="2377440" cy="658368"/>
          </a:xfrm>
          <a:prstGeom prst="roundRect">
            <a:avLst>
              <a:gd name="adj" fmla="val 38461"/>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2600" b="1" i="0">
                <a:solidFill>
                  <a:srgbClr val="12161C"/>
                </a:solidFill>
                <a:latin typeface="Arial"/>
              </a:rPr>
              <a:t>STORED</a:t>
            </a:r>
          </a:p>
        </p:txBody>
      </p:sp>
      <p:sp>
        <p:nvSpPr>
          <p:cNvPr id="25" name="Rounded Rectangle 24"/>
          <p:cNvSpPr/>
          <p:nvPr/>
        </p:nvSpPr>
        <p:spPr>
          <a:xfrm>
            <a:off x="3246120" y="3063240"/>
            <a:ext cx="2377440" cy="658368"/>
          </a:xfrm>
          <a:prstGeom prst="roundRect">
            <a:avLst>
              <a:gd name="adj" fmla="val 38461"/>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2600" b="1" i="0">
                <a:solidFill>
                  <a:srgbClr val="12161C"/>
                </a:solidFill>
                <a:latin typeface="Arial"/>
              </a:rPr>
              <a:t>POSITION</a:t>
            </a:r>
          </a:p>
        </p:txBody>
      </p:sp>
      <p:sp>
        <p:nvSpPr>
          <p:cNvPr id="26" name="Rectangle 25"/>
          <p:cNvSpPr/>
          <p:nvPr/>
        </p:nvSpPr>
        <p:spPr>
          <a:xfrm>
            <a:off x="685800" y="4206240"/>
            <a:ext cx="64008" cy="1051560"/>
          </a:xfrm>
          <a:prstGeom prst="rect">
            <a:avLst/>
          </a:prstGeom>
          <a:solidFill>
            <a:srgbClr val="FFB400"/>
          </a:solidFill>
          <a:ln>
            <a:noFill/>
          </a:ln>
        </p:spPr>
        <p:txBody>
          <a:bodyPr rtlCol="0" anchor="ctr"/>
          <a:lstStyle/>
          <a:p>
            <a:pPr algn="ctr"/>
          </a:p>
        </p:txBody>
      </p:sp>
      <p:sp>
        <p:nvSpPr>
          <p:cNvPr id="27" name="TextBox 26"/>
          <p:cNvSpPr txBox="1"/>
          <p:nvPr/>
        </p:nvSpPr>
        <p:spPr>
          <a:xfrm>
            <a:off x="941832" y="4206240"/>
            <a:ext cx="4864608" cy="1051560"/>
          </a:xfrm>
          <a:prstGeom prst="rect">
            <a:avLst/>
          </a:prstGeom>
          <a:noFill/>
        </p:spPr>
        <p:txBody>
          <a:bodyPr wrap="square" anchor="ctr" lIns="0" rIns="0" tIns="0" bIns="0">
            <a:noAutofit/>
          </a:bodyPr>
          <a:lstStyle/>
          <a:p>
            <a:pPr algn="l">
              <a:lnSpc>
                <a:spcPct val="100000"/>
              </a:lnSpc>
              <a:spcBef>
                <a:spcPts val="0"/>
              </a:spcBef>
              <a:spcAft>
                <a:spcPts val="0"/>
              </a:spcAft>
            </a:pPr>
            <a:r>
              <a:rPr sz="2800" b="0" i="0">
                <a:solidFill>
                  <a:srgbClr val="12161C"/>
                </a:solidFill>
                <a:latin typeface="Arial"/>
              </a:rPr>
              <a:t>A still object has </a:t>
            </a:r>
            <a:r>
              <a:rPr sz="2800" b="1" i="0">
                <a:solidFill>
                  <a:srgbClr val="9C5A00"/>
                </a:solidFill>
                <a:latin typeface="Arial"/>
              </a:rPr>
              <a:t>potential energy</a:t>
            </a:r>
            <a:r>
              <a:rPr sz="2800" b="0" i="0">
                <a:solidFill>
                  <a:srgbClr val="12161C"/>
                </a:solidFill>
                <a:latin typeface="Arial"/>
              </a:rPr>
              <a:t>.</a:t>
            </a:r>
          </a:p>
        </p:txBody>
      </p:sp>
      <p:sp>
        <p:nvSpPr>
          <p:cNvPr id="28" name="Rounded Rectangle 27"/>
          <p:cNvSpPr/>
          <p:nvPr/>
        </p:nvSpPr>
        <p:spPr>
          <a:xfrm>
            <a:off x="685800" y="5440680"/>
            <a:ext cx="2114645" cy="274320"/>
          </a:xfrm>
          <a:prstGeom prst="roundRect">
            <a:avLst>
              <a:gd name="adj" fmla="val 50000"/>
            </a:avLst>
          </a:prstGeom>
          <a:noFill/>
          <a:ln w="19050">
            <a:solidFill>
              <a:srgbClr val="0B6A96"/>
            </a:solidFill>
          </a:ln>
        </p:spPr>
        <p:txBody>
          <a:bodyPr rtlCol="0" anchor="ctr" wrap="square" lIns="0" rIns="0" tIns="0" bIns="0">
            <a:noAutofit/>
          </a:bodyPr>
          <a:lstStyle/>
          <a:p>
            <a:pPr algn="ctr">
              <a:lnSpc>
                <a:spcPct val="100000"/>
              </a:lnSpc>
              <a:spcBef>
                <a:spcPts val="0"/>
              </a:spcBef>
              <a:spcAft>
                <a:spcPts val="0"/>
              </a:spcAft>
            </a:pPr>
            <a:r>
              <a:rPr sz="1300" b="1" i="0" spc="200">
                <a:solidFill>
                  <a:srgbClr val="0B6A96"/>
                </a:solidFill>
                <a:latin typeface="Arial Narrow"/>
              </a:rPr>
              <a:t>TEXTBOOK · TASK 3</a:t>
            </a:r>
          </a:p>
        </p:txBody>
      </p:sp>
      <p:sp>
        <p:nvSpPr>
          <p:cNvPr id="29" name="Rounded Rectangle 28"/>
          <p:cNvSpPr/>
          <p:nvPr/>
        </p:nvSpPr>
        <p:spPr>
          <a:xfrm>
            <a:off x="6172200" y="914400"/>
            <a:ext cx="5330952" cy="5029200"/>
          </a:xfrm>
          <a:prstGeom prst="roundRect">
            <a:avLst>
              <a:gd name="adj" fmla="val 2545"/>
            </a:avLst>
          </a:prstGeom>
          <a:solidFill>
            <a:srgbClr val="FFFFFF"/>
          </a:solidFill>
          <a:ln w="19050">
            <a:solidFill>
              <a:srgbClr val="CFC9BC"/>
            </a:solidFill>
          </a:ln>
        </p:spPr>
        <p:txBody>
          <a:bodyPr rtlCol="0" anchor="ctr"/>
          <a:lstStyle/>
          <a:p>
            <a:pPr algn="ctr"/>
          </a:p>
        </p:txBody>
      </p:sp>
      <p:cxnSp>
        <p:nvCxnSpPr>
          <p:cNvPr id="30" name="Connector 29"/>
          <p:cNvCxnSpPr/>
          <p:nvPr/>
        </p:nvCxnSpPr>
        <p:spPr>
          <a:xfrm>
            <a:off x="6553688" y="5387645"/>
            <a:ext cx="4567976" cy="0"/>
          </a:xfrm>
          <a:prstGeom prst="line">
            <a:avLst/>
          </a:prstGeom>
          <a:ln w="44450" cap="rnd">
            <a:solidFill>
              <a:srgbClr val="8A93A0"/>
            </a:solidFill>
            <a:round/>
          </a:ln>
        </p:spPr>
      </p:cxnSp>
      <p:sp>
        <p:nvSpPr>
          <p:cNvPr id="31" name="Rectangle 30"/>
          <p:cNvSpPr/>
          <p:nvPr/>
        </p:nvSpPr>
        <p:spPr>
          <a:xfrm>
            <a:off x="7646030" y="3055925"/>
            <a:ext cx="2085381" cy="233172"/>
          </a:xfrm>
          <a:prstGeom prst="rect">
            <a:avLst/>
          </a:prstGeom>
          <a:solidFill>
            <a:srgbClr val="56606E"/>
          </a:solidFill>
          <a:ln>
            <a:noFill/>
          </a:ln>
        </p:spPr>
        <p:txBody>
          <a:bodyPr rtlCol="0" anchor="ctr"/>
          <a:lstStyle/>
          <a:p>
            <a:pPr algn="ctr"/>
          </a:p>
        </p:txBody>
      </p:sp>
      <p:sp>
        <p:nvSpPr>
          <p:cNvPr id="32" name="Rectangle 31"/>
          <p:cNvSpPr/>
          <p:nvPr/>
        </p:nvSpPr>
        <p:spPr>
          <a:xfrm>
            <a:off x="7794986" y="3289097"/>
            <a:ext cx="148956" cy="2098548"/>
          </a:xfrm>
          <a:prstGeom prst="rect">
            <a:avLst/>
          </a:prstGeom>
          <a:solidFill>
            <a:srgbClr val="56606E"/>
          </a:solidFill>
          <a:ln>
            <a:noFill/>
          </a:ln>
        </p:spPr>
        <p:txBody>
          <a:bodyPr rtlCol="0" anchor="ctr"/>
          <a:lstStyle/>
          <a:p>
            <a:pPr algn="ctr"/>
          </a:p>
        </p:txBody>
      </p:sp>
      <p:sp>
        <p:nvSpPr>
          <p:cNvPr id="33" name="Rectangle 32"/>
          <p:cNvSpPr/>
          <p:nvPr/>
        </p:nvSpPr>
        <p:spPr>
          <a:xfrm>
            <a:off x="9483151" y="3289097"/>
            <a:ext cx="148956" cy="2098548"/>
          </a:xfrm>
          <a:prstGeom prst="rect">
            <a:avLst/>
          </a:prstGeom>
          <a:solidFill>
            <a:srgbClr val="56606E"/>
          </a:solidFill>
          <a:ln>
            <a:noFill/>
          </a:ln>
        </p:spPr>
        <p:txBody>
          <a:bodyPr rtlCol="0" anchor="ctr"/>
          <a:lstStyle/>
          <a:p>
            <a:pPr algn="ctr"/>
          </a:p>
        </p:txBody>
      </p:sp>
      <p:sp>
        <p:nvSpPr>
          <p:cNvPr id="34" name="Oval 33"/>
          <p:cNvSpPr/>
          <p:nvPr/>
        </p:nvSpPr>
        <p:spPr>
          <a:xfrm>
            <a:off x="8082473" y="1843430"/>
            <a:ext cx="1212494" cy="1212494"/>
          </a:xfrm>
          <a:prstGeom prst="ellipse">
            <a:avLst/>
          </a:prstGeom>
          <a:solidFill>
            <a:srgbClr val="FFFFFF"/>
          </a:solidFill>
          <a:ln w="25260">
            <a:solidFill>
              <a:srgbClr val="12161C"/>
            </a:solidFill>
          </a:ln>
        </p:spPr>
        <p:txBody>
          <a:bodyPr rtlCol="0" anchor="ctr"/>
          <a:lstStyle/>
          <a:p>
            <a:pPr algn="ctr"/>
          </a:p>
        </p:txBody>
      </p:sp>
      <p:sp>
        <p:nvSpPr>
          <p:cNvPr id="35" name="Freeform 34"/>
          <p:cNvSpPr/>
          <p:nvPr/>
        </p:nvSpPr>
        <p:spPr>
          <a:xfrm>
            <a:off x="8255578" y="2094994"/>
            <a:ext cx="111737" cy="700473"/>
          </a:xfrm>
          <a:custGeom>
            <a:avLst/>
            <a:gdLst/>
            <a:ahLst/>
            <a:cxnLst/>
            <a:rect l="l" t="t" r="r" b="b"/>
            <a:pathLst>
              <a:path w="111737" h="700473">
                <a:moveTo>
                  <a:pt x="0" y="0"/>
                </a:moveTo>
                <a:lnTo>
                  <a:pt x="17868" y="26996"/>
                </a:lnTo>
                <a:lnTo>
                  <a:pt x="34300" y="54891"/>
                </a:lnTo>
                <a:lnTo>
                  <a:pt x="49248" y="83607"/>
                </a:lnTo>
                <a:lnTo>
                  <a:pt x="62674" y="113066"/>
                </a:lnTo>
                <a:lnTo>
                  <a:pt x="74539" y="143188"/>
                </a:lnTo>
                <a:lnTo>
                  <a:pt x="84811" y="173889"/>
                </a:lnTo>
                <a:lnTo>
                  <a:pt x="93463" y="205086"/>
                </a:lnTo>
                <a:lnTo>
                  <a:pt x="100470" y="236693"/>
                </a:lnTo>
                <a:lnTo>
                  <a:pt x="105813" y="268623"/>
                </a:lnTo>
                <a:lnTo>
                  <a:pt x="109478" y="300789"/>
                </a:lnTo>
                <a:lnTo>
                  <a:pt x="111455" y="333103"/>
                </a:lnTo>
                <a:lnTo>
                  <a:pt x="111737" y="365476"/>
                </a:lnTo>
                <a:lnTo>
                  <a:pt x="110325" y="397819"/>
                </a:lnTo>
                <a:lnTo>
                  <a:pt x="107222" y="430044"/>
                </a:lnTo>
                <a:lnTo>
                  <a:pt x="102437" y="462063"/>
                </a:lnTo>
                <a:lnTo>
                  <a:pt x="95982" y="493787"/>
                </a:lnTo>
                <a:lnTo>
                  <a:pt x="87877" y="525130"/>
                </a:lnTo>
                <a:lnTo>
                  <a:pt x="78141" y="556006"/>
                </a:lnTo>
                <a:lnTo>
                  <a:pt x="66804" y="586330"/>
                </a:lnTo>
                <a:lnTo>
                  <a:pt x="53895" y="616019"/>
                </a:lnTo>
                <a:lnTo>
                  <a:pt x="39449" y="644992"/>
                </a:lnTo>
                <a:lnTo>
                  <a:pt x="23507" y="673169"/>
                </a:lnTo>
                <a:lnTo>
                  <a:pt x="6113" y="700473"/>
                </a:lnTo>
              </a:path>
            </a:pathLst>
          </a:custGeom>
          <a:noFill/>
          <a:ln w="26944" cap="rnd">
            <a:solidFill>
              <a:srgbClr val="C8323A"/>
            </a:solidFill>
            <a:round/>
          </a:ln>
        </p:spPr>
        <p:txBody>
          <a:bodyPr rtlCol="0" anchor="ctr"/>
          <a:lstStyle/>
          <a:p>
            <a:pPr algn="ctr"/>
          </a:p>
        </p:txBody>
      </p:sp>
      <p:sp>
        <p:nvSpPr>
          <p:cNvPr id="36" name="Freeform 35"/>
          <p:cNvSpPr/>
          <p:nvPr/>
        </p:nvSpPr>
        <p:spPr>
          <a:xfrm>
            <a:off x="9010125" y="2094994"/>
            <a:ext cx="111738" cy="700473"/>
          </a:xfrm>
          <a:custGeom>
            <a:avLst/>
            <a:gdLst/>
            <a:ahLst/>
            <a:cxnLst/>
            <a:rect l="l" t="t" r="r" b="b"/>
            <a:pathLst>
              <a:path w="111738" h="700473">
                <a:moveTo>
                  <a:pt x="111738" y="0"/>
                </a:moveTo>
                <a:lnTo>
                  <a:pt x="93869" y="26996"/>
                </a:lnTo>
                <a:lnTo>
                  <a:pt x="77438" y="54891"/>
                </a:lnTo>
                <a:lnTo>
                  <a:pt x="62489" y="83607"/>
                </a:lnTo>
                <a:lnTo>
                  <a:pt x="49064" y="113066"/>
                </a:lnTo>
                <a:lnTo>
                  <a:pt x="37199" y="143188"/>
                </a:lnTo>
                <a:lnTo>
                  <a:pt x="26926" y="173889"/>
                </a:lnTo>
                <a:lnTo>
                  <a:pt x="18275" y="205086"/>
                </a:lnTo>
                <a:lnTo>
                  <a:pt x="11267" y="236693"/>
                </a:lnTo>
                <a:lnTo>
                  <a:pt x="5924" y="268623"/>
                </a:lnTo>
                <a:lnTo>
                  <a:pt x="2259" y="300789"/>
                </a:lnTo>
                <a:lnTo>
                  <a:pt x="283" y="333103"/>
                </a:lnTo>
                <a:lnTo>
                  <a:pt x="0" y="365476"/>
                </a:lnTo>
                <a:lnTo>
                  <a:pt x="1413" y="397819"/>
                </a:lnTo>
                <a:lnTo>
                  <a:pt x="4516" y="430044"/>
                </a:lnTo>
                <a:lnTo>
                  <a:pt x="9301" y="462063"/>
                </a:lnTo>
                <a:lnTo>
                  <a:pt x="15755" y="493787"/>
                </a:lnTo>
                <a:lnTo>
                  <a:pt x="23861" y="525130"/>
                </a:lnTo>
                <a:lnTo>
                  <a:pt x="33596" y="556006"/>
                </a:lnTo>
                <a:lnTo>
                  <a:pt x="44934" y="586330"/>
                </a:lnTo>
                <a:lnTo>
                  <a:pt x="57843" y="616019"/>
                </a:lnTo>
                <a:lnTo>
                  <a:pt x="72288" y="644992"/>
                </a:lnTo>
                <a:lnTo>
                  <a:pt x="88230" y="673169"/>
                </a:lnTo>
                <a:lnTo>
                  <a:pt x="105625" y="700473"/>
                </a:lnTo>
              </a:path>
            </a:pathLst>
          </a:custGeom>
          <a:noFill/>
          <a:ln w="26944" cap="rnd">
            <a:solidFill>
              <a:srgbClr val="C8323A"/>
            </a:solidFill>
            <a:round/>
          </a:ln>
        </p:spPr>
        <p:txBody>
          <a:bodyPr rtlCol="0" anchor="ctr"/>
          <a:lstStyle/>
          <a:p>
            <a:pPr algn="ctr"/>
          </a:p>
        </p:txBody>
      </p:sp>
      <p:cxnSp>
        <p:nvCxnSpPr>
          <p:cNvPr id="37" name="Connector 36"/>
          <p:cNvCxnSpPr/>
          <p:nvPr/>
        </p:nvCxnSpPr>
        <p:spPr>
          <a:xfrm>
            <a:off x="10327234" y="3055925"/>
            <a:ext cx="0" cy="2331720"/>
          </a:xfrm>
          <a:prstGeom prst="line">
            <a:avLst/>
          </a:prstGeom>
          <a:ln w="38100">
            <a:solidFill>
              <a:srgbClr val="FFB400"/>
            </a:solidFill>
            <a:prstDash val="dash"/>
            <a:headEnd type="triangle" w="med" len="med"/>
            <a:tailEnd type="triangle" w="med" len="med"/>
          </a:ln>
        </p:spPr>
      </p:cxnSp>
      <p:sp>
        <p:nvSpPr>
          <p:cNvPr id="38" name="TextBox 37"/>
          <p:cNvSpPr txBox="1"/>
          <p:nvPr/>
        </p:nvSpPr>
        <p:spPr>
          <a:xfrm>
            <a:off x="10327234" y="3895344"/>
            <a:ext cx="1489558" cy="548640"/>
          </a:xfrm>
          <a:prstGeom prst="rect">
            <a:avLst/>
          </a:prstGeom>
          <a:noFill/>
        </p:spPr>
        <p:txBody>
          <a:bodyPr wrap="square" anchor="t" lIns="0" rIns="0" tIns="0" bIns="0">
            <a:noAutofit/>
          </a:bodyPr>
          <a:lstStyle/>
          <a:p>
            <a:pPr algn="ctr">
              <a:lnSpc>
                <a:spcPct val="100000"/>
              </a:lnSpc>
              <a:spcBef>
                <a:spcPts val="0"/>
              </a:spcBef>
              <a:spcAft>
                <a:spcPts val="0"/>
              </a:spcAft>
            </a:pPr>
            <a:r>
              <a:rPr sz="1500" b="1" i="0" spc="80">
                <a:solidFill>
                  <a:srgbClr val="9C5A00"/>
                </a:solidFill>
                <a:latin typeface="Arial Narrow"/>
              </a:rPr>
              <a:t>HEIGHT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12161C"/>
                </a:solidFill>
                <a:latin typeface="Arial Narrow"/>
              </a:rPr>
              <a:t>ACT 1 · ENERGY</a:t>
            </a:r>
          </a:p>
        </p:txBody>
      </p:sp>
      <p:sp>
        <p:nvSpPr>
          <p:cNvPr id="4" name="TextBox 3"/>
          <p:cNvSpPr txBox="1"/>
          <p:nvPr/>
        </p:nvSpPr>
        <p:spPr>
          <a:xfrm>
            <a:off x="7315200" y="310896"/>
            <a:ext cx="4187952" cy="274320"/>
          </a:xfrm>
          <a:prstGeom prst="rect">
            <a:avLst/>
          </a:prstGeom>
          <a:noFill/>
        </p:spPr>
        <p:txBody>
          <a:bodyPr wrap="square" anchor="t" lIns="0" rIns="0" tIns="0" bIns="0">
            <a:noAutofit/>
          </a:bodyPr>
          <a:lstStyle/>
          <a:p>
            <a:pPr algn="r">
              <a:lnSpc>
                <a:spcPct val="100000"/>
              </a:lnSpc>
              <a:spcBef>
                <a:spcPts val="0"/>
              </a:spcBef>
              <a:spcAft>
                <a:spcPts val="0"/>
              </a:spcAft>
            </a:pPr>
            <a:r>
              <a:rPr sz="1300" b="1" i="0" spc="220">
                <a:solidFill>
                  <a:srgbClr val="8A93A0"/>
                </a:solidFill>
                <a:latin typeface="Arial Narrow"/>
              </a:rPr>
              <a:t>ENERGY ENGINEER</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8A93A0"/>
                </a:solidFill>
                <a:latin typeface="Arial Narrow"/>
              </a:rPr>
              <a:t>ENERGY LAB  ·  CRASH TEST #05</a:t>
            </a:r>
          </a:p>
        </p:txBody>
      </p:sp>
      <p:sp>
        <p:nvSpPr>
          <p:cNvPr id="6" name="Rectangle 5"/>
          <p:cNvSpPr/>
          <p:nvPr/>
        </p:nvSpPr>
        <p:spPr>
          <a:xfrm>
            <a:off x="4526280" y="6510528"/>
            <a:ext cx="127363" cy="54864"/>
          </a:xfrm>
          <a:prstGeom prst="rect">
            <a:avLst/>
          </a:prstGeom>
          <a:solidFill>
            <a:srgbClr val="D9B55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FFB400"/>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D5D0C4"/>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D5D0C4"/>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D5D0C4"/>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D5D0C4"/>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D5D0C4"/>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D5D0C4"/>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D5D0C4"/>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D5D0C4"/>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D5D0C4"/>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D5D0C4"/>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D5D0C4"/>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D5D0C4"/>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8A93A0"/>
                </a:solidFill>
                <a:latin typeface="Arial Narrow"/>
              </a:rPr>
              <a:t>8</a:t>
            </a:fld>
          </a:p>
        </p:txBody>
      </p:sp>
      <p:sp>
        <p:nvSpPr>
          <p:cNvPr id="21" name="TextBox 20"/>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56606E"/>
                </a:solidFill>
                <a:latin typeface="Arial Narrow"/>
              </a:rPr>
              <a:t>TYPE 2 OF 2</a:t>
            </a:r>
          </a:p>
        </p:txBody>
      </p:sp>
      <p:sp>
        <p:nvSpPr>
          <p:cNvPr id="22" name="TextBox 21"/>
          <p:cNvSpPr txBox="1"/>
          <p:nvPr/>
        </p:nvSpPr>
        <p:spPr>
          <a:xfrm>
            <a:off x="685800" y="1234440"/>
            <a:ext cx="5486400" cy="914400"/>
          </a:xfrm>
          <a:prstGeom prst="rect">
            <a:avLst/>
          </a:prstGeom>
          <a:noFill/>
        </p:spPr>
        <p:txBody>
          <a:bodyPr wrap="square" anchor="t" lIns="0" rIns="0" tIns="0" bIns="0">
            <a:noAutofit/>
          </a:bodyPr>
          <a:lstStyle/>
          <a:p>
            <a:pPr algn="l">
              <a:lnSpc>
                <a:spcPct val="100000"/>
              </a:lnSpc>
              <a:spcBef>
                <a:spcPts val="0"/>
              </a:spcBef>
              <a:spcAft>
                <a:spcPts val="0"/>
              </a:spcAft>
            </a:pPr>
            <a:r>
              <a:rPr sz="5800" b="0" i="0">
                <a:solidFill>
                  <a:srgbClr val="12161C"/>
                </a:solidFill>
                <a:latin typeface="Arial Black"/>
              </a:rPr>
              <a:t>KINETIC</a:t>
            </a:r>
          </a:p>
        </p:txBody>
      </p:sp>
      <p:sp>
        <p:nvSpPr>
          <p:cNvPr id="23" name="TextBox 22"/>
          <p:cNvSpPr txBox="1"/>
          <p:nvPr/>
        </p:nvSpPr>
        <p:spPr>
          <a:xfrm>
            <a:off x="713232" y="2194560"/>
            <a:ext cx="5029200" cy="548640"/>
          </a:xfrm>
          <a:prstGeom prst="rect">
            <a:avLst/>
          </a:prstGeom>
          <a:noFill/>
        </p:spPr>
        <p:txBody>
          <a:bodyPr wrap="square" anchor="t" lIns="0" rIns="0" tIns="0" bIns="0">
            <a:noAutofit/>
          </a:bodyPr>
          <a:lstStyle/>
          <a:p>
            <a:pPr algn="l">
              <a:lnSpc>
                <a:spcPct val="100000"/>
              </a:lnSpc>
              <a:spcBef>
                <a:spcPts val="0"/>
              </a:spcBef>
              <a:spcAft>
                <a:spcPts val="0"/>
              </a:spcAft>
            </a:pPr>
            <a:r>
              <a:rPr sz="3000" b="1" i="0" spc="500">
                <a:solidFill>
                  <a:srgbClr val="56606E"/>
                </a:solidFill>
                <a:latin typeface="Arial Narrow"/>
              </a:rPr>
              <a:t>ENERGY</a:t>
            </a:r>
          </a:p>
        </p:txBody>
      </p:sp>
      <p:sp>
        <p:nvSpPr>
          <p:cNvPr id="24" name="Rounded Rectangle 23"/>
          <p:cNvSpPr/>
          <p:nvPr/>
        </p:nvSpPr>
        <p:spPr>
          <a:xfrm>
            <a:off x="685800" y="3063240"/>
            <a:ext cx="2377440" cy="658368"/>
          </a:xfrm>
          <a:prstGeom prst="roundRect">
            <a:avLst>
              <a:gd name="adj" fmla="val 38461"/>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2600" b="1" i="0">
                <a:solidFill>
                  <a:srgbClr val="12161C"/>
                </a:solidFill>
                <a:latin typeface="Arial"/>
              </a:rPr>
              <a:t>MOTION</a:t>
            </a:r>
          </a:p>
        </p:txBody>
      </p:sp>
      <p:sp>
        <p:nvSpPr>
          <p:cNvPr id="25" name="Rounded Rectangle 24"/>
          <p:cNvSpPr/>
          <p:nvPr/>
        </p:nvSpPr>
        <p:spPr>
          <a:xfrm>
            <a:off x="3246120" y="3063240"/>
            <a:ext cx="2377440" cy="658368"/>
          </a:xfrm>
          <a:prstGeom prst="roundRect">
            <a:avLst>
              <a:gd name="adj" fmla="val 38461"/>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2600" b="1" i="0">
                <a:solidFill>
                  <a:srgbClr val="12161C"/>
                </a:solidFill>
                <a:latin typeface="Arial"/>
              </a:rPr>
              <a:t>MOVING</a:t>
            </a:r>
          </a:p>
        </p:txBody>
      </p:sp>
      <p:sp>
        <p:nvSpPr>
          <p:cNvPr id="26" name="Rectangle 25"/>
          <p:cNvSpPr/>
          <p:nvPr/>
        </p:nvSpPr>
        <p:spPr>
          <a:xfrm>
            <a:off x="685800" y="4206240"/>
            <a:ext cx="64008" cy="1051560"/>
          </a:xfrm>
          <a:prstGeom prst="rect">
            <a:avLst/>
          </a:prstGeom>
          <a:solidFill>
            <a:srgbClr val="FFB400"/>
          </a:solidFill>
          <a:ln>
            <a:noFill/>
          </a:ln>
        </p:spPr>
        <p:txBody>
          <a:bodyPr rtlCol="0" anchor="ctr"/>
          <a:lstStyle/>
          <a:p>
            <a:pPr algn="ctr"/>
          </a:p>
        </p:txBody>
      </p:sp>
      <p:sp>
        <p:nvSpPr>
          <p:cNvPr id="27" name="TextBox 26"/>
          <p:cNvSpPr txBox="1"/>
          <p:nvPr/>
        </p:nvSpPr>
        <p:spPr>
          <a:xfrm>
            <a:off x="941832" y="4206240"/>
            <a:ext cx="4864608" cy="1051560"/>
          </a:xfrm>
          <a:prstGeom prst="rect">
            <a:avLst/>
          </a:prstGeom>
          <a:noFill/>
        </p:spPr>
        <p:txBody>
          <a:bodyPr wrap="square" anchor="ctr" lIns="0" rIns="0" tIns="0" bIns="0">
            <a:noAutofit/>
          </a:bodyPr>
          <a:lstStyle/>
          <a:p>
            <a:pPr algn="l">
              <a:lnSpc>
                <a:spcPct val="100000"/>
              </a:lnSpc>
              <a:spcBef>
                <a:spcPts val="0"/>
              </a:spcBef>
              <a:spcAft>
                <a:spcPts val="0"/>
              </a:spcAft>
            </a:pPr>
            <a:r>
              <a:rPr sz="2800" b="0" i="0">
                <a:solidFill>
                  <a:srgbClr val="12161C"/>
                </a:solidFill>
                <a:latin typeface="Arial"/>
              </a:rPr>
              <a:t>A moving object has </a:t>
            </a:r>
            <a:r>
              <a:rPr sz="2800" b="1" i="0">
                <a:solidFill>
                  <a:srgbClr val="9C5A00"/>
                </a:solidFill>
                <a:latin typeface="Arial"/>
              </a:rPr>
              <a:t>kinetic energy</a:t>
            </a:r>
            <a:r>
              <a:rPr sz="2800" b="0" i="0">
                <a:solidFill>
                  <a:srgbClr val="12161C"/>
                </a:solidFill>
                <a:latin typeface="Arial"/>
              </a:rPr>
              <a:t>.</a:t>
            </a:r>
          </a:p>
        </p:txBody>
      </p:sp>
      <p:sp>
        <p:nvSpPr>
          <p:cNvPr id="28" name="Rounded Rectangle 27"/>
          <p:cNvSpPr/>
          <p:nvPr/>
        </p:nvSpPr>
        <p:spPr>
          <a:xfrm>
            <a:off x="685800" y="5440680"/>
            <a:ext cx="2114645" cy="274320"/>
          </a:xfrm>
          <a:prstGeom prst="roundRect">
            <a:avLst>
              <a:gd name="adj" fmla="val 50000"/>
            </a:avLst>
          </a:prstGeom>
          <a:noFill/>
          <a:ln w="19050">
            <a:solidFill>
              <a:srgbClr val="0B6A96"/>
            </a:solidFill>
          </a:ln>
        </p:spPr>
        <p:txBody>
          <a:bodyPr rtlCol="0" anchor="ctr" wrap="square" lIns="0" rIns="0" tIns="0" bIns="0">
            <a:noAutofit/>
          </a:bodyPr>
          <a:lstStyle/>
          <a:p>
            <a:pPr algn="ctr">
              <a:lnSpc>
                <a:spcPct val="100000"/>
              </a:lnSpc>
              <a:spcBef>
                <a:spcPts val="0"/>
              </a:spcBef>
              <a:spcAft>
                <a:spcPts val="0"/>
              </a:spcAft>
            </a:pPr>
            <a:r>
              <a:rPr sz="1300" b="1" i="0" spc="200">
                <a:solidFill>
                  <a:srgbClr val="0B6A96"/>
                </a:solidFill>
                <a:latin typeface="Arial Narrow"/>
              </a:rPr>
              <a:t>TEXTBOOK · TASK 3</a:t>
            </a:r>
          </a:p>
        </p:txBody>
      </p:sp>
      <p:sp>
        <p:nvSpPr>
          <p:cNvPr id="29" name="Rounded Rectangle 28"/>
          <p:cNvSpPr/>
          <p:nvPr/>
        </p:nvSpPr>
        <p:spPr>
          <a:xfrm>
            <a:off x="6172200" y="914400"/>
            <a:ext cx="5330952" cy="5029200"/>
          </a:xfrm>
          <a:prstGeom prst="roundRect">
            <a:avLst>
              <a:gd name="adj" fmla="val 2545"/>
            </a:avLst>
          </a:prstGeom>
          <a:solidFill>
            <a:srgbClr val="FFFFFF"/>
          </a:solidFill>
          <a:ln w="19050">
            <a:solidFill>
              <a:srgbClr val="CFC9BC"/>
            </a:solidFill>
          </a:ln>
        </p:spPr>
        <p:txBody>
          <a:bodyPr rtlCol="0" anchor="ctr"/>
          <a:lstStyle/>
          <a:p>
            <a:pPr algn="ctr"/>
          </a:p>
        </p:txBody>
      </p:sp>
      <p:cxnSp>
        <p:nvCxnSpPr>
          <p:cNvPr id="30" name="Connector 29"/>
          <p:cNvCxnSpPr/>
          <p:nvPr/>
        </p:nvCxnSpPr>
        <p:spPr>
          <a:xfrm>
            <a:off x="6553688" y="4548226"/>
            <a:ext cx="4567976" cy="0"/>
          </a:xfrm>
          <a:prstGeom prst="line">
            <a:avLst/>
          </a:prstGeom>
          <a:ln w="44450" cap="rnd">
            <a:solidFill>
              <a:srgbClr val="8A93A0"/>
            </a:solidFill>
            <a:round/>
          </a:ln>
        </p:spPr>
      </p:cxnSp>
      <p:cxnSp>
        <p:nvCxnSpPr>
          <p:cNvPr id="31" name="Connector 30"/>
          <p:cNvCxnSpPr/>
          <p:nvPr/>
        </p:nvCxnSpPr>
        <p:spPr>
          <a:xfrm>
            <a:off x="7305407" y="3055925"/>
            <a:ext cx="1176750" cy="0"/>
          </a:xfrm>
          <a:prstGeom prst="line">
            <a:avLst/>
          </a:prstGeom>
          <a:ln w="44450" cap="rnd">
            <a:solidFill>
              <a:srgbClr val="FFB400"/>
            </a:solidFill>
            <a:round/>
          </a:ln>
        </p:spPr>
      </p:cxnSp>
      <p:cxnSp>
        <p:nvCxnSpPr>
          <p:cNvPr id="32" name="Connector 31"/>
          <p:cNvCxnSpPr/>
          <p:nvPr/>
        </p:nvCxnSpPr>
        <p:spPr>
          <a:xfrm>
            <a:off x="7096869" y="3522269"/>
            <a:ext cx="1385288" cy="0"/>
          </a:xfrm>
          <a:prstGeom prst="line">
            <a:avLst/>
          </a:prstGeom>
          <a:ln w="44450" cap="rnd">
            <a:solidFill>
              <a:srgbClr val="FFB400"/>
            </a:solidFill>
            <a:round/>
          </a:ln>
        </p:spPr>
      </p:cxnSp>
      <p:cxnSp>
        <p:nvCxnSpPr>
          <p:cNvPr id="33" name="Connector 32"/>
          <p:cNvCxnSpPr/>
          <p:nvPr/>
        </p:nvCxnSpPr>
        <p:spPr>
          <a:xfrm>
            <a:off x="7096869" y="3988613"/>
            <a:ext cx="1385288" cy="0"/>
          </a:xfrm>
          <a:prstGeom prst="line">
            <a:avLst/>
          </a:prstGeom>
          <a:ln w="44450" cap="rnd">
            <a:solidFill>
              <a:srgbClr val="FFB400"/>
            </a:solidFill>
            <a:round/>
          </a:ln>
        </p:spPr>
      </p:cxnSp>
      <p:cxnSp>
        <p:nvCxnSpPr>
          <p:cNvPr id="34" name="Connector 33"/>
          <p:cNvCxnSpPr/>
          <p:nvPr/>
        </p:nvCxnSpPr>
        <p:spPr>
          <a:xfrm>
            <a:off x="7305407" y="4454957"/>
            <a:ext cx="1176750" cy="0"/>
          </a:xfrm>
          <a:prstGeom prst="line">
            <a:avLst/>
          </a:prstGeom>
          <a:ln w="44450" cap="rnd">
            <a:solidFill>
              <a:srgbClr val="FFB400"/>
            </a:solidFill>
            <a:round/>
          </a:ln>
        </p:spPr>
      </p:cxnSp>
      <p:sp>
        <p:nvSpPr>
          <p:cNvPr id="35" name="Oval 34"/>
          <p:cNvSpPr/>
          <p:nvPr/>
        </p:nvSpPr>
        <p:spPr>
          <a:xfrm>
            <a:off x="8640714" y="2962656"/>
            <a:ext cx="1585570" cy="1585570"/>
          </a:xfrm>
          <a:prstGeom prst="ellipse">
            <a:avLst/>
          </a:prstGeom>
          <a:solidFill>
            <a:srgbClr val="FFFFFF"/>
          </a:solidFill>
          <a:ln w="33032">
            <a:solidFill>
              <a:srgbClr val="12161C"/>
            </a:solidFill>
          </a:ln>
        </p:spPr>
        <p:txBody>
          <a:bodyPr rtlCol="0" anchor="ctr"/>
          <a:lstStyle/>
          <a:p>
            <a:pPr algn="ctr"/>
          </a:p>
        </p:txBody>
      </p:sp>
      <p:sp>
        <p:nvSpPr>
          <p:cNvPr id="36" name="Freeform 35"/>
          <p:cNvSpPr/>
          <p:nvPr/>
        </p:nvSpPr>
        <p:spPr>
          <a:xfrm>
            <a:off x="8867082" y="3291624"/>
            <a:ext cx="146118" cy="916003"/>
          </a:xfrm>
          <a:custGeom>
            <a:avLst/>
            <a:gdLst/>
            <a:ahLst/>
            <a:cxnLst/>
            <a:rect l="l" t="t" r="r" b="b"/>
            <a:pathLst>
              <a:path w="146118" h="916003">
                <a:moveTo>
                  <a:pt x="0" y="0"/>
                </a:moveTo>
                <a:lnTo>
                  <a:pt x="23367" y="35303"/>
                </a:lnTo>
                <a:lnTo>
                  <a:pt x="44854" y="71780"/>
                </a:lnTo>
                <a:lnTo>
                  <a:pt x="64402" y="109332"/>
                </a:lnTo>
                <a:lnTo>
                  <a:pt x="81958" y="147856"/>
                </a:lnTo>
                <a:lnTo>
                  <a:pt x="97474" y="187245"/>
                </a:lnTo>
                <a:lnTo>
                  <a:pt x="110907" y="227393"/>
                </a:lnTo>
                <a:lnTo>
                  <a:pt x="122221" y="268189"/>
                </a:lnTo>
                <a:lnTo>
                  <a:pt x="131384" y="309521"/>
                </a:lnTo>
                <a:lnTo>
                  <a:pt x="138371" y="351276"/>
                </a:lnTo>
                <a:lnTo>
                  <a:pt x="143164" y="393339"/>
                </a:lnTo>
                <a:lnTo>
                  <a:pt x="145748" y="435596"/>
                </a:lnTo>
                <a:lnTo>
                  <a:pt x="146118" y="477930"/>
                </a:lnTo>
                <a:lnTo>
                  <a:pt x="144271" y="520225"/>
                </a:lnTo>
                <a:lnTo>
                  <a:pt x="140214" y="562365"/>
                </a:lnTo>
                <a:lnTo>
                  <a:pt x="133956" y="604236"/>
                </a:lnTo>
                <a:lnTo>
                  <a:pt x="125516" y="645721"/>
                </a:lnTo>
                <a:lnTo>
                  <a:pt x="114916" y="686708"/>
                </a:lnTo>
                <a:lnTo>
                  <a:pt x="102185" y="727084"/>
                </a:lnTo>
                <a:lnTo>
                  <a:pt x="87359" y="766739"/>
                </a:lnTo>
                <a:lnTo>
                  <a:pt x="70478" y="805563"/>
                </a:lnTo>
                <a:lnTo>
                  <a:pt x="51588" y="843451"/>
                </a:lnTo>
                <a:lnTo>
                  <a:pt x="30741" y="880297"/>
                </a:lnTo>
                <a:lnTo>
                  <a:pt x="7994" y="916003"/>
                </a:lnTo>
              </a:path>
            </a:pathLst>
          </a:custGeom>
          <a:noFill/>
          <a:ln w="35234" cap="rnd">
            <a:solidFill>
              <a:srgbClr val="C8323A"/>
            </a:solidFill>
            <a:round/>
          </a:ln>
        </p:spPr>
        <p:txBody>
          <a:bodyPr rtlCol="0" anchor="ctr"/>
          <a:lstStyle/>
          <a:p>
            <a:pPr algn="ctr"/>
          </a:p>
        </p:txBody>
      </p:sp>
      <p:sp>
        <p:nvSpPr>
          <p:cNvPr id="37" name="Freeform 36"/>
          <p:cNvSpPr/>
          <p:nvPr/>
        </p:nvSpPr>
        <p:spPr>
          <a:xfrm>
            <a:off x="9853798" y="3291624"/>
            <a:ext cx="146118" cy="916003"/>
          </a:xfrm>
          <a:custGeom>
            <a:avLst/>
            <a:gdLst/>
            <a:ahLst/>
            <a:cxnLst/>
            <a:rect l="l" t="t" r="r" b="b"/>
            <a:pathLst>
              <a:path w="146118" h="916003">
                <a:moveTo>
                  <a:pt x="146118" y="0"/>
                </a:moveTo>
                <a:lnTo>
                  <a:pt x="122751" y="35303"/>
                </a:lnTo>
                <a:lnTo>
                  <a:pt x="101265" y="71780"/>
                </a:lnTo>
                <a:lnTo>
                  <a:pt x="81716" y="109332"/>
                </a:lnTo>
                <a:lnTo>
                  <a:pt x="64160" y="147856"/>
                </a:lnTo>
                <a:lnTo>
                  <a:pt x="48644" y="187245"/>
                </a:lnTo>
                <a:lnTo>
                  <a:pt x="35211" y="227393"/>
                </a:lnTo>
                <a:lnTo>
                  <a:pt x="23897" y="268189"/>
                </a:lnTo>
                <a:lnTo>
                  <a:pt x="14734" y="309521"/>
                </a:lnTo>
                <a:lnTo>
                  <a:pt x="7747" y="351276"/>
                </a:lnTo>
                <a:lnTo>
                  <a:pt x="2954" y="393339"/>
                </a:lnTo>
                <a:lnTo>
                  <a:pt x="370" y="435596"/>
                </a:lnTo>
                <a:lnTo>
                  <a:pt x="0" y="477930"/>
                </a:lnTo>
                <a:lnTo>
                  <a:pt x="1847" y="520225"/>
                </a:lnTo>
                <a:lnTo>
                  <a:pt x="5904" y="562365"/>
                </a:lnTo>
                <a:lnTo>
                  <a:pt x="12162" y="604236"/>
                </a:lnTo>
                <a:lnTo>
                  <a:pt x="20602" y="645721"/>
                </a:lnTo>
                <a:lnTo>
                  <a:pt x="31202" y="686708"/>
                </a:lnTo>
                <a:lnTo>
                  <a:pt x="43933" y="727084"/>
                </a:lnTo>
                <a:lnTo>
                  <a:pt x="58759" y="766739"/>
                </a:lnTo>
                <a:lnTo>
                  <a:pt x="75640" y="805563"/>
                </a:lnTo>
                <a:lnTo>
                  <a:pt x="94530" y="843451"/>
                </a:lnTo>
                <a:lnTo>
                  <a:pt x="115377" y="880297"/>
                </a:lnTo>
                <a:lnTo>
                  <a:pt x="138124" y="916003"/>
                </a:lnTo>
              </a:path>
            </a:pathLst>
          </a:custGeom>
          <a:noFill/>
          <a:ln w="35234" cap="rnd">
            <a:solidFill>
              <a:srgbClr val="C8323A"/>
            </a:solidFill>
            <a:round/>
          </a:ln>
        </p:spPr>
        <p:txBody>
          <a:bodyPr rtlCol="0" anchor="ctr"/>
          <a:lstStyle/>
          <a:p>
            <a:pPr algn="ctr"/>
          </a:p>
        </p:txBody>
      </p:sp>
      <p:sp>
        <p:nvSpPr>
          <p:cNvPr id="38" name="Freeform 37"/>
          <p:cNvSpPr/>
          <p:nvPr/>
        </p:nvSpPr>
        <p:spPr>
          <a:xfrm>
            <a:off x="10424892" y="3314746"/>
            <a:ext cx="597468" cy="881390"/>
          </a:xfrm>
          <a:custGeom>
            <a:avLst/>
            <a:gdLst/>
            <a:ahLst/>
            <a:cxnLst/>
            <a:rect l="l" t="t" r="r" b="b"/>
            <a:pathLst>
              <a:path w="597468" h="881390">
                <a:moveTo>
                  <a:pt x="0" y="650550"/>
                </a:moveTo>
                <a:lnTo>
                  <a:pt x="268861" y="650550"/>
                </a:lnTo>
                <a:lnTo>
                  <a:pt x="268861" y="881390"/>
                </a:lnTo>
                <a:lnTo>
                  <a:pt x="597468" y="440695"/>
                </a:lnTo>
                <a:lnTo>
                  <a:pt x="268861" y="0"/>
                </a:lnTo>
                <a:lnTo>
                  <a:pt x="268861" y="230840"/>
                </a:lnTo>
                <a:lnTo>
                  <a:pt x="0" y="230840"/>
                </a:lnTo>
                <a:close/>
              </a:path>
            </a:pathLst>
          </a:custGeom>
          <a:solidFill>
            <a:srgbClr val="FFB400"/>
          </a:solidFill>
          <a:ln>
            <a:noFill/>
          </a:ln>
        </p:spPr>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12161C"/>
                </a:solidFill>
                <a:latin typeface="Arial Narrow"/>
              </a:rPr>
              <a:t>ACT 1 · ENERGY</a:t>
            </a:r>
          </a:p>
        </p:txBody>
      </p:sp>
      <p:sp>
        <p:nvSpPr>
          <p:cNvPr id="4" name="TextBox 3"/>
          <p:cNvSpPr txBox="1"/>
          <p:nvPr/>
        </p:nvSpPr>
        <p:spPr>
          <a:xfrm>
            <a:off x="7315200" y="310896"/>
            <a:ext cx="4187952" cy="274320"/>
          </a:xfrm>
          <a:prstGeom prst="rect">
            <a:avLst/>
          </a:prstGeom>
          <a:noFill/>
        </p:spPr>
        <p:txBody>
          <a:bodyPr wrap="square" anchor="t" lIns="0" rIns="0" tIns="0" bIns="0">
            <a:noAutofit/>
          </a:bodyPr>
          <a:lstStyle/>
          <a:p>
            <a:pPr algn="r">
              <a:lnSpc>
                <a:spcPct val="100000"/>
              </a:lnSpc>
              <a:spcBef>
                <a:spcPts val="0"/>
              </a:spcBef>
              <a:spcAft>
                <a:spcPts val="0"/>
              </a:spcAft>
            </a:pPr>
            <a:r>
              <a:rPr sz="1300" b="1" i="0" spc="220">
                <a:solidFill>
                  <a:srgbClr val="8A93A0"/>
                </a:solidFill>
                <a:latin typeface="Arial Narrow"/>
              </a:rPr>
              <a:t>ENERGY ENGINEER</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8A93A0"/>
                </a:solidFill>
                <a:latin typeface="Arial Narrow"/>
              </a:rPr>
              <a:t>ENERGY LAB  ·  CRASH TEST #05</a:t>
            </a:r>
          </a:p>
        </p:txBody>
      </p:sp>
      <p:sp>
        <p:nvSpPr>
          <p:cNvPr id="6" name="Rectangle 5"/>
          <p:cNvSpPr/>
          <p:nvPr/>
        </p:nvSpPr>
        <p:spPr>
          <a:xfrm>
            <a:off x="4526280" y="6510528"/>
            <a:ext cx="127363" cy="54864"/>
          </a:xfrm>
          <a:prstGeom prst="rect">
            <a:avLst/>
          </a:prstGeom>
          <a:solidFill>
            <a:srgbClr val="D9B55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FFB400"/>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D5D0C4"/>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D5D0C4"/>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D5D0C4"/>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D5D0C4"/>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D5D0C4"/>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D5D0C4"/>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D5D0C4"/>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D5D0C4"/>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D5D0C4"/>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D5D0C4"/>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D5D0C4"/>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D5D0C4"/>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8A93A0"/>
                </a:solidFill>
                <a:latin typeface="Arial Narrow"/>
              </a:rPr>
              <a:t>9</a:t>
            </a:fld>
          </a:p>
        </p:txBody>
      </p:sp>
      <p:sp>
        <p:nvSpPr>
          <p:cNvPr id="21" name="Rounded Rectangle 20"/>
          <p:cNvSpPr/>
          <p:nvPr/>
        </p:nvSpPr>
        <p:spPr>
          <a:xfrm>
            <a:off x="685800" y="914400"/>
            <a:ext cx="5074920" cy="3886200"/>
          </a:xfrm>
          <a:prstGeom prst="roundRect">
            <a:avLst>
              <a:gd name="adj" fmla="val 3294"/>
            </a:avLst>
          </a:prstGeom>
          <a:solidFill>
            <a:srgbClr val="FFFFFF"/>
          </a:solidFill>
          <a:ln w="19050">
            <a:solidFill>
              <a:srgbClr val="CFC9BC"/>
            </a:solidFill>
          </a:ln>
        </p:spPr>
        <p:txBody>
          <a:bodyPr rtlCol="0" anchor="ctr"/>
          <a:lstStyle/>
          <a:p>
            <a:pPr algn="ctr"/>
          </a:p>
        </p:txBody>
      </p:sp>
      <p:sp>
        <p:nvSpPr>
          <p:cNvPr id="22" name="TextBox 21"/>
          <p:cNvSpPr txBox="1"/>
          <p:nvPr/>
        </p:nvSpPr>
        <p:spPr>
          <a:xfrm>
            <a:off x="960120" y="1051560"/>
            <a:ext cx="4480560" cy="640080"/>
          </a:xfrm>
          <a:prstGeom prst="rect">
            <a:avLst/>
          </a:prstGeom>
          <a:noFill/>
        </p:spPr>
        <p:txBody>
          <a:bodyPr wrap="square" anchor="t" lIns="0" rIns="0" tIns="0" bIns="0">
            <a:noAutofit/>
          </a:bodyPr>
          <a:lstStyle/>
          <a:p>
            <a:pPr algn="l">
              <a:lnSpc>
                <a:spcPct val="100000"/>
              </a:lnSpc>
              <a:spcBef>
                <a:spcPts val="0"/>
              </a:spcBef>
              <a:spcAft>
                <a:spcPts val="0"/>
              </a:spcAft>
            </a:pPr>
            <a:r>
              <a:rPr sz="3800" b="0" i="0">
                <a:solidFill>
                  <a:srgbClr val="12161C"/>
                </a:solidFill>
                <a:latin typeface="Arial Black"/>
              </a:rPr>
              <a:t>POTENTIAL</a:t>
            </a:r>
          </a:p>
        </p:txBody>
      </p:sp>
      <p:cxnSp>
        <p:nvCxnSpPr>
          <p:cNvPr id="23" name="Connector 22"/>
          <p:cNvCxnSpPr/>
          <p:nvPr/>
        </p:nvCxnSpPr>
        <p:spPr>
          <a:xfrm>
            <a:off x="1005840" y="3920947"/>
            <a:ext cx="4206240" cy="0"/>
          </a:xfrm>
          <a:prstGeom prst="line">
            <a:avLst/>
          </a:prstGeom>
          <a:ln w="44450" cap="rnd">
            <a:solidFill>
              <a:srgbClr val="8A93A0"/>
            </a:solidFill>
            <a:round/>
          </a:ln>
        </p:spPr>
      </p:cxnSp>
      <p:sp>
        <p:nvSpPr>
          <p:cNvPr id="24" name="Rectangle 23"/>
          <p:cNvSpPr/>
          <p:nvPr/>
        </p:nvSpPr>
        <p:spPr>
          <a:xfrm>
            <a:off x="2011680" y="2709367"/>
            <a:ext cx="1920240" cy="121158"/>
          </a:xfrm>
          <a:prstGeom prst="rect">
            <a:avLst/>
          </a:prstGeom>
          <a:solidFill>
            <a:srgbClr val="56606E"/>
          </a:solidFill>
          <a:ln>
            <a:noFill/>
          </a:ln>
        </p:spPr>
        <p:txBody>
          <a:bodyPr rtlCol="0" anchor="ctr"/>
          <a:lstStyle/>
          <a:p>
            <a:pPr algn="ctr"/>
          </a:p>
        </p:txBody>
      </p:sp>
      <p:sp>
        <p:nvSpPr>
          <p:cNvPr id="25" name="Rectangle 24"/>
          <p:cNvSpPr/>
          <p:nvPr/>
        </p:nvSpPr>
        <p:spPr>
          <a:xfrm>
            <a:off x="2148840" y="2830525"/>
            <a:ext cx="137160" cy="1090422"/>
          </a:xfrm>
          <a:prstGeom prst="rect">
            <a:avLst/>
          </a:prstGeom>
          <a:solidFill>
            <a:srgbClr val="56606E"/>
          </a:solidFill>
          <a:ln>
            <a:noFill/>
          </a:ln>
        </p:spPr>
        <p:txBody>
          <a:bodyPr rtlCol="0" anchor="ctr"/>
          <a:lstStyle/>
          <a:p>
            <a:pPr algn="ctr"/>
          </a:p>
        </p:txBody>
      </p:sp>
      <p:sp>
        <p:nvSpPr>
          <p:cNvPr id="26" name="Rectangle 25"/>
          <p:cNvSpPr/>
          <p:nvPr/>
        </p:nvSpPr>
        <p:spPr>
          <a:xfrm>
            <a:off x="3703320" y="2830525"/>
            <a:ext cx="137160" cy="1090422"/>
          </a:xfrm>
          <a:prstGeom prst="rect">
            <a:avLst/>
          </a:prstGeom>
          <a:solidFill>
            <a:srgbClr val="56606E"/>
          </a:solidFill>
          <a:ln>
            <a:noFill/>
          </a:ln>
        </p:spPr>
        <p:txBody>
          <a:bodyPr rtlCol="0" anchor="ctr"/>
          <a:lstStyle/>
          <a:p>
            <a:pPr algn="ctr"/>
          </a:p>
        </p:txBody>
      </p:sp>
      <p:sp>
        <p:nvSpPr>
          <p:cNvPr id="27" name="Oval 26"/>
          <p:cNvSpPr/>
          <p:nvPr/>
        </p:nvSpPr>
        <p:spPr>
          <a:xfrm>
            <a:off x="2656789" y="2079346"/>
            <a:ext cx="630022" cy="630022"/>
          </a:xfrm>
          <a:prstGeom prst="ellipse">
            <a:avLst/>
          </a:prstGeom>
          <a:solidFill>
            <a:srgbClr val="FFFFFF"/>
          </a:solidFill>
          <a:ln w="19050">
            <a:solidFill>
              <a:srgbClr val="12161C"/>
            </a:solidFill>
          </a:ln>
        </p:spPr>
        <p:txBody>
          <a:bodyPr rtlCol="0" anchor="ctr"/>
          <a:lstStyle/>
          <a:p>
            <a:pPr algn="ctr"/>
          </a:p>
        </p:txBody>
      </p:sp>
      <p:sp>
        <p:nvSpPr>
          <p:cNvPr id="28" name="Freeform 27"/>
          <p:cNvSpPr/>
          <p:nvPr/>
        </p:nvSpPr>
        <p:spPr>
          <a:xfrm>
            <a:off x="2746736" y="2210060"/>
            <a:ext cx="58059" cy="363971"/>
          </a:xfrm>
          <a:custGeom>
            <a:avLst/>
            <a:gdLst/>
            <a:ahLst/>
            <a:cxnLst/>
            <a:rect l="l" t="t" r="r" b="b"/>
            <a:pathLst>
              <a:path w="58059" h="363971">
                <a:moveTo>
                  <a:pt x="0" y="0"/>
                </a:moveTo>
                <a:lnTo>
                  <a:pt x="9284" y="14028"/>
                </a:lnTo>
                <a:lnTo>
                  <a:pt x="17822" y="28522"/>
                </a:lnTo>
                <a:lnTo>
                  <a:pt x="25590" y="43443"/>
                </a:lnTo>
                <a:lnTo>
                  <a:pt x="32566" y="58750"/>
                </a:lnTo>
                <a:lnTo>
                  <a:pt x="38731" y="74402"/>
                </a:lnTo>
                <a:lnTo>
                  <a:pt x="44069" y="90354"/>
                </a:lnTo>
                <a:lnTo>
                  <a:pt x="48564" y="106564"/>
                </a:lnTo>
                <a:lnTo>
                  <a:pt x="52205" y="122987"/>
                </a:lnTo>
                <a:lnTo>
                  <a:pt x="54981" y="139579"/>
                </a:lnTo>
                <a:lnTo>
                  <a:pt x="56886" y="156292"/>
                </a:lnTo>
                <a:lnTo>
                  <a:pt x="57913" y="173083"/>
                </a:lnTo>
                <a:lnTo>
                  <a:pt x="58059" y="189904"/>
                </a:lnTo>
                <a:lnTo>
                  <a:pt x="57326" y="206710"/>
                </a:lnTo>
                <a:lnTo>
                  <a:pt x="55713" y="223454"/>
                </a:lnTo>
                <a:lnTo>
                  <a:pt x="53227" y="240091"/>
                </a:lnTo>
                <a:lnTo>
                  <a:pt x="49873" y="256576"/>
                </a:lnTo>
                <a:lnTo>
                  <a:pt x="45661" y="272862"/>
                </a:lnTo>
                <a:lnTo>
                  <a:pt x="40603" y="288905"/>
                </a:lnTo>
                <a:lnTo>
                  <a:pt x="34712" y="304662"/>
                </a:lnTo>
                <a:lnTo>
                  <a:pt x="28004" y="320088"/>
                </a:lnTo>
                <a:lnTo>
                  <a:pt x="20498" y="335143"/>
                </a:lnTo>
                <a:lnTo>
                  <a:pt x="12215" y="349784"/>
                </a:lnTo>
                <a:lnTo>
                  <a:pt x="3176" y="363971"/>
                </a:lnTo>
              </a:path>
            </a:pathLst>
          </a:custGeom>
          <a:noFill/>
          <a:ln w="19050" cap="rnd">
            <a:solidFill>
              <a:srgbClr val="C8323A"/>
            </a:solidFill>
            <a:round/>
          </a:ln>
        </p:spPr>
        <p:txBody>
          <a:bodyPr rtlCol="0" anchor="ctr"/>
          <a:lstStyle/>
          <a:p>
            <a:pPr algn="ctr"/>
          </a:p>
        </p:txBody>
      </p:sp>
      <p:sp>
        <p:nvSpPr>
          <p:cNvPr id="29" name="Freeform 28"/>
          <p:cNvSpPr/>
          <p:nvPr/>
        </p:nvSpPr>
        <p:spPr>
          <a:xfrm>
            <a:off x="3138805" y="2210060"/>
            <a:ext cx="58059" cy="363971"/>
          </a:xfrm>
          <a:custGeom>
            <a:avLst/>
            <a:gdLst/>
            <a:ahLst/>
            <a:cxnLst/>
            <a:rect l="l" t="t" r="r" b="b"/>
            <a:pathLst>
              <a:path w="58059" h="363971">
                <a:moveTo>
                  <a:pt x="58059" y="0"/>
                </a:moveTo>
                <a:lnTo>
                  <a:pt x="48775" y="14028"/>
                </a:lnTo>
                <a:lnTo>
                  <a:pt x="40237" y="28522"/>
                </a:lnTo>
                <a:lnTo>
                  <a:pt x="32469" y="43443"/>
                </a:lnTo>
                <a:lnTo>
                  <a:pt x="25493" y="58750"/>
                </a:lnTo>
                <a:lnTo>
                  <a:pt x="19328" y="74402"/>
                </a:lnTo>
                <a:lnTo>
                  <a:pt x="13990" y="90354"/>
                </a:lnTo>
                <a:lnTo>
                  <a:pt x="9495" y="106564"/>
                </a:lnTo>
                <a:lnTo>
                  <a:pt x="5854" y="122987"/>
                </a:lnTo>
                <a:lnTo>
                  <a:pt x="3078" y="139579"/>
                </a:lnTo>
                <a:lnTo>
                  <a:pt x="1173" y="156292"/>
                </a:lnTo>
                <a:lnTo>
                  <a:pt x="146" y="173083"/>
                </a:lnTo>
                <a:lnTo>
                  <a:pt x="0" y="189904"/>
                </a:lnTo>
                <a:lnTo>
                  <a:pt x="733" y="206710"/>
                </a:lnTo>
                <a:lnTo>
                  <a:pt x="2346" y="223454"/>
                </a:lnTo>
                <a:lnTo>
                  <a:pt x="4832" y="240091"/>
                </a:lnTo>
                <a:lnTo>
                  <a:pt x="8186" y="256576"/>
                </a:lnTo>
                <a:lnTo>
                  <a:pt x="12398" y="272862"/>
                </a:lnTo>
                <a:lnTo>
                  <a:pt x="17456" y="288905"/>
                </a:lnTo>
                <a:lnTo>
                  <a:pt x="23347" y="304662"/>
                </a:lnTo>
                <a:lnTo>
                  <a:pt x="30055" y="320088"/>
                </a:lnTo>
                <a:lnTo>
                  <a:pt x="37561" y="335143"/>
                </a:lnTo>
                <a:lnTo>
                  <a:pt x="45844" y="349784"/>
                </a:lnTo>
                <a:lnTo>
                  <a:pt x="54883" y="363971"/>
                </a:lnTo>
              </a:path>
            </a:pathLst>
          </a:custGeom>
          <a:noFill/>
          <a:ln w="19050" cap="rnd">
            <a:solidFill>
              <a:srgbClr val="C8323A"/>
            </a:solidFill>
            <a:round/>
          </a:ln>
        </p:spPr>
        <p:txBody>
          <a:bodyPr rtlCol="0" anchor="ctr"/>
          <a:lstStyle/>
          <a:p>
            <a:pPr algn="ctr"/>
          </a:p>
        </p:txBody>
      </p:sp>
      <p:cxnSp>
        <p:nvCxnSpPr>
          <p:cNvPr id="30" name="Connector 29"/>
          <p:cNvCxnSpPr/>
          <p:nvPr/>
        </p:nvCxnSpPr>
        <p:spPr>
          <a:xfrm>
            <a:off x="4480560" y="2709367"/>
            <a:ext cx="0" cy="1211580"/>
          </a:xfrm>
          <a:prstGeom prst="line">
            <a:avLst/>
          </a:prstGeom>
          <a:ln w="38100">
            <a:solidFill>
              <a:srgbClr val="FFB400"/>
            </a:solidFill>
            <a:prstDash val="dash"/>
            <a:headEnd type="triangle" w="med" len="med"/>
            <a:tailEnd type="triangle" w="med" len="med"/>
          </a:ln>
        </p:spPr>
      </p:cxnSp>
      <p:sp>
        <p:nvSpPr>
          <p:cNvPr id="31" name="TextBox 30"/>
          <p:cNvSpPr txBox="1"/>
          <p:nvPr/>
        </p:nvSpPr>
        <p:spPr>
          <a:xfrm>
            <a:off x="960120" y="4206240"/>
            <a:ext cx="4572000" cy="457200"/>
          </a:xfrm>
          <a:prstGeom prst="rect">
            <a:avLst/>
          </a:prstGeom>
          <a:noFill/>
        </p:spPr>
        <p:txBody>
          <a:bodyPr wrap="square" anchor="t" lIns="0" rIns="0" tIns="0" bIns="0">
            <a:noAutofit/>
          </a:bodyPr>
          <a:lstStyle/>
          <a:p>
            <a:pPr algn="l">
              <a:lnSpc>
                <a:spcPct val="100000"/>
              </a:lnSpc>
              <a:spcBef>
                <a:spcPts val="0"/>
              </a:spcBef>
              <a:spcAft>
                <a:spcPts val="0"/>
              </a:spcAft>
            </a:pPr>
            <a:r>
              <a:rPr sz="2200" b="1" i="0" spc="200">
                <a:solidFill>
                  <a:srgbClr val="9C5A00"/>
                </a:solidFill>
                <a:latin typeface="Arial Narrow"/>
              </a:rPr>
              <a:t>STORED · STILL · POSITION</a:t>
            </a:r>
          </a:p>
        </p:txBody>
      </p:sp>
      <p:sp>
        <p:nvSpPr>
          <p:cNvPr id="32" name="Rounded Rectangle 31"/>
          <p:cNvSpPr/>
          <p:nvPr/>
        </p:nvSpPr>
        <p:spPr>
          <a:xfrm>
            <a:off x="6428232" y="914400"/>
            <a:ext cx="5074920" cy="3886200"/>
          </a:xfrm>
          <a:prstGeom prst="roundRect">
            <a:avLst>
              <a:gd name="adj" fmla="val 3294"/>
            </a:avLst>
          </a:prstGeom>
          <a:solidFill>
            <a:srgbClr val="FFFFFF"/>
          </a:solidFill>
          <a:ln w="19050">
            <a:solidFill>
              <a:srgbClr val="CFC9BC"/>
            </a:solidFill>
          </a:ln>
        </p:spPr>
        <p:txBody>
          <a:bodyPr rtlCol="0" anchor="ctr"/>
          <a:lstStyle/>
          <a:p>
            <a:pPr algn="ctr"/>
          </a:p>
        </p:txBody>
      </p:sp>
      <p:sp>
        <p:nvSpPr>
          <p:cNvPr id="33" name="TextBox 32"/>
          <p:cNvSpPr txBox="1"/>
          <p:nvPr/>
        </p:nvSpPr>
        <p:spPr>
          <a:xfrm>
            <a:off x="6702552" y="1051560"/>
            <a:ext cx="4480560" cy="640080"/>
          </a:xfrm>
          <a:prstGeom prst="rect">
            <a:avLst/>
          </a:prstGeom>
          <a:noFill/>
        </p:spPr>
        <p:txBody>
          <a:bodyPr wrap="square" anchor="t" lIns="0" rIns="0" tIns="0" bIns="0">
            <a:noAutofit/>
          </a:bodyPr>
          <a:lstStyle/>
          <a:p>
            <a:pPr algn="l">
              <a:lnSpc>
                <a:spcPct val="100000"/>
              </a:lnSpc>
              <a:spcBef>
                <a:spcPts val="0"/>
              </a:spcBef>
              <a:spcAft>
                <a:spcPts val="0"/>
              </a:spcAft>
            </a:pPr>
            <a:r>
              <a:rPr sz="3800" b="0" i="0">
                <a:solidFill>
                  <a:srgbClr val="12161C"/>
                </a:solidFill>
                <a:latin typeface="Arial Black"/>
              </a:rPr>
              <a:t>KINETIC</a:t>
            </a:r>
          </a:p>
        </p:txBody>
      </p:sp>
      <p:cxnSp>
        <p:nvCxnSpPr>
          <p:cNvPr id="34" name="Connector 33"/>
          <p:cNvCxnSpPr/>
          <p:nvPr/>
        </p:nvCxnSpPr>
        <p:spPr>
          <a:xfrm>
            <a:off x="6748272" y="3484778"/>
            <a:ext cx="4206240" cy="0"/>
          </a:xfrm>
          <a:prstGeom prst="line">
            <a:avLst/>
          </a:prstGeom>
          <a:ln w="44450" cap="rnd">
            <a:solidFill>
              <a:srgbClr val="8A93A0"/>
            </a:solidFill>
            <a:round/>
          </a:ln>
        </p:spPr>
      </p:cxnSp>
      <p:cxnSp>
        <p:nvCxnSpPr>
          <p:cNvPr id="35" name="Connector 34"/>
          <p:cNvCxnSpPr/>
          <p:nvPr/>
        </p:nvCxnSpPr>
        <p:spPr>
          <a:xfrm>
            <a:off x="7822143" y="2709367"/>
            <a:ext cx="1083564" cy="0"/>
          </a:xfrm>
          <a:prstGeom prst="line">
            <a:avLst/>
          </a:prstGeom>
          <a:ln w="44450" cap="rnd">
            <a:solidFill>
              <a:srgbClr val="FFB400"/>
            </a:solidFill>
            <a:round/>
          </a:ln>
        </p:spPr>
      </p:cxnSp>
      <p:cxnSp>
        <p:nvCxnSpPr>
          <p:cNvPr id="36" name="Connector 35"/>
          <p:cNvCxnSpPr/>
          <p:nvPr/>
        </p:nvCxnSpPr>
        <p:spPr>
          <a:xfrm>
            <a:off x="7630119" y="2951683"/>
            <a:ext cx="1275588" cy="0"/>
          </a:xfrm>
          <a:prstGeom prst="line">
            <a:avLst/>
          </a:prstGeom>
          <a:ln w="44450" cap="rnd">
            <a:solidFill>
              <a:srgbClr val="FFB400"/>
            </a:solidFill>
            <a:round/>
          </a:ln>
        </p:spPr>
      </p:cxnSp>
      <p:cxnSp>
        <p:nvCxnSpPr>
          <p:cNvPr id="37" name="Connector 36"/>
          <p:cNvCxnSpPr/>
          <p:nvPr/>
        </p:nvCxnSpPr>
        <p:spPr>
          <a:xfrm>
            <a:off x="7630119" y="3193999"/>
            <a:ext cx="1275588" cy="0"/>
          </a:xfrm>
          <a:prstGeom prst="line">
            <a:avLst/>
          </a:prstGeom>
          <a:ln w="44450" cap="rnd">
            <a:solidFill>
              <a:srgbClr val="FFB400"/>
            </a:solidFill>
            <a:round/>
          </a:ln>
        </p:spPr>
      </p:cxnSp>
      <p:cxnSp>
        <p:nvCxnSpPr>
          <p:cNvPr id="38" name="Connector 37"/>
          <p:cNvCxnSpPr/>
          <p:nvPr/>
        </p:nvCxnSpPr>
        <p:spPr>
          <a:xfrm>
            <a:off x="7822143" y="3436315"/>
            <a:ext cx="1083564" cy="0"/>
          </a:xfrm>
          <a:prstGeom prst="line">
            <a:avLst/>
          </a:prstGeom>
          <a:ln w="44450" cap="rnd">
            <a:solidFill>
              <a:srgbClr val="FFB400"/>
            </a:solidFill>
            <a:round/>
          </a:ln>
        </p:spPr>
      </p:cxnSp>
      <p:sp>
        <p:nvSpPr>
          <p:cNvPr id="39" name="Oval 38"/>
          <p:cNvSpPr/>
          <p:nvPr/>
        </p:nvSpPr>
        <p:spPr>
          <a:xfrm>
            <a:off x="8988095" y="2660904"/>
            <a:ext cx="823874" cy="823874"/>
          </a:xfrm>
          <a:prstGeom prst="ellipse">
            <a:avLst/>
          </a:prstGeom>
          <a:solidFill>
            <a:srgbClr val="FFFFFF"/>
          </a:solidFill>
          <a:ln w="19050">
            <a:solidFill>
              <a:srgbClr val="12161C"/>
            </a:solidFill>
          </a:ln>
        </p:spPr>
        <p:txBody>
          <a:bodyPr rtlCol="0" anchor="ctr"/>
          <a:lstStyle/>
          <a:p>
            <a:pPr algn="ctr"/>
          </a:p>
        </p:txBody>
      </p:sp>
      <p:sp>
        <p:nvSpPr>
          <p:cNvPr id="40" name="Freeform 39"/>
          <p:cNvSpPr/>
          <p:nvPr/>
        </p:nvSpPr>
        <p:spPr>
          <a:xfrm>
            <a:off x="9105717" y="2831838"/>
            <a:ext cx="75924" cy="475963"/>
          </a:xfrm>
          <a:custGeom>
            <a:avLst/>
            <a:gdLst/>
            <a:ahLst/>
            <a:cxnLst/>
            <a:rect l="l" t="t" r="r" b="b"/>
            <a:pathLst>
              <a:path w="75924" h="475963">
                <a:moveTo>
                  <a:pt x="0" y="0"/>
                </a:moveTo>
                <a:lnTo>
                  <a:pt x="12142" y="18344"/>
                </a:lnTo>
                <a:lnTo>
                  <a:pt x="23307" y="37298"/>
                </a:lnTo>
                <a:lnTo>
                  <a:pt x="33464" y="56810"/>
                </a:lnTo>
                <a:lnTo>
                  <a:pt x="42586" y="76827"/>
                </a:lnTo>
                <a:lnTo>
                  <a:pt x="50649" y="97295"/>
                </a:lnTo>
                <a:lnTo>
                  <a:pt x="57629" y="118156"/>
                </a:lnTo>
                <a:lnTo>
                  <a:pt x="63507" y="139353"/>
                </a:lnTo>
                <a:lnTo>
                  <a:pt x="68268" y="160830"/>
                </a:lnTo>
                <a:lnTo>
                  <a:pt x="71899" y="182526"/>
                </a:lnTo>
                <a:lnTo>
                  <a:pt x="74389" y="204382"/>
                </a:lnTo>
                <a:lnTo>
                  <a:pt x="75732" y="226339"/>
                </a:lnTo>
                <a:lnTo>
                  <a:pt x="75924" y="248336"/>
                </a:lnTo>
                <a:lnTo>
                  <a:pt x="74965" y="270313"/>
                </a:lnTo>
                <a:lnTo>
                  <a:pt x="72856" y="292210"/>
                </a:lnTo>
                <a:lnTo>
                  <a:pt x="69605" y="313966"/>
                </a:lnTo>
                <a:lnTo>
                  <a:pt x="65219" y="335522"/>
                </a:lnTo>
                <a:lnTo>
                  <a:pt x="59711" y="356819"/>
                </a:lnTo>
                <a:lnTo>
                  <a:pt x="53097" y="377799"/>
                </a:lnTo>
                <a:lnTo>
                  <a:pt x="45393" y="398404"/>
                </a:lnTo>
                <a:lnTo>
                  <a:pt x="36621" y="418577"/>
                </a:lnTo>
                <a:lnTo>
                  <a:pt x="26806" y="438264"/>
                </a:lnTo>
                <a:lnTo>
                  <a:pt x="15973" y="457410"/>
                </a:lnTo>
                <a:lnTo>
                  <a:pt x="4154" y="475963"/>
                </a:lnTo>
              </a:path>
            </a:pathLst>
          </a:custGeom>
          <a:noFill/>
          <a:ln w="19050" cap="rnd">
            <a:solidFill>
              <a:srgbClr val="C8323A"/>
            </a:solidFill>
            <a:round/>
          </a:ln>
        </p:spPr>
        <p:txBody>
          <a:bodyPr rtlCol="0" anchor="ctr"/>
          <a:lstStyle/>
          <a:p>
            <a:pPr algn="ctr"/>
          </a:p>
        </p:txBody>
      </p:sp>
      <p:sp>
        <p:nvSpPr>
          <p:cNvPr id="41" name="Freeform 40"/>
          <p:cNvSpPr/>
          <p:nvPr/>
        </p:nvSpPr>
        <p:spPr>
          <a:xfrm>
            <a:off x="9618423" y="2831838"/>
            <a:ext cx="75924" cy="475963"/>
          </a:xfrm>
          <a:custGeom>
            <a:avLst/>
            <a:gdLst/>
            <a:ahLst/>
            <a:cxnLst/>
            <a:rect l="l" t="t" r="r" b="b"/>
            <a:pathLst>
              <a:path w="75924" h="475963">
                <a:moveTo>
                  <a:pt x="75924" y="0"/>
                </a:moveTo>
                <a:lnTo>
                  <a:pt x="63782" y="18344"/>
                </a:lnTo>
                <a:lnTo>
                  <a:pt x="52617" y="37298"/>
                </a:lnTo>
                <a:lnTo>
                  <a:pt x="42460" y="56810"/>
                </a:lnTo>
                <a:lnTo>
                  <a:pt x="33338" y="76827"/>
                </a:lnTo>
                <a:lnTo>
                  <a:pt x="25275" y="97295"/>
                </a:lnTo>
                <a:lnTo>
                  <a:pt x="18295" y="118156"/>
                </a:lnTo>
                <a:lnTo>
                  <a:pt x="12417" y="139353"/>
                </a:lnTo>
                <a:lnTo>
                  <a:pt x="7656" y="160830"/>
                </a:lnTo>
                <a:lnTo>
                  <a:pt x="4025" y="182526"/>
                </a:lnTo>
                <a:lnTo>
                  <a:pt x="1535" y="204382"/>
                </a:lnTo>
                <a:lnTo>
                  <a:pt x="192" y="226339"/>
                </a:lnTo>
                <a:lnTo>
                  <a:pt x="0" y="248336"/>
                </a:lnTo>
                <a:lnTo>
                  <a:pt x="959" y="270313"/>
                </a:lnTo>
                <a:lnTo>
                  <a:pt x="3068" y="292210"/>
                </a:lnTo>
                <a:lnTo>
                  <a:pt x="6319" y="313966"/>
                </a:lnTo>
                <a:lnTo>
                  <a:pt x="10705" y="335522"/>
                </a:lnTo>
                <a:lnTo>
                  <a:pt x="16213" y="356819"/>
                </a:lnTo>
                <a:lnTo>
                  <a:pt x="22827" y="377799"/>
                </a:lnTo>
                <a:lnTo>
                  <a:pt x="30531" y="398404"/>
                </a:lnTo>
                <a:lnTo>
                  <a:pt x="39303" y="418577"/>
                </a:lnTo>
                <a:lnTo>
                  <a:pt x="49118" y="438264"/>
                </a:lnTo>
                <a:lnTo>
                  <a:pt x="59951" y="457410"/>
                </a:lnTo>
                <a:lnTo>
                  <a:pt x="71770" y="475963"/>
                </a:lnTo>
              </a:path>
            </a:pathLst>
          </a:custGeom>
          <a:noFill/>
          <a:ln w="19050" cap="rnd">
            <a:solidFill>
              <a:srgbClr val="C8323A"/>
            </a:solidFill>
            <a:round/>
          </a:ln>
        </p:spPr>
        <p:txBody>
          <a:bodyPr rtlCol="0" anchor="ctr"/>
          <a:lstStyle/>
          <a:p>
            <a:pPr algn="ctr"/>
          </a:p>
        </p:txBody>
      </p:sp>
      <p:sp>
        <p:nvSpPr>
          <p:cNvPr id="42" name="Freeform 41"/>
          <p:cNvSpPr/>
          <p:nvPr/>
        </p:nvSpPr>
        <p:spPr>
          <a:xfrm>
            <a:off x="9994849" y="2843853"/>
            <a:ext cx="868223" cy="457977"/>
          </a:xfrm>
          <a:custGeom>
            <a:avLst/>
            <a:gdLst/>
            <a:ahLst/>
            <a:cxnLst/>
            <a:rect l="l" t="t" r="r" b="b"/>
            <a:pathLst>
              <a:path w="868223" h="457977">
                <a:moveTo>
                  <a:pt x="0" y="338030"/>
                </a:moveTo>
                <a:lnTo>
                  <a:pt x="541096" y="338030"/>
                </a:lnTo>
                <a:lnTo>
                  <a:pt x="541096" y="457977"/>
                </a:lnTo>
                <a:lnTo>
                  <a:pt x="868223" y="228988"/>
                </a:lnTo>
                <a:lnTo>
                  <a:pt x="541096" y="0"/>
                </a:lnTo>
                <a:lnTo>
                  <a:pt x="541096" y="119946"/>
                </a:lnTo>
                <a:lnTo>
                  <a:pt x="0" y="119946"/>
                </a:lnTo>
                <a:close/>
              </a:path>
            </a:pathLst>
          </a:custGeom>
          <a:solidFill>
            <a:srgbClr val="FFB400"/>
          </a:solidFill>
          <a:ln>
            <a:noFill/>
          </a:ln>
        </p:spPr>
        <p:txBody>
          <a:bodyPr rtlCol="0" anchor="ctr"/>
          <a:lstStyle/>
          <a:p>
            <a:pPr algn="ctr"/>
          </a:p>
        </p:txBody>
      </p:sp>
      <p:sp>
        <p:nvSpPr>
          <p:cNvPr id="43" name="TextBox 42"/>
          <p:cNvSpPr txBox="1"/>
          <p:nvPr/>
        </p:nvSpPr>
        <p:spPr>
          <a:xfrm>
            <a:off x="6702552" y="4206240"/>
            <a:ext cx="4572000" cy="457200"/>
          </a:xfrm>
          <a:prstGeom prst="rect">
            <a:avLst/>
          </a:prstGeom>
          <a:noFill/>
        </p:spPr>
        <p:txBody>
          <a:bodyPr wrap="square" anchor="t" lIns="0" rIns="0" tIns="0" bIns="0">
            <a:noAutofit/>
          </a:bodyPr>
          <a:lstStyle/>
          <a:p>
            <a:pPr algn="l">
              <a:lnSpc>
                <a:spcPct val="100000"/>
              </a:lnSpc>
              <a:spcBef>
                <a:spcPts val="0"/>
              </a:spcBef>
              <a:spcAft>
                <a:spcPts val="0"/>
              </a:spcAft>
            </a:pPr>
            <a:r>
              <a:rPr sz="2200" b="1" i="0" spc="200">
                <a:solidFill>
                  <a:srgbClr val="9C5A00"/>
                </a:solidFill>
                <a:latin typeface="Arial Narrow"/>
              </a:rPr>
              <a:t>MOTION · MOVING</a:t>
            </a:r>
          </a:p>
        </p:txBody>
      </p:sp>
      <p:sp>
        <p:nvSpPr>
          <p:cNvPr id="44" name="Rounded Rectangle 43"/>
          <p:cNvSpPr/>
          <p:nvPr/>
        </p:nvSpPr>
        <p:spPr>
          <a:xfrm>
            <a:off x="5669280" y="2514600"/>
            <a:ext cx="850392" cy="850392"/>
          </a:xfrm>
          <a:prstGeom prst="roundRect">
            <a:avLst>
              <a:gd name="adj" fmla="val 49462"/>
            </a:avLst>
          </a:prstGeom>
          <a:solidFill>
            <a:srgbClr val="12161C"/>
          </a:solidFill>
          <a:ln>
            <a:noFill/>
          </a:ln>
        </p:spPr>
        <p:txBody>
          <a:bodyPr rtlCol="0" anchor="ctr" wrap="square" lIns="0" rIns="0" tIns="0" bIns="0">
            <a:noAutofit/>
          </a:bodyPr>
          <a:lstStyle/>
          <a:p>
            <a:pPr algn="ctr">
              <a:lnSpc>
                <a:spcPct val="100000"/>
              </a:lnSpc>
              <a:spcBef>
                <a:spcPts val="0"/>
              </a:spcBef>
              <a:spcAft>
                <a:spcPts val="0"/>
              </a:spcAft>
            </a:pPr>
            <a:r>
              <a:rPr sz="2200" b="1" i="0">
                <a:solidFill>
                  <a:srgbClr val="FFFFFF"/>
                </a:solidFill>
                <a:latin typeface="Arial Black"/>
              </a:rPr>
              <a:t>VS</a:t>
            </a:r>
          </a:p>
        </p:txBody>
      </p:sp>
      <p:sp>
        <p:nvSpPr>
          <p:cNvPr id="45" name="Rounded Rectangle 44"/>
          <p:cNvSpPr/>
          <p:nvPr/>
        </p:nvSpPr>
        <p:spPr>
          <a:xfrm>
            <a:off x="685800" y="5029200"/>
            <a:ext cx="10817352" cy="1051560"/>
          </a:xfrm>
          <a:prstGeom prst="roundRect">
            <a:avLst>
              <a:gd name="adj" fmla="val 12173"/>
            </a:avLst>
          </a:prstGeom>
          <a:solidFill>
            <a:srgbClr val="FFB400"/>
          </a:solidFill>
          <a:ln>
            <a:noFill/>
          </a:ln>
        </p:spPr>
        <p:txBody>
          <a:bodyPr rtlCol="0" anchor="ctr"/>
          <a:lstStyle/>
          <a:p>
            <a:pPr algn="ctr"/>
          </a:p>
        </p:txBody>
      </p:sp>
      <p:sp>
        <p:nvSpPr>
          <p:cNvPr id="46" name="TextBox 45"/>
          <p:cNvSpPr txBox="1"/>
          <p:nvPr/>
        </p:nvSpPr>
        <p:spPr>
          <a:xfrm>
            <a:off x="960120" y="5029200"/>
            <a:ext cx="10241280" cy="1051560"/>
          </a:xfrm>
          <a:prstGeom prst="rect">
            <a:avLst/>
          </a:prstGeom>
          <a:noFill/>
        </p:spPr>
        <p:txBody>
          <a:bodyPr wrap="square" anchor="ctr" lIns="0" rIns="0" tIns="0" bIns="0">
            <a:noAutofit/>
          </a:bodyPr>
          <a:lstStyle/>
          <a:p>
            <a:pPr algn="l">
              <a:lnSpc>
                <a:spcPct val="100000"/>
              </a:lnSpc>
              <a:spcBef>
                <a:spcPts val="0"/>
              </a:spcBef>
              <a:spcAft>
                <a:spcPts val="0"/>
              </a:spcAft>
            </a:pPr>
            <a:r>
              <a:rPr sz="2200" b="1" i="0" spc="250">
                <a:solidFill>
                  <a:srgbClr val="12161C"/>
                </a:solidFill>
                <a:latin typeface="Arial Narrow"/>
              </a:rPr>
              <a:t>ENERGY CAN CHANGE     </a:t>
            </a:r>
            <a:r>
              <a:rPr sz="3600" b="1" i="0">
                <a:solidFill>
                  <a:srgbClr val="12161C"/>
                </a:solidFill>
                <a:latin typeface="Arial Black"/>
              </a:rPr>
              <a:t>POTENTIAL</a:t>
            </a:r>
            <a:r>
              <a:rPr sz="3600" b="1" i="0">
                <a:solidFill>
                  <a:srgbClr val="12161C"/>
                </a:solidFill>
                <a:latin typeface="Arial"/>
              </a:rPr>
              <a:t>  →  </a:t>
            </a:r>
            <a:r>
              <a:rPr sz="3600" b="1" i="0">
                <a:solidFill>
                  <a:srgbClr val="12161C"/>
                </a:solidFill>
                <a:latin typeface="Arial Black"/>
              </a:rPr>
              <a:t>KINETIC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cxnSp>
        <p:nvCxnSpPr>
          <p:cNvPr id="2" name="Connector 1"/>
          <p:cNvCxnSpPr/>
          <p:nvPr/>
        </p:nvCxnSpPr>
        <p:spPr>
          <a:xfrm>
            <a:off x="914400" y="0"/>
            <a:ext cx="0" cy="6858000"/>
          </a:xfrm>
          <a:prstGeom prst="line">
            <a:avLst/>
          </a:prstGeom>
          <a:ln w="9525">
            <a:solidFill>
              <a:srgbClr val="151A22"/>
            </a:solidFill>
          </a:ln>
        </p:spPr>
      </p:cxnSp>
      <p:cxnSp>
        <p:nvCxnSpPr>
          <p:cNvPr id="3" name="Connector 2"/>
          <p:cNvCxnSpPr/>
          <p:nvPr/>
        </p:nvCxnSpPr>
        <p:spPr>
          <a:xfrm>
            <a:off x="1828800" y="0"/>
            <a:ext cx="0" cy="6858000"/>
          </a:xfrm>
          <a:prstGeom prst="line">
            <a:avLst/>
          </a:prstGeom>
          <a:ln w="9525">
            <a:solidFill>
              <a:srgbClr val="151A22"/>
            </a:solidFill>
          </a:ln>
        </p:spPr>
      </p:cxnSp>
      <p:cxnSp>
        <p:nvCxnSpPr>
          <p:cNvPr id="4" name="Connector 3"/>
          <p:cNvCxnSpPr/>
          <p:nvPr/>
        </p:nvCxnSpPr>
        <p:spPr>
          <a:xfrm>
            <a:off x="2743200" y="0"/>
            <a:ext cx="0" cy="6858000"/>
          </a:xfrm>
          <a:prstGeom prst="line">
            <a:avLst/>
          </a:prstGeom>
          <a:ln w="9525">
            <a:solidFill>
              <a:srgbClr val="151A22"/>
            </a:solidFill>
          </a:ln>
        </p:spPr>
      </p:cxnSp>
      <p:cxnSp>
        <p:nvCxnSpPr>
          <p:cNvPr id="5" name="Connector 4"/>
          <p:cNvCxnSpPr/>
          <p:nvPr/>
        </p:nvCxnSpPr>
        <p:spPr>
          <a:xfrm>
            <a:off x="3657600" y="0"/>
            <a:ext cx="0" cy="6858000"/>
          </a:xfrm>
          <a:prstGeom prst="line">
            <a:avLst/>
          </a:prstGeom>
          <a:ln w="9525">
            <a:solidFill>
              <a:srgbClr val="151A22"/>
            </a:solidFill>
          </a:ln>
        </p:spPr>
      </p:cxnSp>
      <p:cxnSp>
        <p:nvCxnSpPr>
          <p:cNvPr id="6" name="Connector 5"/>
          <p:cNvCxnSpPr/>
          <p:nvPr/>
        </p:nvCxnSpPr>
        <p:spPr>
          <a:xfrm>
            <a:off x="4572000" y="0"/>
            <a:ext cx="0" cy="6858000"/>
          </a:xfrm>
          <a:prstGeom prst="line">
            <a:avLst/>
          </a:prstGeom>
          <a:ln w="9525">
            <a:solidFill>
              <a:srgbClr val="151A22"/>
            </a:solidFill>
          </a:ln>
        </p:spPr>
      </p:cxnSp>
      <p:cxnSp>
        <p:nvCxnSpPr>
          <p:cNvPr id="7" name="Connector 6"/>
          <p:cNvCxnSpPr/>
          <p:nvPr/>
        </p:nvCxnSpPr>
        <p:spPr>
          <a:xfrm>
            <a:off x="5486400" y="0"/>
            <a:ext cx="0" cy="6858000"/>
          </a:xfrm>
          <a:prstGeom prst="line">
            <a:avLst/>
          </a:prstGeom>
          <a:ln w="9525">
            <a:solidFill>
              <a:srgbClr val="151A22"/>
            </a:solidFill>
          </a:ln>
        </p:spPr>
      </p:cxnSp>
      <p:cxnSp>
        <p:nvCxnSpPr>
          <p:cNvPr id="8" name="Connector 7"/>
          <p:cNvCxnSpPr/>
          <p:nvPr/>
        </p:nvCxnSpPr>
        <p:spPr>
          <a:xfrm>
            <a:off x="6400800" y="0"/>
            <a:ext cx="0" cy="6858000"/>
          </a:xfrm>
          <a:prstGeom prst="line">
            <a:avLst/>
          </a:prstGeom>
          <a:ln w="9525">
            <a:solidFill>
              <a:srgbClr val="151A22"/>
            </a:solidFill>
          </a:ln>
        </p:spPr>
      </p:cxnSp>
      <p:cxnSp>
        <p:nvCxnSpPr>
          <p:cNvPr id="9" name="Connector 8"/>
          <p:cNvCxnSpPr/>
          <p:nvPr/>
        </p:nvCxnSpPr>
        <p:spPr>
          <a:xfrm>
            <a:off x="7315200" y="0"/>
            <a:ext cx="0" cy="6858000"/>
          </a:xfrm>
          <a:prstGeom prst="line">
            <a:avLst/>
          </a:prstGeom>
          <a:ln w="9525">
            <a:solidFill>
              <a:srgbClr val="151A22"/>
            </a:solidFill>
          </a:ln>
        </p:spPr>
      </p:cxnSp>
      <p:cxnSp>
        <p:nvCxnSpPr>
          <p:cNvPr id="10" name="Connector 9"/>
          <p:cNvCxnSpPr/>
          <p:nvPr/>
        </p:nvCxnSpPr>
        <p:spPr>
          <a:xfrm>
            <a:off x="8229600" y="0"/>
            <a:ext cx="0" cy="6858000"/>
          </a:xfrm>
          <a:prstGeom prst="line">
            <a:avLst/>
          </a:prstGeom>
          <a:ln w="9525">
            <a:solidFill>
              <a:srgbClr val="151A22"/>
            </a:solidFill>
          </a:ln>
        </p:spPr>
      </p:cxnSp>
      <p:cxnSp>
        <p:nvCxnSpPr>
          <p:cNvPr id="11" name="Connector 10"/>
          <p:cNvCxnSpPr/>
          <p:nvPr/>
        </p:nvCxnSpPr>
        <p:spPr>
          <a:xfrm>
            <a:off x="9144000" y="0"/>
            <a:ext cx="0" cy="6858000"/>
          </a:xfrm>
          <a:prstGeom prst="line">
            <a:avLst/>
          </a:prstGeom>
          <a:ln w="9525">
            <a:solidFill>
              <a:srgbClr val="151A22"/>
            </a:solidFill>
          </a:ln>
        </p:spPr>
      </p:cxnSp>
      <p:cxnSp>
        <p:nvCxnSpPr>
          <p:cNvPr id="12" name="Connector 11"/>
          <p:cNvCxnSpPr/>
          <p:nvPr/>
        </p:nvCxnSpPr>
        <p:spPr>
          <a:xfrm>
            <a:off x="10058400" y="0"/>
            <a:ext cx="0" cy="6858000"/>
          </a:xfrm>
          <a:prstGeom prst="line">
            <a:avLst/>
          </a:prstGeom>
          <a:ln w="9525">
            <a:solidFill>
              <a:srgbClr val="151A22"/>
            </a:solidFill>
          </a:ln>
        </p:spPr>
      </p:cxnSp>
      <p:cxnSp>
        <p:nvCxnSpPr>
          <p:cNvPr id="13" name="Connector 12"/>
          <p:cNvCxnSpPr/>
          <p:nvPr/>
        </p:nvCxnSpPr>
        <p:spPr>
          <a:xfrm>
            <a:off x="10972800" y="0"/>
            <a:ext cx="0" cy="6858000"/>
          </a:xfrm>
          <a:prstGeom prst="line">
            <a:avLst/>
          </a:prstGeom>
          <a:ln w="9525">
            <a:solidFill>
              <a:srgbClr val="151A22"/>
            </a:solidFill>
          </a:ln>
        </p:spPr>
      </p:cxnSp>
      <p:cxnSp>
        <p:nvCxnSpPr>
          <p:cNvPr id="14" name="Connector 13"/>
          <p:cNvCxnSpPr/>
          <p:nvPr/>
        </p:nvCxnSpPr>
        <p:spPr>
          <a:xfrm>
            <a:off x="11887200" y="0"/>
            <a:ext cx="0" cy="6858000"/>
          </a:xfrm>
          <a:prstGeom prst="line">
            <a:avLst/>
          </a:prstGeom>
          <a:ln w="9525">
            <a:solidFill>
              <a:srgbClr val="151A22"/>
            </a:solidFill>
          </a:ln>
        </p:spPr>
      </p:cxnSp>
      <p:cxnSp>
        <p:nvCxnSpPr>
          <p:cNvPr id="15" name="Connector 14"/>
          <p:cNvCxnSpPr/>
          <p:nvPr/>
        </p:nvCxnSpPr>
        <p:spPr>
          <a:xfrm>
            <a:off x="0" y="914400"/>
            <a:ext cx="12192000" cy="0"/>
          </a:xfrm>
          <a:prstGeom prst="line">
            <a:avLst/>
          </a:prstGeom>
          <a:ln w="9525">
            <a:solidFill>
              <a:srgbClr val="151A22"/>
            </a:solidFill>
          </a:ln>
        </p:spPr>
      </p:cxnSp>
      <p:cxnSp>
        <p:nvCxnSpPr>
          <p:cNvPr id="16" name="Connector 15"/>
          <p:cNvCxnSpPr/>
          <p:nvPr/>
        </p:nvCxnSpPr>
        <p:spPr>
          <a:xfrm>
            <a:off x="0" y="1828800"/>
            <a:ext cx="12192000" cy="0"/>
          </a:xfrm>
          <a:prstGeom prst="line">
            <a:avLst/>
          </a:prstGeom>
          <a:ln w="9525">
            <a:solidFill>
              <a:srgbClr val="151A22"/>
            </a:solidFill>
          </a:ln>
        </p:spPr>
      </p:cxnSp>
      <p:cxnSp>
        <p:nvCxnSpPr>
          <p:cNvPr id="17" name="Connector 16"/>
          <p:cNvCxnSpPr/>
          <p:nvPr/>
        </p:nvCxnSpPr>
        <p:spPr>
          <a:xfrm>
            <a:off x="0" y="2743200"/>
            <a:ext cx="12192000" cy="0"/>
          </a:xfrm>
          <a:prstGeom prst="line">
            <a:avLst/>
          </a:prstGeom>
          <a:ln w="9525">
            <a:solidFill>
              <a:srgbClr val="151A22"/>
            </a:solidFill>
          </a:ln>
        </p:spPr>
      </p:cxnSp>
      <p:cxnSp>
        <p:nvCxnSpPr>
          <p:cNvPr id="18" name="Connector 17"/>
          <p:cNvCxnSpPr/>
          <p:nvPr/>
        </p:nvCxnSpPr>
        <p:spPr>
          <a:xfrm>
            <a:off x="0" y="3657600"/>
            <a:ext cx="12192000" cy="0"/>
          </a:xfrm>
          <a:prstGeom prst="line">
            <a:avLst/>
          </a:prstGeom>
          <a:ln w="9525">
            <a:solidFill>
              <a:srgbClr val="151A22"/>
            </a:solidFill>
          </a:ln>
        </p:spPr>
      </p:cxnSp>
      <p:cxnSp>
        <p:nvCxnSpPr>
          <p:cNvPr id="19" name="Connector 18"/>
          <p:cNvCxnSpPr/>
          <p:nvPr/>
        </p:nvCxnSpPr>
        <p:spPr>
          <a:xfrm>
            <a:off x="0" y="4572000"/>
            <a:ext cx="12192000" cy="0"/>
          </a:xfrm>
          <a:prstGeom prst="line">
            <a:avLst/>
          </a:prstGeom>
          <a:ln w="9525">
            <a:solidFill>
              <a:srgbClr val="151A22"/>
            </a:solidFill>
          </a:ln>
        </p:spPr>
      </p:cxnSp>
      <p:cxnSp>
        <p:nvCxnSpPr>
          <p:cNvPr id="20" name="Connector 19"/>
          <p:cNvCxnSpPr/>
          <p:nvPr/>
        </p:nvCxnSpPr>
        <p:spPr>
          <a:xfrm>
            <a:off x="0" y="5486400"/>
            <a:ext cx="12192000" cy="0"/>
          </a:xfrm>
          <a:prstGeom prst="line">
            <a:avLst/>
          </a:prstGeom>
          <a:ln w="9525">
            <a:solidFill>
              <a:srgbClr val="151A22"/>
            </a:solidFill>
          </a:ln>
        </p:spPr>
      </p:cxnSp>
      <p:cxnSp>
        <p:nvCxnSpPr>
          <p:cNvPr id="21" name="Connector 20"/>
          <p:cNvCxnSpPr/>
          <p:nvPr/>
        </p:nvCxnSpPr>
        <p:spPr>
          <a:xfrm>
            <a:off x="0" y="6400800"/>
            <a:ext cx="12192000" cy="0"/>
          </a:xfrm>
          <a:prstGeom prst="line">
            <a:avLst/>
          </a:prstGeom>
          <a:ln w="9525">
            <a:solidFill>
              <a:srgbClr val="151A22"/>
            </a:solidFill>
          </a:ln>
        </p:spPr>
      </p:cxnSp>
      <p:sp>
        <p:nvSpPr>
          <p:cNvPr id="22" name="Rectangle 2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23" name="TextBox 2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A9B3C0"/>
                </a:solidFill>
                <a:latin typeface="Arial Narrow"/>
              </a:rPr>
              <a:t>ACT 1 · ENERGY</a:t>
            </a:r>
          </a:p>
        </p:txBody>
      </p:sp>
      <p:sp>
        <p:nvSpPr>
          <p:cNvPr id="24" name="Rounded Rectangle 23"/>
          <p:cNvSpPr/>
          <p:nvPr/>
        </p:nvSpPr>
        <p:spPr>
          <a:xfrm>
            <a:off x="10058400" y="274320"/>
            <a:ext cx="1444752" cy="329184"/>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1500" b="1" i="0" spc="60">
                <a:solidFill>
                  <a:srgbClr val="12161C"/>
                </a:solidFill>
                <a:latin typeface="Arial"/>
              </a:rPr>
              <a:t>+100 EP</a:t>
            </a:r>
          </a:p>
        </p:txBody>
      </p:sp>
      <p:sp>
        <p:nvSpPr>
          <p:cNvPr id="25" name="TextBox 2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6F7A89"/>
                </a:solidFill>
                <a:latin typeface="Arial Narrow"/>
              </a:rPr>
              <a:t>ENERGY LAB  ·  CRASH TEST #05</a:t>
            </a:r>
          </a:p>
        </p:txBody>
      </p:sp>
      <p:sp>
        <p:nvSpPr>
          <p:cNvPr id="26" name="Rectangle 25"/>
          <p:cNvSpPr/>
          <p:nvPr/>
        </p:nvSpPr>
        <p:spPr>
          <a:xfrm>
            <a:off x="4526280" y="6510528"/>
            <a:ext cx="127363" cy="54864"/>
          </a:xfrm>
          <a:prstGeom prst="rect">
            <a:avLst/>
          </a:prstGeom>
          <a:solidFill>
            <a:srgbClr val="8A6A1A"/>
          </a:solidFill>
          <a:ln>
            <a:noFill/>
          </a:ln>
        </p:spPr>
        <p:txBody>
          <a:bodyPr rtlCol="0" anchor="ctr"/>
          <a:lstStyle/>
          <a:p>
            <a:pPr algn="ctr"/>
          </a:p>
        </p:txBody>
      </p:sp>
      <p:sp>
        <p:nvSpPr>
          <p:cNvPr id="27" name="Rectangle 26"/>
          <p:cNvSpPr/>
          <p:nvPr/>
        </p:nvSpPr>
        <p:spPr>
          <a:xfrm>
            <a:off x="4676503" y="6510528"/>
            <a:ext cx="187452" cy="54864"/>
          </a:xfrm>
          <a:prstGeom prst="rect">
            <a:avLst/>
          </a:prstGeom>
          <a:solidFill>
            <a:srgbClr val="8A6A1A"/>
          </a:solidFill>
          <a:ln>
            <a:noFill/>
          </a:ln>
        </p:spPr>
        <p:txBody>
          <a:bodyPr rtlCol="0" anchor="ctr"/>
          <a:lstStyle/>
          <a:p>
            <a:pPr algn="ctr"/>
          </a:p>
        </p:txBody>
      </p:sp>
      <p:sp>
        <p:nvSpPr>
          <p:cNvPr id="28" name="Rectangle 27"/>
          <p:cNvSpPr/>
          <p:nvPr/>
        </p:nvSpPr>
        <p:spPr>
          <a:xfrm>
            <a:off x="4886815" y="6510528"/>
            <a:ext cx="157407" cy="54864"/>
          </a:xfrm>
          <a:prstGeom prst="rect">
            <a:avLst/>
          </a:prstGeom>
          <a:solidFill>
            <a:srgbClr val="FFB400"/>
          </a:solidFill>
          <a:ln>
            <a:noFill/>
          </a:ln>
        </p:spPr>
        <p:txBody>
          <a:bodyPr rtlCol="0" anchor="ctr"/>
          <a:lstStyle/>
          <a:p>
            <a:pPr algn="ctr"/>
          </a:p>
        </p:txBody>
      </p:sp>
      <p:sp>
        <p:nvSpPr>
          <p:cNvPr id="29" name="Rectangle 28"/>
          <p:cNvSpPr/>
          <p:nvPr/>
        </p:nvSpPr>
        <p:spPr>
          <a:xfrm>
            <a:off x="5067082" y="6510528"/>
            <a:ext cx="337675" cy="54864"/>
          </a:xfrm>
          <a:prstGeom prst="rect">
            <a:avLst/>
          </a:prstGeom>
          <a:solidFill>
            <a:srgbClr val="2A3240"/>
          </a:solidFill>
          <a:ln>
            <a:noFill/>
          </a:ln>
        </p:spPr>
        <p:txBody>
          <a:bodyPr rtlCol="0" anchor="ctr"/>
          <a:lstStyle/>
          <a:p>
            <a:pPr algn="ctr"/>
          </a:p>
        </p:txBody>
      </p:sp>
      <p:sp>
        <p:nvSpPr>
          <p:cNvPr id="30" name="Rectangle 29"/>
          <p:cNvSpPr/>
          <p:nvPr/>
        </p:nvSpPr>
        <p:spPr>
          <a:xfrm>
            <a:off x="5427617" y="6510528"/>
            <a:ext cx="247541" cy="54864"/>
          </a:xfrm>
          <a:prstGeom prst="rect">
            <a:avLst/>
          </a:prstGeom>
          <a:solidFill>
            <a:srgbClr val="2A3240"/>
          </a:solidFill>
          <a:ln>
            <a:noFill/>
          </a:ln>
        </p:spPr>
        <p:txBody>
          <a:bodyPr rtlCol="0" anchor="ctr"/>
          <a:lstStyle/>
          <a:p>
            <a:pPr algn="ctr"/>
          </a:p>
        </p:txBody>
      </p:sp>
      <p:sp>
        <p:nvSpPr>
          <p:cNvPr id="31" name="Rectangle 30"/>
          <p:cNvSpPr/>
          <p:nvPr/>
        </p:nvSpPr>
        <p:spPr>
          <a:xfrm>
            <a:off x="5698018" y="6510528"/>
            <a:ext cx="67274" cy="54864"/>
          </a:xfrm>
          <a:prstGeom prst="rect">
            <a:avLst/>
          </a:prstGeom>
          <a:solidFill>
            <a:srgbClr val="2A3240"/>
          </a:solidFill>
          <a:ln>
            <a:noFill/>
          </a:ln>
        </p:spPr>
        <p:txBody>
          <a:bodyPr rtlCol="0" anchor="ctr"/>
          <a:lstStyle/>
          <a:p>
            <a:pPr algn="ctr"/>
          </a:p>
        </p:txBody>
      </p:sp>
      <p:sp>
        <p:nvSpPr>
          <p:cNvPr id="32" name="Rectangle 31"/>
          <p:cNvSpPr/>
          <p:nvPr/>
        </p:nvSpPr>
        <p:spPr>
          <a:xfrm>
            <a:off x="5788152" y="6510528"/>
            <a:ext cx="397764" cy="54864"/>
          </a:xfrm>
          <a:prstGeom prst="rect">
            <a:avLst/>
          </a:prstGeom>
          <a:solidFill>
            <a:srgbClr val="2A3240"/>
          </a:solidFill>
          <a:ln>
            <a:noFill/>
          </a:ln>
        </p:spPr>
        <p:txBody>
          <a:bodyPr rtlCol="0" anchor="ctr"/>
          <a:lstStyle/>
          <a:p>
            <a:pPr algn="ctr"/>
          </a:p>
        </p:txBody>
      </p:sp>
      <p:sp>
        <p:nvSpPr>
          <p:cNvPr id="33" name="Rectangle 32"/>
          <p:cNvSpPr/>
          <p:nvPr/>
        </p:nvSpPr>
        <p:spPr>
          <a:xfrm>
            <a:off x="6208776" y="6510528"/>
            <a:ext cx="187452" cy="54864"/>
          </a:xfrm>
          <a:prstGeom prst="rect">
            <a:avLst/>
          </a:prstGeom>
          <a:solidFill>
            <a:srgbClr val="2A3240"/>
          </a:solidFill>
          <a:ln>
            <a:noFill/>
          </a:ln>
        </p:spPr>
        <p:txBody>
          <a:bodyPr rtlCol="0" anchor="ctr"/>
          <a:lstStyle/>
          <a:p>
            <a:pPr algn="ctr"/>
          </a:p>
        </p:txBody>
      </p:sp>
      <p:sp>
        <p:nvSpPr>
          <p:cNvPr id="34" name="Rectangle 33"/>
          <p:cNvSpPr/>
          <p:nvPr/>
        </p:nvSpPr>
        <p:spPr>
          <a:xfrm>
            <a:off x="6419088" y="6510528"/>
            <a:ext cx="367719" cy="54864"/>
          </a:xfrm>
          <a:prstGeom prst="rect">
            <a:avLst/>
          </a:prstGeom>
          <a:solidFill>
            <a:srgbClr val="2A3240"/>
          </a:solidFill>
          <a:ln>
            <a:noFill/>
          </a:ln>
        </p:spPr>
        <p:txBody>
          <a:bodyPr rtlCol="0" anchor="ctr"/>
          <a:lstStyle/>
          <a:p>
            <a:pPr algn="ctr"/>
          </a:p>
        </p:txBody>
      </p:sp>
      <p:sp>
        <p:nvSpPr>
          <p:cNvPr id="35" name="Rectangle 34"/>
          <p:cNvSpPr/>
          <p:nvPr/>
        </p:nvSpPr>
        <p:spPr>
          <a:xfrm>
            <a:off x="6809667" y="6510528"/>
            <a:ext cx="157407" cy="54864"/>
          </a:xfrm>
          <a:prstGeom prst="rect">
            <a:avLst/>
          </a:prstGeom>
          <a:solidFill>
            <a:srgbClr val="2A3240"/>
          </a:solidFill>
          <a:ln>
            <a:noFill/>
          </a:ln>
        </p:spPr>
        <p:txBody>
          <a:bodyPr rtlCol="0" anchor="ctr"/>
          <a:lstStyle/>
          <a:p>
            <a:pPr algn="ctr"/>
          </a:p>
        </p:txBody>
      </p:sp>
      <p:sp>
        <p:nvSpPr>
          <p:cNvPr id="36" name="Rectangle 35"/>
          <p:cNvSpPr/>
          <p:nvPr/>
        </p:nvSpPr>
        <p:spPr>
          <a:xfrm>
            <a:off x="6989935" y="6510528"/>
            <a:ext cx="217497" cy="54864"/>
          </a:xfrm>
          <a:prstGeom prst="rect">
            <a:avLst/>
          </a:prstGeom>
          <a:solidFill>
            <a:srgbClr val="2A3240"/>
          </a:solidFill>
          <a:ln>
            <a:noFill/>
          </a:ln>
        </p:spPr>
        <p:txBody>
          <a:bodyPr rtlCol="0" anchor="ctr"/>
          <a:lstStyle/>
          <a:p>
            <a:pPr algn="ctr"/>
          </a:p>
        </p:txBody>
      </p:sp>
      <p:sp>
        <p:nvSpPr>
          <p:cNvPr id="37" name="Rectangle 36"/>
          <p:cNvSpPr/>
          <p:nvPr/>
        </p:nvSpPr>
        <p:spPr>
          <a:xfrm>
            <a:off x="7230291" y="6510528"/>
            <a:ext cx="217497" cy="54864"/>
          </a:xfrm>
          <a:prstGeom prst="rect">
            <a:avLst/>
          </a:prstGeom>
          <a:solidFill>
            <a:srgbClr val="2A3240"/>
          </a:solidFill>
          <a:ln>
            <a:noFill/>
          </a:ln>
        </p:spPr>
        <p:txBody>
          <a:bodyPr rtlCol="0" anchor="ctr"/>
          <a:lstStyle/>
          <a:p>
            <a:pPr algn="ctr"/>
          </a:p>
        </p:txBody>
      </p:sp>
      <p:sp>
        <p:nvSpPr>
          <p:cNvPr id="38" name="Rectangle 37"/>
          <p:cNvSpPr/>
          <p:nvPr/>
        </p:nvSpPr>
        <p:spPr>
          <a:xfrm>
            <a:off x="7470648" y="6510528"/>
            <a:ext cx="97318" cy="54864"/>
          </a:xfrm>
          <a:prstGeom prst="rect">
            <a:avLst/>
          </a:prstGeom>
          <a:solidFill>
            <a:srgbClr val="2A3240"/>
          </a:solidFill>
          <a:ln>
            <a:noFill/>
          </a:ln>
        </p:spPr>
        <p:txBody>
          <a:bodyPr rtlCol="0" anchor="ctr"/>
          <a:lstStyle/>
          <a:p>
            <a:pPr algn="ctr"/>
          </a:p>
        </p:txBody>
      </p:sp>
      <p:sp>
        <p:nvSpPr>
          <p:cNvPr id="39" name="Rectangle 38"/>
          <p:cNvSpPr/>
          <p:nvPr/>
        </p:nvSpPr>
        <p:spPr>
          <a:xfrm>
            <a:off x="7590826" y="6510528"/>
            <a:ext cx="67274" cy="54864"/>
          </a:xfrm>
          <a:prstGeom prst="rect">
            <a:avLst/>
          </a:prstGeom>
          <a:solidFill>
            <a:srgbClr val="2A3240"/>
          </a:solidFill>
          <a:ln>
            <a:noFill/>
          </a:ln>
        </p:spPr>
        <p:txBody>
          <a:bodyPr rtlCol="0" anchor="ctr"/>
          <a:lstStyle/>
          <a:p>
            <a:pPr algn="ctr"/>
          </a:p>
        </p:txBody>
      </p:sp>
      <p:sp>
        <p:nvSpPr>
          <p:cNvPr id="40" name="TextBox 3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6F7A89"/>
                </a:solidFill>
                <a:latin typeface="Arial Narrow"/>
              </a:rPr>
              <a:t>10</a:t>
            </a:fld>
          </a:p>
        </p:txBody>
      </p:sp>
      <p:sp>
        <p:nvSpPr>
          <p:cNvPr id="41" name="TextBox 40"/>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A9B3C0"/>
                </a:solidFill>
                <a:latin typeface="Arial Narrow"/>
              </a:rPr>
              <a:t>GAME 1 · ENERGY SCAN</a:t>
            </a:r>
          </a:p>
        </p:txBody>
      </p:sp>
      <p:sp>
        <p:nvSpPr>
          <p:cNvPr id="42" name="TextBox 41"/>
          <p:cNvSpPr txBox="1"/>
          <p:nvPr/>
        </p:nvSpPr>
        <p:spPr>
          <a:xfrm>
            <a:off x="685800" y="1188720"/>
            <a:ext cx="10789920" cy="1005840"/>
          </a:xfrm>
          <a:prstGeom prst="rect">
            <a:avLst/>
          </a:prstGeom>
          <a:noFill/>
        </p:spPr>
        <p:txBody>
          <a:bodyPr wrap="square" anchor="t" lIns="0" rIns="0" tIns="0" bIns="0">
            <a:noAutofit/>
          </a:bodyPr>
          <a:lstStyle/>
          <a:p>
            <a:pPr algn="l">
              <a:lnSpc>
                <a:spcPct val="100000"/>
              </a:lnSpc>
              <a:spcBef>
                <a:spcPts val="0"/>
              </a:spcBef>
              <a:spcAft>
                <a:spcPts val="0"/>
              </a:spcAft>
            </a:pPr>
            <a:r>
              <a:rPr sz="5000" b="0" i="0">
                <a:solidFill>
                  <a:srgbClr val="F4F6F8"/>
                </a:solidFill>
                <a:latin typeface="Arial Black"/>
              </a:rPr>
              <a:t>SHOW ME THE ENERGY.</a:t>
            </a:r>
          </a:p>
        </p:txBody>
      </p:sp>
      <p:sp>
        <p:nvSpPr>
          <p:cNvPr id="43" name="Rounded Rectangle 42"/>
          <p:cNvSpPr/>
          <p:nvPr/>
        </p:nvSpPr>
        <p:spPr>
          <a:xfrm>
            <a:off x="685800" y="2514600"/>
            <a:ext cx="5257800" cy="2468880"/>
          </a:xfrm>
          <a:prstGeom prst="roundRect">
            <a:avLst>
              <a:gd name="adj" fmla="val 5185"/>
            </a:avLst>
          </a:prstGeom>
          <a:solidFill>
            <a:srgbClr val="1A2029"/>
          </a:solidFill>
          <a:ln w="25400">
            <a:solidFill>
              <a:srgbClr val="FFB400"/>
            </a:solidFill>
          </a:ln>
        </p:spPr>
        <p:txBody>
          <a:bodyPr rtlCol="0" anchor="ctr"/>
          <a:lstStyle/>
          <a:p>
            <a:pPr algn="ctr"/>
          </a:p>
        </p:txBody>
      </p:sp>
      <p:sp>
        <p:nvSpPr>
          <p:cNvPr id="44" name="Rounded Rectangle 43"/>
          <p:cNvSpPr/>
          <p:nvPr/>
        </p:nvSpPr>
        <p:spPr>
          <a:xfrm>
            <a:off x="1386230" y="3586277"/>
            <a:ext cx="1250899" cy="903427"/>
          </a:xfrm>
          <a:prstGeom prst="roundRect">
            <a:avLst>
              <a:gd name="adj" fmla="val 23076"/>
            </a:avLst>
          </a:prstGeom>
          <a:solidFill>
            <a:srgbClr val="F4F6F8"/>
          </a:solidFill>
          <a:ln w="31750">
            <a:solidFill>
              <a:srgbClr val="0E1116"/>
            </a:solidFill>
          </a:ln>
        </p:spPr>
        <p:txBody>
          <a:bodyPr rtlCol="0" anchor="ctr"/>
          <a:lstStyle/>
          <a:p>
            <a:pPr algn="ctr"/>
          </a:p>
        </p:txBody>
      </p:sp>
      <p:sp>
        <p:nvSpPr>
          <p:cNvPr id="45" name="Rounded Rectangle 44"/>
          <p:cNvSpPr/>
          <p:nvPr/>
        </p:nvSpPr>
        <p:spPr>
          <a:xfrm>
            <a:off x="1386230" y="3204058"/>
            <a:ext cx="312725" cy="555955"/>
          </a:xfrm>
          <a:prstGeom prst="roundRect">
            <a:avLst>
              <a:gd name="adj" fmla="val 38888"/>
            </a:avLst>
          </a:prstGeom>
          <a:solidFill>
            <a:srgbClr val="F4F6F8"/>
          </a:solidFill>
          <a:ln w="31750">
            <a:solidFill>
              <a:srgbClr val="0E1116"/>
            </a:solidFill>
          </a:ln>
        </p:spPr>
        <p:txBody>
          <a:bodyPr rtlCol="0" anchor="ctr"/>
          <a:lstStyle/>
          <a:p>
            <a:pPr algn="ctr"/>
          </a:p>
        </p:txBody>
      </p:sp>
      <p:sp>
        <p:nvSpPr>
          <p:cNvPr id="46" name="Rounded Rectangle 45"/>
          <p:cNvSpPr/>
          <p:nvPr/>
        </p:nvSpPr>
        <p:spPr>
          <a:xfrm>
            <a:off x="1698955" y="3204058"/>
            <a:ext cx="312725" cy="555955"/>
          </a:xfrm>
          <a:prstGeom prst="roundRect">
            <a:avLst>
              <a:gd name="adj" fmla="val 38888"/>
            </a:avLst>
          </a:prstGeom>
          <a:solidFill>
            <a:srgbClr val="F4F6F8"/>
          </a:solidFill>
          <a:ln w="31750">
            <a:solidFill>
              <a:srgbClr val="0E1116"/>
            </a:solidFill>
          </a:ln>
        </p:spPr>
        <p:txBody>
          <a:bodyPr rtlCol="0" anchor="ctr"/>
          <a:lstStyle/>
          <a:p>
            <a:pPr algn="ctr"/>
          </a:p>
        </p:txBody>
      </p:sp>
      <p:sp>
        <p:nvSpPr>
          <p:cNvPr id="47" name="Rounded Rectangle 46"/>
          <p:cNvSpPr/>
          <p:nvPr/>
        </p:nvSpPr>
        <p:spPr>
          <a:xfrm>
            <a:off x="2011680" y="3204058"/>
            <a:ext cx="312725" cy="555955"/>
          </a:xfrm>
          <a:prstGeom prst="roundRect">
            <a:avLst>
              <a:gd name="adj" fmla="val 38888"/>
            </a:avLst>
          </a:prstGeom>
          <a:solidFill>
            <a:srgbClr val="F4F6F8"/>
          </a:solidFill>
          <a:ln w="31750">
            <a:solidFill>
              <a:srgbClr val="0E1116"/>
            </a:solidFill>
          </a:ln>
        </p:spPr>
        <p:txBody>
          <a:bodyPr rtlCol="0" anchor="ctr"/>
          <a:lstStyle/>
          <a:p>
            <a:pPr algn="ctr"/>
          </a:p>
        </p:txBody>
      </p:sp>
      <p:sp>
        <p:nvSpPr>
          <p:cNvPr id="48" name="Rounded Rectangle 47"/>
          <p:cNvSpPr/>
          <p:nvPr/>
        </p:nvSpPr>
        <p:spPr>
          <a:xfrm>
            <a:off x="2324405" y="3204058"/>
            <a:ext cx="312725" cy="555955"/>
          </a:xfrm>
          <a:prstGeom prst="roundRect">
            <a:avLst>
              <a:gd name="adj" fmla="val 38888"/>
            </a:avLst>
          </a:prstGeom>
          <a:solidFill>
            <a:srgbClr val="F4F6F8"/>
          </a:solidFill>
          <a:ln w="31750">
            <a:solidFill>
              <a:srgbClr val="0E1116"/>
            </a:solidFill>
          </a:ln>
        </p:spPr>
        <p:txBody>
          <a:bodyPr rtlCol="0" anchor="ctr"/>
          <a:lstStyle/>
          <a:p>
            <a:pPr algn="ctr"/>
          </a:p>
        </p:txBody>
      </p:sp>
      <p:sp>
        <p:nvSpPr>
          <p:cNvPr id="49" name="Rounded Rectangle 48"/>
          <p:cNvSpPr/>
          <p:nvPr/>
        </p:nvSpPr>
        <p:spPr>
          <a:xfrm>
            <a:off x="1281989" y="3899002"/>
            <a:ext cx="903427" cy="295351"/>
          </a:xfrm>
          <a:prstGeom prst="roundRect">
            <a:avLst>
              <a:gd name="adj" fmla="val 47058"/>
            </a:avLst>
          </a:prstGeom>
          <a:solidFill>
            <a:srgbClr val="F4F6F8"/>
          </a:solidFill>
          <a:ln w="31750">
            <a:solidFill>
              <a:srgbClr val="0E1116"/>
            </a:solidFill>
          </a:ln>
        </p:spPr>
        <p:txBody>
          <a:bodyPr rtlCol="0" anchor="ctr"/>
          <a:lstStyle/>
          <a:p>
            <a:pPr algn="ctr"/>
          </a:p>
        </p:txBody>
      </p:sp>
      <p:sp>
        <p:nvSpPr>
          <p:cNvPr id="50" name="TextBox 49"/>
          <p:cNvSpPr txBox="1"/>
          <p:nvPr/>
        </p:nvSpPr>
        <p:spPr>
          <a:xfrm>
            <a:off x="3200400" y="3017520"/>
            <a:ext cx="2697480" cy="822960"/>
          </a:xfrm>
          <a:prstGeom prst="rect">
            <a:avLst/>
          </a:prstGeom>
          <a:noFill/>
        </p:spPr>
        <p:txBody>
          <a:bodyPr wrap="square" anchor="t" lIns="0" rIns="0" tIns="0" bIns="0">
            <a:noAutofit/>
          </a:bodyPr>
          <a:lstStyle/>
          <a:p>
            <a:pPr algn="l">
              <a:lnSpc>
                <a:spcPct val="100000"/>
              </a:lnSpc>
              <a:spcBef>
                <a:spcPts val="0"/>
              </a:spcBef>
              <a:spcAft>
                <a:spcPts val="0"/>
              </a:spcAft>
            </a:pPr>
            <a:r>
              <a:rPr sz="3400" b="0" i="0">
                <a:solidFill>
                  <a:srgbClr val="F4F6F8"/>
                </a:solidFill>
                <a:latin typeface="Arial Black"/>
              </a:rPr>
              <a:t>FIST</a:t>
            </a:r>
          </a:p>
        </p:txBody>
      </p:sp>
      <p:sp>
        <p:nvSpPr>
          <p:cNvPr id="51" name="TextBox 50"/>
          <p:cNvSpPr txBox="1"/>
          <p:nvPr/>
        </p:nvSpPr>
        <p:spPr>
          <a:xfrm>
            <a:off x="3291840" y="3794760"/>
            <a:ext cx="2560320" cy="640080"/>
          </a:xfrm>
          <a:prstGeom prst="rect">
            <a:avLst/>
          </a:prstGeom>
          <a:noFill/>
        </p:spPr>
        <p:txBody>
          <a:bodyPr wrap="square" anchor="t" lIns="0" rIns="0" tIns="0" bIns="0">
            <a:noAutofit/>
          </a:bodyPr>
          <a:lstStyle/>
          <a:p>
            <a:pPr algn="l">
              <a:lnSpc>
                <a:spcPct val="100000"/>
              </a:lnSpc>
              <a:spcBef>
                <a:spcPts val="0"/>
              </a:spcBef>
              <a:spcAft>
                <a:spcPts val="0"/>
              </a:spcAft>
            </a:pPr>
            <a:r>
              <a:rPr sz="2800" b="1" i="0">
                <a:solidFill>
                  <a:srgbClr val="FFB400"/>
                </a:solidFill>
                <a:latin typeface="Arial"/>
              </a:rPr>
              <a:t>= POTENTIAL</a:t>
            </a:r>
          </a:p>
        </p:txBody>
      </p:sp>
      <p:sp>
        <p:nvSpPr>
          <p:cNvPr id="52" name="Rounded Rectangle 51"/>
          <p:cNvSpPr/>
          <p:nvPr/>
        </p:nvSpPr>
        <p:spPr>
          <a:xfrm>
            <a:off x="6217920" y="2514600"/>
            <a:ext cx="5257800" cy="2468880"/>
          </a:xfrm>
          <a:prstGeom prst="roundRect">
            <a:avLst>
              <a:gd name="adj" fmla="val 5185"/>
            </a:avLst>
          </a:prstGeom>
          <a:solidFill>
            <a:srgbClr val="1A2029"/>
          </a:solidFill>
          <a:ln w="25400">
            <a:solidFill>
              <a:srgbClr val="FFB400"/>
            </a:solidFill>
          </a:ln>
        </p:spPr>
        <p:txBody>
          <a:bodyPr rtlCol="0" anchor="ctr"/>
          <a:lstStyle/>
          <a:p>
            <a:pPr algn="ctr"/>
          </a:p>
        </p:txBody>
      </p:sp>
      <p:sp>
        <p:nvSpPr>
          <p:cNvPr id="53" name="Rounded Rectangle 52"/>
          <p:cNvSpPr/>
          <p:nvPr/>
        </p:nvSpPr>
        <p:spPr>
          <a:xfrm>
            <a:off x="7022592" y="3760013"/>
            <a:ext cx="1042416" cy="799186"/>
          </a:xfrm>
          <a:prstGeom prst="roundRect">
            <a:avLst>
              <a:gd name="adj" fmla="val 30434"/>
            </a:avLst>
          </a:prstGeom>
          <a:solidFill>
            <a:srgbClr val="F4F6F8"/>
          </a:solidFill>
          <a:ln w="31750">
            <a:solidFill>
              <a:srgbClr val="0E1116"/>
            </a:solidFill>
          </a:ln>
        </p:spPr>
        <p:txBody>
          <a:bodyPr rtlCol="0" anchor="ctr"/>
          <a:lstStyle/>
          <a:p>
            <a:pPr algn="ctr"/>
          </a:p>
        </p:txBody>
      </p:sp>
      <p:sp>
        <p:nvSpPr>
          <p:cNvPr id="54" name="Rounded Rectangle 53"/>
          <p:cNvSpPr/>
          <p:nvPr/>
        </p:nvSpPr>
        <p:spPr>
          <a:xfrm>
            <a:off x="7039966" y="3030322"/>
            <a:ext cx="225857" cy="833933"/>
          </a:xfrm>
          <a:prstGeom prst="roundRect">
            <a:avLst>
              <a:gd name="adj" fmla="val 46153"/>
            </a:avLst>
          </a:prstGeom>
          <a:solidFill>
            <a:srgbClr val="F4F6F8"/>
          </a:solidFill>
          <a:ln w="31750">
            <a:solidFill>
              <a:srgbClr val="0E1116"/>
            </a:solidFill>
          </a:ln>
        </p:spPr>
        <p:txBody>
          <a:bodyPr rtlCol="0" anchor="ctr"/>
          <a:lstStyle/>
          <a:p>
            <a:pPr algn="ctr"/>
          </a:p>
        </p:txBody>
      </p:sp>
      <p:sp>
        <p:nvSpPr>
          <p:cNvPr id="55" name="Rounded Rectangle 54"/>
          <p:cNvSpPr/>
          <p:nvPr/>
        </p:nvSpPr>
        <p:spPr>
          <a:xfrm>
            <a:off x="7300570" y="2856586"/>
            <a:ext cx="225857" cy="1007669"/>
          </a:xfrm>
          <a:prstGeom prst="roundRect">
            <a:avLst>
              <a:gd name="adj" fmla="val 46153"/>
            </a:avLst>
          </a:prstGeom>
          <a:solidFill>
            <a:srgbClr val="F4F6F8"/>
          </a:solidFill>
          <a:ln w="31750">
            <a:solidFill>
              <a:srgbClr val="0E1116"/>
            </a:solidFill>
          </a:ln>
        </p:spPr>
        <p:txBody>
          <a:bodyPr rtlCol="0" anchor="ctr"/>
          <a:lstStyle/>
          <a:p>
            <a:pPr algn="ctr"/>
          </a:p>
        </p:txBody>
      </p:sp>
      <p:sp>
        <p:nvSpPr>
          <p:cNvPr id="56" name="Rounded Rectangle 55"/>
          <p:cNvSpPr/>
          <p:nvPr/>
        </p:nvSpPr>
        <p:spPr>
          <a:xfrm>
            <a:off x="7561174" y="2926080"/>
            <a:ext cx="225857" cy="938174"/>
          </a:xfrm>
          <a:prstGeom prst="roundRect">
            <a:avLst>
              <a:gd name="adj" fmla="val 46153"/>
            </a:avLst>
          </a:prstGeom>
          <a:solidFill>
            <a:srgbClr val="F4F6F8"/>
          </a:solidFill>
          <a:ln w="31750">
            <a:solidFill>
              <a:srgbClr val="0E1116"/>
            </a:solidFill>
          </a:ln>
        </p:spPr>
        <p:txBody>
          <a:bodyPr rtlCol="0" anchor="ctr"/>
          <a:lstStyle/>
          <a:p>
            <a:pPr algn="ctr"/>
          </a:p>
        </p:txBody>
      </p:sp>
      <p:sp>
        <p:nvSpPr>
          <p:cNvPr id="57" name="Rounded Rectangle 56"/>
          <p:cNvSpPr/>
          <p:nvPr/>
        </p:nvSpPr>
        <p:spPr>
          <a:xfrm>
            <a:off x="7821778" y="3099816"/>
            <a:ext cx="225857" cy="764438"/>
          </a:xfrm>
          <a:prstGeom prst="roundRect">
            <a:avLst>
              <a:gd name="adj" fmla="val 46153"/>
            </a:avLst>
          </a:prstGeom>
          <a:solidFill>
            <a:srgbClr val="F4F6F8"/>
          </a:solidFill>
          <a:ln w="31750">
            <a:solidFill>
              <a:srgbClr val="0E1116"/>
            </a:solidFill>
          </a:ln>
        </p:spPr>
        <p:txBody>
          <a:bodyPr rtlCol="0" anchor="ctr"/>
          <a:lstStyle/>
          <a:p>
            <a:pPr algn="ctr"/>
          </a:p>
        </p:txBody>
      </p:sp>
      <p:sp>
        <p:nvSpPr>
          <p:cNvPr id="58" name="Rounded Rectangle 57"/>
          <p:cNvSpPr/>
          <p:nvPr/>
        </p:nvSpPr>
        <p:spPr>
          <a:xfrm rot="19680000">
            <a:off x="6727241" y="3829507"/>
            <a:ext cx="555955" cy="243230"/>
          </a:xfrm>
          <a:prstGeom prst="roundRect">
            <a:avLst>
              <a:gd name="adj" fmla="val 50000"/>
            </a:avLst>
          </a:prstGeom>
          <a:solidFill>
            <a:srgbClr val="F4F6F8"/>
          </a:solidFill>
          <a:ln w="31750">
            <a:solidFill>
              <a:srgbClr val="0E1116"/>
            </a:solidFill>
          </a:ln>
        </p:spPr>
        <p:txBody>
          <a:bodyPr rtlCol="0" anchor="ctr"/>
          <a:lstStyle/>
          <a:p>
            <a:pPr algn="ctr"/>
          </a:p>
        </p:txBody>
      </p:sp>
      <p:sp>
        <p:nvSpPr>
          <p:cNvPr id="59" name="TextBox 58"/>
          <p:cNvSpPr txBox="1"/>
          <p:nvPr/>
        </p:nvSpPr>
        <p:spPr>
          <a:xfrm>
            <a:off x="8732520" y="3017520"/>
            <a:ext cx="2697480" cy="822960"/>
          </a:xfrm>
          <a:prstGeom prst="rect">
            <a:avLst/>
          </a:prstGeom>
          <a:noFill/>
        </p:spPr>
        <p:txBody>
          <a:bodyPr wrap="square" anchor="t" lIns="0" rIns="0" tIns="0" bIns="0">
            <a:noAutofit/>
          </a:bodyPr>
          <a:lstStyle/>
          <a:p>
            <a:pPr algn="l">
              <a:lnSpc>
                <a:spcPct val="100000"/>
              </a:lnSpc>
              <a:spcBef>
                <a:spcPts val="0"/>
              </a:spcBef>
              <a:spcAft>
                <a:spcPts val="0"/>
              </a:spcAft>
            </a:pPr>
            <a:r>
              <a:rPr sz="2800" b="0" i="0">
                <a:solidFill>
                  <a:srgbClr val="F4F6F8"/>
                </a:solidFill>
                <a:latin typeface="Arial Black"/>
              </a:rPr>
              <a:t>OPEN HAND</a:t>
            </a:r>
          </a:p>
        </p:txBody>
      </p:sp>
      <p:sp>
        <p:nvSpPr>
          <p:cNvPr id="60" name="TextBox 59"/>
          <p:cNvSpPr txBox="1"/>
          <p:nvPr/>
        </p:nvSpPr>
        <p:spPr>
          <a:xfrm>
            <a:off x="8823960" y="3794760"/>
            <a:ext cx="2560320" cy="640080"/>
          </a:xfrm>
          <a:prstGeom prst="rect">
            <a:avLst/>
          </a:prstGeom>
          <a:noFill/>
        </p:spPr>
        <p:txBody>
          <a:bodyPr wrap="square" anchor="t" lIns="0" rIns="0" tIns="0" bIns="0">
            <a:noAutofit/>
          </a:bodyPr>
          <a:lstStyle/>
          <a:p>
            <a:pPr algn="l">
              <a:lnSpc>
                <a:spcPct val="100000"/>
              </a:lnSpc>
              <a:spcBef>
                <a:spcPts val="0"/>
              </a:spcBef>
              <a:spcAft>
                <a:spcPts val="0"/>
              </a:spcAft>
            </a:pPr>
            <a:r>
              <a:rPr sz="2800" b="1" i="0">
                <a:solidFill>
                  <a:srgbClr val="FFB400"/>
                </a:solidFill>
                <a:latin typeface="Arial"/>
              </a:rPr>
              <a:t>= KINETIC</a:t>
            </a:r>
          </a:p>
        </p:txBody>
      </p:sp>
      <p:sp>
        <p:nvSpPr>
          <p:cNvPr id="61" name="TextBox 60"/>
          <p:cNvSpPr txBox="1"/>
          <p:nvPr/>
        </p:nvSpPr>
        <p:spPr>
          <a:xfrm>
            <a:off x="685800" y="5257800"/>
            <a:ext cx="10817352" cy="960120"/>
          </a:xfrm>
          <a:prstGeom prst="rect">
            <a:avLst/>
          </a:prstGeom>
          <a:noFill/>
        </p:spPr>
        <p:txBody>
          <a:bodyPr wrap="square" anchor="t" lIns="0" rIns="0" tIns="0" bIns="0">
            <a:noAutofit/>
          </a:bodyPr>
          <a:lstStyle/>
          <a:p>
            <a:pPr algn="l">
              <a:lnSpc>
                <a:spcPct val="100000"/>
              </a:lnSpc>
              <a:spcBef>
                <a:spcPts val="0"/>
              </a:spcBef>
              <a:spcAft>
                <a:spcPts val="400"/>
              </a:spcAft>
            </a:pPr>
            <a:r>
              <a:rPr sz="2400" b="0" i="0">
                <a:solidFill>
                  <a:srgbClr val="F4F6F8"/>
                </a:solidFill>
                <a:latin typeface="Arial"/>
              </a:rPr>
              <a:t>I say </a:t>
            </a:r>
            <a:r>
              <a:rPr sz="2400" b="1" i="0">
                <a:solidFill>
                  <a:srgbClr val="FFB400"/>
                </a:solidFill>
                <a:latin typeface="Arial"/>
              </a:rPr>
              <a:t>3 · 2 · 1 · SHOW!</a:t>
            </a:r>
          </a:p>
          <a:p>
            <a:pPr algn="l">
              <a:lnSpc>
                <a:spcPct val="100000"/>
              </a:lnSpc>
              <a:spcBef>
                <a:spcPts val="0"/>
              </a:spcBef>
              <a:spcAft>
                <a:spcPts val="400"/>
              </a:spcAft>
            </a:pPr>
            <a:r>
              <a:rPr sz="2400" b="0" i="0">
                <a:solidFill>
                  <a:srgbClr val="F4F6F8"/>
                </a:solidFill>
                <a:latin typeface="Arial"/>
              </a:rPr>
              <a:t>Your mentor checks your zone: most of the team correct = </a:t>
            </a:r>
            <a:r>
              <a:rPr sz="2400" b="1" i="0">
                <a:solidFill>
                  <a:srgbClr val="FFB400"/>
                </a:solidFill>
                <a:latin typeface="Arial"/>
              </a:rPr>
              <a:t>+100 EP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A9B3C0"/>
                </a:solidFill>
                <a:latin typeface="Arial Narrow"/>
              </a:rPr>
              <a:t>ACT 1 · ENERGY</a:t>
            </a:r>
          </a:p>
        </p:txBody>
      </p:sp>
      <p:sp>
        <p:nvSpPr>
          <p:cNvPr id="4" name="Rounded Rectangle 3"/>
          <p:cNvSpPr/>
          <p:nvPr/>
        </p:nvSpPr>
        <p:spPr>
          <a:xfrm>
            <a:off x="10058400" y="274320"/>
            <a:ext cx="1444752" cy="329184"/>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1500" b="1" i="0" spc="60">
                <a:solidFill>
                  <a:srgbClr val="12161C"/>
                </a:solidFill>
                <a:latin typeface="Arial"/>
              </a:rPr>
              <a:t>+100 EP</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6F7A89"/>
                </a:solidFill>
                <a:latin typeface="Arial Narrow"/>
              </a:rPr>
              <a:t>ENERGY LAB  ·  CRASH TEST #05</a:t>
            </a:r>
          </a:p>
        </p:txBody>
      </p:sp>
      <p:sp>
        <p:nvSpPr>
          <p:cNvPr id="6" name="Rectangle 5"/>
          <p:cNvSpPr/>
          <p:nvPr/>
        </p:nvSpPr>
        <p:spPr>
          <a:xfrm>
            <a:off x="4526280" y="6510528"/>
            <a:ext cx="127363" cy="54864"/>
          </a:xfrm>
          <a:prstGeom prst="rect">
            <a:avLst/>
          </a:prstGeom>
          <a:solidFill>
            <a:srgbClr val="8A6A1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8A6A1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FFB400"/>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2A3240"/>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2A3240"/>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2A3240"/>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2A3240"/>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2A3240"/>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2A3240"/>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2A3240"/>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2A3240"/>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2A3240"/>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2A3240"/>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2A3240"/>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6F7A89"/>
                </a:solidFill>
                <a:latin typeface="Arial Narrow"/>
              </a:rPr>
              <a:t>11</a:t>
            </a:fld>
          </a:p>
        </p:txBody>
      </p:sp>
      <p:sp>
        <p:nvSpPr>
          <p:cNvPr id="21" name="TextBox 20"/>
          <p:cNvSpPr txBox="1"/>
          <p:nvPr/>
        </p:nvSpPr>
        <p:spPr>
          <a:xfrm>
            <a:off x="685800" y="896112"/>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A9B3C0"/>
                </a:solidFill>
                <a:latin typeface="Arial Narrow"/>
              </a:rPr>
              <a:t>SITUATION 1 / 5</a:t>
            </a:r>
          </a:p>
        </p:txBody>
      </p:sp>
      <p:sp>
        <p:nvSpPr>
          <p:cNvPr id="22" name="TextBox 21"/>
          <p:cNvSpPr txBox="1"/>
          <p:nvPr/>
        </p:nvSpPr>
        <p:spPr>
          <a:xfrm>
            <a:off x="685800" y="1188720"/>
            <a:ext cx="10789920" cy="1234440"/>
          </a:xfrm>
          <a:prstGeom prst="rect">
            <a:avLst/>
          </a:prstGeom>
          <a:noFill/>
        </p:spPr>
        <p:txBody>
          <a:bodyPr wrap="square" anchor="t" lIns="0" rIns="0" tIns="0" bIns="0">
            <a:noAutofit/>
          </a:bodyPr>
          <a:lstStyle/>
          <a:p>
            <a:pPr algn="l">
              <a:lnSpc>
                <a:spcPct val="100000"/>
              </a:lnSpc>
              <a:spcBef>
                <a:spcPts val="0"/>
              </a:spcBef>
              <a:spcAft>
                <a:spcPts val="0"/>
              </a:spcAft>
            </a:pPr>
            <a:r>
              <a:rPr sz="3600" b="1" i="0">
                <a:solidFill>
                  <a:srgbClr val="F4F6F8"/>
                </a:solidFill>
                <a:latin typeface="Arial"/>
              </a:rPr>
              <a:t>A ball is held still on a high shelf.</a:t>
            </a:r>
          </a:p>
        </p:txBody>
      </p:sp>
      <p:sp>
        <p:nvSpPr>
          <p:cNvPr id="23" name="Rounded Rectangle 22"/>
          <p:cNvSpPr/>
          <p:nvPr/>
        </p:nvSpPr>
        <p:spPr>
          <a:xfrm>
            <a:off x="685800" y="2514600"/>
            <a:ext cx="6492240" cy="2880360"/>
          </a:xfrm>
          <a:prstGeom prst="roundRect">
            <a:avLst>
              <a:gd name="adj" fmla="val 4444"/>
            </a:avLst>
          </a:prstGeom>
          <a:solidFill>
            <a:srgbClr val="1A2029"/>
          </a:solidFill>
          <a:ln w="19050">
            <a:solidFill>
              <a:srgbClr val="323C4A"/>
            </a:solidFill>
          </a:ln>
        </p:spPr>
        <p:txBody>
          <a:bodyPr rtlCol="0" anchor="ctr"/>
          <a:lstStyle/>
          <a:p>
            <a:pPr algn="ctr"/>
          </a:p>
        </p:txBody>
      </p:sp>
      <p:cxnSp>
        <p:nvCxnSpPr>
          <p:cNvPr id="24" name="Connector 23"/>
          <p:cNvCxnSpPr/>
          <p:nvPr/>
        </p:nvCxnSpPr>
        <p:spPr>
          <a:xfrm>
            <a:off x="1113739" y="5087722"/>
            <a:ext cx="5636362" cy="0"/>
          </a:xfrm>
          <a:prstGeom prst="line">
            <a:avLst/>
          </a:prstGeom>
          <a:ln w="44450" cap="rnd">
            <a:solidFill>
              <a:srgbClr val="6F7A89"/>
            </a:solidFill>
            <a:round/>
          </a:ln>
        </p:spPr>
      </p:cxnSp>
      <p:sp>
        <p:nvSpPr>
          <p:cNvPr id="25" name="Rectangle 24"/>
          <p:cNvSpPr/>
          <p:nvPr/>
        </p:nvSpPr>
        <p:spPr>
          <a:xfrm>
            <a:off x="2461565" y="3738982"/>
            <a:ext cx="2573122" cy="134874"/>
          </a:xfrm>
          <a:prstGeom prst="rect">
            <a:avLst/>
          </a:prstGeom>
          <a:solidFill>
            <a:srgbClr val="A9B3C0"/>
          </a:solidFill>
          <a:ln>
            <a:noFill/>
          </a:ln>
        </p:spPr>
        <p:txBody>
          <a:bodyPr rtlCol="0" anchor="ctr"/>
          <a:lstStyle/>
          <a:p>
            <a:pPr algn="ctr"/>
          </a:p>
        </p:txBody>
      </p:sp>
      <p:sp>
        <p:nvSpPr>
          <p:cNvPr id="26" name="Rectangle 25"/>
          <p:cNvSpPr/>
          <p:nvPr/>
        </p:nvSpPr>
        <p:spPr>
          <a:xfrm>
            <a:off x="2645359" y="3873856"/>
            <a:ext cx="183794" cy="1213866"/>
          </a:xfrm>
          <a:prstGeom prst="rect">
            <a:avLst/>
          </a:prstGeom>
          <a:solidFill>
            <a:srgbClr val="A9B3C0"/>
          </a:solidFill>
          <a:ln>
            <a:noFill/>
          </a:ln>
        </p:spPr>
        <p:txBody>
          <a:bodyPr rtlCol="0" anchor="ctr"/>
          <a:lstStyle/>
          <a:p>
            <a:pPr algn="ctr"/>
          </a:p>
        </p:txBody>
      </p:sp>
      <p:sp>
        <p:nvSpPr>
          <p:cNvPr id="27" name="Rectangle 26"/>
          <p:cNvSpPr/>
          <p:nvPr/>
        </p:nvSpPr>
        <p:spPr>
          <a:xfrm>
            <a:off x="4728362" y="3873856"/>
            <a:ext cx="183794" cy="1213866"/>
          </a:xfrm>
          <a:prstGeom prst="rect">
            <a:avLst/>
          </a:prstGeom>
          <a:solidFill>
            <a:srgbClr val="A9B3C0"/>
          </a:solidFill>
          <a:ln>
            <a:noFill/>
          </a:ln>
        </p:spPr>
        <p:txBody>
          <a:bodyPr rtlCol="0" anchor="ctr"/>
          <a:lstStyle/>
          <a:p>
            <a:pPr algn="ctr"/>
          </a:p>
        </p:txBody>
      </p:sp>
      <p:sp>
        <p:nvSpPr>
          <p:cNvPr id="28" name="Oval 27"/>
          <p:cNvSpPr/>
          <p:nvPr/>
        </p:nvSpPr>
        <p:spPr>
          <a:xfrm>
            <a:off x="3397453" y="3037637"/>
            <a:ext cx="701345" cy="701345"/>
          </a:xfrm>
          <a:prstGeom prst="ellipse">
            <a:avLst/>
          </a:prstGeom>
          <a:solidFill>
            <a:srgbClr val="F4F1E8"/>
          </a:solidFill>
          <a:ln w="19050">
            <a:solidFill>
              <a:srgbClr val="6F7A89"/>
            </a:solidFill>
          </a:ln>
        </p:spPr>
        <p:txBody>
          <a:bodyPr rtlCol="0" anchor="ctr"/>
          <a:lstStyle/>
          <a:p>
            <a:pPr algn="ctr"/>
          </a:p>
        </p:txBody>
      </p:sp>
      <p:sp>
        <p:nvSpPr>
          <p:cNvPr id="29" name="Freeform 28"/>
          <p:cNvSpPr/>
          <p:nvPr/>
        </p:nvSpPr>
        <p:spPr>
          <a:xfrm>
            <a:off x="3497582" y="3183149"/>
            <a:ext cx="64633" cy="405176"/>
          </a:xfrm>
          <a:custGeom>
            <a:avLst/>
            <a:gdLst/>
            <a:ahLst/>
            <a:cxnLst/>
            <a:rect l="l" t="t" r="r" b="b"/>
            <a:pathLst>
              <a:path w="64633" h="405176">
                <a:moveTo>
                  <a:pt x="0" y="0"/>
                </a:moveTo>
                <a:lnTo>
                  <a:pt x="10336" y="15616"/>
                </a:lnTo>
                <a:lnTo>
                  <a:pt x="19840" y="31751"/>
                </a:lnTo>
                <a:lnTo>
                  <a:pt x="28487" y="48361"/>
                </a:lnTo>
                <a:lnTo>
                  <a:pt x="36253" y="65401"/>
                </a:lnTo>
                <a:lnTo>
                  <a:pt x="43116" y="82824"/>
                </a:lnTo>
                <a:lnTo>
                  <a:pt x="49058" y="100583"/>
                </a:lnTo>
                <a:lnTo>
                  <a:pt x="54062" y="118628"/>
                </a:lnTo>
                <a:lnTo>
                  <a:pt x="58116" y="136911"/>
                </a:lnTo>
                <a:lnTo>
                  <a:pt x="61206" y="155380"/>
                </a:lnTo>
                <a:lnTo>
                  <a:pt x="63326" y="173986"/>
                </a:lnTo>
                <a:lnTo>
                  <a:pt x="64469" y="192677"/>
                </a:lnTo>
                <a:lnTo>
                  <a:pt x="64633" y="211403"/>
                </a:lnTo>
                <a:lnTo>
                  <a:pt x="63816" y="230111"/>
                </a:lnTo>
                <a:lnTo>
                  <a:pt x="62021" y="248751"/>
                </a:lnTo>
                <a:lnTo>
                  <a:pt x="59253" y="267272"/>
                </a:lnTo>
                <a:lnTo>
                  <a:pt x="55520" y="285622"/>
                </a:lnTo>
                <a:lnTo>
                  <a:pt x="50831" y="303752"/>
                </a:lnTo>
                <a:lnTo>
                  <a:pt x="45200" y="321611"/>
                </a:lnTo>
                <a:lnTo>
                  <a:pt x="38642" y="339152"/>
                </a:lnTo>
                <a:lnTo>
                  <a:pt x="31175" y="356325"/>
                </a:lnTo>
                <a:lnTo>
                  <a:pt x="22819" y="373084"/>
                </a:lnTo>
                <a:lnTo>
                  <a:pt x="13598" y="389382"/>
                </a:lnTo>
                <a:lnTo>
                  <a:pt x="3536" y="405176"/>
                </a:lnTo>
              </a:path>
            </a:pathLst>
          </a:custGeom>
          <a:noFill/>
          <a:ln w="19050" cap="rnd">
            <a:solidFill>
              <a:srgbClr val="F0525A"/>
            </a:solidFill>
            <a:round/>
          </a:ln>
        </p:spPr>
        <p:txBody>
          <a:bodyPr rtlCol="0" anchor="ctr"/>
          <a:lstStyle/>
          <a:p>
            <a:pPr algn="ctr"/>
          </a:p>
        </p:txBody>
      </p:sp>
      <p:sp>
        <p:nvSpPr>
          <p:cNvPr id="30" name="Freeform 29"/>
          <p:cNvSpPr/>
          <p:nvPr/>
        </p:nvSpPr>
        <p:spPr>
          <a:xfrm>
            <a:off x="3934036" y="3183149"/>
            <a:ext cx="64633" cy="405176"/>
          </a:xfrm>
          <a:custGeom>
            <a:avLst/>
            <a:gdLst/>
            <a:ahLst/>
            <a:cxnLst/>
            <a:rect l="l" t="t" r="r" b="b"/>
            <a:pathLst>
              <a:path w="64633" h="405176">
                <a:moveTo>
                  <a:pt x="64633" y="0"/>
                </a:moveTo>
                <a:lnTo>
                  <a:pt x="54297" y="15616"/>
                </a:lnTo>
                <a:lnTo>
                  <a:pt x="44793" y="31751"/>
                </a:lnTo>
                <a:lnTo>
                  <a:pt x="36146" y="48361"/>
                </a:lnTo>
                <a:lnTo>
                  <a:pt x="28380" y="65401"/>
                </a:lnTo>
                <a:lnTo>
                  <a:pt x="21517" y="82824"/>
                </a:lnTo>
                <a:lnTo>
                  <a:pt x="15575" y="100583"/>
                </a:lnTo>
                <a:lnTo>
                  <a:pt x="10571" y="118628"/>
                </a:lnTo>
                <a:lnTo>
                  <a:pt x="6518" y="136911"/>
                </a:lnTo>
                <a:lnTo>
                  <a:pt x="3427" y="155380"/>
                </a:lnTo>
                <a:lnTo>
                  <a:pt x="1307" y="173986"/>
                </a:lnTo>
                <a:lnTo>
                  <a:pt x="164" y="192677"/>
                </a:lnTo>
                <a:lnTo>
                  <a:pt x="0" y="211403"/>
                </a:lnTo>
                <a:lnTo>
                  <a:pt x="817" y="230111"/>
                </a:lnTo>
                <a:lnTo>
                  <a:pt x="2612" y="248751"/>
                </a:lnTo>
                <a:lnTo>
                  <a:pt x="5380" y="267272"/>
                </a:lnTo>
                <a:lnTo>
                  <a:pt x="9113" y="285622"/>
                </a:lnTo>
                <a:lnTo>
                  <a:pt x="13802" y="303752"/>
                </a:lnTo>
                <a:lnTo>
                  <a:pt x="19433" y="321611"/>
                </a:lnTo>
                <a:lnTo>
                  <a:pt x="25991" y="339152"/>
                </a:lnTo>
                <a:lnTo>
                  <a:pt x="33458" y="356325"/>
                </a:lnTo>
                <a:lnTo>
                  <a:pt x="41814" y="373084"/>
                </a:lnTo>
                <a:lnTo>
                  <a:pt x="51035" y="389382"/>
                </a:lnTo>
                <a:lnTo>
                  <a:pt x="61097" y="405176"/>
                </a:lnTo>
              </a:path>
            </a:pathLst>
          </a:custGeom>
          <a:noFill/>
          <a:ln w="19050" cap="rnd">
            <a:solidFill>
              <a:srgbClr val="F0525A"/>
            </a:solidFill>
            <a:round/>
          </a:ln>
        </p:spPr>
        <p:txBody>
          <a:bodyPr rtlCol="0" anchor="ctr"/>
          <a:lstStyle/>
          <a:p>
            <a:pPr algn="ctr"/>
          </a:p>
        </p:txBody>
      </p:sp>
      <p:cxnSp>
        <p:nvCxnSpPr>
          <p:cNvPr id="31" name="Connector 30"/>
          <p:cNvCxnSpPr/>
          <p:nvPr/>
        </p:nvCxnSpPr>
        <p:spPr>
          <a:xfrm>
            <a:off x="5769864" y="3738982"/>
            <a:ext cx="0" cy="1348740"/>
          </a:xfrm>
          <a:prstGeom prst="line">
            <a:avLst/>
          </a:prstGeom>
          <a:ln w="38100">
            <a:solidFill>
              <a:srgbClr val="FFB400"/>
            </a:solidFill>
            <a:prstDash val="dash"/>
            <a:headEnd type="triangle" w="med" len="med"/>
            <a:tailEnd type="triangle" w="med" len="med"/>
          </a:ln>
        </p:spPr>
      </p:cxnSp>
      <p:sp>
        <p:nvSpPr>
          <p:cNvPr id="32" name="TextBox 31"/>
          <p:cNvSpPr txBox="1"/>
          <p:nvPr/>
        </p:nvSpPr>
        <p:spPr>
          <a:xfrm>
            <a:off x="5769864" y="4224528"/>
            <a:ext cx="1837944" cy="548640"/>
          </a:xfrm>
          <a:prstGeom prst="rect">
            <a:avLst/>
          </a:prstGeom>
          <a:noFill/>
        </p:spPr>
        <p:txBody>
          <a:bodyPr wrap="square" anchor="t" lIns="0" rIns="0" tIns="0" bIns="0">
            <a:noAutofit/>
          </a:bodyPr>
          <a:lstStyle/>
          <a:p>
            <a:pPr algn="ctr">
              <a:lnSpc>
                <a:spcPct val="100000"/>
              </a:lnSpc>
              <a:spcBef>
                <a:spcPts val="0"/>
              </a:spcBef>
              <a:spcAft>
                <a:spcPts val="0"/>
              </a:spcAft>
            </a:pPr>
            <a:r>
              <a:rPr sz="1500" b="1" i="0" spc="80">
                <a:solidFill>
                  <a:srgbClr val="FFB400"/>
                </a:solidFill>
                <a:latin typeface="Arial Narrow"/>
              </a:rPr>
              <a:t>HEIGHT</a:t>
            </a:r>
          </a:p>
        </p:txBody>
      </p:sp>
      <p:sp>
        <p:nvSpPr>
          <p:cNvPr id="33" name="Rounded Rectangle 32"/>
          <p:cNvSpPr/>
          <p:nvPr/>
        </p:nvSpPr>
        <p:spPr>
          <a:xfrm>
            <a:off x="7452360" y="2514600"/>
            <a:ext cx="4050792" cy="1325880"/>
          </a:xfrm>
          <a:prstGeom prst="roundRect">
            <a:avLst>
              <a:gd name="adj" fmla="val 9655"/>
            </a:avLst>
          </a:prstGeom>
          <a:solidFill>
            <a:srgbClr val="1A2029"/>
          </a:solidFill>
          <a:ln w="25400">
            <a:solidFill>
              <a:srgbClr val="323C4A"/>
            </a:solidFill>
          </a:ln>
        </p:spPr>
        <p:txBody>
          <a:bodyPr rtlCol="0" anchor="ctr"/>
          <a:lstStyle/>
          <a:p>
            <a:pPr algn="ctr"/>
          </a:p>
        </p:txBody>
      </p:sp>
      <p:sp>
        <p:nvSpPr>
          <p:cNvPr id="34" name="Rounded Rectangle 33"/>
          <p:cNvSpPr/>
          <p:nvPr/>
        </p:nvSpPr>
        <p:spPr>
          <a:xfrm>
            <a:off x="7952720" y="3184307"/>
            <a:ext cx="645201" cy="465978"/>
          </a:xfrm>
          <a:prstGeom prst="roundRect">
            <a:avLst>
              <a:gd name="adj" fmla="val 23076"/>
            </a:avLst>
          </a:prstGeom>
          <a:solidFill>
            <a:srgbClr val="F4F6F8"/>
          </a:solidFill>
          <a:ln w="31750">
            <a:solidFill>
              <a:srgbClr val="0E1116"/>
            </a:solidFill>
          </a:ln>
        </p:spPr>
        <p:txBody>
          <a:bodyPr rtlCol="0" anchor="ctr"/>
          <a:lstStyle/>
          <a:p>
            <a:pPr algn="ctr"/>
          </a:p>
        </p:txBody>
      </p:sp>
      <p:sp>
        <p:nvSpPr>
          <p:cNvPr id="35" name="Rounded Rectangle 34"/>
          <p:cNvSpPr/>
          <p:nvPr/>
        </p:nvSpPr>
        <p:spPr>
          <a:xfrm>
            <a:off x="7952720" y="2987162"/>
            <a:ext cx="161300" cy="286756"/>
          </a:xfrm>
          <a:prstGeom prst="roundRect">
            <a:avLst>
              <a:gd name="adj" fmla="val 38888"/>
            </a:avLst>
          </a:prstGeom>
          <a:solidFill>
            <a:srgbClr val="F4F6F8"/>
          </a:solidFill>
          <a:ln w="31750">
            <a:solidFill>
              <a:srgbClr val="0E1116"/>
            </a:solidFill>
          </a:ln>
        </p:spPr>
        <p:txBody>
          <a:bodyPr rtlCol="0" anchor="ctr"/>
          <a:lstStyle/>
          <a:p>
            <a:pPr algn="ctr"/>
          </a:p>
        </p:txBody>
      </p:sp>
      <p:sp>
        <p:nvSpPr>
          <p:cNvPr id="36" name="Rounded Rectangle 35"/>
          <p:cNvSpPr/>
          <p:nvPr/>
        </p:nvSpPr>
        <p:spPr>
          <a:xfrm>
            <a:off x="8114020" y="2987162"/>
            <a:ext cx="161300" cy="286756"/>
          </a:xfrm>
          <a:prstGeom prst="roundRect">
            <a:avLst>
              <a:gd name="adj" fmla="val 38888"/>
            </a:avLst>
          </a:prstGeom>
          <a:solidFill>
            <a:srgbClr val="F4F6F8"/>
          </a:solidFill>
          <a:ln w="31750">
            <a:solidFill>
              <a:srgbClr val="0E1116"/>
            </a:solidFill>
          </a:ln>
        </p:spPr>
        <p:txBody>
          <a:bodyPr rtlCol="0" anchor="ctr"/>
          <a:lstStyle/>
          <a:p>
            <a:pPr algn="ctr"/>
          </a:p>
        </p:txBody>
      </p:sp>
      <p:sp>
        <p:nvSpPr>
          <p:cNvPr id="37" name="Rounded Rectangle 36"/>
          <p:cNvSpPr/>
          <p:nvPr/>
        </p:nvSpPr>
        <p:spPr>
          <a:xfrm>
            <a:off x="8275320" y="2987162"/>
            <a:ext cx="161300" cy="286756"/>
          </a:xfrm>
          <a:prstGeom prst="roundRect">
            <a:avLst>
              <a:gd name="adj" fmla="val 38888"/>
            </a:avLst>
          </a:prstGeom>
          <a:solidFill>
            <a:srgbClr val="F4F6F8"/>
          </a:solidFill>
          <a:ln w="31750">
            <a:solidFill>
              <a:srgbClr val="0E1116"/>
            </a:solidFill>
          </a:ln>
        </p:spPr>
        <p:txBody>
          <a:bodyPr rtlCol="0" anchor="ctr"/>
          <a:lstStyle/>
          <a:p>
            <a:pPr algn="ctr"/>
          </a:p>
        </p:txBody>
      </p:sp>
      <p:sp>
        <p:nvSpPr>
          <p:cNvPr id="38" name="Rounded Rectangle 37"/>
          <p:cNvSpPr/>
          <p:nvPr/>
        </p:nvSpPr>
        <p:spPr>
          <a:xfrm>
            <a:off x="8436620" y="2987162"/>
            <a:ext cx="161300" cy="286756"/>
          </a:xfrm>
          <a:prstGeom prst="roundRect">
            <a:avLst>
              <a:gd name="adj" fmla="val 38888"/>
            </a:avLst>
          </a:prstGeom>
          <a:solidFill>
            <a:srgbClr val="F4F6F8"/>
          </a:solidFill>
          <a:ln w="31750">
            <a:solidFill>
              <a:srgbClr val="0E1116"/>
            </a:solidFill>
          </a:ln>
        </p:spPr>
        <p:txBody>
          <a:bodyPr rtlCol="0" anchor="ctr"/>
          <a:lstStyle/>
          <a:p>
            <a:pPr algn="ctr"/>
          </a:p>
        </p:txBody>
      </p:sp>
      <p:sp>
        <p:nvSpPr>
          <p:cNvPr id="39" name="Rounded Rectangle 38"/>
          <p:cNvSpPr/>
          <p:nvPr/>
        </p:nvSpPr>
        <p:spPr>
          <a:xfrm>
            <a:off x="7898953" y="3345607"/>
            <a:ext cx="465978" cy="152339"/>
          </a:xfrm>
          <a:prstGeom prst="roundRect">
            <a:avLst>
              <a:gd name="adj" fmla="val 47058"/>
            </a:avLst>
          </a:prstGeom>
          <a:solidFill>
            <a:srgbClr val="F4F6F8"/>
          </a:solidFill>
          <a:ln w="31750">
            <a:solidFill>
              <a:srgbClr val="0E1116"/>
            </a:solidFill>
          </a:ln>
        </p:spPr>
        <p:txBody>
          <a:bodyPr rtlCol="0" anchor="ctr"/>
          <a:lstStyle/>
          <a:p>
            <a:pPr algn="ctr"/>
          </a:p>
        </p:txBody>
      </p:sp>
      <p:sp>
        <p:nvSpPr>
          <p:cNvPr id="40" name="TextBox 39"/>
          <p:cNvSpPr txBox="1"/>
          <p:nvPr/>
        </p:nvSpPr>
        <p:spPr>
          <a:xfrm>
            <a:off x="9006840" y="2734056"/>
            <a:ext cx="2468880" cy="502920"/>
          </a:xfrm>
          <a:prstGeom prst="rect">
            <a:avLst/>
          </a:prstGeom>
          <a:noFill/>
        </p:spPr>
        <p:txBody>
          <a:bodyPr wrap="square" anchor="t" lIns="0" rIns="0" tIns="0" bIns="0">
            <a:noAutofit/>
          </a:bodyPr>
          <a:lstStyle/>
          <a:p>
            <a:pPr algn="l">
              <a:lnSpc>
                <a:spcPct val="100000"/>
              </a:lnSpc>
              <a:spcBef>
                <a:spcPts val="0"/>
              </a:spcBef>
              <a:spcAft>
                <a:spcPts val="0"/>
              </a:spcAft>
            </a:pPr>
            <a:r>
              <a:rPr sz="2200" b="0" i="0">
                <a:solidFill>
                  <a:srgbClr val="F4F6F8"/>
                </a:solidFill>
                <a:latin typeface="Arial Black"/>
              </a:rPr>
              <a:t>FIST</a:t>
            </a:r>
          </a:p>
        </p:txBody>
      </p:sp>
      <p:sp>
        <p:nvSpPr>
          <p:cNvPr id="41" name="TextBox 40"/>
          <p:cNvSpPr txBox="1"/>
          <p:nvPr/>
        </p:nvSpPr>
        <p:spPr>
          <a:xfrm>
            <a:off x="9006840" y="3209544"/>
            <a:ext cx="2468880" cy="502920"/>
          </a:xfrm>
          <a:prstGeom prst="rect">
            <a:avLst/>
          </a:prstGeom>
          <a:noFill/>
        </p:spPr>
        <p:txBody>
          <a:bodyPr wrap="square" anchor="t" lIns="0" rIns="0" tIns="0" bIns="0">
            <a:noAutofit/>
          </a:bodyPr>
          <a:lstStyle/>
          <a:p>
            <a:pPr algn="l">
              <a:lnSpc>
                <a:spcPct val="100000"/>
              </a:lnSpc>
              <a:spcBef>
                <a:spcPts val="0"/>
              </a:spcBef>
              <a:spcAft>
                <a:spcPts val="0"/>
              </a:spcAft>
            </a:pPr>
            <a:r>
              <a:rPr sz="2200" b="1" i="0">
                <a:solidFill>
                  <a:srgbClr val="FFB400"/>
                </a:solidFill>
                <a:latin typeface="Arial"/>
              </a:rPr>
              <a:t>= POTENTIAL</a:t>
            </a:r>
          </a:p>
        </p:txBody>
      </p:sp>
      <p:sp>
        <p:nvSpPr>
          <p:cNvPr id="42" name="Rounded Rectangle 41"/>
          <p:cNvSpPr/>
          <p:nvPr/>
        </p:nvSpPr>
        <p:spPr>
          <a:xfrm>
            <a:off x="7452360" y="4069080"/>
            <a:ext cx="4050792" cy="1325880"/>
          </a:xfrm>
          <a:prstGeom prst="roundRect">
            <a:avLst>
              <a:gd name="adj" fmla="val 9655"/>
            </a:avLst>
          </a:prstGeom>
          <a:solidFill>
            <a:srgbClr val="1A2029"/>
          </a:solidFill>
          <a:ln w="25400">
            <a:solidFill>
              <a:srgbClr val="323C4A"/>
            </a:solidFill>
          </a:ln>
        </p:spPr>
        <p:txBody>
          <a:bodyPr rtlCol="0" anchor="ctr"/>
          <a:lstStyle/>
          <a:p>
            <a:pPr algn="ctr"/>
          </a:p>
        </p:txBody>
      </p:sp>
      <p:sp>
        <p:nvSpPr>
          <p:cNvPr id="43" name="Rounded Rectangle 42"/>
          <p:cNvSpPr/>
          <p:nvPr/>
        </p:nvSpPr>
        <p:spPr>
          <a:xfrm>
            <a:off x="8006486" y="4828398"/>
            <a:ext cx="537667" cy="412212"/>
          </a:xfrm>
          <a:prstGeom prst="roundRect">
            <a:avLst>
              <a:gd name="adj" fmla="val 30434"/>
            </a:avLst>
          </a:prstGeom>
          <a:solidFill>
            <a:srgbClr val="F4F6F8"/>
          </a:solidFill>
          <a:ln w="31750">
            <a:solidFill>
              <a:srgbClr val="0E1116"/>
            </a:solidFill>
          </a:ln>
        </p:spPr>
        <p:txBody>
          <a:bodyPr rtlCol="0" anchor="ctr"/>
          <a:lstStyle/>
          <a:p>
            <a:pPr algn="ctr"/>
          </a:p>
        </p:txBody>
      </p:sp>
      <p:sp>
        <p:nvSpPr>
          <p:cNvPr id="44" name="Rounded Rectangle 43"/>
          <p:cNvSpPr/>
          <p:nvPr/>
        </p:nvSpPr>
        <p:spPr>
          <a:xfrm>
            <a:off x="8015448" y="4452031"/>
            <a:ext cx="116495" cy="430134"/>
          </a:xfrm>
          <a:prstGeom prst="roundRect">
            <a:avLst>
              <a:gd name="adj" fmla="val 46153"/>
            </a:avLst>
          </a:prstGeom>
          <a:solidFill>
            <a:srgbClr val="F4F6F8"/>
          </a:solidFill>
          <a:ln w="31750">
            <a:solidFill>
              <a:srgbClr val="0E1116"/>
            </a:solidFill>
          </a:ln>
        </p:spPr>
        <p:txBody>
          <a:bodyPr rtlCol="0" anchor="ctr"/>
          <a:lstStyle/>
          <a:p>
            <a:pPr algn="ctr"/>
          </a:p>
        </p:txBody>
      </p:sp>
      <p:sp>
        <p:nvSpPr>
          <p:cNvPr id="45" name="Rounded Rectangle 44"/>
          <p:cNvSpPr/>
          <p:nvPr/>
        </p:nvSpPr>
        <p:spPr>
          <a:xfrm>
            <a:off x="8149864" y="4362420"/>
            <a:ext cx="116495" cy="519745"/>
          </a:xfrm>
          <a:prstGeom prst="roundRect">
            <a:avLst>
              <a:gd name="adj" fmla="val 46153"/>
            </a:avLst>
          </a:prstGeom>
          <a:solidFill>
            <a:srgbClr val="F4F6F8"/>
          </a:solidFill>
          <a:ln w="31750">
            <a:solidFill>
              <a:srgbClr val="0E1116"/>
            </a:solidFill>
          </a:ln>
        </p:spPr>
        <p:txBody>
          <a:bodyPr rtlCol="0" anchor="ctr"/>
          <a:lstStyle/>
          <a:p>
            <a:pPr algn="ctr"/>
          </a:p>
        </p:txBody>
      </p:sp>
      <p:sp>
        <p:nvSpPr>
          <p:cNvPr id="46" name="Rounded Rectangle 45"/>
          <p:cNvSpPr/>
          <p:nvPr/>
        </p:nvSpPr>
        <p:spPr>
          <a:xfrm>
            <a:off x="8284281" y="4398264"/>
            <a:ext cx="116495" cy="483900"/>
          </a:xfrm>
          <a:prstGeom prst="roundRect">
            <a:avLst>
              <a:gd name="adj" fmla="val 46153"/>
            </a:avLst>
          </a:prstGeom>
          <a:solidFill>
            <a:srgbClr val="F4F6F8"/>
          </a:solidFill>
          <a:ln w="31750">
            <a:solidFill>
              <a:srgbClr val="0E1116"/>
            </a:solidFill>
          </a:ln>
        </p:spPr>
        <p:txBody>
          <a:bodyPr rtlCol="0" anchor="ctr"/>
          <a:lstStyle/>
          <a:p>
            <a:pPr algn="ctr"/>
          </a:p>
        </p:txBody>
      </p:sp>
      <p:sp>
        <p:nvSpPr>
          <p:cNvPr id="47" name="Rounded Rectangle 46"/>
          <p:cNvSpPr/>
          <p:nvPr/>
        </p:nvSpPr>
        <p:spPr>
          <a:xfrm>
            <a:off x="8418698" y="4487875"/>
            <a:ext cx="116495" cy="394289"/>
          </a:xfrm>
          <a:prstGeom prst="roundRect">
            <a:avLst>
              <a:gd name="adj" fmla="val 46153"/>
            </a:avLst>
          </a:prstGeom>
          <a:solidFill>
            <a:srgbClr val="F4F6F8"/>
          </a:solidFill>
          <a:ln w="31750">
            <a:solidFill>
              <a:srgbClr val="0E1116"/>
            </a:solidFill>
          </a:ln>
        </p:spPr>
        <p:txBody>
          <a:bodyPr rtlCol="0" anchor="ctr"/>
          <a:lstStyle/>
          <a:p>
            <a:pPr algn="ctr"/>
          </a:p>
        </p:txBody>
      </p:sp>
      <p:sp>
        <p:nvSpPr>
          <p:cNvPr id="48" name="Rounded Rectangle 47"/>
          <p:cNvSpPr/>
          <p:nvPr/>
        </p:nvSpPr>
        <p:spPr>
          <a:xfrm rot="19680000">
            <a:off x="7854147" y="4864242"/>
            <a:ext cx="286756" cy="125456"/>
          </a:xfrm>
          <a:prstGeom prst="roundRect">
            <a:avLst>
              <a:gd name="adj" fmla="val 50000"/>
            </a:avLst>
          </a:prstGeom>
          <a:solidFill>
            <a:srgbClr val="F4F6F8"/>
          </a:solidFill>
          <a:ln w="31750">
            <a:solidFill>
              <a:srgbClr val="0E1116"/>
            </a:solidFill>
          </a:ln>
        </p:spPr>
        <p:txBody>
          <a:bodyPr rtlCol="0" anchor="ctr"/>
          <a:lstStyle/>
          <a:p>
            <a:pPr algn="ctr"/>
          </a:p>
        </p:txBody>
      </p:sp>
      <p:sp>
        <p:nvSpPr>
          <p:cNvPr id="49" name="TextBox 48"/>
          <p:cNvSpPr txBox="1"/>
          <p:nvPr/>
        </p:nvSpPr>
        <p:spPr>
          <a:xfrm>
            <a:off x="9006840" y="4288536"/>
            <a:ext cx="2468880" cy="502920"/>
          </a:xfrm>
          <a:prstGeom prst="rect">
            <a:avLst/>
          </a:prstGeom>
          <a:noFill/>
        </p:spPr>
        <p:txBody>
          <a:bodyPr wrap="square" anchor="t" lIns="0" rIns="0" tIns="0" bIns="0">
            <a:noAutofit/>
          </a:bodyPr>
          <a:lstStyle/>
          <a:p>
            <a:pPr algn="l">
              <a:lnSpc>
                <a:spcPct val="100000"/>
              </a:lnSpc>
              <a:spcBef>
                <a:spcPts val="0"/>
              </a:spcBef>
              <a:spcAft>
                <a:spcPts val="0"/>
              </a:spcAft>
            </a:pPr>
            <a:r>
              <a:rPr sz="2200" b="0" i="0">
                <a:solidFill>
                  <a:srgbClr val="F4F6F8"/>
                </a:solidFill>
                <a:latin typeface="Arial Black"/>
              </a:rPr>
              <a:t>OPEN HAND</a:t>
            </a:r>
          </a:p>
        </p:txBody>
      </p:sp>
      <p:sp>
        <p:nvSpPr>
          <p:cNvPr id="50" name="TextBox 49"/>
          <p:cNvSpPr txBox="1"/>
          <p:nvPr/>
        </p:nvSpPr>
        <p:spPr>
          <a:xfrm>
            <a:off x="9006840" y="4764024"/>
            <a:ext cx="2468880" cy="502920"/>
          </a:xfrm>
          <a:prstGeom prst="rect">
            <a:avLst/>
          </a:prstGeom>
          <a:noFill/>
        </p:spPr>
        <p:txBody>
          <a:bodyPr wrap="square" anchor="t" lIns="0" rIns="0" tIns="0" bIns="0">
            <a:noAutofit/>
          </a:bodyPr>
          <a:lstStyle/>
          <a:p>
            <a:pPr algn="l">
              <a:lnSpc>
                <a:spcPct val="100000"/>
              </a:lnSpc>
              <a:spcBef>
                <a:spcPts val="0"/>
              </a:spcBef>
              <a:spcAft>
                <a:spcPts val="0"/>
              </a:spcAft>
            </a:pPr>
            <a:r>
              <a:rPr sz="2200" b="1" i="0">
                <a:solidFill>
                  <a:srgbClr val="FFB400"/>
                </a:solidFill>
                <a:latin typeface="Arial"/>
              </a:rPr>
              <a:t>= KINETIC</a:t>
            </a:r>
          </a:p>
        </p:txBody>
      </p:sp>
      <p:sp>
        <p:nvSpPr>
          <p:cNvPr id="51" name="TextBox 50"/>
          <p:cNvSpPr txBox="1"/>
          <p:nvPr/>
        </p:nvSpPr>
        <p:spPr>
          <a:xfrm>
            <a:off x="685800" y="5577840"/>
            <a:ext cx="10817352" cy="658368"/>
          </a:xfrm>
          <a:prstGeom prst="rect">
            <a:avLst/>
          </a:prstGeom>
          <a:noFill/>
        </p:spPr>
        <p:txBody>
          <a:bodyPr wrap="square" anchor="ctr" lIns="0" rIns="0" tIns="0" bIns="0">
            <a:noAutofit/>
          </a:bodyPr>
          <a:lstStyle/>
          <a:p>
            <a:pPr algn="l">
              <a:lnSpc>
                <a:spcPct val="100000"/>
              </a:lnSpc>
              <a:spcBef>
                <a:spcPts val="0"/>
              </a:spcBef>
              <a:spcAft>
                <a:spcPts val="0"/>
              </a:spcAft>
            </a:pPr>
            <a:r>
              <a:rPr sz="2600" b="1" i="0" spc="400">
                <a:solidFill>
                  <a:srgbClr val="FFB400"/>
                </a:solidFill>
                <a:latin typeface="Arial Narrow"/>
              </a:rPr>
              <a:t>3 · 2 · 1 · SHOW!</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A9B3C0"/>
                </a:solidFill>
                <a:latin typeface="Arial Narrow"/>
              </a:rPr>
              <a:t>ACT 1 · ENERGY</a:t>
            </a:r>
          </a:p>
        </p:txBody>
      </p:sp>
      <p:sp>
        <p:nvSpPr>
          <p:cNvPr id="4" name="Rounded Rectangle 3"/>
          <p:cNvSpPr/>
          <p:nvPr/>
        </p:nvSpPr>
        <p:spPr>
          <a:xfrm>
            <a:off x="10058400" y="274320"/>
            <a:ext cx="1444752" cy="329184"/>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1500" b="1" i="0" spc="60">
                <a:solidFill>
                  <a:srgbClr val="12161C"/>
                </a:solidFill>
                <a:latin typeface="Arial"/>
              </a:rPr>
              <a:t>+100 EP</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6F7A89"/>
                </a:solidFill>
                <a:latin typeface="Arial Narrow"/>
              </a:rPr>
              <a:t>ENERGY LAB  ·  CRASH TEST #05</a:t>
            </a:r>
          </a:p>
        </p:txBody>
      </p:sp>
      <p:sp>
        <p:nvSpPr>
          <p:cNvPr id="6" name="Rectangle 5"/>
          <p:cNvSpPr/>
          <p:nvPr/>
        </p:nvSpPr>
        <p:spPr>
          <a:xfrm>
            <a:off x="4526280" y="6510528"/>
            <a:ext cx="127363" cy="54864"/>
          </a:xfrm>
          <a:prstGeom prst="rect">
            <a:avLst/>
          </a:prstGeom>
          <a:solidFill>
            <a:srgbClr val="8A6A1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8A6A1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FFB400"/>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2A3240"/>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2A3240"/>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2A3240"/>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2A3240"/>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2A3240"/>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2A3240"/>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2A3240"/>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2A3240"/>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2A3240"/>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2A3240"/>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2A3240"/>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6F7A89"/>
                </a:solidFill>
                <a:latin typeface="Arial Narrow"/>
              </a:rPr>
              <a:t>12</a:t>
            </a:fld>
          </a:p>
        </p:txBody>
      </p:sp>
      <p:sp>
        <p:nvSpPr>
          <p:cNvPr id="21" name="TextBox 20"/>
          <p:cNvSpPr txBox="1"/>
          <p:nvPr/>
        </p:nvSpPr>
        <p:spPr>
          <a:xfrm>
            <a:off x="685800" y="896112"/>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A9B3C0"/>
                </a:solidFill>
                <a:latin typeface="Arial Narrow"/>
              </a:rPr>
              <a:t>SITUATION 1 / 5</a:t>
            </a:r>
          </a:p>
        </p:txBody>
      </p:sp>
      <p:sp>
        <p:nvSpPr>
          <p:cNvPr id="22" name="TextBox 21"/>
          <p:cNvSpPr txBox="1"/>
          <p:nvPr/>
        </p:nvSpPr>
        <p:spPr>
          <a:xfrm>
            <a:off x="685800" y="1188720"/>
            <a:ext cx="10789920" cy="1234440"/>
          </a:xfrm>
          <a:prstGeom prst="rect">
            <a:avLst/>
          </a:prstGeom>
          <a:noFill/>
        </p:spPr>
        <p:txBody>
          <a:bodyPr wrap="square" anchor="t" lIns="0" rIns="0" tIns="0" bIns="0">
            <a:noAutofit/>
          </a:bodyPr>
          <a:lstStyle/>
          <a:p>
            <a:pPr algn="l">
              <a:lnSpc>
                <a:spcPct val="100000"/>
              </a:lnSpc>
              <a:spcBef>
                <a:spcPts val="0"/>
              </a:spcBef>
              <a:spcAft>
                <a:spcPts val="0"/>
              </a:spcAft>
            </a:pPr>
            <a:r>
              <a:rPr sz="3600" b="1" i="0">
                <a:solidFill>
                  <a:srgbClr val="F4F6F8"/>
                </a:solidFill>
                <a:latin typeface="Arial"/>
              </a:rPr>
              <a:t>A ball is held still on a high shelf.</a:t>
            </a:r>
          </a:p>
        </p:txBody>
      </p:sp>
      <p:sp>
        <p:nvSpPr>
          <p:cNvPr id="23" name="Rounded Rectangle 22"/>
          <p:cNvSpPr/>
          <p:nvPr/>
        </p:nvSpPr>
        <p:spPr>
          <a:xfrm>
            <a:off x="685800" y="2514600"/>
            <a:ext cx="6492240" cy="2880360"/>
          </a:xfrm>
          <a:prstGeom prst="roundRect">
            <a:avLst>
              <a:gd name="adj" fmla="val 4444"/>
            </a:avLst>
          </a:prstGeom>
          <a:solidFill>
            <a:srgbClr val="1A2029"/>
          </a:solidFill>
          <a:ln w="19050">
            <a:solidFill>
              <a:srgbClr val="323C4A"/>
            </a:solidFill>
          </a:ln>
        </p:spPr>
        <p:txBody>
          <a:bodyPr rtlCol="0" anchor="ctr"/>
          <a:lstStyle/>
          <a:p>
            <a:pPr algn="ctr"/>
          </a:p>
        </p:txBody>
      </p:sp>
      <p:cxnSp>
        <p:nvCxnSpPr>
          <p:cNvPr id="24" name="Connector 23"/>
          <p:cNvCxnSpPr/>
          <p:nvPr/>
        </p:nvCxnSpPr>
        <p:spPr>
          <a:xfrm>
            <a:off x="1113739" y="5087722"/>
            <a:ext cx="5636362" cy="0"/>
          </a:xfrm>
          <a:prstGeom prst="line">
            <a:avLst/>
          </a:prstGeom>
          <a:ln w="44450" cap="rnd">
            <a:solidFill>
              <a:srgbClr val="6F7A89"/>
            </a:solidFill>
            <a:round/>
          </a:ln>
        </p:spPr>
      </p:cxnSp>
      <p:sp>
        <p:nvSpPr>
          <p:cNvPr id="25" name="Rectangle 24"/>
          <p:cNvSpPr/>
          <p:nvPr/>
        </p:nvSpPr>
        <p:spPr>
          <a:xfrm>
            <a:off x="2461565" y="3738982"/>
            <a:ext cx="2573122" cy="134874"/>
          </a:xfrm>
          <a:prstGeom prst="rect">
            <a:avLst/>
          </a:prstGeom>
          <a:solidFill>
            <a:srgbClr val="A9B3C0"/>
          </a:solidFill>
          <a:ln>
            <a:noFill/>
          </a:ln>
        </p:spPr>
        <p:txBody>
          <a:bodyPr rtlCol="0" anchor="ctr"/>
          <a:lstStyle/>
          <a:p>
            <a:pPr algn="ctr"/>
          </a:p>
        </p:txBody>
      </p:sp>
      <p:sp>
        <p:nvSpPr>
          <p:cNvPr id="26" name="Rectangle 25"/>
          <p:cNvSpPr/>
          <p:nvPr/>
        </p:nvSpPr>
        <p:spPr>
          <a:xfrm>
            <a:off x="2645359" y="3873856"/>
            <a:ext cx="183794" cy="1213866"/>
          </a:xfrm>
          <a:prstGeom prst="rect">
            <a:avLst/>
          </a:prstGeom>
          <a:solidFill>
            <a:srgbClr val="A9B3C0"/>
          </a:solidFill>
          <a:ln>
            <a:noFill/>
          </a:ln>
        </p:spPr>
        <p:txBody>
          <a:bodyPr rtlCol="0" anchor="ctr"/>
          <a:lstStyle/>
          <a:p>
            <a:pPr algn="ctr"/>
          </a:p>
        </p:txBody>
      </p:sp>
      <p:sp>
        <p:nvSpPr>
          <p:cNvPr id="27" name="Rectangle 26"/>
          <p:cNvSpPr/>
          <p:nvPr/>
        </p:nvSpPr>
        <p:spPr>
          <a:xfrm>
            <a:off x="4728362" y="3873856"/>
            <a:ext cx="183794" cy="1213866"/>
          </a:xfrm>
          <a:prstGeom prst="rect">
            <a:avLst/>
          </a:prstGeom>
          <a:solidFill>
            <a:srgbClr val="A9B3C0"/>
          </a:solidFill>
          <a:ln>
            <a:noFill/>
          </a:ln>
        </p:spPr>
        <p:txBody>
          <a:bodyPr rtlCol="0" anchor="ctr"/>
          <a:lstStyle/>
          <a:p>
            <a:pPr algn="ctr"/>
          </a:p>
        </p:txBody>
      </p:sp>
      <p:sp>
        <p:nvSpPr>
          <p:cNvPr id="28" name="Oval 27"/>
          <p:cNvSpPr/>
          <p:nvPr/>
        </p:nvSpPr>
        <p:spPr>
          <a:xfrm>
            <a:off x="3397453" y="3037637"/>
            <a:ext cx="701345" cy="701345"/>
          </a:xfrm>
          <a:prstGeom prst="ellipse">
            <a:avLst/>
          </a:prstGeom>
          <a:solidFill>
            <a:srgbClr val="F4F1E8"/>
          </a:solidFill>
          <a:ln w="19050">
            <a:solidFill>
              <a:srgbClr val="6F7A89"/>
            </a:solidFill>
          </a:ln>
        </p:spPr>
        <p:txBody>
          <a:bodyPr rtlCol="0" anchor="ctr"/>
          <a:lstStyle/>
          <a:p>
            <a:pPr algn="ctr"/>
          </a:p>
        </p:txBody>
      </p:sp>
      <p:sp>
        <p:nvSpPr>
          <p:cNvPr id="29" name="Freeform 28"/>
          <p:cNvSpPr/>
          <p:nvPr/>
        </p:nvSpPr>
        <p:spPr>
          <a:xfrm>
            <a:off x="3497582" y="3183149"/>
            <a:ext cx="64633" cy="405176"/>
          </a:xfrm>
          <a:custGeom>
            <a:avLst/>
            <a:gdLst/>
            <a:ahLst/>
            <a:cxnLst/>
            <a:rect l="l" t="t" r="r" b="b"/>
            <a:pathLst>
              <a:path w="64633" h="405176">
                <a:moveTo>
                  <a:pt x="0" y="0"/>
                </a:moveTo>
                <a:lnTo>
                  <a:pt x="10336" y="15616"/>
                </a:lnTo>
                <a:lnTo>
                  <a:pt x="19840" y="31751"/>
                </a:lnTo>
                <a:lnTo>
                  <a:pt x="28487" y="48361"/>
                </a:lnTo>
                <a:lnTo>
                  <a:pt x="36253" y="65401"/>
                </a:lnTo>
                <a:lnTo>
                  <a:pt x="43116" y="82824"/>
                </a:lnTo>
                <a:lnTo>
                  <a:pt x="49058" y="100583"/>
                </a:lnTo>
                <a:lnTo>
                  <a:pt x="54062" y="118628"/>
                </a:lnTo>
                <a:lnTo>
                  <a:pt x="58116" y="136911"/>
                </a:lnTo>
                <a:lnTo>
                  <a:pt x="61206" y="155380"/>
                </a:lnTo>
                <a:lnTo>
                  <a:pt x="63326" y="173986"/>
                </a:lnTo>
                <a:lnTo>
                  <a:pt x="64469" y="192677"/>
                </a:lnTo>
                <a:lnTo>
                  <a:pt x="64633" y="211403"/>
                </a:lnTo>
                <a:lnTo>
                  <a:pt x="63816" y="230111"/>
                </a:lnTo>
                <a:lnTo>
                  <a:pt x="62021" y="248751"/>
                </a:lnTo>
                <a:lnTo>
                  <a:pt x="59253" y="267272"/>
                </a:lnTo>
                <a:lnTo>
                  <a:pt x="55520" y="285622"/>
                </a:lnTo>
                <a:lnTo>
                  <a:pt x="50831" y="303752"/>
                </a:lnTo>
                <a:lnTo>
                  <a:pt x="45200" y="321611"/>
                </a:lnTo>
                <a:lnTo>
                  <a:pt x="38642" y="339152"/>
                </a:lnTo>
                <a:lnTo>
                  <a:pt x="31175" y="356325"/>
                </a:lnTo>
                <a:lnTo>
                  <a:pt x="22819" y="373084"/>
                </a:lnTo>
                <a:lnTo>
                  <a:pt x="13598" y="389382"/>
                </a:lnTo>
                <a:lnTo>
                  <a:pt x="3536" y="405176"/>
                </a:lnTo>
              </a:path>
            </a:pathLst>
          </a:custGeom>
          <a:noFill/>
          <a:ln w="19050" cap="rnd">
            <a:solidFill>
              <a:srgbClr val="F0525A"/>
            </a:solidFill>
            <a:round/>
          </a:ln>
        </p:spPr>
        <p:txBody>
          <a:bodyPr rtlCol="0" anchor="ctr"/>
          <a:lstStyle/>
          <a:p>
            <a:pPr algn="ctr"/>
          </a:p>
        </p:txBody>
      </p:sp>
      <p:sp>
        <p:nvSpPr>
          <p:cNvPr id="30" name="Freeform 29"/>
          <p:cNvSpPr/>
          <p:nvPr/>
        </p:nvSpPr>
        <p:spPr>
          <a:xfrm>
            <a:off x="3934036" y="3183149"/>
            <a:ext cx="64633" cy="405176"/>
          </a:xfrm>
          <a:custGeom>
            <a:avLst/>
            <a:gdLst/>
            <a:ahLst/>
            <a:cxnLst/>
            <a:rect l="l" t="t" r="r" b="b"/>
            <a:pathLst>
              <a:path w="64633" h="405176">
                <a:moveTo>
                  <a:pt x="64633" y="0"/>
                </a:moveTo>
                <a:lnTo>
                  <a:pt x="54297" y="15616"/>
                </a:lnTo>
                <a:lnTo>
                  <a:pt x="44793" y="31751"/>
                </a:lnTo>
                <a:lnTo>
                  <a:pt x="36146" y="48361"/>
                </a:lnTo>
                <a:lnTo>
                  <a:pt x="28380" y="65401"/>
                </a:lnTo>
                <a:lnTo>
                  <a:pt x="21517" y="82824"/>
                </a:lnTo>
                <a:lnTo>
                  <a:pt x="15575" y="100583"/>
                </a:lnTo>
                <a:lnTo>
                  <a:pt x="10571" y="118628"/>
                </a:lnTo>
                <a:lnTo>
                  <a:pt x="6518" y="136911"/>
                </a:lnTo>
                <a:lnTo>
                  <a:pt x="3427" y="155380"/>
                </a:lnTo>
                <a:lnTo>
                  <a:pt x="1307" y="173986"/>
                </a:lnTo>
                <a:lnTo>
                  <a:pt x="164" y="192677"/>
                </a:lnTo>
                <a:lnTo>
                  <a:pt x="0" y="211403"/>
                </a:lnTo>
                <a:lnTo>
                  <a:pt x="817" y="230111"/>
                </a:lnTo>
                <a:lnTo>
                  <a:pt x="2612" y="248751"/>
                </a:lnTo>
                <a:lnTo>
                  <a:pt x="5380" y="267272"/>
                </a:lnTo>
                <a:lnTo>
                  <a:pt x="9113" y="285622"/>
                </a:lnTo>
                <a:lnTo>
                  <a:pt x="13802" y="303752"/>
                </a:lnTo>
                <a:lnTo>
                  <a:pt x="19433" y="321611"/>
                </a:lnTo>
                <a:lnTo>
                  <a:pt x="25991" y="339152"/>
                </a:lnTo>
                <a:lnTo>
                  <a:pt x="33458" y="356325"/>
                </a:lnTo>
                <a:lnTo>
                  <a:pt x="41814" y="373084"/>
                </a:lnTo>
                <a:lnTo>
                  <a:pt x="51035" y="389382"/>
                </a:lnTo>
                <a:lnTo>
                  <a:pt x="61097" y="405176"/>
                </a:lnTo>
              </a:path>
            </a:pathLst>
          </a:custGeom>
          <a:noFill/>
          <a:ln w="19050" cap="rnd">
            <a:solidFill>
              <a:srgbClr val="F0525A"/>
            </a:solidFill>
            <a:round/>
          </a:ln>
        </p:spPr>
        <p:txBody>
          <a:bodyPr rtlCol="0" anchor="ctr"/>
          <a:lstStyle/>
          <a:p>
            <a:pPr algn="ctr"/>
          </a:p>
        </p:txBody>
      </p:sp>
      <p:cxnSp>
        <p:nvCxnSpPr>
          <p:cNvPr id="31" name="Connector 30"/>
          <p:cNvCxnSpPr/>
          <p:nvPr/>
        </p:nvCxnSpPr>
        <p:spPr>
          <a:xfrm>
            <a:off x="5769864" y="3738982"/>
            <a:ext cx="0" cy="1348740"/>
          </a:xfrm>
          <a:prstGeom prst="line">
            <a:avLst/>
          </a:prstGeom>
          <a:ln w="38100">
            <a:solidFill>
              <a:srgbClr val="FFB400"/>
            </a:solidFill>
            <a:prstDash val="dash"/>
            <a:headEnd type="triangle" w="med" len="med"/>
            <a:tailEnd type="triangle" w="med" len="med"/>
          </a:ln>
        </p:spPr>
      </p:cxnSp>
      <p:sp>
        <p:nvSpPr>
          <p:cNvPr id="32" name="TextBox 31"/>
          <p:cNvSpPr txBox="1"/>
          <p:nvPr/>
        </p:nvSpPr>
        <p:spPr>
          <a:xfrm>
            <a:off x="5769864" y="4224528"/>
            <a:ext cx="1837944" cy="548640"/>
          </a:xfrm>
          <a:prstGeom prst="rect">
            <a:avLst/>
          </a:prstGeom>
          <a:noFill/>
        </p:spPr>
        <p:txBody>
          <a:bodyPr wrap="square" anchor="t" lIns="0" rIns="0" tIns="0" bIns="0">
            <a:noAutofit/>
          </a:bodyPr>
          <a:lstStyle/>
          <a:p>
            <a:pPr algn="ctr">
              <a:lnSpc>
                <a:spcPct val="100000"/>
              </a:lnSpc>
              <a:spcBef>
                <a:spcPts val="0"/>
              </a:spcBef>
              <a:spcAft>
                <a:spcPts val="0"/>
              </a:spcAft>
            </a:pPr>
            <a:r>
              <a:rPr sz="1500" b="1" i="0" spc="80">
                <a:solidFill>
                  <a:srgbClr val="FFB400"/>
                </a:solidFill>
                <a:latin typeface="Arial Narrow"/>
              </a:rPr>
              <a:t>HEIGHT</a:t>
            </a:r>
          </a:p>
        </p:txBody>
      </p:sp>
      <p:sp>
        <p:nvSpPr>
          <p:cNvPr id="33" name="Rounded Rectangle 32"/>
          <p:cNvSpPr/>
          <p:nvPr/>
        </p:nvSpPr>
        <p:spPr>
          <a:xfrm>
            <a:off x="7452360" y="2514600"/>
            <a:ext cx="4050792" cy="1325880"/>
          </a:xfrm>
          <a:prstGeom prst="roundRect">
            <a:avLst>
              <a:gd name="adj" fmla="val 9655"/>
            </a:avLst>
          </a:prstGeom>
          <a:solidFill>
            <a:srgbClr val="FFB400"/>
          </a:solidFill>
          <a:ln w="25400">
            <a:solidFill>
              <a:srgbClr val="FFB400"/>
            </a:solidFill>
          </a:ln>
        </p:spPr>
        <p:txBody>
          <a:bodyPr rtlCol="0" anchor="ctr"/>
          <a:lstStyle/>
          <a:p>
            <a:pPr algn="ctr"/>
          </a:p>
        </p:txBody>
      </p:sp>
      <p:sp>
        <p:nvSpPr>
          <p:cNvPr id="34" name="Rounded Rectangle 33"/>
          <p:cNvSpPr/>
          <p:nvPr/>
        </p:nvSpPr>
        <p:spPr>
          <a:xfrm>
            <a:off x="7952720" y="3184307"/>
            <a:ext cx="645201" cy="465978"/>
          </a:xfrm>
          <a:prstGeom prst="roundRect">
            <a:avLst>
              <a:gd name="adj" fmla="val 23076"/>
            </a:avLst>
          </a:prstGeom>
          <a:solidFill>
            <a:srgbClr val="12161C"/>
          </a:solidFill>
          <a:ln w="31750">
            <a:solidFill>
              <a:srgbClr val="FFB400"/>
            </a:solidFill>
          </a:ln>
        </p:spPr>
        <p:txBody>
          <a:bodyPr rtlCol="0" anchor="ctr"/>
          <a:lstStyle/>
          <a:p>
            <a:pPr algn="ctr"/>
          </a:p>
        </p:txBody>
      </p:sp>
      <p:sp>
        <p:nvSpPr>
          <p:cNvPr id="35" name="Rounded Rectangle 34"/>
          <p:cNvSpPr/>
          <p:nvPr/>
        </p:nvSpPr>
        <p:spPr>
          <a:xfrm>
            <a:off x="7952720" y="2987162"/>
            <a:ext cx="161300" cy="286756"/>
          </a:xfrm>
          <a:prstGeom prst="roundRect">
            <a:avLst>
              <a:gd name="adj" fmla="val 38888"/>
            </a:avLst>
          </a:prstGeom>
          <a:solidFill>
            <a:srgbClr val="12161C"/>
          </a:solidFill>
          <a:ln w="31750">
            <a:solidFill>
              <a:srgbClr val="FFB400"/>
            </a:solidFill>
          </a:ln>
        </p:spPr>
        <p:txBody>
          <a:bodyPr rtlCol="0" anchor="ctr"/>
          <a:lstStyle/>
          <a:p>
            <a:pPr algn="ctr"/>
          </a:p>
        </p:txBody>
      </p:sp>
      <p:sp>
        <p:nvSpPr>
          <p:cNvPr id="36" name="Rounded Rectangle 35"/>
          <p:cNvSpPr/>
          <p:nvPr/>
        </p:nvSpPr>
        <p:spPr>
          <a:xfrm>
            <a:off x="8114020" y="2987162"/>
            <a:ext cx="161300" cy="286756"/>
          </a:xfrm>
          <a:prstGeom prst="roundRect">
            <a:avLst>
              <a:gd name="adj" fmla="val 38888"/>
            </a:avLst>
          </a:prstGeom>
          <a:solidFill>
            <a:srgbClr val="12161C"/>
          </a:solidFill>
          <a:ln w="31750">
            <a:solidFill>
              <a:srgbClr val="FFB400"/>
            </a:solidFill>
          </a:ln>
        </p:spPr>
        <p:txBody>
          <a:bodyPr rtlCol="0" anchor="ctr"/>
          <a:lstStyle/>
          <a:p>
            <a:pPr algn="ctr"/>
          </a:p>
        </p:txBody>
      </p:sp>
      <p:sp>
        <p:nvSpPr>
          <p:cNvPr id="37" name="Rounded Rectangle 36"/>
          <p:cNvSpPr/>
          <p:nvPr/>
        </p:nvSpPr>
        <p:spPr>
          <a:xfrm>
            <a:off x="8275320" y="2987162"/>
            <a:ext cx="161300" cy="286756"/>
          </a:xfrm>
          <a:prstGeom prst="roundRect">
            <a:avLst>
              <a:gd name="adj" fmla="val 38888"/>
            </a:avLst>
          </a:prstGeom>
          <a:solidFill>
            <a:srgbClr val="12161C"/>
          </a:solidFill>
          <a:ln w="31750">
            <a:solidFill>
              <a:srgbClr val="FFB400"/>
            </a:solidFill>
          </a:ln>
        </p:spPr>
        <p:txBody>
          <a:bodyPr rtlCol="0" anchor="ctr"/>
          <a:lstStyle/>
          <a:p>
            <a:pPr algn="ctr"/>
          </a:p>
        </p:txBody>
      </p:sp>
      <p:sp>
        <p:nvSpPr>
          <p:cNvPr id="38" name="Rounded Rectangle 37"/>
          <p:cNvSpPr/>
          <p:nvPr/>
        </p:nvSpPr>
        <p:spPr>
          <a:xfrm>
            <a:off x="8436620" y="2987162"/>
            <a:ext cx="161300" cy="286756"/>
          </a:xfrm>
          <a:prstGeom prst="roundRect">
            <a:avLst>
              <a:gd name="adj" fmla="val 38888"/>
            </a:avLst>
          </a:prstGeom>
          <a:solidFill>
            <a:srgbClr val="12161C"/>
          </a:solidFill>
          <a:ln w="31750">
            <a:solidFill>
              <a:srgbClr val="FFB400"/>
            </a:solidFill>
          </a:ln>
        </p:spPr>
        <p:txBody>
          <a:bodyPr rtlCol="0" anchor="ctr"/>
          <a:lstStyle/>
          <a:p>
            <a:pPr algn="ctr"/>
          </a:p>
        </p:txBody>
      </p:sp>
      <p:sp>
        <p:nvSpPr>
          <p:cNvPr id="39" name="Rounded Rectangle 38"/>
          <p:cNvSpPr/>
          <p:nvPr/>
        </p:nvSpPr>
        <p:spPr>
          <a:xfrm>
            <a:off x="7898953" y="3345607"/>
            <a:ext cx="465978" cy="152339"/>
          </a:xfrm>
          <a:prstGeom prst="roundRect">
            <a:avLst>
              <a:gd name="adj" fmla="val 47058"/>
            </a:avLst>
          </a:prstGeom>
          <a:solidFill>
            <a:srgbClr val="12161C"/>
          </a:solidFill>
          <a:ln w="31750">
            <a:solidFill>
              <a:srgbClr val="FFB400"/>
            </a:solidFill>
          </a:ln>
        </p:spPr>
        <p:txBody>
          <a:bodyPr rtlCol="0" anchor="ctr"/>
          <a:lstStyle/>
          <a:p>
            <a:pPr algn="ctr"/>
          </a:p>
        </p:txBody>
      </p:sp>
      <p:sp>
        <p:nvSpPr>
          <p:cNvPr id="40" name="TextBox 39"/>
          <p:cNvSpPr txBox="1"/>
          <p:nvPr/>
        </p:nvSpPr>
        <p:spPr>
          <a:xfrm>
            <a:off x="9006840" y="2734056"/>
            <a:ext cx="2468880" cy="502920"/>
          </a:xfrm>
          <a:prstGeom prst="rect">
            <a:avLst/>
          </a:prstGeom>
          <a:noFill/>
        </p:spPr>
        <p:txBody>
          <a:bodyPr wrap="square" anchor="t" lIns="0" rIns="0" tIns="0" bIns="0">
            <a:noAutofit/>
          </a:bodyPr>
          <a:lstStyle/>
          <a:p>
            <a:pPr algn="l">
              <a:lnSpc>
                <a:spcPct val="100000"/>
              </a:lnSpc>
              <a:spcBef>
                <a:spcPts val="0"/>
              </a:spcBef>
              <a:spcAft>
                <a:spcPts val="0"/>
              </a:spcAft>
            </a:pPr>
            <a:r>
              <a:rPr sz="2200" b="0" i="0">
                <a:solidFill>
                  <a:srgbClr val="12161C"/>
                </a:solidFill>
                <a:latin typeface="Arial Black"/>
              </a:rPr>
              <a:t>FIST</a:t>
            </a:r>
          </a:p>
        </p:txBody>
      </p:sp>
      <p:sp>
        <p:nvSpPr>
          <p:cNvPr id="41" name="TextBox 40"/>
          <p:cNvSpPr txBox="1"/>
          <p:nvPr/>
        </p:nvSpPr>
        <p:spPr>
          <a:xfrm>
            <a:off x="9006840" y="3209544"/>
            <a:ext cx="2468880" cy="502920"/>
          </a:xfrm>
          <a:prstGeom prst="rect">
            <a:avLst/>
          </a:prstGeom>
          <a:noFill/>
        </p:spPr>
        <p:txBody>
          <a:bodyPr wrap="square" anchor="t" lIns="0" rIns="0" tIns="0" bIns="0">
            <a:noAutofit/>
          </a:bodyPr>
          <a:lstStyle/>
          <a:p>
            <a:pPr algn="l">
              <a:lnSpc>
                <a:spcPct val="100000"/>
              </a:lnSpc>
              <a:spcBef>
                <a:spcPts val="0"/>
              </a:spcBef>
              <a:spcAft>
                <a:spcPts val="0"/>
              </a:spcAft>
            </a:pPr>
            <a:r>
              <a:rPr sz="2200" b="1" i="0">
                <a:solidFill>
                  <a:srgbClr val="12161C"/>
                </a:solidFill>
                <a:latin typeface="Arial"/>
              </a:rPr>
              <a:t>= POTENTIAL</a:t>
            </a:r>
          </a:p>
        </p:txBody>
      </p:sp>
      <p:sp>
        <p:nvSpPr>
          <p:cNvPr id="42" name="Rounded Rectangle 41"/>
          <p:cNvSpPr/>
          <p:nvPr/>
        </p:nvSpPr>
        <p:spPr>
          <a:xfrm>
            <a:off x="7452360" y="4069080"/>
            <a:ext cx="4050792" cy="1325880"/>
          </a:xfrm>
          <a:prstGeom prst="roundRect">
            <a:avLst>
              <a:gd name="adj" fmla="val 9655"/>
            </a:avLst>
          </a:prstGeom>
          <a:solidFill>
            <a:srgbClr val="1A2029"/>
          </a:solidFill>
          <a:ln w="25400">
            <a:solidFill>
              <a:srgbClr val="323C4A"/>
            </a:solidFill>
          </a:ln>
        </p:spPr>
        <p:txBody>
          <a:bodyPr rtlCol="0" anchor="ctr"/>
          <a:lstStyle/>
          <a:p>
            <a:pPr algn="ctr"/>
          </a:p>
        </p:txBody>
      </p:sp>
      <p:sp>
        <p:nvSpPr>
          <p:cNvPr id="43" name="Rounded Rectangle 42"/>
          <p:cNvSpPr/>
          <p:nvPr/>
        </p:nvSpPr>
        <p:spPr>
          <a:xfrm>
            <a:off x="8006486" y="4828398"/>
            <a:ext cx="537667" cy="412212"/>
          </a:xfrm>
          <a:prstGeom prst="roundRect">
            <a:avLst>
              <a:gd name="adj" fmla="val 30434"/>
            </a:avLst>
          </a:prstGeom>
          <a:solidFill>
            <a:srgbClr val="6F7A89"/>
          </a:solidFill>
          <a:ln w="31750">
            <a:solidFill>
              <a:srgbClr val="0E1116"/>
            </a:solidFill>
          </a:ln>
        </p:spPr>
        <p:txBody>
          <a:bodyPr rtlCol="0" anchor="ctr"/>
          <a:lstStyle/>
          <a:p>
            <a:pPr algn="ctr"/>
          </a:p>
        </p:txBody>
      </p:sp>
      <p:sp>
        <p:nvSpPr>
          <p:cNvPr id="44" name="Rounded Rectangle 43"/>
          <p:cNvSpPr/>
          <p:nvPr/>
        </p:nvSpPr>
        <p:spPr>
          <a:xfrm>
            <a:off x="8015448" y="4452031"/>
            <a:ext cx="116495" cy="430134"/>
          </a:xfrm>
          <a:prstGeom prst="roundRect">
            <a:avLst>
              <a:gd name="adj" fmla="val 46153"/>
            </a:avLst>
          </a:prstGeom>
          <a:solidFill>
            <a:srgbClr val="6F7A89"/>
          </a:solidFill>
          <a:ln w="31750">
            <a:solidFill>
              <a:srgbClr val="0E1116"/>
            </a:solidFill>
          </a:ln>
        </p:spPr>
        <p:txBody>
          <a:bodyPr rtlCol="0" anchor="ctr"/>
          <a:lstStyle/>
          <a:p>
            <a:pPr algn="ctr"/>
          </a:p>
        </p:txBody>
      </p:sp>
      <p:sp>
        <p:nvSpPr>
          <p:cNvPr id="45" name="Rounded Rectangle 44"/>
          <p:cNvSpPr/>
          <p:nvPr/>
        </p:nvSpPr>
        <p:spPr>
          <a:xfrm>
            <a:off x="8149864" y="4362420"/>
            <a:ext cx="116495" cy="519745"/>
          </a:xfrm>
          <a:prstGeom prst="roundRect">
            <a:avLst>
              <a:gd name="adj" fmla="val 46153"/>
            </a:avLst>
          </a:prstGeom>
          <a:solidFill>
            <a:srgbClr val="6F7A89"/>
          </a:solidFill>
          <a:ln w="31750">
            <a:solidFill>
              <a:srgbClr val="0E1116"/>
            </a:solidFill>
          </a:ln>
        </p:spPr>
        <p:txBody>
          <a:bodyPr rtlCol="0" anchor="ctr"/>
          <a:lstStyle/>
          <a:p>
            <a:pPr algn="ctr"/>
          </a:p>
        </p:txBody>
      </p:sp>
      <p:sp>
        <p:nvSpPr>
          <p:cNvPr id="46" name="Rounded Rectangle 45"/>
          <p:cNvSpPr/>
          <p:nvPr/>
        </p:nvSpPr>
        <p:spPr>
          <a:xfrm>
            <a:off x="8284281" y="4398264"/>
            <a:ext cx="116495" cy="483900"/>
          </a:xfrm>
          <a:prstGeom prst="roundRect">
            <a:avLst>
              <a:gd name="adj" fmla="val 46153"/>
            </a:avLst>
          </a:prstGeom>
          <a:solidFill>
            <a:srgbClr val="6F7A89"/>
          </a:solidFill>
          <a:ln w="31750">
            <a:solidFill>
              <a:srgbClr val="0E1116"/>
            </a:solidFill>
          </a:ln>
        </p:spPr>
        <p:txBody>
          <a:bodyPr rtlCol="0" anchor="ctr"/>
          <a:lstStyle/>
          <a:p>
            <a:pPr algn="ctr"/>
          </a:p>
        </p:txBody>
      </p:sp>
      <p:sp>
        <p:nvSpPr>
          <p:cNvPr id="47" name="Rounded Rectangle 46"/>
          <p:cNvSpPr/>
          <p:nvPr/>
        </p:nvSpPr>
        <p:spPr>
          <a:xfrm>
            <a:off x="8418698" y="4487875"/>
            <a:ext cx="116495" cy="394289"/>
          </a:xfrm>
          <a:prstGeom prst="roundRect">
            <a:avLst>
              <a:gd name="adj" fmla="val 46153"/>
            </a:avLst>
          </a:prstGeom>
          <a:solidFill>
            <a:srgbClr val="6F7A89"/>
          </a:solidFill>
          <a:ln w="31750">
            <a:solidFill>
              <a:srgbClr val="0E1116"/>
            </a:solidFill>
          </a:ln>
        </p:spPr>
        <p:txBody>
          <a:bodyPr rtlCol="0" anchor="ctr"/>
          <a:lstStyle/>
          <a:p>
            <a:pPr algn="ctr"/>
          </a:p>
        </p:txBody>
      </p:sp>
      <p:sp>
        <p:nvSpPr>
          <p:cNvPr id="48" name="Rounded Rectangle 47"/>
          <p:cNvSpPr/>
          <p:nvPr/>
        </p:nvSpPr>
        <p:spPr>
          <a:xfrm rot="19680000">
            <a:off x="7854147" y="4864242"/>
            <a:ext cx="286756" cy="125456"/>
          </a:xfrm>
          <a:prstGeom prst="roundRect">
            <a:avLst>
              <a:gd name="adj" fmla="val 50000"/>
            </a:avLst>
          </a:prstGeom>
          <a:solidFill>
            <a:srgbClr val="6F7A89"/>
          </a:solidFill>
          <a:ln w="31750">
            <a:solidFill>
              <a:srgbClr val="0E1116"/>
            </a:solidFill>
          </a:ln>
        </p:spPr>
        <p:txBody>
          <a:bodyPr rtlCol="0" anchor="ctr"/>
          <a:lstStyle/>
          <a:p>
            <a:pPr algn="ctr"/>
          </a:p>
        </p:txBody>
      </p:sp>
      <p:sp>
        <p:nvSpPr>
          <p:cNvPr id="49" name="TextBox 48"/>
          <p:cNvSpPr txBox="1"/>
          <p:nvPr/>
        </p:nvSpPr>
        <p:spPr>
          <a:xfrm>
            <a:off x="9006840" y="4288536"/>
            <a:ext cx="2468880" cy="502920"/>
          </a:xfrm>
          <a:prstGeom prst="rect">
            <a:avLst/>
          </a:prstGeom>
          <a:noFill/>
        </p:spPr>
        <p:txBody>
          <a:bodyPr wrap="square" anchor="t" lIns="0" rIns="0" tIns="0" bIns="0">
            <a:noAutofit/>
          </a:bodyPr>
          <a:lstStyle/>
          <a:p>
            <a:pPr algn="l">
              <a:lnSpc>
                <a:spcPct val="100000"/>
              </a:lnSpc>
              <a:spcBef>
                <a:spcPts val="0"/>
              </a:spcBef>
              <a:spcAft>
                <a:spcPts val="0"/>
              </a:spcAft>
            </a:pPr>
            <a:r>
              <a:rPr sz="2200" b="0" i="0">
                <a:solidFill>
                  <a:srgbClr val="6F7A89"/>
                </a:solidFill>
                <a:latin typeface="Arial Black"/>
              </a:rPr>
              <a:t>OPEN HAND</a:t>
            </a:r>
          </a:p>
        </p:txBody>
      </p:sp>
      <p:sp>
        <p:nvSpPr>
          <p:cNvPr id="50" name="TextBox 49"/>
          <p:cNvSpPr txBox="1"/>
          <p:nvPr/>
        </p:nvSpPr>
        <p:spPr>
          <a:xfrm>
            <a:off x="9006840" y="4764024"/>
            <a:ext cx="2468880" cy="502920"/>
          </a:xfrm>
          <a:prstGeom prst="rect">
            <a:avLst/>
          </a:prstGeom>
          <a:noFill/>
        </p:spPr>
        <p:txBody>
          <a:bodyPr wrap="square" anchor="t" lIns="0" rIns="0" tIns="0" bIns="0">
            <a:noAutofit/>
          </a:bodyPr>
          <a:lstStyle/>
          <a:p>
            <a:pPr algn="l">
              <a:lnSpc>
                <a:spcPct val="100000"/>
              </a:lnSpc>
              <a:spcBef>
                <a:spcPts val="0"/>
              </a:spcBef>
              <a:spcAft>
                <a:spcPts val="0"/>
              </a:spcAft>
            </a:pPr>
            <a:r>
              <a:rPr sz="2200" b="1" i="0">
                <a:solidFill>
                  <a:srgbClr val="6F7A89"/>
                </a:solidFill>
                <a:latin typeface="Arial"/>
              </a:rPr>
              <a:t>= KINETIC</a:t>
            </a:r>
          </a:p>
        </p:txBody>
      </p:sp>
      <p:sp>
        <p:nvSpPr>
          <p:cNvPr id="51" name="Rounded Rectangle 50"/>
          <p:cNvSpPr/>
          <p:nvPr/>
        </p:nvSpPr>
        <p:spPr>
          <a:xfrm>
            <a:off x="685800" y="5577840"/>
            <a:ext cx="10817352" cy="658368"/>
          </a:xfrm>
          <a:prstGeom prst="roundRect">
            <a:avLst>
              <a:gd name="adj" fmla="val 16666"/>
            </a:avLst>
          </a:prstGeom>
          <a:solidFill>
            <a:srgbClr val="232B36"/>
          </a:solidFill>
          <a:ln>
            <a:noFill/>
          </a:ln>
        </p:spPr>
        <p:txBody>
          <a:bodyPr rtlCol="0" anchor="ctr"/>
          <a:lstStyle/>
          <a:p>
            <a:pPr algn="ctr"/>
          </a:p>
        </p:txBody>
      </p:sp>
      <p:sp>
        <p:nvSpPr>
          <p:cNvPr id="52" name="TextBox 51"/>
          <p:cNvSpPr txBox="1"/>
          <p:nvPr/>
        </p:nvSpPr>
        <p:spPr>
          <a:xfrm>
            <a:off x="914400" y="5577840"/>
            <a:ext cx="10424160" cy="658368"/>
          </a:xfrm>
          <a:prstGeom prst="rect">
            <a:avLst/>
          </a:prstGeom>
          <a:noFill/>
        </p:spPr>
        <p:txBody>
          <a:bodyPr wrap="square" anchor="ctr" lIns="0" rIns="0" tIns="0" bIns="0">
            <a:noAutofit/>
          </a:bodyPr>
          <a:lstStyle/>
          <a:p>
            <a:pPr algn="l">
              <a:lnSpc>
                <a:spcPct val="100000"/>
              </a:lnSpc>
              <a:spcBef>
                <a:spcPts val="0"/>
              </a:spcBef>
              <a:spcAft>
                <a:spcPts val="0"/>
              </a:spcAft>
            </a:pPr>
            <a:r>
              <a:rPr sz="2000" b="1" i="0">
                <a:solidFill>
                  <a:srgbClr val="FFB400"/>
                </a:solidFill>
                <a:latin typeface="Arial"/>
              </a:rPr>
              <a:t>POTENTIAL</a:t>
            </a:r>
            <a:r>
              <a:rPr sz="2000" b="0" i="0">
                <a:solidFill>
                  <a:srgbClr val="F4F6F8"/>
                </a:solidFill>
                <a:latin typeface="Arial"/>
              </a:rPr>
              <a:t>   Still object → potential energy.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A9B3C0"/>
                </a:solidFill>
                <a:latin typeface="Arial Narrow"/>
              </a:rPr>
              <a:t>ACT 1 · ENERGY</a:t>
            </a:r>
          </a:p>
        </p:txBody>
      </p:sp>
      <p:sp>
        <p:nvSpPr>
          <p:cNvPr id="4" name="Rounded Rectangle 3"/>
          <p:cNvSpPr/>
          <p:nvPr/>
        </p:nvSpPr>
        <p:spPr>
          <a:xfrm>
            <a:off x="10058400" y="274320"/>
            <a:ext cx="1444752" cy="329184"/>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1500" b="1" i="0" spc="60">
                <a:solidFill>
                  <a:srgbClr val="12161C"/>
                </a:solidFill>
                <a:latin typeface="Arial"/>
              </a:rPr>
              <a:t>+100 EP</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6F7A89"/>
                </a:solidFill>
                <a:latin typeface="Arial Narrow"/>
              </a:rPr>
              <a:t>ENERGY LAB  ·  CRASH TEST #05</a:t>
            </a:r>
          </a:p>
        </p:txBody>
      </p:sp>
      <p:sp>
        <p:nvSpPr>
          <p:cNvPr id="6" name="Rectangle 5"/>
          <p:cNvSpPr/>
          <p:nvPr/>
        </p:nvSpPr>
        <p:spPr>
          <a:xfrm>
            <a:off x="4526280" y="6510528"/>
            <a:ext cx="127363" cy="54864"/>
          </a:xfrm>
          <a:prstGeom prst="rect">
            <a:avLst/>
          </a:prstGeom>
          <a:solidFill>
            <a:srgbClr val="8A6A1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8A6A1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FFB400"/>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2A3240"/>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2A3240"/>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2A3240"/>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2A3240"/>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2A3240"/>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2A3240"/>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2A3240"/>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2A3240"/>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2A3240"/>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2A3240"/>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2A3240"/>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6F7A89"/>
                </a:solidFill>
                <a:latin typeface="Arial Narrow"/>
              </a:rPr>
              <a:t>13</a:t>
            </a:fld>
          </a:p>
        </p:txBody>
      </p:sp>
      <p:sp>
        <p:nvSpPr>
          <p:cNvPr id="21" name="TextBox 20"/>
          <p:cNvSpPr txBox="1"/>
          <p:nvPr/>
        </p:nvSpPr>
        <p:spPr>
          <a:xfrm>
            <a:off x="685800" y="896112"/>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A9B3C0"/>
                </a:solidFill>
                <a:latin typeface="Arial Narrow"/>
              </a:rPr>
              <a:t>SITUATION 2 / 5</a:t>
            </a:r>
          </a:p>
        </p:txBody>
      </p:sp>
      <p:sp>
        <p:nvSpPr>
          <p:cNvPr id="22" name="TextBox 21"/>
          <p:cNvSpPr txBox="1"/>
          <p:nvPr/>
        </p:nvSpPr>
        <p:spPr>
          <a:xfrm>
            <a:off x="685800" y="1188720"/>
            <a:ext cx="10789920" cy="1234440"/>
          </a:xfrm>
          <a:prstGeom prst="rect">
            <a:avLst/>
          </a:prstGeom>
          <a:noFill/>
        </p:spPr>
        <p:txBody>
          <a:bodyPr wrap="square" anchor="t" lIns="0" rIns="0" tIns="0" bIns="0">
            <a:noAutofit/>
          </a:bodyPr>
          <a:lstStyle/>
          <a:p>
            <a:pPr algn="l">
              <a:lnSpc>
                <a:spcPct val="100000"/>
              </a:lnSpc>
              <a:spcBef>
                <a:spcPts val="0"/>
              </a:spcBef>
              <a:spcAft>
                <a:spcPts val="0"/>
              </a:spcAft>
            </a:pPr>
            <a:r>
              <a:rPr sz="3600" b="1" i="0">
                <a:solidFill>
                  <a:srgbClr val="F4F6F8"/>
                </a:solidFill>
                <a:latin typeface="Arial"/>
              </a:rPr>
              <a:t>A car is driving along a highway.</a:t>
            </a:r>
          </a:p>
        </p:txBody>
      </p:sp>
      <p:sp>
        <p:nvSpPr>
          <p:cNvPr id="23" name="Rounded Rectangle 22"/>
          <p:cNvSpPr/>
          <p:nvPr/>
        </p:nvSpPr>
        <p:spPr>
          <a:xfrm>
            <a:off x="685800" y="2514600"/>
            <a:ext cx="6492240" cy="2880360"/>
          </a:xfrm>
          <a:prstGeom prst="roundRect">
            <a:avLst>
              <a:gd name="adj" fmla="val 4444"/>
            </a:avLst>
          </a:prstGeom>
          <a:solidFill>
            <a:srgbClr val="1A2029"/>
          </a:solidFill>
          <a:ln w="19050">
            <a:solidFill>
              <a:srgbClr val="323C4A"/>
            </a:solidFill>
          </a:ln>
        </p:spPr>
        <p:txBody>
          <a:bodyPr rtlCol="0" anchor="ctr"/>
          <a:lstStyle/>
          <a:p>
            <a:pPr algn="ctr"/>
          </a:p>
        </p:txBody>
      </p:sp>
      <p:cxnSp>
        <p:nvCxnSpPr>
          <p:cNvPr id="24" name="Connector 23"/>
          <p:cNvCxnSpPr/>
          <p:nvPr/>
        </p:nvCxnSpPr>
        <p:spPr>
          <a:xfrm>
            <a:off x="1052474" y="5087722"/>
            <a:ext cx="5758892" cy="0"/>
          </a:xfrm>
          <a:prstGeom prst="line">
            <a:avLst/>
          </a:prstGeom>
          <a:ln w="44450" cap="rnd">
            <a:solidFill>
              <a:srgbClr val="6F7A89"/>
            </a:solidFill>
            <a:round/>
          </a:ln>
        </p:spPr>
      </p:cxnSp>
      <p:cxnSp>
        <p:nvCxnSpPr>
          <p:cNvPr id="25" name="Connector 24"/>
          <p:cNvCxnSpPr/>
          <p:nvPr/>
        </p:nvCxnSpPr>
        <p:spPr>
          <a:xfrm>
            <a:off x="1236269" y="5222596"/>
            <a:ext cx="490118" cy="0"/>
          </a:xfrm>
          <a:prstGeom prst="line">
            <a:avLst/>
          </a:prstGeom>
          <a:ln w="38100">
            <a:solidFill>
              <a:srgbClr val="6F7A89"/>
            </a:solidFill>
          </a:ln>
        </p:spPr>
      </p:cxnSp>
      <p:cxnSp>
        <p:nvCxnSpPr>
          <p:cNvPr id="26" name="Connector 25"/>
          <p:cNvCxnSpPr/>
          <p:nvPr/>
        </p:nvCxnSpPr>
        <p:spPr>
          <a:xfrm>
            <a:off x="2216506" y="5222596"/>
            <a:ext cx="490118" cy="0"/>
          </a:xfrm>
          <a:prstGeom prst="line">
            <a:avLst/>
          </a:prstGeom>
          <a:ln w="38100">
            <a:solidFill>
              <a:srgbClr val="6F7A89"/>
            </a:solidFill>
          </a:ln>
        </p:spPr>
      </p:cxnSp>
      <p:cxnSp>
        <p:nvCxnSpPr>
          <p:cNvPr id="27" name="Connector 26"/>
          <p:cNvCxnSpPr/>
          <p:nvPr/>
        </p:nvCxnSpPr>
        <p:spPr>
          <a:xfrm>
            <a:off x="3196742" y="5222596"/>
            <a:ext cx="490119" cy="0"/>
          </a:xfrm>
          <a:prstGeom prst="line">
            <a:avLst/>
          </a:prstGeom>
          <a:ln w="38100">
            <a:solidFill>
              <a:srgbClr val="6F7A89"/>
            </a:solidFill>
          </a:ln>
        </p:spPr>
      </p:cxnSp>
      <p:cxnSp>
        <p:nvCxnSpPr>
          <p:cNvPr id="28" name="Connector 27"/>
          <p:cNvCxnSpPr/>
          <p:nvPr/>
        </p:nvCxnSpPr>
        <p:spPr>
          <a:xfrm>
            <a:off x="4176979" y="5222596"/>
            <a:ext cx="490119" cy="0"/>
          </a:xfrm>
          <a:prstGeom prst="line">
            <a:avLst/>
          </a:prstGeom>
          <a:ln w="38100">
            <a:solidFill>
              <a:srgbClr val="6F7A89"/>
            </a:solidFill>
          </a:ln>
        </p:spPr>
      </p:cxnSp>
      <p:cxnSp>
        <p:nvCxnSpPr>
          <p:cNvPr id="29" name="Connector 28"/>
          <p:cNvCxnSpPr/>
          <p:nvPr/>
        </p:nvCxnSpPr>
        <p:spPr>
          <a:xfrm>
            <a:off x="5157216" y="5222596"/>
            <a:ext cx="490118" cy="0"/>
          </a:xfrm>
          <a:prstGeom prst="line">
            <a:avLst/>
          </a:prstGeom>
          <a:ln w="38100">
            <a:solidFill>
              <a:srgbClr val="6F7A89"/>
            </a:solidFill>
          </a:ln>
        </p:spPr>
      </p:cxnSp>
      <p:cxnSp>
        <p:nvCxnSpPr>
          <p:cNvPr id="30" name="Connector 29"/>
          <p:cNvCxnSpPr/>
          <p:nvPr/>
        </p:nvCxnSpPr>
        <p:spPr>
          <a:xfrm>
            <a:off x="6137453" y="5222596"/>
            <a:ext cx="490118" cy="0"/>
          </a:xfrm>
          <a:prstGeom prst="line">
            <a:avLst/>
          </a:prstGeom>
          <a:ln w="38100">
            <a:solidFill>
              <a:srgbClr val="6F7A89"/>
            </a:solidFill>
          </a:ln>
        </p:spPr>
      </p:cxnSp>
      <p:sp>
        <p:nvSpPr>
          <p:cNvPr id="31" name="Freeform 30"/>
          <p:cNvSpPr/>
          <p:nvPr/>
        </p:nvSpPr>
        <p:spPr>
          <a:xfrm>
            <a:off x="3043580" y="3824478"/>
            <a:ext cx="2940711" cy="949604"/>
          </a:xfrm>
          <a:custGeom>
            <a:avLst/>
            <a:gdLst/>
            <a:ahLst/>
            <a:cxnLst/>
            <a:rect l="l" t="t" r="r" b="b"/>
            <a:pathLst>
              <a:path w="2940711" h="949604">
                <a:moveTo>
                  <a:pt x="0" y="949604"/>
                </a:moveTo>
                <a:lnTo>
                  <a:pt x="0" y="582016"/>
                </a:lnTo>
                <a:lnTo>
                  <a:pt x="122530" y="428854"/>
                </a:lnTo>
                <a:lnTo>
                  <a:pt x="643281" y="367589"/>
                </a:lnTo>
                <a:lnTo>
                  <a:pt x="949605" y="0"/>
                </a:lnTo>
                <a:lnTo>
                  <a:pt x="1807312" y="0"/>
                </a:lnTo>
                <a:lnTo>
                  <a:pt x="2236166" y="398221"/>
                </a:lnTo>
                <a:lnTo>
                  <a:pt x="2787549" y="520751"/>
                </a:lnTo>
                <a:lnTo>
                  <a:pt x="2940711" y="735178"/>
                </a:lnTo>
                <a:lnTo>
                  <a:pt x="2940711" y="949604"/>
                </a:lnTo>
                <a:close/>
              </a:path>
            </a:pathLst>
          </a:custGeom>
          <a:solidFill>
            <a:srgbClr val="3A4657"/>
          </a:solidFill>
          <a:ln>
            <a:noFill/>
          </a:ln>
        </p:spPr>
        <p:txBody>
          <a:bodyPr rtlCol="0" anchor="ctr"/>
          <a:lstStyle/>
          <a:p>
            <a:pPr algn="ctr"/>
          </a:p>
        </p:txBody>
      </p:sp>
      <p:sp>
        <p:nvSpPr>
          <p:cNvPr id="32" name="Freeform 31"/>
          <p:cNvSpPr/>
          <p:nvPr/>
        </p:nvSpPr>
        <p:spPr>
          <a:xfrm>
            <a:off x="3840023" y="3916375"/>
            <a:ext cx="1209980" cy="275692"/>
          </a:xfrm>
          <a:custGeom>
            <a:avLst/>
            <a:gdLst/>
            <a:ahLst/>
            <a:cxnLst/>
            <a:rect l="l" t="t" r="r" b="b"/>
            <a:pathLst>
              <a:path w="1209980" h="275692">
                <a:moveTo>
                  <a:pt x="0" y="275692"/>
                </a:moveTo>
                <a:lnTo>
                  <a:pt x="229743" y="0"/>
                </a:lnTo>
                <a:lnTo>
                  <a:pt x="949604" y="0"/>
                </a:lnTo>
                <a:lnTo>
                  <a:pt x="1209980" y="275692"/>
                </a:lnTo>
                <a:close/>
              </a:path>
            </a:pathLst>
          </a:custGeom>
          <a:solidFill>
            <a:srgbClr val="9FD8F2"/>
          </a:solidFill>
          <a:ln>
            <a:noFill/>
          </a:ln>
        </p:spPr>
        <p:txBody>
          <a:bodyPr rtlCol="0" anchor="ctr"/>
          <a:lstStyle/>
          <a:p>
            <a:pPr algn="ctr"/>
          </a:p>
        </p:txBody>
      </p:sp>
      <p:cxnSp>
        <p:nvCxnSpPr>
          <p:cNvPr id="33" name="Connector 32"/>
          <p:cNvCxnSpPr/>
          <p:nvPr/>
        </p:nvCxnSpPr>
        <p:spPr>
          <a:xfrm>
            <a:off x="4437355" y="3916375"/>
            <a:ext cx="0" cy="275692"/>
          </a:xfrm>
          <a:prstGeom prst="line">
            <a:avLst/>
          </a:prstGeom>
          <a:ln w="38100">
            <a:solidFill>
              <a:srgbClr val="3A4657"/>
            </a:solidFill>
          </a:ln>
        </p:spPr>
      </p:cxnSp>
      <p:sp>
        <p:nvSpPr>
          <p:cNvPr id="34" name="Oval 33"/>
          <p:cNvSpPr/>
          <p:nvPr/>
        </p:nvSpPr>
        <p:spPr>
          <a:xfrm>
            <a:off x="3386663" y="4596414"/>
            <a:ext cx="477865" cy="477865"/>
          </a:xfrm>
          <a:prstGeom prst="ellipse">
            <a:avLst/>
          </a:prstGeom>
          <a:solidFill>
            <a:srgbClr val="0B0E12"/>
          </a:solidFill>
          <a:ln w="25400">
            <a:solidFill>
              <a:srgbClr val="0E1116"/>
            </a:solidFill>
          </a:ln>
        </p:spPr>
        <p:txBody>
          <a:bodyPr rtlCol="0" anchor="ctr"/>
          <a:lstStyle/>
          <a:p>
            <a:pPr algn="ctr"/>
          </a:p>
        </p:txBody>
      </p:sp>
      <p:sp>
        <p:nvSpPr>
          <p:cNvPr id="35" name="Oval 34"/>
          <p:cNvSpPr/>
          <p:nvPr/>
        </p:nvSpPr>
        <p:spPr>
          <a:xfrm>
            <a:off x="3515319" y="4725071"/>
            <a:ext cx="220553" cy="220553"/>
          </a:xfrm>
          <a:prstGeom prst="ellipse">
            <a:avLst/>
          </a:prstGeom>
          <a:solidFill>
            <a:srgbClr val="B7C0CC"/>
          </a:solidFill>
          <a:ln>
            <a:noFill/>
          </a:ln>
        </p:spPr>
        <p:txBody>
          <a:bodyPr rtlCol="0" anchor="ctr"/>
          <a:lstStyle/>
          <a:p>
            <a:pPr algn="ctr"/>
          </a:p>
        </p:txBody>
      </p:sp>
      <p:sp>
        <p:nvSpPr>
          <p:cNvPr id="36" name="Oval 35"/>
          <p:cNvSpPr/>
          <p:nvPr/>
        </p:nvSpPr>
        <p:spPr>
          <a:xfrm>
            <a:off x="5102078" y="4596414"/>
            <a:ext cx="477865" cy="477865"/>
          </a:xfrm>
          <a:prstGeom prst="ellipse">
            <a:avLst/>
          </a:prstGeom>
          <a:solidFill>
            <a:srgbClr val="0B0E12"/>
          </a:solidFill>
          <a:ln w="25400">
            <a:solidFill>
              <a:srgbClr val="0E1116"/>
            </a:solidFill>
          </a:ln>
        </p:spPr>
        <p:txBody>
          <a:bodyPr rtlCol="0" anchor="ctr"/>
          <a:lstStyle/>
          <a:p>
            <a:pPr algn="ctr"/>
          </a:p>
        </p:txBody>
      </p:sp>
      <p:sp>
        <p:nvSpPr>
          <p:cNvPr id="37" name="Oval 36"/>
          <p:cNvSpPr/>
          <p:nvPr/>
        </p:nvSpPr>
        <p:spPr>
          <a:xfrm>
            <a:off x="5230734" y="4725071"/>
            <a:ext cx="220553" cy="220553"/>
          </a:xfrm>
          <a:prstGeom prst="ellipse">
            <a:avLst/>
          </a:prstGeom>
          <a:solidFill>
            <a:srgbClr val="B7C0CC"/>
          </a:solidFill>
          <a:ln>
            <a:noFill/>
          </a:ln>
        </p:spPr>
        <p:txBody>
          <a:bodyPr rtlCol="0" anchor="ctr"/>
          <a:lstStyle/>
          <a:p>
            <a:pPr algn="ctr"/>
          </a:p>
        </p:txBody>
      </p:sp>
      <p:cxnSp>
        <p:nvCxnSpPr>
          <p:cNvPr id="38" name="Connector 37"/>
          <p:cNvCxnSpPr/>
          <p:nvPr/>
        </p:nvCxnSpPr>
        <p:spPr>
          <a:xfrm>
            <a:off x="1703107" y="3826535"/>
            <a:ext cx="1064782" cy="0"/>
          </a:xfrm>
          <a:prstGeom prst="line">
            <a:avLst/>
          </a:prstGeom>
          <a:ln w="44450" cap="rnd">
            <a:solidFill>
              <a:srgbClr val="FFB400"/>
            </a:solidFill>
            <a:round/>
          </a:ln>
        </p:spPr>
      </p:cxnSp>
      <p:cxnSp>
        <p:nvCxnSpPr>
          <p:cNvPr id="39" name="Connector 38"/>
          <p:cNvCxnSpPr/>
          <p:nvPr/>
        </p:nvCxnSpPr>
        <p:spPr>
          <a:xfrm>
            <a:off x="1514411" y="4177208"/>
            <a:ext cx="1253478" cy="0"/>
          </a:xfrm>
          <a:prstGeom prst="line">
            <a:avLst/>
          </a:prstGeom>
          <a:ln w="44450" cap="rnd">
            <a:solidFill>
              <a:srgbClr val="FFB400"/>
            </a:solidFill>
            <a:round/>
          </a:ln>
        </p:spPr>
      </p:cxnSp>
      <p:cxnSp>
        <p:nvCxnSpPr>
          <p:cNvPr id="40" name="Connector 39"/>
          <p:cNvCxnSpPr/>
          <p:nvPr/>
        </p:nvCxnSpPr>
        <p:spPr>
          <a:xfrm>
            <a:off x="1514411" y="4527880"/>
            <a:ext cx="1253478" cy="0"/>
          </a:xfrm>
          <a:prstGeom prst="line">
            <a:avLst/>
          </a:prstGeom>
          <a:ln w="44450" cap="rnd">
            <a:solidFill>
              <a:srgbClr val="FFB400"/>
            </a:solidFill>
            <a:round/>
          </a:ln>
        </p:spPr>
      </p:cxnSp>
      <p:cxnSp>
        <p:nvCxnSpPr>
          <p:cNvPr id="41" name="Connector 40"/>
          <p:cNvCxnSpPr/>
          <p:nvPr/>
        </p:nvCxnSpPr>
        <p:spPr>
          <a:xfrm>
            <a:off x="1703107" y="4878553"/>
            <a:ext cx="1064782" cy="0"/>
          </a:xfrm>
          <a:prstGeom prst="line">
            <a:avLst/>
          </a:prstGeom>
          <a:ln w="44450" cap="rnd">
            <a:solidFill>
              <a:srgbClr val="FFB400"/>
            </a:solidFill>
            <a:round/>
          </a:ln>
        </p:spPr>
      </p:cxnSp>
      <p:sp>
        <p:nvSpPr>
          <p:cNvPr id="42" name="Rounded Rectangle 41"/>
          <p:cNvSpPr/>
          <p:nvPr/>
        </p:nvSpPr>
        <p:spPr>
          <a:xfrm>
            <a:off x="7452360" y="2514600"/>
            <a:ext cx="4050792" cy="1325880"/>
          </a:xfrm>
          <a:prstGeom prst="roundRect">
            <a:avLst>
              <a:gd name="adj" fmla="val 9655"/>
            </a:avLst>
          </a:prstGeom>
          <a:solidFill>
            <a:srgbClr val="1A2029"/>
          </a:solidFill>
          <a:ln w="25400">
            <a:solidFill>
              <a:srgbClr val="323C4A"/>
            </a:solidFill>
          </a:ln>
        </p:spPr>
        <p:txBody>
          <a:bodyPr rtlCol="0" anchor="ctr"/>
          <a:lstStyle/>
          <a:p>
            <a:pPr algn="ctr"/>
          </a:p>
        </p:txBody>
      </p:sp>
      <p:sp>
        <p:nvSpPr>
          <p:cNvPr id="43" name="Rounded Rectangle 42"/>
          <p:cNvSpPr/>
          <p:nvPr/>
        </p:nvSpPr>
        <p:spPr>
          <a:xfrm>
            <a:off x="7952720" y="3184307"/>
            <a:ext cx="645201" cy="465978"/>
          </a:xfrm>
          <a:prstGeom prst="roundRect">
            <a:avLst>
              <a:gd name="adj" fmla="val 23076"/>
            </a:avLst>
          </a:prstGeom>
          <a:solidFill>
            <a:srgbClr val="F4F6F8"/>
          </a:solidFill>
          <a:ln w="31750">
            <a:solidFill>
              <a:srgbClr val="0E1116"/>
            </a:solidFill>
          </a:ln>
        </p:spPr>
        <p:txBody>
          <a:bodyPr rtlCol="0" anchor="ctr"/>
          <a:lstStyle/>
          <a:p>
            <a:pPr algn="ctr"/>
          </a:p>
        </p:txBody>
      </p:sp>
      <p:sp>
        <p:nvSpPr>
          <p:cNvPr id="44" name="Rounded Rectangle 43"/>
          <p:cNvSpPr/>
          <p:nvPr/>
        </p:nvSpPr>
        <p:spPr>
          <a:xfrm>
            <a:off x="7952720" y="2987162"/>
            <a:ext cx="161300" cy="286756"/>
          </a:xfrm>
          <a:prstGeom prst="roundRect">
            <a:avLst>
              <a:gd name="adj" fmla="val 38888"/>
            </a:avLst>
          </a:prstGeom>
          <a:solidFill>
            <a:srgbClr val="F4F6F8"/>
          </a:solidFill>
          <a:ln w="31750">
            <a:solidFill>
              <a:srgbClr val="0E1116"/>
            </a:solidFill>
          </a:ln>
        </p:spPr>
        <p:txBody>
          <a:bodyPr rtlCol="0" anchor="ctr"/>
          <a:lstStyle/>
          <a:p>
            <a:pPr algn="ctr"/>
          </a:p>
        </p:txBody>
      </p:sp>
      <p:sp>
        <p:nvSpPr>
          <p:cNvPr id="45" name="Rounded Rectangle 44"/>
          <p:cNvSpPr/>
          <p:nvPr/>
        </p:nvSpPr>
        <p:spPr>
          <a:xfrm>
            <a:off x="8114020" y="2987162"/>
            <a:ext cx="161300" cy="286756"/>
          </a:xfrm>
          <a:prstGeom prst="roundRect">
            <a:avLst>
              <a:gd name="adj" fmla="val 38888"/>
            </a:avLst>
          </a:prstGeom>
          <a:solidFill>
            <a:srgbClr val="F4F6F8"/>
          </a:solidFill>
          <a:ln w="31750">
            <a:solidFill>
              <a:srgbClr val="0E1116"/>
            </a:solidFill>
          </a:ln>
        </p:spPr>
        <p:txBody>
          <a:bodyPr rtlCol="0" anchor="ctr"/>
          <a:lstStyle/>
          <a:p>
            <a:pPr algn="ctr"/>
          </a:p>
        </p:txBody>
      </p:sp>
      <p:sp>
        <p:nvSpPr>
          <p:cNvPr id="46" name="Rounded Rectangle 45"/>
          <p:cNvSpPr/>
          <p:nvPr/>
        </p:nvSpPr>
        <p:spPr>
          <a:xfrm>
            <a:off x="8275320" y="2987162"/>
            <a:ext cx="161300" cy="286756"/>
          </a:xfrm>
          <a:prstGeom prst="roundRect">
            <a:avLst>
              <a:gd name="adj" fmla="val 38888"/>
            </a:avLst>
          </a:prstGeom>
          <a:solidFill>
            <a:srgbClr val="F4F6F8"/>
          </a:solidFill>
          <a:ln w="31750">
            <a:solidFill>
              <a:srgbClr val="0E1116"/>
            </a:solidFill>
          </a:ln>
        </p:spPr>
        <p:txBody>
          <a:bodyPr rtlCol="0" anchor="ctr"/>
          <a:lstStyle/>
          <a:p>
            <a:pPr algn="ctr"/>
          </a:p>
        </p:txBody>
      </p:sp>
      <p:sp>
        <p:nvSpPr>
          <p:cNvPr id="47" name="Rounded Rectangle 46"/>
          <p:cNvSpPr/>
          <p:nvPr/>
        </p:nvSpPr>
        <p:spPr>
          <a:xfrm>
            <a:off x="8436620" y="2987162"/>
            <a:ext cx="161300" cy="286756"/>
          </a:xfrm>
          <a:prstGeom prst="roundRect">
            <a:avLst>
              <a:gd name="adj" fmla="val 38888"/>
            </a:avLst>
          </a:prstGeom>
          <a:solidFill>
            <a:srgbClr val="F4F6F8"/>
          </a:solidFill>
          <a:ln w="31750">
            <a:solidFill>
              <a:srgbClr val="0E1116"/>
            </a:solidFill>
          </a:ln>
        </p:spPr>
        <p:txBody>
          <a:bodyPr rtlCol="0" anchor="ctr"/>
          <a:lstStyle/>
          <a:p>
            <a:pPr algn="ctr"/>
          </a:p>
        </p:txBody>
      </p:sp>
      <p:sp>
        <p:nvSpPr>
          <p:cNvPr id="48" name="Rounded Rectangle 47"/>
          <p:cNvSpPr/>
          <p:nvPr/>
        </p:nvSpPr>
        <p:spPr>
          <a:xfrm>
            <a:off x="7898953" y="3345607"/>
            <a:ext cx="465978" cy="152339"/>
          </a:xfrm>
          <a:prstGeom prst="roundRect">
            <a:avLst>
              <a:gd name="adj" fmla="val 47058"/>
            </a:avLst>
          </a:prstGeom>
          <a:solidFill>
            <a:srgbClr val="F4F6F8"/>
          </a:solidFill>
          <a:ln w="31750">
            <a:solidFill>
              <a:srgbClr val="0E1116"/>
            </a:solidFill>
          </a:ln>
        </p:spPr>
        <p:txBody>
          <a:bodyPr rtlCol="0" anchor="ctr"/>
          <a:lstStyle/>
          <a:p>
            <a:pPr algn="ctr"/>
          </a:p>
        </p:txBody>
      </p:sp>
      <p:sp>
        <p:nvSpPr>
          <p:cNvPr id="49" name="TextBox 48"/>
          <p:cNvSpPr txBox="1"/>
          <p:nvPr/>
        </p:nvSpPr>
        <p:spPr>
          <a:xfrm>
            <a:off x="9006840" y="2734056"/>
            <a:ext cx="2468880" cy="502920"/>
          </a:xfrm>
          <a:prstGeom prst="rect">
            <a:avLst/>
          </a:prstGeom>
          <a:noFill/>
        </p:spPr>
        <p:txBody>
          <a:bodyPr wrap="square" anchor="t" lIns="0" rIns="0" tIns="0" bIns="0">
            <a:noAutofit/>
          </a:bodyPr>
          <a:lstStyle/>
          <a:p>
            <a:pPr algn="l">
              <a:lnSpc>
                <a:spcPct val="100000"/>
              </a:lnSpc>
              <a:spcBef>
                <a:spcPts val="0"/>
              </a:spcBef>
              <a:spcAft>
                <a:spcPts val="0"/>
              </a:spcAft>
            </a:pPr>
            <a:r>
              <a:rPr sz="2200" b="0" i="0">
                <a:solidFill>
                  <a:srgbClr val="F4F6F8"/>
                </a:solidFill>
                <a:latin typeface="Arial Black"/>
              </a:rPr>
              <a:t>FIST</a:t>
            </a:r>
          </a:p>
        </p:txBody>
      </p:sp>
      <p:sp>
        <p:nvSpPr>
          <p:cNvPr id="50" name="TextBox 49"/>
          <p:cNvSpPr txBox="1"/>
          <p:nvPr/>
        </p:nvSpPr>
        <p:spPr>
          <a:xfrm>
            <a:off x="9006840" y="3209544"/>
            <a:ext cx="2468880" cy="502920"/>
          </a:xfrm>
          <a:prstGeom prst="rect">
            <a:avLst/>
          </a:prstGeom>
          <a:noFill/>
        </p:spPr>
        <p:txBody>
          <a:bodyPr wrap="square" anchor="t" lIns="0" rIns="0" tIns="0" bIns="0">
            <a:noAutofit/>
          </a:bodyPr>
          <a:lstStyle/>
          <a:p>
            <a:pPr algn="l">
              <a:lnSpc>
                <a:spcPct val="100000"/>
              </a:lnSpc>
              <a:spcBef>
                <a:spcPts val="0"/>
              </a:spcBef>
              <a:spcAft>
                <a:spcPts val="0"/>
              </a:spcAft>
            </a:pPr>
            <a:r>
              <a:rPr sz="2200" b="1" i="0">
                <a:solidFill>
                  <a:srgbClr val="FFB400"/>
                </a:solidFill>
                <a:latin typeface="Arial"/>
              </a:rPr>
              <a:t>= POTENTIAL</a:t>
            </a:r>
          </a:p>
        </p:txBody>
      </p:sp>
      <p:sp>
        <p:nvSpPr>
          <p:cNvPr id="51" name="Rounded Rectangle 50"/>
          <p:cNvSpPr/>
          <p:nvPr/>
        </p:nvSpPr>
        <p:spPr>
          <a:xfrm>
            <a:off x="7452360" y="4069080"/>
            <a:ext cx="4050792" cy="1325880"/>
          </a:xfrm>
          <a:prstGeom prst="roundRect">
            <a:avLst>
              <a:gd name="adj" fmla="val 9655"/>
            </a:avLst>
          </a:prstGeom>
          <a:solidFill>
            <a:srgbClr val="1A2029"/>
          </a:solidFill>
          <a:ln w="25400">
            <a:solidFill>
              <a:srgbClr val="323C4A"/>
            </a:solidFill>
          </a:ln>
        </p:spPr>
        <p:txBody>
          <a:bodyPr rtlCol="0" anchor="ctr"/>
          <a:lstStyle/>
          <a:p>
            <a:pPr algn="ctr"/>
          </a:p>
        </p:txBody>
      </p:sp>
      <p:sp>
        <p:nvSpPr>
          <p:cNvPr id="52" name="Rounded Rectangle 51"/>
          <p:cNvSpPr/>
          <p:nvPr/>
        </p:nvSpPr>
        <p:spPr>
          <a:xfrm>
            <a:off x="8006486" y="4828398"/>
            <a:ext cx="537667" cy="412212"/>
          </a:xfrm>
          <a:prstGeom prst="roundRect">
            <a:avLst>
              <a:gd name="adj" fmla="val 30434"/>
            </a:avLst>
          </a:prstGeom>
          <a:solidFill>
            <a:srgbClr val="F4F6F8"/>
          </a:solidFill>
          <a:ln w="31750">
            <a:solidFill>
              <a:srgbClr val="0E1116"/>
            </a:solidFill>
          </a:ln>
        </p:spPr>
        <p:txBody>
          <a:bodyPr rtlCol="0" anchor="ctr"/>
          <a:lstStyle/>
          <a:p>
            <a:pPr algn="ctr"/>
          </a:p>
        </p:txBody>
      </p:sp>
      <p:sp>
        <p:nvSpPr>
          <p:cNvPr id="53" name="Rounded Rectangle 52"/>
          <p:cNvSpPr/>
          <p:nvPr/>
        </p:nvSpPr>
        <p:spPr>
          <a:xfrm>
            <a:off x="8015448" y="4452031"/>
            <a:ext cx="116495" cy="430134"/>
          </a:xfrm>
          <a:prstGeom prst="roundRect">
            <a:avLst>
              <a:gd name="adj" fmla="val 46153"/>
            </a:avLst>
          </a:prstGeom>
          <a:solidFill>
            <a:srgbClr val="F4F6F8"/>
          </a:solidFill>
          <a:ln w="31750">
            <a:solidFill>
              <a:srgbClr val="0E1116"/>
            </a:solidFill>
          </a:ln>
        </p:spPr>
        <p:txBody>
          <a:bodyPr rtlCol="0" anchor="ctr"/>
          <a:lstStyle/>
          <a:p>
            <a:pPr algn="ctr"/>
          </a:p>
        </p:txBody>
      </p:sp>
      <p:sp>
        <p:nvSpPr>
          <p:cNvPr id="54" name="Rounded Rectangle 53"/>
          <p:cNvSpPr/>
          <p:nvPr/>
        </p:nvSpPr>
        <p:spPr>
          <a:xfrm>
            <a:off x="8149864" y="4362420"/>
            <a:ext cx="116495" cy="519745"/>
          </a:xfrm>
          <a:prstGeom prst="roundRect">
            <a:avLst>
              <a:gd name="adj" fmla="val 46153"/>
            </a:avLst>
          </a:prstGeom>
          <a:solidFill>
            <a:srgbClr val="F4F6F8"/>
          </a:solidFill>
          <a:ln w="31750">
            <a:solidFill>
              <a:srgbClr val="0E1116"/>
            </a:solidFill>
          </a:ln>
        </p:spPr>
        <p:txBody>
          <a:bodyPr rtlCol="0" anchor="ctr"/>
          <a:lstStyle/>
          <a:p>
            <a:pPr algn="ctr"/>
          </a:p>
        </p:txBody>
      </p:sp>
      <p:sp>
        <p:nvSpPr>
          <p:cNvPr id="55" name="Rounded Rectangle 54"/>
          <p:cNvSpPr/>
          <p:nvPr/>
        </p:nvSpPr>
        <p:spPr>
          <a:xfrm>
            <a:off x="8284281" y="4398264"/>
            <a:ext cx="116495" cy="483900"/>
          </a:xfrm>
          <a:prstGeom prst="roundRect">
            <a:avLst>
              <a:gd name="adj" fmla="val 46153"/>
            </a:avLst>
          </a:prstGeom>
          <a:solidFill>
            <a:srgbClr val="F4F6F8"/>
          </a:solidFill>
          <a:ln w="31750">
            <a:solidFill>
              <a:srgbClr val="0E1116"/>
            </a:solidFill>
          </a:ln>
        </p:spPr>
        <p:txBody>
          <a:bodyPr rtlCol="0" anchor="ctr"/>
          <a:lstStyle/>
          <a:p>
            <a:pPr algn="ctr"/>
          </a:p>
        </p:txBody>
      </p:sp>
      <p:sp>
        <p:nvSpPr>
          <p:cNvPr id="56" name="Rounded Rectangle 55"/>
          <p:cNvSpPr/>
          <p:nvPr/>
        </p:nvSpPr>
        <p:spPr>
          <a:xfrm>
            <a:off x="8418698" y="4487875"/>
            <a:ext cx="116495" cy="394289"/>
          </a:xfrm>
          <a:prstGeom prst="roundRect">
            <a:avLst>
              <a:gd name="adj" fmla="val 46153"/>
            </a:avLst>
          </a:prstGeom>
          <a:solidFill>
            <a:srgbClr val="F4F6F8"/>
          </a:solidFill>
          <a:ln w="31750">
            <a:solidFill>
              <a:srgbClr val="0E1116"/>
            </a:solidFill>
          </a:ln>
        </p:spPr>
        <p:txBody>
          <a:bodyPr rtlCol="0" anchor="ctr"/>
          <a:lstStyle/>
          <a:p>
            <a:pPr algn="ctr"/>
          </a:p>
        </p:txBody>
      </p:sp>
      <p:sp>
        <p:nvSpPr>
          <p:cNvPr id="57" name="Rounded Rectangle 56"/>
          <p:cNvSpPr/>
          <p:nvPr/>
        </p:nvSpPr>
        <p:spPr>
          <a:xfrm rot="19680000">
            <a:off x="7854147" y="4864242"/>
            <a:ext cx="286756" cy="125456"/>
          </a:xfrm>
          <a:prstGeom prst="roundRect">
            <a:avLst>
              <a:gd name="adj" fmla="val 50000"/>
            </a:avLst>
          </a:prstGeom>
          <a:solidFill>
            <a:srgbClr val="F4F6F8"/>
          </a:solidFill>
          <a:ln w="31750">
            <a:solidFill>
              <a:srgbClr val="0E1116"/>
            </a:solidFill>
          </a:ln>
        </p:spPr>
        <p:txBody>
          <a:bodyPr rtlCol="0" anchor="ctr"/>
          <a:lstStyle/>
          <a:p>
            <a:pPr algn="ctr"/>
          </a:p>
        </p:txBody>
      </p:sp>
      <p:sp>
        <p:nvSpPr>
          <p:cNvPr id="58" name="TextBox 57"/>
          <p:cNvSpPr txBox="1"/>
          <p:nvPr/>
        </p:nvSpPr>
        <p:spPr>
          <a:xfrm>
            <a:off x="9006840" y="4288536"/>
            <a:ext cx="2468880" cy="502920"/>
          </a:xfrm>
          <a:prstGeom prst="rect">
            <a:avLst/>
          </a:prstGeom>
          <a:noFill/>
        </p:spPr>
        <p:txBody>
          <a:bodyPr wrap="square" anchor="t" lIns="0" rIns="0" tIns="0" bIns="0">
            <a:noAutofit/>
          </a:bodyPr>
          <a:lstStyle/>
          <a:p>
            <a:pPr algn="l">
              <a:lnSpc>
                <a:spcPct val="100000"/>
              </a:lnSpc>
              <a:spcBef>
                <a:spcPts val="0"/>
              </a:spcBef>
              <a:spcAft>
                <a:spcPts val="0"/>
              </a:spcAft>
            </a:pPr>
            <a:r>
              <a:rPr sz="2200" b="0" i="0">
                <a:solidFill>
                  <a:srgbClr val="F4F6F8"/>
                </a:solidFill>
                <a:latin typeface="Arial Black"/>
              </a:rPr>
              <a:t>OPEN HAND</a:t>
            </a:r>
          </a:p>
        </p:txBody>
      </p:sp>
      <p:sp>
        <p:nvSpPr>
          <p:cNvPr id="59" name="TextBox 58"/>
          <p:cNvSpPr txBox="1"/>
          <p:nvPr/>
        </p:nvSpPr>
        <p:spPr>
          <a:xfrm>
            <a:off x="9006840" y="4764024"/>
            <a:ext cx="2468880" cy="502920"/>
          </a:xfrm>
          <a:prstGeom prst="rect">
            <a:avLst/>
          </a:prstGeom>
          <a:noFill/>
        </p:spPr>
        <p:txBody>
          <a:bodyPr wrap="square" anchor="t" lIns="0" rIns="0" tIns="0" bIns="0">
            <a:noAutofit/>
          </a:bodyPr>
          <a:lstStyle/>
          <a:p>
            <a:pPr algn="l">
              <a:lnSpc>
                <a:spcPct val="100000"/>
              </a:lnSpc>
              <a:spcBef>
                <a:spcPts val="0"/>
              </a:spcBef>
              <a:spcAft>
                <a:spcPts val="0"/>
              </a:spcAft>
            </a:pPr>
            <a:r>
              <a:rPr sz="2200" b="1" i="0">
                <a:solidFill>
                  <a:srgbClr val="FFB400"/>
                </a:solidFill>
                <a:latin typeface="Arial"/>
              </a:rPr>
              <a:t>= KINETIC</a:t>
            </a:r>
          </a:p>
        </p:txBody>
      </p:sp>
      <p:sp>
        <p:nvSpPr>
          <p:cNvPr id="60" name="TextBox 59"/>
          <p:cNvSpPr txBox="1"/>
          <p:nvPr/>
        </p:nvSpPr>
        <p:spPr>
          <a:xfrm>
            <a:off x="685800" y="5577840"/>
            <a:ext cx="10817352" cy="658368"/>
          </a:xfrm>
          <a:prstGeom prst="rect">
            <a:avLst/>
          </a:prstGeom>
          <a:noFill/>
        </p:spPr>
        <p:txBody>
          <a:bodyPr wrap="square" anchor="ctr" lIns="0" rIns="0" tIns="0" bIns="0">
            <a:noAutofit/>
          </a:bodyPr>
          <a:lstStyle/>
          <a:p>
            <a:pPr algn="l">
              <a:lnSpc>
                <a:spcPct val="100000"/>
              </a:lnSpc>
              <a:spcBef>
                <a:spcPts val="0"/>
              </a:spcBef>
              <a:spcAft>
                <a:spcPts val="0"/>
              </a:spcAft>
            </a:pPr>
            <a:r>
              <a:rPr sz="2600" b="1" i="0" spc="400">
                <a:solidFill>
                  <a:srgbClr val="FFB400"/>
                </a:solidFill>
                <a:latin typeface="Arial Narrow"/>
              </a:rPr>
              <a:t>3 · 2 · 1 · SHOW!</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A9B3C0"/>
                </a:solidFill>
                <a:latin typeface="Arial Narrow"/>
              </a:rPr>
              <a:t>ACT 1 · ENERGY</a:t>
            </a:r>
          </a:p>
        </p:txBody>
      </p:sp>
      <p:sp>
        <p:nvSpPr>
          <p:cNvPr id="4" name="Rounded Rectangle 3"/>
          <p:cNvSpPr/>
          <p:nvPr/>
        </p:nvSpPr>
        <p:spPr>
          <a:xfrm>
            <a:off x="10058400" y="274320"/>
            <a:ext cx="1444752" cy="329184"/>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1500" b="1" i="0" spc="60">
                <a:solidFill>
                  <a:srgbClr val="12161C"/>
                </a:solidFill>
                <a:latin typeface="Arial"/>
              </a:rPr>
              <a:t>+100 EP</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6F7A89"/>
                </a:solidFill>
                <a:latin typeface="Arial Narrow"/>
              </a:rPr>
              <a:t>ENERGY LAB  ·  CRASH TEST #05</a:t>
            </a:r>
          </a:p>
        </p:txBody>
      </p:sp>
      <p:sp>
        <p:nvSpPr>
          <p:cNvPr id="6" name="Rectangle 5"/>
          <p:cNvSpPr/>
          <p:nvPr/>
        </p:nvSpPr>
        <p:spPr>
          <a:xfrm>
            <a:off x="4526280" y="6510528"/>
            <a:ext cx="127363" cy="54864"/>
          </a:xfrm>
          <a:prstGeom prst="rect">
            <a:avLst/>
          </a:prstGeom>
          <a:solidFill>
            <a:srgbClr val="8A6A1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8A6A1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FFB400"/>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2A3240"/>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2A3240"/>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2A3240"/>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2A3240"/>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2A3240"/>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2A3240"/>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2A3240"/>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2A3240"/>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2A3240"/>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2A3240"/>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2A3240"/>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6F7A89"/>
                </a:solidFill>
                <a:latin typeface="Arial Narrow"/>
              </a:rPr>
              <a:t>14</a:t>
            </a:fld>
          </a:p>
        </p:txBody>
      </p:sp>
      <p:sp>
        <p:nvSpPr>
          <p:cNvPr id="21" name="TextBox 20"/>
          <p:cNvSpPr txBox="1"/>
          <p:nvPr/>
        </p:nvSpPr>
        <p:spPr>
          <a:xfrm>
            <a:off x="685800" y="896112"/>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A9B3C0"/>
                </a:solidFill>
                <a:latin typeface="Arial Narrow"/>
              </a:rPr>
              <a:t>SITUATION 2 / 5</a:t>
            </a:r>
          </a:p>
        </p:txBody>
      </p:sp>
      <p:sp>
        <p:nvSpPr>
          <p:cNvPr id="22" name="TextBox 21"/>
          <p:cNvSpPr txBox="1"/>
          <p:nvPr/>
        </p:nvSpPr>
        <p:spPr>
          <a:xfrm>
            <a:off x="685800" y="1188720"/>
            <a:ext cx="10789920" cy="1234440"/>
          </a:xfrm>
          <a:prstGeom prst="rect">
            <a:avLst/>
          </a:prstGeom>
          <a:noFill/>
        </p:spPr>
        <p:txBody>
          <a:bodyPr wrap="square" anchor="t" lIns="0" rIns="0" tIns="0" bIns="0">
            <a:noAutofit/>
          </a:bodyPr>
          <a:lstStyle/>
          <a:p>
            <a:pPr algn="l">
              <a:lnSpc>
                <a:spcPct val="100000"/>
              </a:lnSpc>
              <a:spcBef>
                <a:spcPts val="0"/>
              </a:spcBef>
              <a:spcAft>
                <a:spcPts val="0"/>
              </a:spcAft>
            </a:pPr>
            <a:r>
              <a:rPr sz="3600" b="1" i="0">
                <a:solidFill>
                  <a:srgbClr val="F4F6F8"/>
                </a:solidFill>
                <a:latin typeface="Arial"/>
              </a:rPr>
              <a:t>A car is driving along a highway.</a:t>
            </a:r>
          </a:p>
        </p:txBody>
      </p:sp>
      <p:sp>
        <p:nvSpPr>
          <p:cNvPr id="23" name="Rounded Rectangle 22"/>
          <p:cNvSpPr/>
          <p:nvPr/>
        </p:nvSpPr>
        <p:spPr>
          <a:xfrm>
            <a:off x="685800" y="2514600"/>
            <a:ext cx="6492240" cy="2880360"/>
          </a:xfrm>
          <a:prstGeom prst="roundRect">
            <a:avLst>
              <a:gd name="adj" fmla="val 4444"/>
            </a:avLst>
          </a:prstGeom>
          <a:solidFill>
            <a:srgbClr val="1A2029"/>
          </a:solidFill>
          <a:ln w="19050">
            <a:solidFill>
              <a:srgbClr val="323C4A"/>
            </a:solidFill>
          </a:ln>
        </p:spPr>
        <p:txBody>
          <a:bodyPr rtlCol="0" anchor="ctr"/>
          <a:lstStyle/>
          <a:p>
            <a:pPr algn="ctr"/>
          </a:p>
        </p:txBody>
      </p:sp>
      <p:cxnSp>
        <p:nvCxnSpPr>
          <p:cNvPr id="24" name="Connector 23"/>
          <p:cNvCxnSpPr/>
          <p:nvPr/>
        </p:nvCxnSpPr>
        <p:spPr>
          <a:xfrm>
            <a:off x="1052474" y="5087722"/>
            <a:ext cx="5758892" cy="0"/>
          </a:xfrm>
          <a:prstGeom prst="line">
            <a:avLst/>
          </a:prstGeom>
          <a:ln w="44450" cap="rnd">
            <a:solidFill>
              <a:srgbClr val="6F7A89"/>
            </a:solidFill>
            <a:round/>
          </a:ln>
        </p:spPr>
      </p:cxnSp>
      <p:cxnSp>
        <p:nvCxnSpPr>
          <p:cNvPr id="25" name="Connector 24"/>
          <p:cNvCxnSpPr/>
          <p:nvPr/>
        </p:nvCxnSpPr>
        <p:spPr>
          <a:xfrm>
            <a:off x="1236269" y="5222596"/>
            <a:ext cx="490118" cy="0"/>
          </a:xfrm>
          <a:prstGeom prst="line">
            <a:avLst/>
          </a:prstGeom>
          <a:ln w="38100">
            <a:solidFill>
              <a:srgbClr val="6F7A89"/>
            </a:solidFill>
          </a:ln>
        </p:spPr>
      </p:cxnSp>
      <p:cxnSp>
        <p:nvCxnSpPr>
          <p:cNvPr id="26" name="Connector 25"/>
          <p:cNvCxnSpPr/>
          <p:nvPr/>
        </p:nvCxnSpPr>
        <p:spPr>
          <a:xfrm>
            <a:off x="2216506" y="5222596"/>
            <a:ext cx="490118" cy="0"/>
          </a:xfrm>
          <a:prstGeom prst="line">
            <a:avLst/>
          </a:prstGeom>
          <a:ln w="38100">
            <a:solidFill>
              <a:srgbClr val="6F7A89"/>
            </a:solidFill>
          </a:ln>
        </p:spPr>
      </p:cxnSp>
      <p:cxnSp>
        <p:nvCxnSpPr>
          <p:cNvPr id="27" name="Connector 26"/>
          <p:cNvCxnSpPr/>
          <p:nvPr/>
        </p:nvCxnSpPr>
        <p:spPr>
          <a:xfrm>
            <a:off x="3196742" y="5222596"/>
            <a:ext cx="490119" cy="0"/>
          </a:xfrm>
          <a:prstGeom prst="line">
            <a:avLst/>
          </a:prstGeom>
          <a:ln w="38100">
            <a:solidFill>
              <a:srgbClr val="6F7A89"/>
            </a:solidFill>
          </a:ln>
        </p:spPr>
      </p:cxnSp>
      <p:cxnSp>
        <p:nvCxnSpPr>
          <p:cNvPr id="28" name="Connector 27"/>
          <p:cNvCxnSpPr/>
          <p:nvPr/>
        </p:nvCxnSpPr>
        <p:spPr>
          <a:xfrm>
            <a:off x="4176979" y="5222596"/>
            <a:ext cx="490119" cy="0"/>
          </a:xfrm>
          <a:prstGeom prst="line">
            <a:avLst/>
          </a:prstGeom>
          <a:ln w="38100">
            <a:solidFill>
              <a:srgbClr val="6F7A89"/>
            </a:solidFill>
          </a:ln>
        </p:spPr>
      </p:cxnSp>
      <p:cxnSp>
        <p:nvCxnSpPr>
          <p:cNvPr id="29" name="Connector 28"/>
          <p:cNvCxnSpPr/>
          <p:nvPr/>
        </p:nvCxnSpPr>
        <p:spPr>
          <a:xfrm>
            <a:off x="5157216" y="5222596"/>
            <a:ext cx="490118" cy="0"/>
          </a:xfrm>
          <a:prstGeom prst="line">
            <a:avLst/>
          </a:prstGeom>
          <a:ln w="38100">
            <a:solidFill>
              <a:srgbClr val="6F7A89"/>
            </a:solidFill>
          </a:ln>
        </p:spPr>
      </p:cxnSp>
      <p:cxnSp>
        <p:nvCxnSpPr>
          <p:cNvPr id="30" name="Connector 29"/>
          <p:cNvCxnSpPr/>
          <p:nvPr/>
        </p:nvCxnSpPr>
        <p:spPr>
          <a:xfrm>
            <a:off x="6137453" y="5222596"/>
            <a:ext cx="490118" cy="0"/>
          </a:xfrm>
          <a:prstGeom prst="line">
            <a:avLst/>
          </a:prstGeom>
          <a:ln w="38100">
            <a:solidFill>
              <a:srgbClr val="6F7A89"/>
            </a:solidFill>
          </a:ln>
        </p:spPr>
      </p:cxnSp>
      <p:sp>
        <p:nvSpPr>
          <p:cNvPr id="31" name="Freeform 30"/>
          <p:cNvSpPr/>
          <p:nvPr/>
        </p:nvSpPr>
        <p:spPr>
          <a:xfrm>
            <a:off x="3043580" y="3824478"/>
            <a:ext cx="2940711" cy="949604"/>
          </a:xfrm>
          <a:custGeom>
            <a:avLst/>
            <a:gdLst/>
            <a:ahLst/>
            <a:cxnLst/>
            <a:rect l="l" t="t" r="r" b="b"/>
            <a:pathLst>
              <a:path w="2940711" h="949604">
                <a:moveTo>
                  <a:pt x="0" y="949604"/>
                </a:moveTo>
                <a:lnTo>
                  <a:pt x="0" y="582016"/>
                </a:lnTo>
                <a:lnTo>
                  <a:pt x="122530" y="428854"/>
                </a:lnTo>
                <a:lnTo>
                  <a:pt x="643281" y="367589"/>
                </a:lnTo>
                <a:lnTo>
                  <a:pt x="949605" y="0"/>
                </a:lnTo>
                <a:lnTo>
                  <a:pt x="1807312" y="0"/>
                </a:lnTo>
                <a:lnTo>
                  <a:pt x="2236166" y="398221"/>
                </a:lnTo>
                <a:lnTo>
                  <a:pt x="2787549" y="520751"/>
                </a:lnTo>
                <a:lnTo>
                  <a:pt x="2940711" y="735178"/>
                </a:lnTo>
                <a:lnTo>
                  <a:pt x="2940711" y="949604"/>
                </a:lnTo>
                <a:close/>
              </a:path>
            </a:pathLst>
          </a:custGeom>
          <a:solidFill>
            <a:srgbClr val="3A4657"/>
          </a:solidFill>
          <a:ln>
            <a:noFill/>
          </a:ln>
        </p:spPr>
        <p:txBody>
          <a:bodyPr rtlCol="0" anchor="ctr"/>
          <a:lstStyle/>
          <a:p>
            <a:pPr algn="ctr"/>
          </a:p>
        </p:txBody>
      </p:sp>
      <p:sp>
        <p:nvSpPr>
          <p:cNvPr id="32" name="Freeform 31"/>
          <p:cNvSpPr/>
          <p:nvPr/>
        </p:nvSpPr>
        <p:spPr>
          <a:xfrm>
            <a:off x="3840023" y="3916375"/>
            <a:ext cx="1209980" cy="275692"/>
          </a:xfrm>
          <a:custGeom>
            <a:avLst/>
            <a:gdLst/>
            <a:ahLst/>
            <a:cxnLst/>
            <a:rect l="l" t="t" r="r" b="b"/>
            <a:pathLst>
              <a:path w="1209980" h="275692">
                <a:moveTo>
                  <a:pt x="0" y="275692"/>
                </a:moveTo>
                <a:lnTo>
                  <a:pt x="229743" y="0"/>
                </a:lnTo>
                <a:lnTo>
                  <a:pt x="949604" y="0"/>
                </a:lnTo>
                <a:lnTo>
                  <a:pt x="1209980" y="275692"/>
                </a:lnTo>
                <a:close/>
              </a:path>
            </a:pathLst>
          </a:custGeom>
          <a:solidFill>
            <a:srgbClr val="9FD8F2"/>
          </a:solidFill>
          <a:ln>
            <a:noFill/>
          </a:ln>
        </p:spPr>
        <p:txBody>
          <a:bodyPr rtlCol="0" anchor="ctr"/>
          <a:lstStyle/>
          <a:p>
            <a:pPr algn="ctr"/>
          </a:p>
        </p:txBody>
      </p:sp>
      <p:cxnSp>
        <p:nvCxnSpPr>
          <p:cNvPr id="33" name="Connector 32"/>
          <p:cNvCxnSpPr/>
          <p:nvPr/>
        </p:nvCxnSpPr>
        <p:spPr>
          <a:xfrm>
            <a:off x="4437355" y="3916375"/>
            <a:ext cx="0" cy="275692"/>
          </a:xfrm>
          <a:prstGeom prst="line">
            <a:avLst/>
          </a:prstGeom>
          <a:ln w="38100">
            <a:solidFill>
              <a:srgbClr val="3A4657"/>
            </a:solidFill>
          </a:ln>
        </p:spPr>
      </p:cxnSp>
      <p:sp>
        <p:nvSpPr>
          <p:cNvPr id="34" name="Oval 33"/>
          <p:cNvSpPr/>
          <p:nvPr/>
        </p:nvSpPr>
        <p:spPr>
          <a:xfrm>
            <a:off x="3386663" y="4596414"/>
            <a:ext cx="477865" cy="477865"/>
          </a:xfrm>
          <a:prstGeom prst="ellipse">
            <a:avLst/>
          </a:prstGeom>
          <a:solidFill>
            <a:srgbClr val="0B0E12"/>
          </a:solidFill>
          <a:ln w="25400">
            <a:solidFill>
              <a:srgbClr val="0E1116"/>
            </a:solidFill>
          </a:ln>
        </p:spPr>
        <p:txBody>
          <a:bodyPr rtlCol="0" anchor="ctr"/>
          <a:lstStyle/>
          <a:p>
            <a:pPr algn="ctr"/>
          </a:p>
        </p:txBody>
      </p:sp>
      <p:sp>
        <p:nvSpPr>
          <p:cNvPr id="35" name="Oval 34"/>
          <p:cNvSpPr/>
          <p:nvPr/>
        </p:nvSpPr>
        <p:spPr>
          <a:xfrm>
            <a:off x="3515319" y="4725071"/>
            <a:ext cx="220553" cy="220553"/>
          </a:xfrm>
          <a:prstGeom prst="ellipse">
            <a:avLst/>
          </a:prstGeom>
          <a:solidFill>
            <a:srgbClr val="B7C0CC"/>
          </a:solidFill>
          <a:ln>
            <a:noFill/>
          </a:ln>
        </p:spPr>
        <p:txBody>
          <a:bodyPr rtlCol="0" anchor="ctr"/>
          <a:lstStyle/>
          <a:p>
            <a:pPr algn="ctr"/>
          </a:p>
        </p:txBody>
      </p:sp>
      <p:sp>
        <p:nvSpPr>
          <p:cNvPr id="36" name="Oval 35"/>
          <p:cNvSpPr/>
          <p:nvPr/>
        </p:nvSpPr>
        <p:spPr>
          <a:xfrm>
            <a:off x="5102078" y="4596414"/>
            <a:ext cx="477865" cy="477865"/>
          </a:xfrm>
          <a:prstGeom prst="ellipse">
            <a:avLst/>
          </a:prstGeom>
          <a:solidFill>
            <a:srgbClr val="0B0E12"/>
          </a:solidFill>
          <a:ln w="25400">
            <a:solidFill>
              <a:srgbClr val="0E1116"/>
            </a:solidFill>
          </a:ln>
        </p:spPr>
        <p:txBody>
          <a:bodyPr rtlCol="0" anchor="ctr"/>
          <a:lstStyle/>
          <a:p>
            <a:pPr algn="ctr"/>
          </a:p>
        </p:txBody>
      </p:sp>
      <p:sp>
        <p:nvSpPr>
          <p:cNvPr id="37" name="Oval 36"/>
          <p:cNvSpPr/>
          <p:nvPr/>
        </p:nvSpPr>
        <p:spPr>
          <a:xfrm>
            <a:off x="5230734" y="4725071"/>
            <a:ext cx="220553" cy="220553"/>
          </a:xfrm>
          <a:prstGeom prst="ellipse">
            <a:avLst/>
          </a:prstGeom>
          <a:solidFill>
            <a:srgbClr val="B7C0CC"/>
          </a:solidFill>
          <a:ln>
            <a:noFill/>
          </a:ln>
        </p:spPr>
        <p:txBody>
          <a:bodyPr rtlCol="0" anchor="ctr"/>
          <a:lstStyle/>
          <a:p>
            <a:pPr algn="ctr"/>
          </a:p>
        </p:txBody>
      </p:sp>
      <p:cxnSp>
        <p:nvCxnSpPr>
          <p:cNvPr id="38" name="Connector 37"/>
          <p:cNvCxnSpPr/>
          <p:nvPr/>
        </p:nvCxnSpPr>
        <p:spPr>
          <a:xfrm>
            <a:off x="1703107" y="3826535"/>
            <a:ext cx="1064782" cy="0"/>
          </a:xfrm>
          <a:prstGeom prst="line">
            <a:avLst/>
          </a:prstGeom>
          <a:ln w="44450" cap="rnd">
            <a:solidFill>
              <a:srgbClr val="FFB400"/>
            </a:solidFill>
            <a:round/>
          </a:ln>
        </p:spPr>
      </p:cxnSp>
      <p:cxnSp>
        <p:nvCxnSpPr>
          <p:cNvPr id="39" name="Connector 38"/>
          <p:cNvCxnSpPr/>
          <p:nvPr/>
        </p:nvCxnSpPr>
        <p:spPr>
          <a:xfrm>
            <a:off x="1514411" y="4177208"/>
            <a:ext cx="1253478" cy="0"/>
          </a:xfrm>
          <a:prstGeom prst="line">
            <a:avLst/>
          </a:prstGeom>
          <a:ln w="44450" cap="rnd">
            <a:solidFill>
              <a:srgbClr val="FFB400"/>
            </a:solidFill>
            <a:round/>
          </a:ln>
        </p:spPr>
      </p:cxnSp>
      <p:cxnSp>
        <p:nvCxnSpPr>
          <p:cNvPr id="40" name="Connector 39"/>
          <p:cNvCxnSpPr/>
          <p:nvPr/>
        </p:nvCxnSpPr>
        <p:spPr>
          <a:xfrm>
            <a:off x="1514411" y="4527880"/>
            <a:ext cx="1253478" cy="0"/>
          </a:xfrm>
          <a:prstGeom prst="line">
            <a:avLst/>
          </a:prstGeom>
          <a:ln w="44450" cap="rnd">
            <a:solidFill>
              <a:srgbClr val="FFB400"/>
            </a:solidFill>
            <a:round/>
          </a:ln>
        </p:spPr>
      </p:cxnSp>
      <p:cxnSp>
        <p:nvCxnSpPr>
          <p:cNvPr id="41" name="Connector 40"/>
          <p:cNvCxnSpPr/>
          <p:nvPr/>
        </p:nvCxnSpPr>
        <p:spPr>
          <a:xfrm>
            <a:off x="1703107" y="4878553"/>
            <a:ext cx="1064782" cy="0"/>
          </a:xfrm>
          <a:prstGeom prst="line">
            <a:avLst/>
          </a:prstGeom>
          <a:ln w="44450" cap="rnd">
            <a:solidFill>
              <a:srgbClr val="FFB400"/>
            </a:solidFill>
            <a:round/>
          </a:ln>
        </p:spPr>
      </p:cxnSp>
      <p:sp>
        <p:nvSpPr>
          <p:cNvPr id="42" name="Rounded Rectangle 41"/>
          <p:cNvSpPr/>
          <p:nvPr/>
        </p:nvSpPr>
        <p:spPr>
          <a:xfrm>
            <a:off x="7452360" y="2514600"/>
            <a:ext cx="4050792" cy="1325880"/>
          </a:xfrm>
          <a:prstGeom prst="roundRect">
            <a:avLst>
              <a:gd name="adj" fmla="val 9655"/>
            </a:avLst>
          </a:prstGeom>
          <a:solidFill>
            <a:srgbClr val="1A2029"/>
          </a:solidFill>
          <a:ln w="25400">
            <a:solidFill>
              <a:srgbClr val="323C4A"/>
            </a:solidFill>
          </a:ln>
        </p:spPr>
        <p:txBody>
          <a:bodyPr rtlCol="0" anchor="ctr"/>
          <a:lstStyle/>
          <a:p>
            <a:pPr algn="ctr"/>
          </a:p>
        </p:txBody>
      </p:sp>
      <p:sp>
        <p:nvSpPr>
          <p:cNvPr id="43" name="Rounded Rectangle 42"/>
          <p:cNvSpPr/>
          <p:nvPr/>
        </p:nvSpPr>
        <p:spPr>
          <a:xfrm>
            <a:off x="7952720" y="3184307"/>
            <a:ext cx="645201" cy="465978"/>
          </a:xfrm>
          <a:prstGeom prst="roundRect">
            <a:avLst>
              <a:gd name="adj" fmla="val 23076"/>
            </a:avLst>
          </a:prstGeom>
          <a:solidFill>
            <a:srgbClr val="6F7A89"/>
          </a:solidFill>
          <a:ln w="31750">
            <a:solidFill>
              <a:srgbClr val="0E1116"/>
            </a:solidFill>
          </a:ln>
        </p:spPr>
        <p:txBody>
          <a:bodyPr rtlCol="0" anchor="ctr"/>
          <a:lstStyle/>
          <a:p>
            <a:pPr algn="ctr"/>
          </a:p>
        </p:txBody>
      </p:sp>
      <p:sp>
        <p:nvSpPr>
          <p:cNvPr id="44" name="Rounded Rectangle 43"/>
          <p:cNvSpPr/>
          <p:nvPr/>
        </p:nvSpPr>
        <p:spPr>
          <a:xfrm>
            <a:off x="7952720" y="2987162"/>
            <a:ext cx="161300" cy="286756"/>
          </a:xfrm>
          <a:prstGeom prst="roundRect">
            <a:avLst>
              <a:gd name="adj" fmla="val 38888"/>
            </a:avLst>
          </a:prstGeom>
          <a:solidFill>
            <a:srgbClr val="6F7A89"/>
          </a:solidFill>
          <a:ln w="31750">
            <a:solidFill>
              <a:srgbClr val="0E1116"/>
            </a:solidFill>
          </a:ln>
        </p:spPr>
        <p:txBody>
          <a:bodyPr rtlCol="0" anchor="ctr"/>
          <a:lstStyle/>
          <a:p>
            <a:pPr algn="ctr"/>
          </a:p>
        </p:txBody>
      </p:sp>
      <p:sp>
        <p:nvSpPr>
          <p:cNvPr id="45" name="Rounded Rectangle 44"/>
          <p:cNvSpPr/>
          <p:nvPr/>
        </p:nvSpPr>
        <p:spPr>
          <a:xfrm>
            <a:off x="8114020" y="2987162"/>
            <a:ext cx="161300" cy="286756"/>
          </a:xfrm>
          <a:prstGeom prst="roundRect">
            <a:avLst>
              <a:gd name="adj" fmla="val 38888"/>
            </a:avLst>
          </a:prstGeom>
          <a:solidFill>
            <a:srgbClr val="6F7A89"/>
          </a:solidFill>
          <a:ln w="31750">
            <a:solidFill>
              <a:srgbClr val="0E1116"/>
            </a:solidFill>
          </a:ln>
        </p:spPr>
        <p:txBody>
          <a:bodyPr rtlCol="0" anchor="ctr"/>
          <a:lstStyle/>
          <a:p>
            <a:pPr algn="ctr"/>
          </a:p>
        </p:txBody>
      </p:sp>
      <p:sp>
        <p:nvSpPr>
          <p:cNvPr id="46" name="Rounded Rectangle 45"/>
          <p:cNvSpPr/>
          <p:nvPr/>
        </p:nvSpPr>
        <p:spPr>
          <a:xfrm>
            <a:off x="8275320" y="2987162"/>
            <a:ext cx="161300" cy="286756"/>
          </a:xfrm>
          <a:prstGeom prst="roundRect">
            <a:avLst>
              <a:gd name="adj" fmla="val 38888"/>
            </a:avLst>
          </a:prstGeom>
          <a:solidFill>
            <a:srgbClr val="6F7A89"/>
          </a:solidFill>
          <a:ln w="31750">
            <a:solidFill>
              <a:srgbClr val="0E1116"/>
            </a:solidFill>
          </a:ln>
        </p:spPr>
        <p:txBody>
          <a:bodyPr rtlCol="0" anchor="ctr"/>
          <a:lstStyle/>
          <a:p>
            <a:pPr algn="ctr"/>
          </a:p>
        </p:txBody>
      </p:sp>
      <p:sp>
        <p:nvSpPr>
          <p:cNvPr id="47" name="Rounded Rectangle 46"/>
          <p:cNvSpPr/>
          <p:nvPr/>
        </p:nvSpPr>
        <p:spPr>
          <a:xfrm>
            <a:off x="8436620" y="2987162"/>
            <a:ext cx="161300" cy="286756"/>
          </a:xfrm>
          <a:prstGeom prst="roundRect">
            <a:avLst>
              <a:gd name="adj" fmla="val 38888"/>
            </a:avLst>
          </a:prstGeom>
          <a:solidFill>
            <a:srgbClr val="6F7A89"/>
          </a:solidFill>
          <a:ln w="31750">
            <a:solidFill>
              <a:srgbClr val="0E1116"/>
            </a:solidFill>
          </a:ln>
        </p:spPr>
        <p:txBody>
          <a:bodyPr rtlCol="0" anchor="ctr"/>
          <a:lstStyle/>
          <a:p>
            <a:pPr algn="ctr"/>
          </a:p>
        </p:txBody>
      </p:sp>
      <p:sp>
        <p:nvSpPr>
          <p:cNvPr id="48" name="Rounded Rectangle 47"/>
          <p:cNvSpPr/>
          <p:nvPr/>
        </p:nvSpPr>
        <p:spPr>
          <a:xfrm>
            <a:off x="7898953" y="3345607"/>
            <a:ext cx="465978" cy="152339"/>
          </a:xfrm>
          <a:prstGeom prst="roundRect">
            <a:avLst>
              <a:gd name="adj" fmla="val 47058"/>
            </a:avLst>
          </a:prstGeom>
          <a:solidFill>
            <a:srgbClr val="6F7A89"/>
          </a:solidFill>
          <a:ln w="31750">
            <a:solidFill>
              <a:srgbClr val="0E1116"/>
            </a:solidFill>
          </a:ln>
        </p:spPr>
        <p:txBody>
          <a:bodyPr rtlCol="0" anchor="ctr"/>
          <a:lstStyle/>
          <a:p>
            <a:pPr algn="ctr"/>
          </a:p>
        </p:txBody>
      </p:sp>
      <p:sp>
        <p:nvSpPr>
          <p:cNvPr id="49" name="TextBox 48"/>
          <p:cNvSpPr txBox="1"/>
          <p:nvPr/>
        </p:nvSpPr>
        <p:spPr>
          <a:xfrm>
            <a:off x="9006840" y="2734056"/>
            <a:ext cx="2468880" cy="502920"/>
          </a:xfrm>
          <a:prstGeom prst="rect">
            <a:avLst/>
          </a:prstGeom>
          <a:noFill/>
        </p:spPr>
        <p:txBody>
          <a:bodyPr wrap="square" anchor="t" lIns="0" rIns="0" tIns="0" bIns="0">
            <a:noAutofit/>
          </a:bodyPr>
          <a:lstStyle/>
          <a:p>
            <a:pPr algn="l">
              <a:lnSpc>
                <a:spcPct val="100000"/>
              </a:lnSpc>
              <a:spcBef>
                <a:spcPts val="0"/>
              </a:spcBef>
              <a:spcAft>
                <a:spcPts val="0"/>
              </a:spcAft>
            </a:pPr>
            <a:r>
              <a:rPr sz="2200" b="0" i="0">
                <a:solidFill>
                  <a:srgbClr val="6F7A89"/>
                </a:solidFill>
                <a:latin typeface="Arial Black"/>
              </a:rPr>
              <a:t>FIST</a:t>
            </a:r>
          </a:p>
        </p:txBody>
      </p:sp>
      <p:sp>
        <p:nvSpPr>
          <p:cNvPr id="50" name="TextBox 49"/>
          <p:cNvSpPr txBox="1"/>
          <p:nvPr/>
        </p:nvSpPr>
        <p:spPr>
          <a:xfrm>
            <a:off x="9006840" y="3209544"/>
            <a:ext cx="2468880" cy="502920"/>
          </a:xfrm>
          <a:prstGeom prst="rect">
            <a:avLst/>
          </a:prstGeom>
          <a:noFill/>
        </p:spPr>
        <p:txBody>
          <a:bodyPr wrap="square" anchor="t" lIns="0" rIns="0" tIns="0" bIns="0">
            <a:noAutofit/>
          </a:bodyPr>
          <a:lstStyle/>
          <a:p>
            <a:pPr algn="l">
              <a:lnSpc>
                <a:spcPct val="100000"/>
              </a:lnSpc>
              <a:spcBef>
                <a:spcPts val="0"/>
              </a:spcBef>
              <a:spcAft>
                <a:spcPts val="0"/>
              </a:spcAft>
            </a:pPr>
            <a:r>
              <a:rPr sz="2200" b="1" i="0">
                <a:solidFill>
                  <a:srgbClr val="6F7A89"/>
                </a:solidFill>
                <a:latin typeface="Arial"/>
              </a:rPr>
              <a:t>= POTENTIAL</a:t>
            </a:r>
          </a:p>
        </p:txBody>
      </p:sp>
      <p:sp>
        <p:nvSpPr>
          <p:cNvPr id="51" name="Rounded Rectangle 50"/>
          <p:cNvSpPr/>
          <p:nvPr/>
        </p:nvSpPr>
        <p:spPr>
          <a:xfrm>
            <a:off x="7452360" y="4069080"/>
            <a:ext cx="4050792" cy="1325880"/>
          </a:xfrm>
          <a:prstGeom prst="roundRect">
            <a:avLst>
              <a:gd name="adj" fmla="val 9655"/>
            </a:avLst>
          </a:prstGeom>
          <a:solidFill>
            <a:srgbClr val="FFB400"/>
          </a:solidFill>
          <a:ln w="25400">
            <a:solidFill>
              <a:srgbClr val="FFB400"/>
            </a:solidFill>
          </a:ln>
        </p:spPr>
        <p:txBody>
          <a:bodyPr rtlCol="0" anchor="ctr"/>
          <a:lstStyle/>
          <a:p>
            <a:pPr algn="ctr"/>
          </a:p>
        </p:txBody>
      </p:sp>
      <p:sp>
        <p:nvSpPr>
          <p:cNvPr id="52" name="Rounded Rectangle 51"/>
          <p:cNvSpPr/>
          <p:nvPr/>
        </p:nvSpPr>
        <p:spPr>
          <a:xfrm>
            <a:off x="8006486" y="4828398"/>
            <a:ext cx="537667" cy="412212"/>
          </a:xfrm>
          <a:prstGeom prst="roundRect">
            <a:avLst>
              <a:gd name="adj" fmla="val 30434"/>
            </a:avLst>
          </a:prstGeom>
          <a:solidFill>
            <a:srgbClr val="12161C"/>
          </a:solidFill>
          <a:ln w="31750">
            <a:solidFill>
              <a:srgbClr val="FFB400"/>
            </a:solidFill>
          </a:ln>
        </p:spPr>
        <p:txBody>
          <a:bodyPr rtlCol="0" anchor="ctr"/>
          <a:lstStyle/>
          <a:p>
            <a:pPr algn="ctr"/>
          </a:p>
        </p:txBody>
      </p:sp>
      <p:sp>
        <p:nvSpPr>
          <p:cNvPr id="53" name="Rounded Rectangle 52"/>
          <p:cNvSpPr/>
          <p:nvPr/>
        </p:nvSpPr>
        <p:spPr>
          <a:xfrm>
            <a:off x="8015448" y="4452031"/>
            <a:ext cx="116495" cy="430134"/>
          </a:xfrm>
          <a:prstGeom prst="roundRect">
            <a:avLst>
              <a:gd name="adj" fmla="val 46153"/>
            </a:avLst>
          </a:prstGeom>
          <a:solidFill>
            <a:srgbClr val="12161C"/>
          </a:solidFill>
          <a:ln w="31750">
            <a:solidFill>
              <a:srgbClr val="FFB400"/>
            </a:solidFill>
          </a:ln>
        </p:spPr>
        <p:txBody>
          <a:bodyPr rtlCol="0" anchor="ctr"/>
          <a:lstStyle/>
          <a:p>
            <a:pPr algn="ctr"/>
          </a:p>
        </p:txBody>
      </p:sp>
      <p:sp>
        <p:nvSpPr>
          <p:cNvPr id="54" name="Rounded Rectangle 53"/>
          <p:cNvSpPr/>
          <p:nvPr/>
        </p:nvSpPr>
        <p:spPr>
          <a:xfrm>
            <a:off x="8149864" y="4362420"/>
            <a:ext cx="116495" cy="519745"/>
          </a:xfrm>
          <a:prstGeom prst="roundRect">
            <a:avLst>
              <a:gd name="adj" fmla="val 46153"/>
            </a:avLst>
          </a:prstGeom>
          <a:solidFill>
            <a:srgbClr val="12161C"/>
          </a:solidFill>
          <a:ln w="31750">
            <a:solidFill>
              <a:srgbClr val="FFB400"/>
            </a:solidFill>
          </a:ln>
        </p:spPr>
        <p:txBody>
          <a:bodyPr rtlCol="0" anchor="ctr"/>
          <a:lstStyle/>
          <a:p>
            <a:pPr algn="ctr"/>
          </a:p>
        </p:txBody>
      </p:sp>
      <p:sp>
        <p:nvSpPr>
          <p:cNvPr id="55" name="Rounded Rectangle 54"/>
          <p:cNvSpPr/>
          <p:nvPr/>
        </p:nvSpPr>
        <p:spPr>
          <a:xfrm>
            <a:off x="8284281" y="4398264"/>
            <a:ext cx="116495" cy="483900"/>
          </a:xfrm>
          <a:prstGeom prst="roundRect">
            <a:avLst>
              <a:gd name="adj" fmla="val 46153"/>
            </a:avLst>
          </a:prstGeom>
          <a:solidFill>
            <a:srgbClr val="12161C"/>
          </a:solidFill>
          <a:ln w="31750">
            <a:solidFill>
              <a:srgbClr val="FFB400"/>
            </a:solidFill>
          </a:ln>
        </p:spPr>
        <p:txBody>
          <a:bodyPr rtlCol="0" anchor="ctr"/>
          <a:lstStyle/>
          <a:p>
            <a:pPr algn="ctr"/>
          </a:p>
        </p:txBody>
      </p:sp>
      <p:sp>
        <p:nvSpPr>
          <p:cNvPr id="56" name="Rounded Rectangle 55"/>
          <p:cNvSpPr/>
          <p:nvPr/>
        </p:nvSpPr>
        <p:spPr>
          <a:xfrm>
            <a:off x="8418698" y="4487875"/>
            <a:ext cx="116495" cy="394289"/>
          </a:xfrm>
          <a:prstGeom prst="roundRect">
            <a:avLst>
              <a:gd name="adj" fmla="val 46153"/>
            </a:avLst>
          </a:prstGeom>
          <a:solidFill>
            <a:srgbClr val="12161C"/>
          </a:solidFill>
          <a:ln w="31750">
            <a:solidFill>
              <a:srgbClr val="FFB400"/>
            </a:solidFill>
          </a:ln>
        </p:spPr>
        <p:txBody>
          <a:bodyPr rtlCol="0" anchor="ctr"/>
          <a:lstStyle/>
          <a:p>
            <a:pPr algn="ctr"/>
          </a:p>
        </p:txBody>
      </p:sp>
      <p:sp>
        <p:nvSpPr>
          <p:cNvPr id="57" name="Rounded Rectangle 56"/>
          <p:cNvSpPr/>
          <p:nvPr/>
        </p:nvSpPr>
        <p:spPr>
          <a:xfrm rot="19680000">
            <a:off x="7854147" y="4864242"/>
            <a:ext cx="286756" cy="125456"/>
          </a:xfrm>
          <a:prstGeom prst="roundRect">
            <a:avLst>
              <a:gd name="adj" fmla="val 50000"/>
            </a:avLst>
          </a:prstGeom>
          <a:solidFill>
            <a:srgbClr val="12161C"/>
          </a:solidFill>
          <a:ln w="31750">
            <a:solidFill>
              <a:srgbClr val="FFB400"/>
            </a:solidFill>
          </a:ln>
        </p:spPr>
        <p:txBody>
          <a:bodyPr rtlCol="0" anchor="ctr"/>
          <a:lstStyle/>
          <a:p>
            <a:pPr algn="ctr"/>
          </a:p>
        </p:txBody>
      </p:sp>
      <p:sp>
        <p:nvSpPr>
          <p:cNvPr id="58" name="TextBox 57"/>
          <p:cNvSpPr txBox="1"/>
          <p:nvPr/>
        </p:nvSpPr>
        <p:spPr>
          <a:xfrm>
            <a:off x="9006840" y="4288536"/>
            <a:ext cx="2468880" cy="502920"/>
          </a:xfrm>
          <a:prstGeom prst="rect">
            <a:avLst/>
          </a:prstGeom>
          <a:noFill/>
        </p:spPr>
        <p:txBody>
          <a:bodyPr wrap="square" anchor="t" lIns="0" rIns="0" tIns="0" bIns="0">
            <a:noAutofit/>
          </a:bodyPr>
          <a:lstStyle/>
          <a:p>
            <a:pPr algn="l">
              <a:lnSpc>
                <a:spcPct val="100000"/>
              </a:lnSpc>
              <a:spcBef>
                <a:spcPts val="0"/>
              </a:spcBef>
              <a:spcAft>
                <a:spcPts val="0"/>
              </a:spcAft>
            </a:pPr>
            <a:r>
              <a:rPr sz="2200" b="0" i="0">
                <a:solidFill>
                  <a:srgbClr val="12161C"/>
                </a:solidFill>
                <a:latin typeface="Arial Black"/>
              </a:rPr>
              <a:t>OPEN HAND</a:t>
            </a:r>
          </a:p>
        </p:txBody>
      </p:sp>
      <p:sp>
        <p:nvSpPr>
          <p:cNvPr id="59" name="TextBox 58"/>
          <p:cNvSpPr txBox="1"/>
          <p:nvPr/>
        </p:nvSpPr>
        <p:spPr>
          <a:xfrm>
            <a:off x="9006840" y="4764024"/>
            <a:ext cx="2468880" cy="502920"/>
          </a:xfrm>
          <a:prstGeom prst="rect">
            <a:avLst/>
          </a:prstGeom>
          <a:noFill/>
        </p:spPr>
        <p:txBody>
          <a:bodyPr wrap="square" anchor="t" lIns="0" rIns="0" tIns="0" bIns="0">
            <a:noAutofit/>
          </a:bodyPr>
          <a:lstStyle/>
          <a:p>
            <a:pPr algn="l">
              <a:lnSpc>
                <a:spcPct val="100000"/>
              </a:lnSpc>
              <a:spcBef>
                <a:spcPts val="0"/>
              </a:spcBef>
              <a:spcAft>
                <a:spcPts val="0"/>
              </a:spcAft>
            </a:pPr>
            <a:r>
              <a:rPr sz="2200" b="1" i="0">
                <a:solidFill>
                  <a:srgbClr val="12161C"/>
                </a:solidFill>
                <a:latin typeface="Arial"/>
              </a:rPr>
              <a:t>= KINETIC</a:t>
            </a:r>
          </a:p>
        </p:txBody>
      </p:sp>
      <p:sp>
        <p:nvSpPr>
          <p:cNvPr id="60" name="Rounded Rectangle 59"/>
          <p:cNvSpPr/>
          <p:nvPr/>
        </p:nvSpPr>
        <p:spPr>
          <a:xfrm>
            <a:off x="685800" y="5577840"/>
            <a:ext cx="10817352" cy="658368"/>
          </a:xfrm>
          <a:prstGeom prst="roundRect">
            <a:avLst>
              <a:gd name="adj" fmla="val 16666"/>
            </a:avLst>
          </a:prstGeom>
          <a:solidFill>
            <a:srgbClr val="232B36"/>
          </a:solidFill>
          <a:ln>
            <a:noFill/>
          </a:ln>
        </p:spPr>
        <p:txBody>
          <a:bodyPr rtlCol="0" anchor="ctr"/>
          <a:lstStyle/>
          <a:p>
            <a:pPr algn="ctr"/>
          </a:p>
        </p:txBody>
      </p:sp>
      <p:sp>
        <p:nvSpPr>
          <p:cNvPr id="61" name="TextBox 60"/>
          <p:cNvSpPr txBox="1"/>
          <p:nvPr/>
        </p:nvSpPr>
        <p:spPr>
          <a:xfrm>
            <a:off x="914400" y="5577840"/>
            <a:ext cx="10424160" cy="658368"/>
          </a:xfrm>
          <a:prstGeom prst="rect">
            <a:avLst/>
          </a:prstGeom>
          <a:noFill/>
        </p:spPr>
        <p:txBody>
          <a:bodyPr wrap="square" anchor="ctr" lIns="0" rIns="0" tIns="0" bIns="0">
            <a:noAutofit/>
          </a:bodyPr>
          <a:lstStyle/>
          <a:p>
            <a:pPr algn="l">
              <a:lnSpc>
                <a:spcPct val="100000"/>
              </a:lnSpc>
              <a:spcBef>
                <a:spcPts val="0"/>
              </a:spcBef>
              <a:spcAft>
                <a:spcPts val="0"/>
              </a:spcAft>
            </a:pPr>
            <a:r>
              <a:rPr sz="2000" b="1" i="0">
                <a:solidFill>
                  <a:srgbClr val="FFB400"/>
                </a:solidFill>
                <a:latin typeface="Arial"/>
              </a:rPr>
              <a:t>KINETIC</a:t>
            </a:r>
            <a:r>
              <a:rPr sz="2000" b="0" i="0">
                <a:solidFill>
                  <a:srgbClr val="F4F6F8"/>
                </a:solidFill>
                <a:latin typeface="Arial"/>
              </a:rPr>
              <a:t>   Moving object → kinetic energy.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A9B3C0"/>
                </a:solidFill>
                <a:latin typeface="Arial Narrow"/>
              </a:rPr>
              <a:t>ACT 1 · ENERGY</a:t>
            </a:r>
          </a:p>
        </p:txBody>
      </p:sp>
      <p:sp>
        <p:nvSpPr>
          <p:cNvPr id="4" name="Rounded Rectangle 3"/>
          <p:cNvSpPr/>
          <p:nvPr/>
        </p:nvSpPr>
        <p:spPr>
          <a:xfrm>
            <a:off x="10058400" y="274320"/>
            <a:ext cx="1444752" cy="329184"/>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1500" b="1" i="0" spc="60">
                <a:solidFill>
                  <a:srgbClr val="12161C"/>
                </a:solidFill>
                <a:latin typeface="Arial"/>
              </a:rPr>
              <a:t>+100 EP</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6F7A89"/>
                </a:solidFill>
                <a:latin typeface="Arial Narrow"/>
              </a:rPr>
              <a:t>ENERGY LAB  ·  CRASH TEST #05</a:t>
            </a:r>
          </a:p>
        </p:txBody>
      </p:sp>
      <p:sp>
        <p:nvSpPr>
          <p:cNvPr id="6" name="Rectangle 5"/>
          <p:cNvSpPr/>
          <p:nvPr/>
        </p:nvSpPr>
        <p:spPr>
          <a:xfrm>
            <a:off x="4526280" y="6510528"/>
            <a:ext cx="127363" cy="54864"/>
          </a:xfrm>
          <a:prstGeom prst="rect">
            <a:avLst/>
          </a:prstGeom>
          <a:solidFill>
            <a:srgbClr val="8A6A1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8A6A1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FFB400"/>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2A3240"/>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2A3240"/>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2A3240"/>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2A3240"/>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2A3240"/>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2A3240"/>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2A3240"/>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2A3240"/>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2A3240"/>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2A3240"/>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2A3240"/>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6F7A89"/>
                </a:solidFill>
                <a:latin typeface="Arial Narrow"/>
              </a:rPr>
              <a:t>15</a:t>
            </a:fld>
          </a:p>
        </p:txBody>
      </p:sp>
      <p:sp>
        <p:nvSpPr>
          <p:cNvPr id="21" name="TextBox 20"/>
          <p:cNvSpPr txBox="1"/>
          <p:nvPr/>
        </p:nvSpPr>
        <p:spPr>
          <a:xfrm>
            <a:off x="685800" y="896112"/>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A9B3C0"/>
                </a:solidFill>
                <a:latin typeface="Arial Narrow"/>
              </a:rPr>
              <a:t>SITUATION 3 / 5</a:t>
            </a:r>
          </a:p>
        </p:txBody>
      </p:sp>
      <p:sp>
        <p:nvSpPr>
          <p:cNvPr id="22" name="TextBox 21"/>
          <p:cNvSpPr txBox="1"/>
          <p:nvPr/>
        </p:nvSpPr>
        <p:spPr>
          <a:xfrm>
            <a:off x="685800" y="1188720"/>
            <a:ext cx="10789920" cy="1234440"/>
          </a:xfrm>
          <a:prstGeom prst="rect">
            <a:avLst/>
          </a:prstGeom>
          <a:noFill/>
        </p:spPr>
        <p:txBody>
          <a:bodyPr wrap="square" anchor="t" lIns="0" rIns="0" tIns="0" bIns="0">
            <a:noAutofit/>
          </a:bodyPr>
          <a:lstStyle/>
          <a:p>
            <a:pPr algn="l">
              <a:lnSpc>
                <a:spcPct val="100000"/>
              </a:lnSpc>
              <a:spcBef>
                <a:spcPts val="0"/>
              </a:spcBef>
              <a:spcAft>
                <a:spcPts val="0"/>
              </a:spcAft>
            </a:pPr>
            <a:r>
              <a:rPr sz="3600" b="1" i="0">
                <a:solidFill>
                  <a:srgbClr val="F4F6F8"/>
                </a:solidFill>
                <a:latin typeface="Arial"/>
              </a:rPr>
              <a:t>A football is flying across the pitch.</a:t>
            </a:r>
          </a:p>
        </p:txBody>
      </p:sp>
      <p:sp>
        <p:nvSpPr>
          <p:cNvPr id="23" name="Rounded Rectangle 22"/>
          <p:cNvSpPr/>
          <p:nvPr/>
        </p:nvSpPr>
        <p:spPr>
          <a:xfrm>
            <a:off x="685800" y="2514600"/>
            <a:ext cx="6492240" cy="2880360"/>
          </a:xfrm>
          <a:prstGeom prst="roundRect">
            <a:avLst>
              <a:gd name="adj" fmla="val 4444"/>
            </a:avLst>
          </a:prstGeom>
          <a:solidFill>
            <a:srgbClr val="1A2029"/>
          </a:solidFill>
          <a:ln w="19050">
            <a:solidFill>
              <a:srgbClr val="323C4A"/>
            </a:solidFill>
          </a:ln>
        </p:spPr>
        <p:txBody>
          <a:bodyPr rtlCol="0" anchor="ctr"/>
          <a:lstStyle/>
          <a:p>
            <a:pPr algn="ctr"/>
          </a:p>
        </p:txBody>
      </p:sp>
      <p:cxnSp>
        <p:nvCxnSpPr>
          <p:cNvPr id="24" name="Connector 23"/>
          <p:cNvCxnSpPr/>
          <p:nvPr/>
        </p:nvCxnSpPr>
        <p:spPr>
          <a:xfrm>
            <a:off x="1113739" y="5087722"/>
            <a:ext cx="5636362" cy="0"/>
          </a:xfrm>
          <a:prstGeom prst="line">
            <a:avLst/>
          </a:prstGeom>
          <a:ln w="44450" cap="rnd">
            <a:solidFill>
              <a:srgbClr val="6F7A89"/>
            </a:solidFill>
            <a:round/>
          </a:ln>
        </p:spPr>
      </p:cxnSp>
      <p:sp>
        <p:nvSpPr>
          <p:cNvPr id="25" name="Freeform 24"/>
          <p:cNvSpPr/>
          <p:nvPr/>
        </p:nvSpPr>
        <p:spPr>
          <a:xfrm>
            <a:off x="1328121" y="3145536"/>
            <a:ext cx="5207598" cy="1439511"/>
          </a:xfrm>
          <a:custGeom>
            <a:avLst/>
            <a:gdLst/>
            <a:ahLst/>
            <a:cxnLst/>
            <a:rect l="l" t="t" r="r" b="b"/>
            <a:pathLst>
              <a:path w="5207598" h="1439511">
                <a:moveTo>
                  <a:pt x="0" y="1439511"/>
                </a:moveTo>
                <a:lnTo>
                  <a:pt x="70715" y="1277919"/>
                </a:lnTo>
                <a:lnTo>
                  <a:pt x="160709" y="1121382"/>
                </a:lnTo>
                <a:lnTo>
                  <a:pt x="269297" y="971093"/>
                </a:lnTo>
                <a:lnTo>
                  <a:pt x="395651" y="828194"/>
                </a:lnTo>
                <a:lnTo>
                  <a:pt x="538810" y="693773"/>
                </a:lnTo>
                <a:lnTo>
                  <a:pt x="697686" y="568853"/>
                </a:lnTo>
                <a:lnTo>
                  <a:pt x="871068" y="454385"/>
                </a:lnTo>
                <a:lnTo>
                  <a:pt x="1057637" y="351240"/>
                </a:lnTo>
                <a:lnTo>
                  <a:pt x="1255973" y="260204"/>
                </a:lnTo>
                <a:lnTo>
                  <a:pt x="1464568" y="181968"/>
                </a:lnTo>
                <a:lnTo>
                  <a:pt x="1681832" y="117128"/>
                </a:lnTo>
                <a:lnTo>
                  <a:pt x="1906113" y="66178"/>
                </a:lnTo>
                <a:lnTo>
                  <a:pt x="2135704" y="29506"/>
                </a:lnTo>
                <a:lnTo>
                  <a:pt x="2368858" y="7391"/>
                </a:lnTo>
                <a:lnTo>
                  <a:pt x="2603799" y="0"/>
                </a:lnTo>
                <a:lnTo>
                  <a:pt x="2838740" y="7391"/>
                </a:lnTo>
                <a:lnTo>
                  <a:pt x="3071894" y="29506"/>
                </a:lnTo>
                <a:lnTo>
                  <a:pt x="3301485" y="66178"/>
                </a:lnTo>
                <a:lnTo>
                  <a:pt x="3525766" y="117128"/>
                </a:lnTo>
                <a:lnTo>
                  <a:pt x="3743030" y="181968"/>
                </a:lnTo>
                <a:lnTo>
                  <a:pt x="3951625" y="260204"/>
                </a:lnTo>
                <a:lnTo>
                  <a:pt x="4149961" y="351240"/>
                </a:lnTo>
                <a:lnTo>
                  <a:pt x="4336530" y="454385"/>
                </a:lnTo>
                <a:lnTo>
                  <a:pt x="4509912" y="568853"/>
                </a:lnTo>
                <a:lnTo>
                  <a:pt x="4668788" y="693773"/>
                </a:lnTo>
                <a:lnTo>
                  <a:pt x="4811947" y="828194"/>
                </a:lnTo>
                <a:lnTo>
                  <a:pt x="4938301" y="971093"/>
                </a:lnTo>
                <a:lnTo>
                  <a:pt x="5046889" y="1121382"/>
                </a:lnTo>
                <a:lnTo>
                  <a:pt x="5136883" y="1277919"/>
                </a:lnTo>
                <a:lnTo>
                  <a:pt x="5207598" y="1439511"/>
                </a:lnTo>
              </a:path>
            </a:pathLst>
          </a:custGeom>
          <a:noFill/>
          <a:ln w="31750" cap="rnd">
            <a:solidFill>
              <a:srgbClr val="6F7A89"/>
            </a:solidFill>
            <a:prstDash val="dash"/>
            <a:round/>
          </a:ln>
        </p:spPr>
        <p:txBody>
          <a:bodyPr rtlCol="0" anchor="ctr"/>
          <a:lstStyle/>
          <a:p>
            <a:pPr algn="ctr"/>
          </a:p>
        </p:txBody>
      </p:sp>
      <p:cxnSp>
        <p:nvCxnSpPr>
          <p:cNvPr id="26" name="Connector 25"/>
          <p:cNvCxnSpPr/>
          <p:nvPr/>
        </p:nvCxnSpPr>
        <p:spPr>
          <a:xfrm>
            <a:off x="3705955" y="3046866"/>
            <a:ext cx="797260" cy="0"/>
          </a:xfrm>
          <a:prstGeom prst="line">
            <a:avLst/>
          </a:prstGeom>
          <a:ln w="44450" cap="rnd">
            <a:solidFill>
              <a:srgbClr val="FFB400"/>
            </a:solidFill>
            <a:round/>
          </a:ln>
        </p:spPr>
      </p:cxnSp>
      <p:cxnSp>
        <p:nvCxnSpPr>
          <p:cNvPr id="27" name="Connector 26"/>
          <p:cNvCxnSpPr/>
          <p:nvPr/>
        </p:nvCxnSpPr>
        <p:spPr>
          <a:xfrm>
            <a:off x="3522978" y="3316614"/>
            <a:ext cx="980237" cy="0"/>
          </a:xfrm>
          <a:prstGeom prst="line">
            <a:avLst/>
          </a:prstGeom>
          <a:ln w="44450" cap="rnd">
            <a:solidFill>
              <a:srgbClr val="FFB400"/>
            </a:solidFill>
            <a:round/>
          </a:ln>
        </p:spPr>
      </p:cxnSp>
      <p:cxnSp>
        <p:nvCxnSpPr>
          <p:cNvPr id="28" name="Connector 27"/>
          <p:cNvCxnSpPr/>
          <p:nvPr/>
        </p:nvCxnSpPr>
        <p:spPr>
          <a:xfrm>
            <a:off x="3705955" y="3586362"/>
            <a:ext cx="797260" cy="0"/>
          </a:xfrm>
          <a:prstGeom prst="line">
            <a:avLst/>
          </a:prstGeom>
          <a:ln w="44450" cap="rnd">
            <a:solidFill>
              <a:srgbClr val="FFB400"/>
            </a:solidFill>
            <a:round/>
          </a:ln>
        </p:spPr>
      </p:cxnSp>
      <p:sp>
        <p:nvSpPr>
          <p:cNvPr id="29" name="Oval 28"/>
          <p:cNvSpPr/>
          <p:nvPr/>
        </p:nvSpPr>
        <p:spPr>
          <a:xfrm>
            <a:off x="4530189" y="2938967"/>
            <a:ext cx="647395" cy="647395"/>
          </a:xfrm>
          <a:prstGeom prst="ellipse">
            <a:avLst/>
          </a:prstGeom>
          <a:solidFill>
            <a:srgbClr val="F7F7F4"/>
          </a:solidFill>
          <a:ln w="19050">
            <a:solidFill>
              <a:srgbClr val="A9B3C0"/>
            </a:solidFill>
          </a:ln>
        </p:spPr>
        <p:txBody>
          <a:bodyPr rtlCol="0" anchor="ctr"/>
          <a:lstStyle/>
          <a:p>
            <a:pPr algn="ctr"/>
          </a:p>
        </p:txBody>
      </p:sp>
      <p:sp>
        <p:nvSpPr>
          <p:cNvPr id="30" name="Freeform 29"/>
          <p:cNvSpPr/>
          <p:nvPr/>
        </p:nvSpPr>
        <p:spPr>
          <a:xfrm>
            <a:off x="4743059" y="3146133"/>
            <a:ext cx="221656" cy="210807"/>
          </a:xfrm>
          <a:custGeom>
            <a:avLst/>
            <a:gdLst/>
            <a:ahLst/>
            <a:cxnLst/>
            <a:rect l="l" t="t" r="r" b="b"/>
            <a:pathLst>
              <a:path w="221656" h="210807">
                <a:moveTo>
                  <a:pt x="110828" y="0"/>
                </a:moveTo>
                <a:lnTo>
                  <a:pt x="0" y="80521"/>
                </a:lnTo>
                <a:lnTo>
                  <a:pt x="42333" y="210807"/>
                </a:lnTo>
                <a:lnTo>
                  <a:pt x="179323" y="210807"/>
                </a:lnTo>
                <a:lnTo>
                  <a:pt x="221656" y="80521"/>
                </a:lnTo>
                <a:close/>
              </a:path>
            </a:pathLst>
          </a:custGeom>
          <a:solidFill>
            <a:srgbClr val="12161C"/>
          </a:solidFill>
          <a:ln>
            <a:noFill/>
          </a:ln>
        </p:spPr>
        <p:txBody>
          <a:bodyPr rtlCol="0" anchor="ctr"/>
          <a:lstStyle/>
          <a:p>
            <a:pPr algn="ctr"/>
          </a:p>
        </p:txBody>
      </p:sp>
      <p:cxnSp>
        <p:nvCxnSpPr>
          <p:cNvPr id="31" name="Connector 30"/>
          <p:cNvCxnSpPr/>
          <p:nvPr/>
        </p:nvCxnSpPr>
        <p:spPr>
          <a:xfrm flipV="1">
            <a:off x="4853887" y="3003706"/>
            <a:ext cx="0" cy="142427"/>
          </a:xfrm>
          <a:prstGeom prst="line">
            <a:avLst/>
          </a:prstGeom>
          <a:ln w="15240">
            <a:solidFill>
              <a:srgbClr val="12161C"/>
            </a:solidFill>
          </a:ln>
        </p:spPr>
      </p:cxnSp>
      <p:cxnSp>
        <p:nvCxnSpPr>
          <p:cNvPr id="32" name="Connector 31"/>
          <p:cNvCxnSpPr/>
          <p:nvPr/>
        </p:nvCxnSpPr>
        <p:spPr>
          <a:xfrm flipH="1" flipV="1">
            <a:off x="4607603" y="3182642"/>
            <a:ext cx="135456" cy="44012"/>
          </a:xfrm>
          <a:prstGeom prst="line">
            <a:avLst/>
          </a:prstGeom>
          <a:ln w="15240">
            <a:solidFill>
              <a:srgbClr val="12161C"/>
            </a:solidFill>
          </a:ln>
        </p:spPr>
      </p:cxnSp>
      <p:cxnSp>
        <p:nvCxnSpPr>
          <p:cNvPr id="33" name="Connector 32"/>
          <p:cNvCxnSpPr/>
          <p:nvPr/>
        </p:nvCxnSpPr>
        <p:spPr>
          <a:xfrm flipH="1">
            <a:off x="4701675" y="3356940"/>
            <a:ext cx="83717" cy="115226"/>
          </a:xfrm>
          <a:prstGeom prst="line">
            <a:avLst/>
          </a:prstGeom>
          <a:ln w="15240">
            <a:solidFill>
              <a:srgbClr val="12161C"/>
            </a:solidFill>
          </a:ln>
        </p:spPr>
      </p:cxnSp>
      <p:cxnSp>
        <p:nvCxnSpPr>
          <p:cNvPr id="34" name="Connector 33"/>
          <p:cNvCxnSpPr/>
          <p:nvPr/>
        </p:nvCxnSpPr>
        <p:spPr>
          <a:xfrm>
            <a:off x="4922382" y="3356940"/>
            <a:ext cx="83717" cy="115226"/>
          </a:xfrm>
          <a:prstGeom prst="line">
            <a:avLst/>
          </a:prstGeom>
          <a:ln w="15240">
            <a:solidFill>
              <a:srgbClr val="12161C"/>
            </a:solidFill>
          </a:ln>
        </p:spPr>
      </p:cxnSp>
      <p:cxnSp>
        <p:nvCxnSpPr>
          <p:cNvPr id="35" name="Connector 34"/>
          <p:cNvCxnSpPr/>
          <p:nvPr/>
        </p:nvCxnSpPr>
        <p:spPr>
          <a:xfrm flipV="1">
            <a:off x="4964715" y="3182642"/>
            <a:ext cx="135456" cy="44012"/>
          </a:xfrm>
          <a:prstGeom prst="line">
            <a:avLst/>
          </a:prstGeom>
          <a:ln w="15240">
            <a:solidFill>
              <a:srgbClr val="12161C"/>
            </a:solidFill>
          </a:ln>
        </p:spPr>
      </p:cxnSp>
      <p:sp>
        <p:nvSpPr>
          <p:cNvPr id="36" name="Rounded Rectangle 35"/>
          <p:cNvSpPr/>
          <p:nvPr/>
        </p:nvSpPr>
        <p:spPr>
          <a:xfrm>
            <a:off x="7452360" y="2514600"/>
            <a:ext cx="4050792" cy="1325880"/>
          </a:xfrm>
          <a:prstGeom prst="roundRect">
            <a:avLst>
              <a:gd name="adj" fmla="val 9655"/>
            </a:avLst>
          </a:prstGeom>
          <a:solidFill>
            <a:srgbClr val="1A2029"/>
          </a:solidFill>
          <a:ln w="25400">
            <a:solidFill>
              <a:srgbClr val="323C4A"/>
            </a:solidFill>
          </a:ln>
        </p:spPr>
        <p:txBody>
          <a:bodyPr rtlCol="0" anchor="ctr"/>
          <a:lstStyle/>
          <a:p>
            <a:pPr algn="ctr"/>
          </a:p>
        </p:txBody>
      </p:sp>
      <p:sp>
        <p:nvSpPr>
          <p:cNvPr id="37" name="Rounded Rectangle 36"/>
          <p:cNvSpPr/>
          <p:nvPr/>
        </p:nvSpPr>
        <p:spPr>
          <a:xfrm>
            <a:off x="7952720" y="3184307"/>
            <a:ext cx="645201" cy="465978"/>
          </a:xfrm>
          <a:prstGeom prst="roundRect">
            <a:avLst>
              <a:gd name="adj" fmla="val 23076"/>
            </a:avLst>
          </a:prstGeom>
          <a:solidFill>
            <a:srgbClr val="F4F6F8"/>
          </a:solidFill>
          <a:ln w="31750">
            <a:solidFill>
              <a:srgbClr val="0E1116"/>
            </a:solidFill>
          </a:ln>
        </p:spPr>
        <p:txBody>
          <a:bodyPr rtlCol="0" anchor="ctr"/>
          <a:lstStyle/>
          <a:p>
            <a:pPr algn="ctr"/>
          </a:p>
        </p:txBody>
      </p:sp>
      <p:sp>
        <p:nvSpPr>
          <p:cNvPr id="38" name="Rounded Rectangle 37"/>
          <p:cNvSpPr/>
          <p:nvPr/>
        </p:nvSpPr>
        <p:spPr>
          <a:xfrm>
            <a:off x="7952720" y="2987162"/>
            <a:ext cx="161300" cy="286756"/>
          </a:xfrm>
          <a:prstGeom prst="roundRect">
            <a:avLst>
              <a:gd name="adj" fmla="val 38888"/>
            </a:avLst>
          </a:prstGeom>
          <a:solidFill>
            <a:srgbClr val="F4F6F8"/>
          </a:solidFill>
          <a:ln w="31750">
            <a:solidFill>
              <a:srgbClr val="0E1116"/>
            </a:solidFill>
          </a:ln>
        </p:spPr>
        <p:txBody>
          <a:bodyPr rtlCol="0" anchor="ctr"/>
          <a:lstStyle/>
          <a:p>
            <a:pPr algn="ctr"/>
          </a:p>
        </p:txBody>
      </p:sp>
      <p:sp>
        <p:nvSpPr>
          <p:cNvPr id="39" name="Rounded Rectangle 38"/>
          <p:cNvSpPr/>
          <p:nvPr/>
        </p:nvSpPr>
        <p:spPr>
          <a:xfrm>
            <a:off x="8114020" y="2987162"/>
            <a:ext cx="161300" cy="286756"/>
          </a:xfrm>
          <a:prstGeom prst="roundRect">
            <a:avLst>
              <a:gd name="adj" fmla="val 38888"/>
            </a:avLst>
          </a:prstGeom>
          <a:solidFill>
            <a:srgbClr val="F4F6F8"/>
          </a:solidFill>
          <a:ln w="31750">
            <a:solidFill>
              <a:srgbClr val="0E1116"/>
            </a:solidFill>
          </a:ln>
        </p:spPr>
        <p:txBody>
          <a:bodyPr rtlCol="0" anchor="ctr"/>
          <a:lstStyle/>
          <a:p>
            <a:pPr algn="ctr"/>
          </a:p>
        </p:txBody>
      </p:sp>
      <p:sp>
        <p:nvSpPr>
          <p:cNvPr id="40" name="Rounded Rectangle 39"/>
          <p:cNvSpPr/>
          <p:nvPr/>
        </p:nvSpPr>
        <p:spPr>
          <a:xfrm>
            <a:off x="8275320" y="2987162"/>
            <a:ext cx="161300" cy="286756"/>
          </a:xfrm>
          <a:prstGeom prst="roundRect">
            <a:avLst>
              <a:gd name="adj" fmla="val 38888"/>
            </a:avLst>
          </a:prstGeom>
          <a:solidFill>
            <a:srgbClr val="F4F6F8"/>
          </a:solidFill>
          <a:ln w="31750">
            <a:solidFill>
              <a:srgbClr val="0E1116"/>
            </a:solidFill>
          </a:ln>
        </p:spPr>
        <p:txBody>
          <a:bodyPr rtlCol="0" anchor="ctr"/>
          <a:lstStyle/>
          <a:p>
            <a:pPr algn="ctr"/>
          </a:p>
        </p:txBody>
      </p:sp>
      <p:sp>
        <p:nvSpPr>
          <p:cNvPr id="41" name="Rounded Rectangle 40"/>
          <p:cNvSpPr/>
          <p:nvPr/>
        </p:nvSpPr>
        <p:spPr>
          <a:xfrm>
            <a:off x="8436620" y="2987162"/>
            <a:ext cx="161300" cy="286756"/>
          </a:xfrm>
          <a:prstGeom prst="roundRect">
            <a:avLst>
              <a:gd name="adj" fmla="val 38888"/>
            </a:avLst>
          </a:prstGeom>
          <a:solidFill>
            <a:srgbClr val="F4F6F8"/>
          </a:solidFill>
          <a:ln w="31750">
            <a:solidFill>
              <a:srgbClr val="0E1116"/>
            </a:solidFill>
          </a:ln>
        </p:spPr>
        <p:txBody>
          <a:bodyPr rtlCol="0" anchor="ctr"/>
          <a:lstStyle/>
          <a:p>
            <a:pPr algn="ctr"/>
          </a:p>
        </p:txBody>
      </p:sp>
      <p:sp>
        <p:nvSpPr>
          <p:cNvPr id="42" name="Rounded Rectangle 41"/>
          <p:cNvSpPr/>
          <p:nvPr/>
        </p:nvSpPr>
        <p:spPr>
          <a:xfrm>
            <a:off x="7898953" y="3345607"/>
            <a:ext cx="465978" cy="152339"/>
          </a:xfrm>
          <a:prstGeom prst="roundRect">
            <a:avLst>
              <a:gd name="adj" fmla="val 47058"/>
            </a:avLst>
          </a:prstGeom>
          <a:solidFill>
            <a:srgbClr val="F4F6F8"/>
          </a:solidFill>
          <a:ln w="31750">
            <a:solidFill>
              <a:srgbClr val="0E1116"/>
            </a:solidFill>
          </a:ln>
        </p:spPr>
        <p:txBody>
          <a:bodyPr rtlCol="0" anchor="ctr"/>
          <a:lstStyle/>
          <a:p>
            <a:pPr algn="ctr"/>
          </a:p>
        </p:txBody>
      </p:sp>
      <p:sp>
        <p:nvSpPr>
          <p:cNvPr id="43" name="TextBox 42"/>
          <p:cNvSpPr txBox="1"/>
          <p:nvPr/>
        </p:nvSpPr>
        <p:spPr>
          <a:xfrm>
            <a:off x="9006840" y="2734056"/>
            <a:ext cx="2468880" cy="502920"/>
          </a:xfrm>
          <a:prstGeom prst="rect">
            <a:avLst/>
          </a:prstGeom>
          <a:noFill/>
        </p:spPr>
        <p:txBody>
          <a:bodyPr wrap="square" anchor="t" lIns="0" rIns="0" tIns="0" bIns="0">
            <a:noAutofit/>
          </a:bodyPr>
          <a:lstStyle/>
          <a:p>
            <a:pPr algn="l">
              <a:lnSpc>
                <a:spcPct val="100000"/>
              </a:lnSpc>
              <a:spcBef>
                <a:spcPts val="0"/>
              </a:spcBef>
              <a:spcAft>
                <a:spcPts val="0"/>
              </a:spcAft>
            </a:pPr>
            <a:r>
              <a:rPr sz="2200" b="0" i="0">
                <a:solidFill>
                  <a:srgbClr val="F4F6F8"/>
                </a:solidFill>
                <a:latin typeface="Arial Black"/>
              </a:rPr>
              <a:t>FIST</a:t>
            </a:r>
          </a:p>
        </p:txBody>
      </p:sp>
      <p:sp>
        <p:nvSpPr>
          <p:cNvPr id="44" name="TextBox 43"/>
          <p:cNvSpPr txBox="1"/>
          <p:nvPr/>
        </p:nvSpPr>
        <p:spPr>
          <a:xfrm>
            <a:off x="9006840" y="3209544"/>
            <a:ext cx="2468880" cy="502920"/>
          </a:xfrm>
          <a:prstGeom prst="rect">
            <a:avLst/>
          </a:prstGeom>
          <a:noFill/>
        </p:spPr>
        <p:txBody>
          <a:bodyPr wrap="square" anchor="t" lIns="0" rIns="0" tIns="0" bIns="0">
            <a:noAutofit/>
          </a:bodyPr>
          <a:lstStyle/>
          <a:p>
            <a:pPr algn="l">
              <a:lnSpc>
                <a:spcPct val="100000"/>
              </a:lnSpc>
              <a:spcBef>
                <a:spcPts val="0"/>
              </a:spcBef>
              <a:spcAft>
                <a:spcPts val="0"/>
              </a:spcAft>
            </a:pPr>
            <a:r>
              <a:rPr sz="2200" b="1" i="0">
                <a:solidFill>
                  <a:srgbClr val="FFB400"/>
                </a:solidFill>
                <a:latin typeface="Arial"/>
              </a:rPr>
              <a:t>= POTENTIAL</a:t>
            </a:r>
          </a:p>
        </p:txBody>
      </p:sp>
      <p:sp>
        <p:nvSpPr>
          <p:cNvPr id="45" name="Rounded Rectangle 44"/>
          <p:cNvSpPr/>
          <p:nvPr/>
        </p:nvSpPr>
        <p:spPr>
          <a:xfrm>
            <a:off x="7452360" y="4069080"/>
            <a:ext cx="4050792" cy="1325880"/>
          </a:xfrm>
          <a:prstGeom prst="roundRect">
            <a:avLst>
              <a:gd name="adj" fmla="val 9655"/>
            </a:avLst>
          </a:prstGeom>
          <a:solidFill>
            <a:srgbClr val="1A2029"/>
          </a:solidFill>
          <a:ln w="25400">
            <a:solidFill>
              <a:srgbClr val="323C4A"/>
            </a:solidFill>
          </a:ln>
        </p:spPr>
        <p:txBody>
          <a:bodyPr rtlCol="0" anchor="ctr"/>
          <a:lstStyle/>
          <a:p>
            <a:pPr algn="ctr"/>
          </a:p>
        </p:txBody>
      </p:sp>
      <p:sp>
        <p:nvSpPr>
          <p:cNvPr id="46" name="Rounded Rectangle 45"/>
          <p:cNvSpPr/>
          <p:nvPr/>
        </p:nvSpPr>
        <p:spPr>
          <a:xfrm>
            <a:off x="8006486" y="4828398"/>
            <a:ext cx="537667" cy="412212"/>
          </a:xfrm>
          <a:prstGeom prst="roundRect">
            <a:avLst>
              <a:gd name="adj" fmla="val 30434"/>
            </a:avLst>
          </a:prstGeom>
          <a:solidFill>
            <a:srgbClr val="F4F6F8"/>
          </a:solidFill>
          <a:ln w="31750">
            <a:solidFill>
              <a:srgbClr val="0E1116"/>
            </a:solidFill>
          </a:ln>
        </p:spPr>
        <p:txBody>
          <a:bodyPr rtlCol="0" anchor="ctr"/>
          <a:lstStyle/>
          <a:p>
            <a:pPr algn="ctr"/>
          </a:p>
        </p:txBody>
      </p:sp>
      <p:sp>
        <p:nvSpPr>
          <p:cNvPr id="47" name="Rounded Rectangle 46"/>
          <p:cNvSpPr/>
          <p:nvPr/>
        </p:nvSpPr>
        <p:spPr>
          <a:xfrm>
            <a:off x="8015448" y="4452031"/>
            <a:ext cx="116495" cy="430134"/>
          </a:xfrm>
          <a:prstGeom prst="roundRect">
            <a:avLst>
              <a:gd name="adj" fmla="val 46153"/>
            </a:avLst>
          </a:prstGeom>
          <a:solidFill>
            <a:srgbClr val="F4F6F8"/>
          </a:solidFill>
          <a:ln w="31750">
            <a:solidFill>
              <a:srgbClr val="0E1116"/>
            </a:solidFill>
          </a:ln>
        </p:spPr>
        <p:txBody>
          <a:bodyPr rtlCol="0" anchor="ctr"/>
          <a:lstStyle/>
          <a:p>
            <a:pPr algn="ctr"/>
          </a:p>
        </p:txBody>
      </p:sp>
      <p:sp>
        <p:nvSpPr>
          <p:cNvPr id="48" name="Rounded Rectangle 47"/>
          <p:cNvSpPr/>
          <p:nvPr/>
        </p:nvSpPr>
        <p:spPr>
          <a:xfrm>
            <a:off x="8149864" y="4362420"/>
            <a:ext cx="116495" cy="519745"/>
          </a:xfrm>
          <a:prstGeom prst="roundRect">
            <a:avLst>
              <a:gd name="adj" fmla="val 46153"/>
            </a:avLst>
          </a:prstGeom>
          <a:solidFill>
            <a:srgbClr val="F4F6F8"/>
          </a:solidFill>
          <a:ln w="31750">
            <a:solidFill>
              <a:srgbClr val="0E1116"/>
            </a:solidFill>
          </a:ln>
        </p:spPr>
        <p:txBody>
          <a:bodyPr rtlCol="0" anchor="ctr"/>
          <a:lstStyle/>
          <a:p>
            <a:pPr algn="ctr"/>
          </a:p>
        </p:txBody>
      </p:sp>
      <p:sp>
        <p:nvSpPr>
          <p:cNvPr id="49" name="Rounded Rectangle 48"/>
          <p:cNvSpPr/>
          <p:nvPr/>
        </p:nvSpPr>
        <p:spPr>
          <a:xfrm>
            <a:off x="8284281" y="4398264"/>
            <a:ext cx="116495" cy="483900"/>
          </a:xfrm>
          <a:prstGeom prst="roundRect">
            <a:avLst>
              <a:gd name="adj" fmla="val 46153"/>
            </a:avLst>
          </a:prstGeom>
          <a:solidFill>
            <a:srgbClr val="F4F6F8"/>
          </a:solidFill>
          <a:ln w="31750">
            <a:solidFill>
              <a:srgbClr val="0E1116"/>
            </a:solidFill>
          </a:ln>
        </p:spPr>
        <p:txBody>
          <a:bodyPr rtlCol="0" anchor="ctr"/>
          <a:lstStyle/>
          <a:p>
            <a:pPr algn="ctr"/>
          </a:p>
        </p:txBody>
      </p:sp>
      <p:sp>
        <p:nvSpPr>
          <p:cNvPr id="50" name="Rounded Rectangle 49"/>
          <p:cNvSpPr/>
          <p:nvPr/>
        </p:nvSpPr>
        <p:spPr>
          <a:xfrm>
            <a:off x="8418698" y="4487875"/>
            <a:ext cx="116495" cy="394289"/>
          </a:xfrm>
          <a:prstGeom prst="roundRect">
            <a:avLst>
              <a:gd name="adj" fmla="val 46153"/>
            </a:avLst>
          </a:prstGeom>
          <a:solidFill>
            <a:srgbClr val="F4F6F8"/>
          </a:solidFill>
          <a:ln w="31750">
            <a:solidFill>
              <a:srgbClr val="0E1116"/>
            </a:solidFill>
          </a:ln>
        </p:spPr>
        <p:txBody>
          <a:bodyPr rtlCol="0" anchor="ctr"/>
          <a:lstStyle/>
          <a:p>
            <a:pPr algn="ctr"/>
          </a:p>
        </p:txBody>
      </p:sp>
      <p:sp>
        <p:nvSpPr>
          <p:cNvPr id="51" name="Rounded Rectangle 50"/>
          <p:cNvSpPr/>
          <p:nvPr/>
        </p:nvSpPr>
        <p:spPr>
          <a:xfrm rot="19680000">
            <a:off x="7854147" y="4864242"/>
            <a:ext cx="286756" cy="125456"/>
          </a:xfrm>
          <a:prstGeom prst="roundRect">
            <a:avLst>
              <a:gd name="adj" fmla="val 50000"/>
            </a:avLst>
          </a:prstGeom>
          <a:solidFill>
            <a:srgbClr val="F4F6F8"/>
          </a:solidFill>
          <a:ln w="31750">
            <a:solidFill>
              <a:srgbClr val="0E1116"/>
            </a:solidFill>
          </a:ln>
        </p:spPr>
        <p:txBody>
          <a:bodyPr rtlCol="0" anchor="ctr"/>
          <a:lstStyle/>
          <a:p>
            <a:pPr algn="ctr"/>
          </a:p>
        </p:txBody>
      </p:sp>
      <p:sp>
        <p:nvSpPr>
          <p:cNvPr id="52" name="TextBox 51"/>
          <p:cNvSpPr txBox="1"/>
          <p:nvPr/>
        </p:nvSpPr>
        <p:spPr>
          <a:xfrm>
            <a:off x="9006840" y="4288536"/>
            <a:ext cx="2468880" cy="502920"/>
          </a:xfrm>
          <a:prstGeom prst="rect">
            <a:avLst/>
          </a:prstGeom>
          <a:noFill/>
        </p:spPr>
        <p:txBody>
          <a:bodyPr wrap="square" anchor="t" lIns="0" rIns="0" tIns="0" bIns="0">
            <a:noAutofit/>
          </a:bodyPr>
          <a:lstStyle/>
          <a:p>
            <a:pPr algn="l">
              <a:lnSpc>
                <a:spcPct val="100000"/>
              </a:lnSpc>
              <a:spcBef>
                <a:spcPts val="0"/>
              </a:spcBef>
              <a:spcAft>
                <a:spcPts val="0"/>
              </a:spcAft>
            </a:pPr>
            <a:r>
              <a:rPr sz="2200" b="0" i="0">
                <a:solidFill>
                  <a:srgbClr val="F4F6F8"/>
                </a:solidFill>
                <a:latin typeface="Arial Black"/>
              </a:rPr>
              <a:t>OPEN HAND</a:t>
            </a:r>
          </a:p>
        </p:txBody>
      </p:sp>
      <p:sp>
        <p:nvSpPr>
          <p:cNvPr id="53" name="TextBox 52"/>
          <p:cNvSpPr txBox="1"/>
          <p:nvPr/>
        </p:nvSpPr>
        <p:spPr>
          <a:xfrm>
            <a:off x="9006840" y="4764024"/>
            <a:ext cx="2468880" cy="502920"/>
          </a:xfrm>
          <a:prstGeom prst="rect">
            <a:avLst/>
          </a:prstGeom>
          <a:noFill/>
        </p:spPr>
        <p:txBody>
          <a:bodyPr wrap="square" anchor="t" lIns="0" rIns="0" tIns="0" bIns="0">
            <a:noAutofit/>
          </a:bodyPr>
          <a:lstStyle/>
          <a:p>
            <a:pPr algn="l">
              <a:lnSpc>
                <a:spcPct val="100000"/>
              </a:lnSpc>
              <a:spcBef>
                <a:spcPts val="0"/>
              </a:spcBef>
              <a:spcAft>
                <a:spcPts val="0"/>
              </a:spcAft>
            </a:pPr>
            <a:r>
              <a:rPr sz="2200" b="1" i="0">
                <a:solidFill>
                  <a:srgbClr val="FFB400"/>
                </a:solidFill>
                <a:latin typeface="Arial"/>
              </a:rPr>
              <a:t>= KINETIC</a:t>
            </a:r>
          </a:p>
        </p:txBody>
      </p:sp>
      <p:sp>
        <p:nvSpPr>
          <p:cNvPr id="54" name="TextBox 53"/>
          <p:cNvSpPr txBox="1"/>
          <p:nvPr/>
        </p:nvSpPr>
        <p:spPr>
          <a:xfrm>
            <a:off x="685800" y="5577840"/>
            <a:ext cx="10817352" cy="658368"/>
          </a:xfrm>
          <a:prstGeom prst="rect">
            <a:avLst/>
          </a:prstGeom>
          <a:noFill/>
        </p:spPr>
        <p:txBody>
          <a:bodyPr wrap="square" anchor="ctr" lIns="0" rIns="0" tIns="0" bIns="0">
            <a:noAutofit/>
          </a:bodyPr>
          <a:lstStyle/>
          <a:p>
            <a:pPr algn="l">
              <a:lnSpc>
                <a:spcPct val="100000"/>
              </a:lnSpc>
              <a:spcBef>
                <a:spcPts val="0"/>
              </a:spcBef>
              <a:spcAft>
                <a:spcPts val="0"/>
              </a:spcAft>
            </a:pPr>
            <a:r>
              <a:rPr sz="2600" b="1" i="0" spc="400">
                <a:solidFill>
                  <a:srgbClr val="FFB400"/>
                </a:solidFill>
                <a:latin typeface="Arial Narrow"/>
              </a:rPr>
              <a:t>3 · 2 · 1 · SHOW!</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A9B3C0"/>
                </a:solidFill>
                <a:latin typeface="Arial Narrow"/>
              </a:rPr>
              <a:t>ACT 1 · ENERGY</a:t>
            </a:r>
          </a:p>
        </p:txBody>
      </p:sp>
      <p:sp>
        <p:nvSpPr>
          <p:cNvPr id="4" name="Rounded Rectangle 3"/>
          <p:cNvSpPr/>
          <p:nvPr/>
        </p:nvSpPr>
        <p:spPr>
          <a:xfrm>
            <a:off x="10058400" y="274320"/>
            <a:ext cx="1444752" cy="329184"/>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1500" b="1" i="0" spc="60">
                <a:solidFill>
                  <a:srgbClr val="12161C"/>
                </a:solidFill>
                <a:latin typeface="Arial"/>
              </a:rPr>
              <a:t>+100 EP</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6F7A89"/>
                </a:solidFill>
                <a:latin typeface="Arial Narrow"/>
              </a:rPr>
              <a:t>ENERGY LAB  ·  CRASH TEST #05</a:t>
            </a:r>
          </a:p>
        </p:txBody>
      </p:sp>
      <p:sp>
        <p:nvSpPr>
          <p:cNvPr id="6" name="Rectangle 5"/>
          <p:cNvSpPr/>
          <p:nvPr/>
        </p:nvSpPr>
        <p:spPr>
          <a:xfrm>
            <a:off x="4526280" y="6510528"/>
            <a:ext cx="127363" cy="54864"/>
          </a:xfrm>
          <a:prstGeom prst="rect">
            <a:avLst/>
          </a:prstGeom>
          <a:solidFill>
            <a:srgbClr val="8A6A1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8A6A1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FFB400"/>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2A3240"/>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2A3240"/>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2A3240"/>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2A3240"/>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2A3240"/>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2A3240"/>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2A3240"/>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2A3240"/>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2A3240"/>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2A3240"/>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2A3240"/>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6F7A89"/>
                </a:solidFill>
                <a:latin typeface="Arial Narrow"/>
              </a:rPr>
              <a:t>16</a:t>
            </a:fld>
          </a:p>
        </p:txBody>
      </p:sp>
      <p:sp>
        <p:nvSpPr>
          <p:cNvPr id="21" name="TextBox 20"/>
          <p:cNvSpPr txBox="1"/>
          <p:nvPr/>
        </p:nvSpPr>
        <p:spPr>
          <a:xfrm>
            <a:off x="685800" y="896112"/>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A9B3C0"/>
                </a:solidFill>
                <a:latin typeface="Arial Narrow"/>
              </a:rPr>
              <a:t>SITUATION 3 / 5</a:t>
            </a:r>
          </a:p>
        </p:txBody>
      </p:sp>
      <p:sp>
        <p:nvSpPr>
          <p:cNvPr id="22" name="TextBox 21"/>
          <p:cNvSpPr txBox="1"/>
          <p:nvPr/>
        </p:nvSpPr>
        <p:spPr>
          <a:xfrm>
            <a:off x="685800" y="1188720"/>
            <a:ext cx="10789920" cy="1234440"/>
          </a:xfrm>
          <a:prstGeom prst="rect">
            <a:avLst/>
          </a:prstGeom>
          <a:noFill/>
        </p:spPr>
        <p:txBody>
          <a:bodyPr wrap="square" anchor="t" lIns="0" rIns="0" tIns="0" bIns="0">
            <a:noAutofit/>
          </a:bodyPr>
          <a:lstStyle/>
          <a:p>
            <a:pPr algn="l">
              <a:lnSpc>
                <a:spcPct val="100000"/>
              </a:lnSpc>
              <a:spcBef>
                <a:spcPts val="0"/>
              </a:spcBef>
              <a:spcAft>
                <a:spcPts val="0"/>
              </a:spcAft>
            </a:pPr>
            <a:r>
              <a:rPr sz="3600" b="1" i="0">
                <a:solidFill>
                  <a:srgbClr val="F4F6F8"/>
                </a:solidFill>
                <a:latin typeface="Arial"/>
              </a:rPr>
              <a:t>A football is flying across the pitch.</a:t>
            </a:r>
          </a:p>
        </p:txBody>
      </p:sp>
      <p:sp>
        <p:nvSpPr>
          <p:cNvPr id="23" name="Rounded Rectangle 22"/>
          <p:cNvSpPr/>
          <p:nvPr/>
        </p:nvSpPr>
        <p:spPr>
          <a:xfrm>
            <a:off x="685800" y="2514600"/>
            <a:ext cx="6492240" cy="2880360"/>
          </a:xfrm>
          <a:prstGeom prst="roundRect">
            <a:avLst>
              <a:gd name="adj" fmla="val 4444"/>
            </a:avLst>
          </a:prstGeom>
          <a:solidFill>
            <a:srgbClr val="1A2029"/>
          </a:solidFill>
          <a:ln w="19050">
            <a:solidFill>
              <a:srgbClr val="323C4A"/>
            </a:solidFill>
          </a:ln>
        </p:spPr>
        <p:txBody>
          <a:bodyPr rtlCol="0" anchor="ctr"/>
          <a:lstStyle/>
          <a:p>
            <a:pPr algn="ctr"/>
          </a:p>
        </p:txBody>
      </p:sp>
      <p:cxnSp>
        <p:nvCxnSpPr>
          <p:cNvPr id="24" name="Connector 23"/>
          <p:cNvCxnSpPr/>
          <p:nvPr/>
        </p:nvCxnSpPr>
        <p:spPr>
          <a:xfrm>
            <a:off x="1113739" y="5087722"/>
            <a:ext cx="5636362" cy="0"/>
          </a:xfrm>
          <a:prstGeom prst="line">
            <a:avLst/>
          </a:prstGeom>
          <a:ln w="44450" cap="rnd">
            <a:solidFill>
              <a:srgbClr val="6F7A89"/>
            </a:solidFill>
            <a:round/>
          </a:ln>
        </p:spPr>
      </p:cxnSp>
      <p:sp>
        <p:nvSpPr>
          <p:cNvPr id="25" name="Freeform 24"/>
          <p:cNvSpPr/>
          <p:nvPr/>
        </p:nvSpPr>
        <p:spPr>
          <a:xfrm>
            <a:off x="1328121" y="3145536"/>
            <a:ext cx="5207598" cy="1439511"/>
          </a:xfrm>
          <a:custGeom>
            <a:avLst/>
            <a:gdLst/>
            <a:ahLst/>
            <a:cxnLst/>
            <a:rect l="l" t="t" r="r" b="b"/>
            <a:pathLst>
              <a:path w="5207598" h="1439511">
                <a:moveTo>
                  <a:pt x="0" y="1439511"/>
                </a:moveTo>
                <a:lnTo>
                  <a:pt x="70715" y="1277919"/>
                </a:lnTo>
                <a:lnTo>
                  <a:pt x="160709" y="1121382"/>
                </a:lnTo>
                <a:lnTo>
                  <a:pt x="269297" y="971093"/>
                </a:lnTo>
                <a:lnTo>
                  <a:pt x="395651" y="828194"/>
                </a:lnTo>
                <a:lnTo>
                  <a:pt x="538810" y="693773"/>
                </a:lnTo>
                <a:lnTo>
                  <a:pt x="697686" y="568853"/>
                </a:lnTo>
                <a:lnTo>
                  <a:pt x="871068" y="454385"/>
                </a:lnTo>
                <a:lnTo>
                  <a:pt x="1057637" y="351240"/>
                </a:lnTo>
                <a:lnTo>
                  <a:pt x="1255973" y="260204"/>
                </a:lnTo>
                <a:lnTo>
                  <a:pt x="1464568" y="181968"/>
                </a:lnTo>
                <a:lnTo>
                  <a:pt x="1681832" y="117128"/>
                </a:lnTo>
                <a:lnTo>
                  <a:pt x="1906113" y="66178"/>
                </a:lnTo>
                <a:lnTo>
                  <a:pt x="2135704" y="29506"/>
                </a:lnTo>
                <a:lnTo>
                  <a:pt x="2368858" y="7391"/>
                </a:lnTo>
                <a:lnTo>
                  <a:pt x="2603799" y="0"/>
                </a:lnTo>
                <a:lnTo>
                  <a:pt x="2838740" y="7391"/>
                </a:lnTo>
                <a:lnTo>
                  <a:pt x="3071894" y="29506"/>
                </a:lnTo>
                <a:lnTo>
                  <a:pt x="3301485" y="66178"/>
                </a:lnTo>
                <a:lnTo>
                  <a:pt x="3525766" y="117128"/>
                </a:lnTo>
                <a:lnTo>
                  <a:pt x="3743030" y="181968"/>
                </a:lnTo>
                <a:lnTo>
                  <a:pt x="3951625" y="260204"/>
                </a:lnTo>
                <a:lnTo>
                  <a:pt x="4149961" y="351240"/>
                </a:lnTo>
                <a:lnTo>
                  <a:pt x="4336530" y="454385"/>
                </a:lnTo>
                <a:lnTo>
                  <a:pt x="4509912" y="568853"/>
                </a:lnTo>
                <a:lnTo>
                  <a:pt x="4668788" y="693773"/>
                </a:lnTo>
                <a:lnTo>
                  <a:pt x="4811947" y="828194"/>
                </a:lnTo>
                <a:lnTo>
                  <a:pt x="4938301" y="971093"/>
                </a:lnTo>
                <a:lnTo>
                  <a:pt x="5046889" y="1121382"/>
                </a:lnTo>
                <a:lnTo>
                  <a:pt x="5136883" y="1277919"/>
                </a:lnTo>
                <a:lnTo>
                  <a:pt x="5207598" y="1439511"/>
                </a:lnTo>
              </a:path>
            </a:pathLst>
          </a:custGeom>
          <a:noFill/>
          <a:ln w="31750" cap="rnd">
            <a:solidFill>
              <a:srgbClr val="6F7A89"/>
            </a:solidFill>
            <a:prstDash val="dash"/>
            <a:round/>
          </a:ln>
        </p:spPr>
        <p:txBody>
          <a:bodyPr rtlCol="0" anchor="ctr"/>
          <a:lstStyle/>
          <a:p>
            <a:pPr algn="ctr"/>
          </a:p>
        </p:txBody>
      </p:sp>
      <p:cxnSp>
        <p:nvCxnSpPr>
          <p:cNvPr id="26" name="Connector 25"/>
          <p:cNvCxnSpPr/>
          <p:nvPr/>
        </p:nvCxnSpPr>
        <p:spPr>
          <a:xfrm>
            <a:off x="3705955" y="3046866"/>
            <a:ext cx="797260" cy="0"/>
          </a:xfrm>
          <a:prstGeom prst="line">
            <a:avLst/>
          </a:prstGeom>
          <a:ln w="44450" cap="rnd">
            <a:solidFill>
              <a:srgbClr val="FFB400"/>
            </a:solidFill>
            <a:round/>
          </a:ln>
        </p:spPr>
      </p:cxnSp>
      <p:cxnSp>
        <p:nvCxnSpPr>
          <p:cNvPr id="27" name="Connector 26"/>
          <p:cNvCxnSpPr/>
          <p:nvPr/>
        </p:nvCxnSpPr>
        <p:spPr>
          <a:xfrm>
            <a:off x="3522978" y="3316614"/>
            <a:ext cx="980237" cy="0"/>
          </a:xfrm>
          <a:prstGeom prst="line">
            <a:avLst/>
          </a:prstGeom>
          <a:ln w="44450" cap="rnd">
            <a:solidFill>
              <a:srgbClr val="FFB400"/>
            </a:solidFill>
            <a:round/>
          </a:ln>
        </p:spPr>
      </p:cxnSp>
      <p:cxnSp>
        <p:nvCxnSpPr>
          <p:cNvPr id="28" name="Connector 27"/>
          <p:cNvCxnSpPr/>
          <p:nvPr/>
        </p:nvCxnSpPr>
        <p:spPr>
          <a:xfrm>
            <a:off x="3705955" y="3586362"/>
            <a:ext cx="797260" cy="0"/>
          </a:xfrm>
          <a:prstGeom prst="line">
            <a:avLst/>
          </a:prstGeom>
          <a:ln w="44450" cap="rnd">
            <a:solidFill>
              <a:srgbClr val="FFB400"/>
            </a:solidFill>
            <a:round/>
          </a:ln>
        </p:spPr>
      </p:cxnSp>
      <p:sp>
        <p:nvSpPr>
          <p:cNvPr id="29" name="Oval 28"/>
          <p:cNvSpPr/>
          <p:nvPr/>
        </p:nvSpPr>
        <p:spPr>
          <a:xfrm>
            <a:off x="4530189" y="2938967"/>
            <a:ext cx="647395" cy="647395"/>
          </a:xfrm>
          <a:prstGeom prst="ellipse">
            <a:avLst/>
          </a:prstGeom>
          <a:solidFill>
            <a:srgbClr val="F7F7F4"/>
          </a:solidFill>
          <a:ln w="19050">
            <a:solidFill>
              <a:srgbClr val="A9B3C0"/>
            </a:solidFill>
          </a:ln>
        </p:spPr>
        <p:txBody>
          <a:bodyPr rtlCol="0" anchor="ctr"/>
          <a:lstStyle/>
          <a:p>
            <a:pPr algn="ctr"/>
          </a:p>
        </p:txBody>
      </p:sp>
      <p:sp>
        <p:nvSpPr>
          <p:cNvPr id="30" name="Freeform 29"/>
          <p:cNvSpPr/>
          <p:nvPr/>
        </p:nvSpPr>
        <p:spPr>
          <a:xfrm>
            <a:off x="4743059" y="3146133"/>
            <a:ext cx="221656" cy="210807"/>
          </a:xfrm>
          <a:custGeom>
            <a:avLst/>
            <a:gdLst/>
            <a:ahLst/>
            <a:cxnLst/>
            <a:rect l="l" t="t" r="r" b="b"/>
            <a:pathLst>
              <a:path w="221656" h="210807">
                <a:moveTo>
                  <a:pt x="110828" y="0"/>
                </a:moveTo>
                <a:lnTo>
                  <a:pt x="0" y="80521"/>
                </a:lnTo>
                <a:lnTo>
                  <a:pt x="42333" y="210807"/>
                </a:lnTo>
                <a:lnTo>
                  <a:pt x="179323" y="210807"/>
                </a:lnTo>
                <a:lnTo>
                  <a:pt x="221656" y="80521"/>
                </a:lnTo>
                <a:close/>
              </a:path>
            </a:pathLst>
          </a:custGeom>
          <a:solidFill>
            <a:srgbClr val="12161C"/>
          </a:solidFill>
          <a:ln>
            <a:noFill/>
          </a:ln>
        </p:spPr>
        <p:txBody>
          <a:bodyPr rtlCol="0" anchor="ctr"/>
          <a:lstStyle/>
          <a:p>
            <a:pPr algn="ctr"/>
          </a:p>
        </p:txBody>
      </p:sp>
      <p:cxnSp>
        <p:nvCxnSpPr>
          <p:cNvPr id="31" name="Connector 30"/>
          <p:cNvCxnSpPr/>
          <p:nvPr/>
        </p:nvCxnSpPr>
        <p:spPr>
          <a:xfrm flipV="1">
            <a:off x="4853887" y="3003706"/>
            <a:ext cx="0" cy="142427"/>
          </a:xfrm>
          <a:prstGeom prst="line">
            <a:avLst/>
          </a:prstGeom>
          <a:ln w="15240">
            <a:solidFill>
              <a:srgbClr val="12161C"/>
            </a:solidFill>
          </a:ln>
        </p:spPr>
      </p:cxnSp>
      <p:cxnSp>
        <p:nvCxnSpPr>
          <p:cNvPr id="32" name="Connector 31"/>
          <p:cNvCxnSpPr/>
          <p:nvPr/>
        </p:nvCxnSpPr>
        <p:spPr>
          <a:xfrm flipH="1" flipV="1">
            <a:off x="4607603" y="3182642"/>
            <a:ext cx="135456" cy="44012"/>
          </a:xfrm>
          <a:prstGeom prst="line">
            <a:avLst/>
          </a:prstGeom>
          <a:ln w="15240">
            <a:solidFill>
              <a:srgbClr val="12161C"/>
            </a:solidFill>
          </a:ln>
        </p:spPr>
      </p:cxnSp>
      <p:cxnSp>
        <p:nvCxnSpPr>
          <p:cNvPr id="33" name="Connector 32"/>
          <p:cNvCxnSpPr/>
          <p:nvPr/>
        </p:nvCxnSpPr>
        <p:spPr>
          <a:xfrm flipH="1">
            <a:off x="4701675" y="3356940"/>
            <a:ext cx="83717" cy="115226"/>
          </a:xfrm>
          <a:prstGeom prst="line">
            <a:avLst/>
          </a:prstGeom>
          <a:ln w="15240">
            <a:solidFill>
              <a:srgbClr val="12161C"/>
            </a:solidFill>
          </a:ln>
        </p:spPr>
      </p:cxnSp>
      <p:cxnSp>
        <p:nvCxnSpPr>
          <p:cNvPr id="34" name="Connector 33"/>
          <p:cNvCxnSpPr/>
          <p:nvPr/>
        </p:nvCxnSpPr>
        <p:spPr>
          <a:xfrm>
            <a:off x="4922382" y="3356940"/>
            <a:ext cx="83717" cy="115226"/>
          </a:xfrm>
          <a:prstGeom prst="line">
            <a:avLst/>
          </a:prstGeom>
          <a:ln w="15240">
            <a:solidFill>
              <a:srgbClr val="12161C"/>
            </a:solidFill>
          </a:ln>
        </p:spPr>
      </p:cxnSp>
      <p:cxnSp>
        <p:nvCxnSpPr>
          <p:cNvPr id="35" name="Connector 34"/>
          <p:cNvCxnSpPr/>
          <p:nvPr/>
        </p:nvCxnSpPr>
        <p:spPr>
          <a:xfrm flipV="1">
            <a:off x="4964715" y="3182642"/>
            <a:ext cx="135456" cy="44012"/>
          </a:xfrm>
          <a:prstGeom prst="line">
            <a:avLst/>
          </a:prstGeom>
          <a:ln w="15240">
            <a:solidFill>
              <a:srgbClr val="12161C"/>
            </a:solidFill>
          </a:ln>
        </p:spPr>
      </p:cxnSp>
      <p:sp>
        <p:nvSpPr>
          <p:cNvPr id="36" name="Rounded Rectangle 35"/>
          <p:cNvSpPr/>
          <p:nvPr/>
        </p:nvSpPr>
        <p:spPr>
          <a:xfrm>
            <a:off x="7452360" y="2514600"/>
            <a:ext cx="4050792" cy="1325880"/>
          </a:xfrm>
          <a:prstGeom prst="roundRect">
            <a:avLst>
              <a:gd name="adj" fmla="val 9655"/>
            </a:avLst>
          </a:prstGeom>
          <a:solidFill>
            <a:srgbClr val="1A2029"/>
          </a:solidFill>
          <a:ln w="25400">
            <a:solidFill>
              <a:srgbClr val="323C4A"/>
            </a:solidFill>
          </a:ln>
        </p:spPr>
        <p:txBody>
          <a:bodyPr rtlCol="0" anchor="ctr"/>
          <a:lstStyle/>
          <a:p>
            <a:pPr algn="ctr"/>
          </a:p>
        </p:txBody>
      </p:sp>
      <p:sp>
        <p:nvSpPr>
          <p:cNvPr id="37" name="Rounded Rectangle 36"/>
          <p:cNvSpPr/>
          <p:nvPr/>
        </p:nvSpPr>
        <p:spPr>
          <a:xfrm>
            <a:off x="7952720" y="3184307"/>
            <a:ext cx="645201" cy="465978"/>
          </a:xfrm>
          <a:prstGeom prst="roundRect">
            <a:avLst>
              <a:gd name="adj" fmla="val 23076"/>
            </a:avLst>
          </a:prstGeom>
          <a:solidFill>
            <a:srgbClr val="6F7A89"/>
          </a:solidFill>
          <a:ln w="31750">
            <a:solidFill>
              <a:srgbClr val="0E1116"/>
            </a:solidFill>
          </a:ln>
        </p:spPr>
        <p:txBody>
          <a:bodyPr rtlCol="0" anchor="ctr"/>
          <a:lstStyle/>
          <a:p>
            <a:pPr algn="ctr"/>
          </a:p>
        </p:txBody>
      </p:sp>
      <p:sp>
        <p:nvSpPr>
          <p:cNvPr id="38" name="Rounded Rectangle 37"/>
          <p:cNvSpPr/>
          <p:nvPr/>
        </p:nvSpPr>
        <p:spPr>
          <a:xfrm>
            <a:off x="7952720" y="2987162"/>
            <a:ext cx="161300" cy="286756"/>
          </a:xfrm>
          <a:prstGeom prst="roundRect">
            <a:avLst>
              <a:gd name="adj" fmla="val 38888"/>
            </a:avLst>
          </a:prstGeom>
          <a:solidFill>
            <a:srgbClr val="6F7A89"/>
          </a:solidFill>
          <a:ln w="31750">
            <a:solidFill>
              <a:srgbClr val="0E1116"/>
            </a:solidFill>
          </a:ln>
        </p:spPr>
        <p:txBody>
          <a:bodyPr rtlCol="0" anchor="ctr"/>
          <a:lstStyle/>
          <a:p>
            <a:pPr algn="ctr"/>
          </a:p>
        </p:txBody>
      </p:sp>
      <p:sp>
        <p:nvSpPr>
          <p:cNvPr id="39" name="Rounded Rectangle 38"/>
          <p:cNvSpPr/>
          <p:nvPr/>
        </p:nvSpPr>
        <p:spPr>
          <a:xfrm>
            <a:off x="8114020" y="2987162"/>
            <a:ext cx="161300" cy="286756"/>
          </a:xfrm>
          <a:prstGeom prst="roundRect">
            <a:avLst>
              <a:gd name="adj" fmla="val 38888"/>
            </a:avLst>
          </a:prstGeom>
          <a:solidFill>
            <a:srgbClr val="6F7A89"/>
          </a:solidFill>
          <a:ln w="31750">
            <a:solidFill>
              <a:srgbClr val="0E1116"/>
            </a:solidFill>
          </a:ln>
        </p:spPr>
        <p:txBody>
          <a:bodyPr rtlCol="0" anchor="ctr"/>
          <a:lstStyle/>
          <a:p>
            <a:pPr algn="ctr"/>
          </a:p>
        </p:txBody>
      </p:sp>
      <p:sp>
        <p:nvSpPr>
          <p:cNvPr id="40" name="Rounded Rectangle 39"/>
          <p:cNvSpPr/>
          <p:nvPr/>
        </p:nvSpPr>
        <p:spPr>
          <a:xfrm>
            <a:off x="8275320" y="2987162"/>
            <a:ext cx="161300" cy="286756"/>
          </a:xfrm>
          <a:prstGeom prst="roundRect">
            <a:avLst>
              <a:gd name="adj" fmla="val 38888"/>
            </a:avLst>
          </a:prstGeom>
          <a:solidFill>
            <a:srgbClr val="6F7A89"/>
          </a:solidFill>
          <a:ln w="31750">
            <a:solidFill>
              <a:srgbClr val="0E1116"/>
            </a:solidFill>
          </a:ln>
        </p:spPr>
        <p:txBody>
          <a:bodyPr rtlCol="0" anchor="ctr"/>
          <a:lstStyle/>
          <a:p>
            <a:pPr algn="ctr"/>
          </a:p>
        </p:txBody>
      </p:sp>
      <p:sp>
        <p:nvSpPr>
          <p:cNvPr id="41" name="Rounded Rectangle 40"/>
          <p:cNvSpPr/>
          <p:nvPr/>
        </p:nvSpPr>
        <p:spPr>
          <a:xfrm>
            <a:off x="8436620" y="2987162"/>
            <a:ext cx="161300" cy="286756"/>
          </a:xfrm>
          <a:prstGeom prst="roundRect">
            <a:avLst>
              <a:gd name="adj" fmla="val 38888"/>
            </a:avLst>
          </a:prstGeom>
          <a:solidFill>
            <a:srgbClr val="6F7A89"/>
          </a:solidFill>
          <a:ln w="31750">
            <a:solidFill>
              <a:srgbClr val="0E1116"/>
            </a:solidFill>
          </a:ln>
        </p:spPr>
        <p:txBody>
          <a:bodyPr rtlCol="0" anchor="ctr"/>
          <a:lstStyle/>
          <a:p>
            <a:pPr algn="ctr"/>
          </a:p>
        </p:txBody>
      </p:sp>
      <p:sp>
        <p:nvSpPr>
          <p:cNvPr id="42" name="Rounded Rectangle 41"/>
          <p:cNvSpPr/>
          <p:nvPr/>
        </p:nvSpPr>
        <p:spPr>
          <a:xfrm>
            <a:off x="7898953" y="3345607"/>
            <a:ext cx="465978" cy="152339"/>
          </a:xfrm>
          <a:prstGeom prst="roundRect">
            <a:avLst>
              <a:gd name="adj" fmla="val 47058"/>
            </a:avLst>
          </a:prstGeom>
          <a:solidFill>
            <a:srgbClr val="6F7A89"/>
          </a:solidFill>
          <a:ln w="31750">
            <a:solidFill>
              <a:srgbClr val="0E1116"/>
            </a:solidFill>
          </a:ln>
        </p:spPr>
        <p:txBody>
          <a:bodyPr rtlCol="0" anchor="ctr"/>
          <a:lstStyle/>
          <a:p>
            <a:pPr algn="ctr"/>
          </a:p>
        </p:txBody>
      </p:sp>
      <p:sp>
        <p:nvSpPr>
          <p:cNvPr id="43" name="TextBox 42"/>
          <p:cNvSpPr txBox="1"/>
          <p:nvPr/>
        </p:nvSpPr>
        <p:spPr>
          <a:xfrm>
            <a:off x="9006840" y="2734056"/>
            <a:ext cx="2468880" cy="502920"/>
          </a:xfrm>
          <a:prstGeom prst="rect">
            <a:avLst/>
          </a:prstGeom>
          <a:noFill/>
        </p:spPr>
        <p:txBody>
          <a:bodyPr wrap="square" anchor="t" lIns="0" rIns="0" tIns="0" bIns="0">
            <a:noAutofit/>
          </a:bodyPr>
          <a:lstStyle/>
          <a:p>
            <a:pPr algn="l">
              <a:lnSpc>
                <a:spcPct val="100000"/>
              </a:lnSpc>
              <a:spcBef>
                <a:spcPts val="0"/>
              </a:spcBef>
              <a:spcAft>
                <a:spcPts val="0"/>
              </a:spcAft>
            </a:pPr>
            <a:r>
              <a:rPr sz="2200" b="0" i="0">
                <a:solidFill>
                  <a:srgbClr val="6F7A89"/>
                </a:solidFill>
                <a:latin typeface="Arial Black"/>
              </a:rPr>
              <a:t>FIST</a:t>
            </a:r>
          </a:p>
        </p:txBody>
      </p:sp>
      <p:sp>
        <p:nvSpPr>
          <p:cNvPr id="44" name="TextBox 43"/>
          <p:cNvSpPr txBox="1"/>
          <p:nvPr/>
        </p:nvSpPr>
        <p:spPr>
          <a:xfrm>
            <a:off x="9006840" y="3209544"/>
            <a:ext cx="2468880" cy="502920"/>
          </a:xfrm>
          <a:prstGeom prst="rect">
            <a:avLst/>
          </a:prstGeom>
          <a:noFill/>
        </p:spPr>
        <p:txBody>
          <a:bodyPr wrap="square" anchor="t" lIns="0" rIns="0" tIns="0" bIns="0">
            <a:noAutofit/>
          </a:bodyPr>
          <a:lstStyle/>
          <a:p>
            <a:pPr algn="l">
              <a:lnSpc>
                <a:spcPct val="100000"/>
              </a:lnSpc>
              <a:spcBef>
                <a:spcPts val="0"/>
              </a:spcBef>
              <a:spcAft>
                <a:spcPts val="0"/>
              </a:spcAft>
            </a:pPr>
            <a:r>
              <a:rPr sz="2200" b="1" i="0">
                <a:solidFill>
                  <a:srgbClr val="6F7A89"/>
                </a:solidFill>
                <a:latin typeface="Arial"/>
              </a:rPr>
              <a:t>= POTENTIAL</a:t>
            </a:r>
          </a:p>
        </p:txBody>
      </p:sp>
      <p:sp>
        <p:nvSpPr>
          <p:cNvPr id="45" name="Rounded Rectangle 44"/>
          <p:cNvSpPr/>
          <p:nvPr/>
        </p:nvSpPr>
        <p:spPr>
          <a:xfrm>
            <a:off x="7452360" y="4069080"/>
            <a:ext cx="4050792" cy="1325880"/>
          </a:xfrm>
          <a:prstGeom prst="roundRect">
            <a:avLst>
              <a:gd name="adj" fmla="val 9655"/>
            </a:avLst>
          </a:prstGeom>
          <a:solidFill>
            <a:srgbClr val="FFB400"/>
          </a:solidFill>
          <a:ln w="25400">
            <a:solidFill>
              <a:srgbClr val="FFB400"/>
            </a:solidFill>
          </a:ln>
        </p:spPr>
        <p:txBody>
          <a:bodyPr rtlCol="0" anchor="ctr"/>
          <a:lstStyle/>
          <a:p>
            <a:pPr algn="ctr"/>
          </a:p>
        </p:txBody>
      </p:sp>
      <p:sp>
        <p:nvSpPr>
          <p:cNvPr id="46" name="Rounded Rectangle 45"/>
          <p:cNvSpPr/>
          <p:nvPr/>
        </p:nvSpPr>
        <p:spPr>
          <a:xfrm>
            <a:off x="8006486" y="4828398"/>
            <a:ext cx="537667" cy="412212"/>
          </a:xfrm>
          <a:prstGeom prst="roundRect">
            <a:avLst>
              <a:gd name="adj" fmla="val 30434"/>
            </a:avLst>
          </a:prstGeom>
          <a:solidFill>
            <a:srgbClr val="12161C"/>
          </a:solidFill>
          <a:ln w="31750">
            <a:solidFill>
              <a:srgbClr val="FFB400"/>
            </a:solidFill>
          </a:ln>
        </p:spPr>
        <p:txBody>
          <a:bodyPr rtlCol="0" anchor="ctr"/>
          <a:lstStyle/>
          <a:p>
            <a:pPr algn="ctr"/>
          </a:p>
        </p:txBody>
      </p:sp>
      <p:sp>
        <p:nvSpPr>
          <p:cNvPr id="47" name="Rounded Rectangle 46"/>
          <p:cNvSpPr/>
          <p:nvPr/>
        </p:nvSpPr>
        <p:spPr>
          <a:xfrm>
            <a:off x="8015448" y="4452031"/>
            <a:ext cx="116495" cy="430134"/>
          </a:xfrm>
          <a:prstGeom prst="roundRect">
            <a:avLst>
              <a:gd name="adj" fmla="val 46153"/>
            </a:avLst>
          </a:prstGeom>
          <a:solidFill>
            <a:srgbClr val="12161C"/>
          </a:solidFill>
          <a:ln w="31750">
            <a:solidFill>
              <a:srgbClr val="FFB400"/>
            </a:solidFill>
          </a:ln>
        </p:spPr>
        <p:txBody>
          <a:bodyPr rtlCol="0" anchor="ctr"/>
          <a:lstStyle/>
          <a:p>
            <a:pPr algn="ctr"/>
          </a:p>
        </p:txBody>
      </p:sp>
      <p:sp>
        <p:nvSpPr>
          <p:cNvPr id="48" name="Rounded Rectangle 47"/>
          <p:cNvSpPr/>
          <p:nvPr/>
        </p:nvSpPr>
        <p:spPr>
          <a:xfrm>
            <a:off x="8149864" y="4362420"/>
            <a:ext cx="116495" cy="519745"/>
          </a:xfrm>
          <a:prstGeom prst="roundRect">
            <a:avLst>
              <a:gd name="adj" fmla="val 46153"/>
            </a:avLst>
          </a:prstGeom>
          <a:solidFill>
            <a:srgbClr val="12161C"/>
          </a:solidFill>
          <a:ln w="31750">
            <a:solidFill>
              <a:srgbClr val="FFB400"/>
            </a:solidFill>
          </a:ln>
        </p:spPr>
        <p:txBody>
          <a:bodyPr rtlCol="0" anchor="ctr"/>
          <a:lstStyle/>
          <a:p>
            <a:pPr algn="ctr"/>
          </a:p>
        </p:txBody>
      </p:sp>
      <p:sp>
        <p:nvSpPr>
          <p:cNvPr id="49" name="Rounded Rectangle 48"/>
          <p:cNvSpPr/>
          <p:nvPr/>
        </p:nvSpPr>
        <p:spPr>
          <a:xfrm>
            <a:off x="8284281" y="4398264"/>
            <a:ext cx="116495" cy="483900"/>
          </a:xfrm>
          <a:prstGeom prst="roundRect">
            <a:avLst>
              <a:gd name="adj" fmla="val 46153"/>
            </a:avLst>
          </a:prstGeom>
          <a:solidFill>
            <a:srgbClr val="12161C"/>
          </a:solidFill>
          <a:ln w="31750">
            <a:solidFill>
              <a:srgbClr val="FFB400"/>
            </a:solidFill>
          </a:ln>
        </p:spPr>
        <p:txBody>
          <a:bodyPr rtlCol="0" anchor="ctr"/>
          <a:lstStyle/>
          <a:p>
            <a:pPr algn="ctr"/>
          </a:p>
        </p:txBody>
      </p:sp>
      <p:sp>
        <p:nvSpPr>
          <p:cNvPr id="50" name="Rounded Rectangle 49"/>
          <p:cNvSpPr/>
          <p:nvPr/>
        </p:nvSpPr>
        <p:spPr>
          <a:xfrm>
            <a:off x="8418698" y="4487875"/>
            <a:ext cx="116495" cy="394289"/>
          </a:xfrm>
          <a:prstGeom prst="roundRect">
            <a:avLst>
              <a:gd name="adj" fmla="val 46153"/>
            </a:avLst>
          </a:prstGeom>
          <a:solidFill>
            <a:srgbClr val="12161C"/>
          </a:solidFill>
          <a:ln w="31750">
            <a:solidFill>
              <a:srgbClr val="FFB400"/>
            </a:solidFill>
          </a:ln>
        </p:spPr>
        <p:txBody>
          <a:bodyPr rtlCol="0" anchor="ctr"/>
          <a:lstStyle/>
          <a:p>
            <a:pPr algn="ctr"/>
          </a:p>
        </p:txBody>
      </p:sp>
      <p:sp>
        <p:nvSpPr>
          <p:cNvPr id="51" name="Rounded Rectangle 50"/>
          <p:cNvSpPr/>
          <p:nvPr/>
        </p:nvSpPr>
        <p:spPr>
          <a:xfrm rot="19680000">
            <a:off x="7854147" y="4864242"/>
            <a:ext cx="286756" cy="125456"/>
          </a:xfrm>
          <a:prstGeom prst="roundRect">
            <a:avLst>
              <a:gd name="adj" fmla="val 50000"/>
            </a:avLst>
          </a:prstGeom>
          <a:solidFill>
            <a:srgbClr val="12161C"/>
          </a:solidFill>
          <a:ln w="31750">
            <a:solidFill>
              <a:srgbClr val="FFB400"/>
            </a:solidFill>
          </a:ln>
        </p:spPr>
        <p:txBody>
          <a:bodyPr rtlCol="0" anchor="ctr"/>
          <a:lstStyle/>
          <a:p>
            <a:pPr algn="ctr"/>
          </a:p>
        </p:txBody>
      </p:sp>
      <p:sp>
        <p:nvSpPr>
          <p:cNvPr id="52" name="TextBox 51"/>
          <p:cNvSpPr txBox="1"/>
          <p:nvPr/>
        </p:nvSpPr>
        <p:spPr>
          <a:xfrm>
            <a:off x="9006840" y="4288536"/>
            <a:ext cx="2468880" cy="502920"/>
          </a:xfrm>
          <a:prstGeom prst="rect">
            <a:avLst/>
          </a:prstGeom>
          <a:noFill/>
        </p:spPr>
        <p:txBody>
          <a:bodyPr wrap="square" anchor="t" lIns="0" rIns="0" tIns="0" bIns="0">
            <a:noAutofit/>
          </a:bodyPr>
          <a:lstStyle/>
          <a:p>
            <a:pPr algn="l">
              <a:lnSpc>
                <a:spcPct val="100000"/>
              </a:lnSpc>
              <a:spcBef>
                <a:spcPts val="0"/>
              </a:spcBef>
              <a:spcAft>
                <a:spcPts val="0"/>
              </a:spcAft>
            </a:pPr>
            <a:r>
              <a:rPr sz="2200" b="0" i="0">
                <a:solidFill>
                  <a:srgbClr val="12161C"/>
                </a:solidFill>
                <a:latin typeface="Arial Black"/>
              </a:rPr>
              <a:t>OPEN HAND</a:t>
            </a:r>
          </a:p>
        </p:txBody>
      </p:sp>
      <p:sp>
        <p:nvSpPr>
          <p:cNvPr id="53" name="TextBox 52"/>
          <p:cNvSpPr txBox="1"/>
          <p:nvPr/>
        </p:nvSpPr>
        <p:spPr>
          <a:xfrm>
            <a:off x="9006840" y="4764024"/>
            <a:ext cx="2468880" cy="502920"/>
          </a:xfrm>
          <a:prstGeom prst="rect">
            <a:avLst/>
          </a:prstGeom>
          <a:noFill/>
        </p:spPr>
        <p:txBody>
          <a:bodyPr wrap="square" anchor="t" lIns="0" rIns="0" tIns="0" bIns="0">
            <a:noAutofit/>
          </a:bodyPr>
          <a:lstStyle/>
          <a:p>
            <a:pPr algn="l">
              <a:lnSpc>
                <a:spcPct val="100000"/>
              </a:lnSpc>
              <a:spcBef>
                <a:spcPts val="0"/>
              </a:spcBef>
              <a:spcAft>
                <a:spcPts val="0"/>
              </a:spcAft>
            </a:pPr>
            <a:r>
              <a:rPr sz="2200" b="1" i="0">
                <a:solidFill>
                  <a:srgbClr val="12161C"/>
                </a:solidFill>
                <a:latin typeface="Arial"/>
              </a:rPr>
              <a:t>= KINETIC</a:t>
            </a:r>
          </a:p>
        </p:txBody>
      </p:sp>
      <p:sp>
        <p:nvSpPr>
          <p:cNvPr id="54" name="Rounded Rectangle 53"/>
          <p:cNvSpPr/>
          <p:nvPr/>
        </p:nvSpPr>
        <p:spPr>
          <a:xfrm>
            <a:off x="685800" y="5577840"/>
            <a:ext cx="10817352" cy="658368"/>
          </a:xfrm>
          <a:prstGeom prst="roundRect">
            <a:avLst>
              <a:gd name="adj" fmla="val 16666"/>
            </a:avLst>
          </a:prstGeom>
          <a:solidFill>
            <a:srgbClr val="232B36"/>
          </a:solidFill>
          <a:ln>
            <a:noFill/>
          </a:ln>
        </p:spPr>
        <p:txBody>
          <a:bodyPr rtlCol="0" anchor="ctr"/>
          <a:lstStyle/>
          <a:p>
            <a:pPr algn="ctr"/>
          </a:p>
        </p:txBody>
      </p:sp>
      <p:sp>
        <p:nvSpPr>
          <p:cNvPr id="55" name="TextBox 54"/>
          <p:cNvSpPr txBox="1"/>
          <p:nvPr/>
        </p:nvSpPr>
        <p:spPr>
          <a:xfrm>
            <a:off x="914400" y="5577840"/>
            <a:ext cx="10424160" cy="658368"/>
          </a:xfrm>
          <a:prstGeom prst="rect">
            <a:avLst/>
          </a:prstGeom>
          <a:noFill/>
        </p:spPr>
        <p:txBody>
          <a:bodyPr wrap="square" anchor="ctr" lIns="0" rIns="0" tIns="0" bIns="0">
            <a:noAutofit/>
          </a:bodyPr>
          <a:lstStyle/>
          <a:p>
            <a:pPr algn="l">
              <a:lnSpc>
                <a:spcPct val="100000"/>
              </a:lnSpc>
              <a:spcBef>
                <a:spcPts val="0"/>
              </a:spcBef>
              <a:spcAft>
                <a:spcPts val="0"/>
              </a:spcAft>
            </a:pPr>
            <a:r>
              <a:rPr sz="2000" b="1" i="0">
                <a:solidFill>
                  <a:srgbClr val="FFB400"/>
                </a:solidFill>
                <a:latin typeface="Arial"/>
              </a:rPr>
              <a:t>KINETIC</a:t>
            </a:r>
            <a:r>
              <a:rPr sz="2000" b="0" i="0">
                <a:solidFill>
                  <a:srgbClr val="F4F6F8"/>
                </a:solidFill>
                <a:latin typeface="Arial"/>
              </a:rPr>
              <a:t>   Moving object → kinetic energy.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A9B3C0"/>
                </a:solidFill>
                <a:latin typeface="Arial Narrow"/>
              </a:rPr>
              <a:t>ACT 1 · ENERGY</a:t>
            </a:r>
          </a:p>
        </p:txBody>
      </p:sp>
      <p:sp>
        <p:nvSpPr>
          <p:cNvPr id="4" name="Rounded Rectangle 3"/>
          <p:cNvSpPr/>
          <p:nvPr/>
        </p:nvSpPr>
        <p:spPr>
          <a:xfrm>
            <a:off x="10058400" y="274320"/>
            <a:ext cx="1444752" cy="329184"/>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1500" b="1" i="0" spc="60">
                <a:solidFill>
                  <a:srgbClr val="12161C"/>
                </a:solidFill>
                <a:latin typeface="Arial"/>
              </a:rPr>
              <a:t>+100 EP</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6F7A89"/>
                </a:solidFill>
                <a:latin typeface="Arial Narrow"/>
              </a:rPr>
              <a:t>ENERGY LAB  ·  CRASH TEST #05</a:t>
            </a:r>
          </a:p>
        </p:txBody>
      </p:sp>
      <p:sp>
        <p:nvSpPr>
          <p:cNvPr id="6" name="Rectangle 5"/>
          <p:cNvSpPr/>
          <p:nvPr/>
        </p:nvSpPr>
        <p:spPr>
          <a:xfrm>
            <a:off x="4526280" y="6510528"/>
            <a:ext cx="127363" cy="54864"/>
          </a:xfrm>
          <a:prstGeom prst="rect">
            <a:avLst/>
          </a:prstGeom>
          <a:solidFill>
            <a:srgbClr val="8A6A1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8A6A1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FFB400"/>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2A3240"/>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2A3240"/>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2A3240"/>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2A3240"/>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2A3240"/>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2A3240"/>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2A3240"/>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2A3240"/>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2A3240"/>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2A3240"/>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2A3240"/>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6F7A89"/>
                </a:solidFill>
                <a:latin typeface="Arial Narrow"/>
              </a:rPr>
              <a:t>17</a:t>
            </a:fld>
          </a:p>
        </p:txBody>
      </p:sp>
      <p:sp>
        <p:nvSpPr>
          <p:cNvPr id="21" name="TextBox 20"/>
          <p:cNvSpPr txBox="1"/>
          <p:nvPr/>
        </p:nvSpPr>
        <p:spPr>
          <a:xfrm>
            <a:off x="685800" y="896112"/>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A9B3C0"/>
                </a:solidFill>
                <a:latin typeface="Arial Narrow"/>
              </a:rPr>
              <a:t>SITUATION 4 / 5</a:t>
            </a:r>
          </a:p>
        </p:txBody>
      </p:sp>
      <p:sp>
        <p:nvSpPr>
          <p:cNvPr id="22" name="TextBox 21"/>
          <p:cNvSpPr txBox="1"/>
          <p:nvPr/>
        </p:nvSpPr>
        <p:spPr>
          <a:xfrm>
            <a:off x="685800" y="1188720"/>
            <a:ext cx="10789920" cy="1234440"/>
          </a:xfrm>
          <a:prstGeom prst="rect">
            <a:avLst/>
          </a:prstGeom>
          <a:noFill/>
        </p:spPr>
        <p:txBody>
          <a:bodyPr wrap="square" anchor="t" lIns="0" rIns="0" tIns="0" bIns="0">
            <a:noAutofit/>
          </a:bodyPr>
          <a:lstStyle/>
          <a:p>
            <a:pPr algn="l">
              <a:lnSpc>
                <a:spcPct val="100000"/>
              </a:lnSpc>
              <a:spcBef>
                <a:spcPts val="0"/>
              </a:spcBef>
              <a:spcAft>
                <a:spcPts val="0"/>
              </a:spcAft>
            </a:pPr>
            <a:r>
              <a:rPr sz="3600" b="1" i="0">
                <a:solidFill>
                  <a:srgbClr val="F4F6F8"/>
                </a:solidFill>
                <a:latin typeface="Arial"/>
              </a:rPr>
              <a:t>A box is resting on top of a tall cabinet.</a:t>
            </a:r>
          </a:p>
        </p:txBody>
      </p:sp>
      <p:sp>
        <p:nvSpPr>
          <p:cNvPr id="23" name="Rounded Rectangle 22"/>
          <p:cNvSpPr/>
          <p:nvPr/>
        </p:nvSpPr>
        <p:spPr>
          <a:xfrm>
            <a:off x="685800" y="2514600"/>
            <a:ext cx="6492240" cy="2880360"/>
          </a:xfrm>
          <a:prstGeom prst="roundRect">
            <a:avLst>
              <a:gd name="adj" fmla="val 4444"/>
            </a:avLst>
          </a:prstGeom>
          <a:solidFill>
            <a:srgbClr val="1A2029"/>
          </a:solidFill>
          <a:ln w="19050">
            <a:solidFill>
              <a:srgbClr val="323C4A"/>
            </a:solidFill>
          </a:ln>
        </p:spPr>
        <p:txBody>
          <a:bodyPr rtlCol="0" anchor="ctr"/>
          <a:lstStyle/>
          <a:p>
            <a:pPr algn="ctr"/>
          </a:p>
        </p:txBody>
      </p:sp>
      <p:cxnSp>
        <p:nvCxnSpPr>
          <p:cNvPr id="24" name="Connector 23"/>
          <p:cNvCxnSpPr/>
          <p:nvPr/>
        </p:nvCxnSpPr>
        <p:spPr>
          <a:xfrm>
            <a:off x="1113739" y="5087722"/>
            <a:ext cx="5636362" cy="0"/>
          </a:xfrm>
          <a:prstGeom prst="line">
            <a:avLst/>
          </a:prstGeom>
          <a:ln w="44450" cap="rnd">
            <a:solidFill>
              <a:srgbClr val="6F7A89"/>
            </a:solidFill>
            <a:round/>
          </a:ln>
        </p:spPr>
      </p:cxnSp>
      <p:sp>
        <p:nvSpPr>
          <p:cNvPr id="25" name="Rectangle 24"/>
          <p:cNvSpPr/>
          <p:nvPr/>
        </p:nvSpPr>
        <p:spPr>
          <a:xfrm>
            <a:off x="2706624" y="3469234"/>
            <a:ext cx="2083003" cy="1618488"/>
          </a:xfrm>
          <a:prstGeom prst="rect">
            <a:avLst/>
          </a:prstGeom>
          <a:solidFill>
            <a:srgbClr val="232B36"/>
          </a:solidFill>
          <a:ln w="31750">
            <a:solidFill>
              <a:srgbClr val="A9B3C0"/>
            </a:solidFill>
          </a:ln>
        </p:spPr>
        <p:txBody>
          <a:bodyPr rtlCol="0" anchor="ctr"/>
          <a:lstStyle/>
          <a:p>
            <a:pPr algn="ctr"/>
          </a:p>
        </p:txBody>
      </p:sp>
      <p:cxnSp>
        <p:nvCxnSpPr>
          <p:cNvPr id="26" name="Connector 25"/>
          <p:cNvCxnSpPr/>
          <p:nvPr/>
        </p:nvCxnSpPr>
        <p:spPr>
          <a:xfrm>
            <a:off x="3748126" y="3469234"/>
            <a:ext cx="0" cy="1618488"/>
          </a:xfrm>
          <a:prstGeom prst="line">
            <a:avLst/>
          </a:prstGeom>
          <a:ln w="31750">
            <a:solidFill>
              <a:srgbClr val="A9B3C0"/>
            </a:solidFill>
          </a:ln>
        </p:spPr>
      </p:cxnSp>
      <p:sp>
        <p:nvSpPr>
          <p:cNvPr id="27" name="Oval 26"/>
          <p:cNvSpPr/>
          <p:nvPr/>
        </p:nvSpPr>
        <p:spPr>
          <a:xfrm>
            <a:off x="3549628" y="4204960"/>
            <a:ext cx="147036" cy="147036"/>
          </a:xfrm>
          <a:prstGeom prst="ellipse">
            <a:avLst/>
          </a:prstGeom>
          <a:solidFill>
            <a:srgbClr val="FFB400"/>
          </a:solidFill>
          <a:ln>
            <a:noFill/>
          </a:ln>
        </p:spPr>
        <p:txBody>
          <a:bodyPr rtlCol="0" anchor="ctr"/>
          <a:lstStyle/>
          <a:p>
            <a:pPr algn="ctr"/>
          </a:p>
        </p:txBody>
      </p:sp>
      <p:sp>
        <p:nvSpPr>
          <p:cNvPr id="28" name="Oval 27"/>
          <p:cNvSpPr/>
          <p:nvPr/>
        </p:nvSpPr>
        <p:spPr>
          <a:xfrm>
            <a:off x="3799588" y="4204960"/>
            <a:ext cx="147036" cy="147036"/>
          </a:xfrm>
          <a:prstGeom prst="ellipse">
            <a:avLst/>
          </a:prstGeom>
          <a:solidFill>
            <a:srgbClr val="FFB400"/>
          </a:solidFill>
          <a:ln>
            <a:noFill/>
          </a:ln>
        </p:spPr>
        <p:txBody>
          <a:bodyPr rtlCol="0" anchor="ctr"/>
          <a:lstStyle/>
          <a:p>
            <a:pPr algn="ctr"/>
          </a:p>
        </p:txBody>
      </p:sp>
      <p:sp>
        <p:nvSpPr>
          <p:cNvPr id="29" name="Rectangle 28"/>
          <p:cNvSpPr/>
          <p:nvPr/>
        </p:nvSpPr>
        <p:spPr>
          <a:xfrm>
            <a:off x="3135478" y="3064612"/>
            <a:ext cx="1225296" cy="404622"/>
          </a:xfrm>
          <a:prstGeom prst="rect">
            <a:avLst/>
          </a:prstGeom>
          <a:solidFill>
            <a:srgbClr val="B98A4E"/>
          </a:solidFill>
          <a:ln w="25400">
            <a:solidFill>
              <a:srgbClr val="8A6330"/>
            </a:solidFill>
          </a:ln>
        </p:spPr>
        <p:txBody>
          <a:bodyPr rtlCol="0" anchor="ctr"/>
          <a:lstStyle/>
          <a:p>
            <a:pPr algn="ctr"/>
          </a:p>
        </p:txBody>
      </p:sp>
      <p:sp>
        <p:nvSpPr>
          <p:cNvPr id="30" name="Rectangle 29"/>
          <p:cNvSpPr/>
          <p:nvPr/>
        </p:nvSpPr>
        <p:spPr>
          <a:xfrm>
            <a:off x="3650102" y="3064612"/>
            <a:ext cx="196047" cy="404622"/>
          </a:xfrm>
          <a:prstGeom prst="rect">
            <a:avLst/>
          </a:prstGeom>
          <a:solidFill>
            <a:srgbClr val="E8D3A7"/>
          </a:solidFill>
          <a:ln>
            <a:noFill/>
          </a:ln>
        </p:spPr>
        <p:txBody>
          <a:bodyPr rtlCol="0" anchor="ctr"/>
          <a:lstStyle/>
          <a:p>
            <a:pPr algn="ctr"/>
          </a:p>
        </p:txBody>
      </p:sp>
      <p:cxnSp>
        <p:nvCxnSpPr>
          <p:cNvPr id="31" name="Connector 30"/>
          <p:cNvCxnSpPr/>
          <p:nvPr/>
        </p:nvCxnSpPr>
        <p:spPr>
          <a:xfrm>
            <a:off x="5647334" y="3469234"/>
            <a:ext cx="0" cy="1618488"/>
          </a:xfrm>
          <a:prstGeom prst="line">
            <a:avLst/>
          </a:prstGeom>
          <a:ln w="38100">
            <a:solidFill>
              <a:srgbClr val="FFB400"/>
            </a:solidFill>
            <a:prstDash val="dash"/>
            <a:headEnd type="triangle" w="med" len="med"/>
            <a:tailEnd type="triangle" w="med" len="med"/>
          </a:ln>
        </p:spPr>
      </p:cxnSp>
      <p:sp>
        <p:nvSpPr>
          <p:cNvPr id="32" name="TextBox 31"/>
          <p:cNvSpPr txBox="1"/>
          <p:nvPr/>
        </p:nvSpPr>
        <p:spPr>
          <a:xfrm>
            <a:off x="5647334" y="4170578"/>
            <a:ext cx="1960474" cy="548640"/>
          </a:xfrm>
          <a:prstGeom prst="rect">
            <a:avLst/>
          </a:prstGeom>
          <a:noFill/>
        </p:spPr>
        <p:txBody>
          <a:bodyPr wrap="square" anchor="t" lIns="0" rIns="0" tIns="0" bIns="0">
            <a:noAutofit/>
          </a:bodyPr>
          <a:lstStyle/>
          <a:p>
            <a:pPr algn="ctr">
              <a:lnSpc>
                <a:spcPct val="100000"/>
              </a:lnSpc>
              <a:spcBef>
                <a:spcPts val="0"/>
              </a:spcBef>
              <a:spcAft>
                <a:spcPts val="0"/>
              </a:spcAft>
            </a:pPr>
            <a:r>
              <a:rPr sz="1500" b="1" i="0" spc="80">
                <a:solidFill>
                  <a:srgbClr val="FFB400"/>
                </a:solidFill>
                <a:latin typeface="Arial Narrow"/>
              </a:rPr>
              <a:t>HEIGHT</a:t>
            </a:r>
          </a:p>
        </p:txBody>
      </p:sp>
      <p:sp>
        <p:nvSpPr>
          <p:cNvPr id="33" name="Rounded Rectangle 32"/>
          <p:cNvSpPr/>
          <p:nvPr/>
        </p:nvSpPr>
        <p:spPr>
          <a:xfrm>
            <a:off x="7452360" y="2514600"/>
            <a:ext cx="4050792" cy="1325880"/>
          </a:xfrm>
          <a:prstGeom prst="roundRect">
            <a:avLst>
              <a:gd name="adj" fmla="val 9655"/>
            </a:avLst>
          </a:prstGeom>
          <a:solidFill>
            <a:srgbClr val="1A2029"/>
          </a:solidFill>
          <a:ln w="25400">
            <a:solidFill>
              <a:srgbClr val="323C4A"/>
            </a:solidFill>
          </a:ln>
        </p:spPr>
        <p:txBody>
          <a:bodyPr rtlCol="0" anchor="ctr"/>
          <a:lstStyle/>
          <a:p>
            <a:pPr algn="ctr"/>
          </a:p>
        </p:txBody>
      </p:sp>
      <p:sp>
        <p:nvSpPr>
          <p:cNvPr id="34" name="Rounded Rectangle 33"/>
          <p:cNvSpPr/>
          <p:nvPr/>
        </p:nvSpPr>
        <p:spPr>
          <a:xfrm>
            <a:off x="7952720" y="3184307"/>
            <a:ext cx="645201" cy="465978"/>
          </a:xfrm>
          <a:prstGeom prst="roundRect">
            <a:avLst>
              <a:gd name="adj" fmla="val 23076"/>
            </a:avLst>
          </a:prstGeom>
          <a:solidFill>
            <a:srgbClr val="F4F6F8"/>
          </a:solidFill>
          <a:ln w="31750">
            <a:solidFill>
              <a:srgbClr val="0E1116"/>
            </a:solidFill>
          </a:ln>
        </p:spPr>
        <p:txBody>
          <a:bodyPr rtlCol="0" anchor="ctr"/>
          <a:lstStyle/>
          <a:p>
            <a:pPr algn="ctr"/>
          </a:p>
        </p:txBody>
      </p:sp>
      <p:sp>
        <p:nvSpPr>
          <p:cNvPr id="35" name="Rounded Rectangle 34"/>
          <p:cNvSpPr/>
          <p:nvPr/>
        </p:nvSpPr>
        <p:spPr>
          <a:xfrm>
            <a:off x="7952720" y="2987162"/>
            <a:ext cx="161300" cy="286756"/>
          </a:xfrm>
          <a:prstGeom prst="roundRect">
            <a:avLst>
              <a:gd name="adj" fmla="val 38888"/>
            </a:avLst>
          </a:prstGeom>
          <a:solidFill>
            <a:srgbClr val="F4F6F8"/>
          </a:solidFill>
          <a:ln w="31750">
            <a:solidFill>
              <a:srgbClr val="0E1116"/>
            </a:solidFill>
          </a:ln>
        </p:spPr>
        <p:txBody>
          <a:bodyPr rtlCol="0" anchor="ctr"/>
          <a:lstStyle/>
          <a:p>
            <a:pPr algn="ctr"/>
          </a:p>
        </p:txBody>
      </p:sp>
      <p:sp>
        <p:nvSpPr>
          <p:cNvPr id="36" name="Rounded Rectangle 35"/>
          <p:cNvSpPr/>
          <p:nvPr/>
        </p:nvSpPr>
        <p:spPr>
          <a:xfrm>
            <a:off x="8114020" y="2987162"/>
            <a:ext cx="161300" cy="286756"/>
          </a:xfrm>
          <a:prstGeom prst="roundRect">
            <a:avLst>
              <a:gd name="adj" fmla="val 38888"/>
            </a:avLst>
          </a:prstGeom>
          <a:solidFill>
            <a:srgbClr val="F4F6F8"/>
          </a:solidFill>
          <a:ln w="31750">
            <a:solidFill>
              <a:srgbClr val="0E1116"/>
            </a:solidFill>
          </a:ln>
        </p:spPr>
        <p:txBody>
          <a:bodyPr rtlCol="0" anchor="ctr"/>
          <a:lstStyle/>
          <a:p>
            <a:pPr algn="ctr"/>
          </a:p>
        </p:txBody>
      </p:sp>
      <p:sp>
        <p:nvSpPr>
          <p:cNvPr id="37" name="Rounded Rectangle 36"/>
          <p:cNvSpPr/>
          <p:nvPr/>
        </p:nvSpPr>
        <p:spPr>
          <a:xfrm>
            <a:off x="8275320" y="2987162"/>
            <a:ext cx="161300" cy="286756"/>
          </a:xfrm>
          <a:prstGeom prst="roundRect">
            <a:avLst>
              <a:gd name="adj" fmla="val 38888"/>
            </a:avLst>
          </a:prstGeom>
          <a:solidFill>
            <a:srgbClr val="F4F6F8"/>
          </a:solidFill>
          <a:ln w="31750">
            <a:solidFill>
              <a:srgbClr val="0E1116"/>
            </a:solidFill>
          </a:ln>
        </p:spPr>
        <p:txBody>
          <a:bodyPr rtlCol="0" anchor="ctr"/>
          <a:lstStyle/>
          <a:p>
            <a:pPr algn="ctr"/>
          </a:p>
        </p:txBody>
      </p:sp>
      <p:sp>
        <p:nvSpPr>
          <p:cNvPr id="38" name="Rounded Rectangle 37"/>
          <p:cNvSpPr/>
          <p:nvPr/>
        </p:nvSpPr>
        <p:spPr>
          <a:xfrm>
            <a:off x="8436620" y="2987162"/>
            <a:ext cx="161300" cy="286756"/>
          </a:xfrm>
          <a:prstGeom prst="roundRect">
            <a:avLst>
              <a:gd name="adj" fmla="val 38888"/>
            </a:avLst>
          </a:prstGeom>
          <a:solidFill>
            <a:srgbClr val="F4F6F8"/>
          </a:solidFill>
          <a:ln w="31750">
            <a:solidFill>
              <a:srgbClr val="0E1116"/>
            </a:solidFill>
          </a:ln>
        </p:spPr>
        <p:txBody>
          <a:bodyPr rtlCol="0" anchor="ctr"/>
          <a:lstStyle/>
          <a:p>
            <a:pPr algn="ctr"/>
          </a:p>
        </p:txBody>
      </p:sp>
      <p:sp>
        <p:nvSpPr>
          <p:cNvPr id="39" name="Rounded Rectangle 38"/>
          <p:cNvSpPr/>
          <p:nvPr/>
        </p:nvSpPr>
        <p:spPr>
          <a:xfrm>
            <a:off x="7898953" y="3345607"/>
            <a:ext cx="465978" cy="152339"/>
          </a:xfrm>
          <a:prstGeom prst="roundRect">
            <a:avLst>
              <a:gd name="adj" fmla="val 47058"/>
            </a:avLst>
          </a:prstGeom>
          <a:solidFill>
            <a:srgbClr val="F4F6F8"/>
          </a:solidFill>
          <a:ln w="31750">
            <a:solidFill>
              <a:srgbClr val="0E1116"/>
            </a:solidFill>
          </a:ln>
        </p:spPr>
        <p:txBody>
          <a:bodyPr rtlCol="0" anchor="ctr"/>
          <a:lstStyle/>
          <a:p>
            <a:pPr algn="ctr"/>
          </a:p>
        </p:txBody>
      </p:sp>
      <p:sp>
        <p:nvSpPr>
          <p:cNvPr id="40" name="TextBox 39"/>
          <p:cNvSpPr txBox="1"/>
          <p:nvPr/>
        </p:nvSpPr>
        <p:spPr>
          <a:xfrm>
            <a:off x="9006840" y="2734056"/>
            <a:ext cx="2468880" cy="502920"/>
          </a:xfrm>
          <a:prstGeom prst="rect">
            <a:avLst/>
          </a:prstGeom>
          <a:noFill/>
        </p:spPr>
        <p:txBody>
          <a:bodyPr wrap="square" anchor="t" lIns="0" rIns="0" tIns="0" bIns="0">
            <a:noAutofit/>
          </a:bodyPr>
          <a:lstStyle/>
          <a:p>
            <a:pPr algn="l">
              <a:lnSpc>
                <a:spcPct val="100000"/>
              </a:lnSpc>
              <a:spcBef>
                <a:spcPts val="0"/>
              </a:spcBef>
              <a:spcAft>
                <a:spcPts val="0"/>
              </a:spcAft>
            </a:pPr>
            <a:r>
              <a:rPr sz="2200" b="0" i="0">
                <a:solidFill>
                  <a:srgbClr val="F4F6F8"/>
                </a:solidFill>
                <a:latin typeface="Arial Black"/>
              </a:rPr>
              <a:t>FIST</a:t>
            </a:r>
          </a:p>
        </p:txBody>
      </p:sp>
      <p:sp>
        <p:nvSpPr>
          <p:cNvPr id="41" name="TextBox 40"/>
          <p:cNvSpPr txBox="1"/>
          <p:nvPr/>
        </p:nvSpPr>
        <p:spPr>
          <a:xfrm>
            <a:off x="9006840" y="3209544"/>
            <a:ext cx="2468880" cy="502920"/>
          </a:xfrm>
          <a:prstGeom prst="rect">
            <a:avLst/>
          </a:prstGeom>
          <a:noFill/>
        </p:spPr>
        <p:txBody>
          <a:bodyPr wrap="square" anchor="t" lIns="0" rIns="0" tIns="0" bIns="0">
            <a:noAutofit/>
          </a:bodyPr>
          <a:lstStyle/>
          <a:p>
            <a:pPr algn="l">
              <a:lnSpc>
                <a:spcPct val="100000"/>
              </a:lnSpc>
              <a:spcBef>
                <a:spcPts val="0"/>
              </a:spcBef>
              <a:spcAft>
                <a:spcPts val="0"/>
              </a:spcAft>
            </a:pPr>
            <a:r>
              <a:rPr sz="2200" b="1" i="0">
                <a:solidFill>
                  <a:srgbClr val="FFB400"/>
                </a:solidFill>
                <a:latin typeface="Arial"/>
              </a:rPr>
              <a:t>= POTENTIAL</a:t>
            </a:r>
          </a:p>
        </p:txBody>
      </p:sp>
      <p:sp>
        <p:nvSpPr>
          <p:cNvPr id="42" name="Rounded Rectangle 41"/>
          <p:cNvSpPr/>
          <p:nvPr/>
        </p:nvSpPr>
        <p:spPr>
          <a:xfrm>
            <a:off x="7452360" y="4069080"/>
            <a:ext cx="4050792" cy="1325880"/>
          </a:xfrm>
          <a:prstGeom prst="roundRect">
            <a:avLst>
              <a:gd name="adj" fmla="val 9655"/>
            </a:avLst>
          </a:prstGeom>
          <a:solidFill>
            <a:srgbClr val="1A2029"/>
          </a:solidFill>
          <a:ln w="25400">
            <a:solidFill>
              <a:srgbClr val="323C4A"/>
            </a:solidFill>
          </a:ln>
        </p:spPr>
        <p:txBody>
          <a:bodyPr rtlCol="0" anchor="ctr"/>
          <a:lstStyle/>
          <a:p>
            <a:pPr algn="ctr"/>
          </a:p>
        </p:txBody>
      </p:sp>
      <p:sp>
        <p:nvSpPr>
          <p:cNvPr id="43" name="Rounded Rectangle 42"/>
          <p:cNvSpPr/>
          <p:nvPr/>
        </p:nvSpPr>
        <p:spPr>
          <a:xfrm>
            <a:off x="8006486" y="4828398"/>
            <a:ext cx="537667" cy="412212"/>
          </a:xfrm>
          <a:prstGeom prst="roundRect">
            <a:avLst>
              <a:gd name="adj" fmla="val 30434"/>
            </a:avLst>
          </a:prstGeom>
          <a:solidFill>
            <a:srgbClr val="F4F6F8"/>
          </a:solidFill>
          <a:ln w="31750">
            <a:solidFill>
              <a:srgbClr val="0E1116"/>
            </a:solidFill>
          </a:ln>
        </p:spPr>
        <p:txBody>
          <a:bodyPr rtlCol="0" anchor="ctr"/>
          <a:lstStyle/>
          <a:p>
            <a:pPr algn="ctr"/>
          </a:p>
        </p:txBody>
      </p:sp>
      <p:sp>
        <p:nvSpPr>
          <p:cNvPr id="44" name="Rounded Rectangle 43"/>
          <p:cNvSpPr/>
          <p:nvPr/>
        </p:nvSpPr>
        <p:spPr>
          <a:xfrm>
            <a:off x="8015448" y="4452031"/>
            <a:ext cx="116495" cy="430134"/>
          </a:xfrm>
          <a:prstGeom prst="roundRect">
            <a:avLst>
              <a:gd name="adj" fmla="val 46153"/>
            </a:avLst>
          </a:prstGeom>
          <a:solidFill>
            <a:srgbClr val="F4F6F8"/>
          </a:solidFill>
          <a:ln w="31750">
            <a:solidFill>
              <a:srgbClr val="0E1116"/>
            </a:solidFill>
          </a:ln>
        </p:spPr>
        <p:txBody>
          <a:bodyPr rtlCol="0" anchor="ctr"/>
          <a:lstStyle/>
          <a:p>
            <a:pPr algn="ctr"/>
          </a:p>
        </p:txBody>
      </p:sp>
      <p:sp>
        <p:nvSpPr>
          <p:cNvPr id="45" name="Rounded Rectangle 44"/>
          <p:cNvSpPr/>
          <p:nvPr/>
        </p:nvSpPr>
        <p:spPr>
          <a:xfrm>
            <a:off x="8149864" y="4362420"/>
            <a:ext cx="116495" cy="519745"/>
          </a:xfrm>
          <a:prstGeom prst="roundRect">
            <a:avLst>
              <a:gd name="adj" fmla="val 46153"/>
            </a:avLst>
          </a:prstGeom>
          <a:solidFill>
            <a:srgbClr val="F4F6F8"/>
          </a:solidFill>
          <a:ln w="31750">
            <a:solidFill>
              <a:srgbClr val="0E1116"/>
            </a:solidFill>
          </a:ln>
        </p:spPr>
        <p:txBody>
          <a:bodyPr rtlCol="0" anchor="ctr"/>
          <a:lstStyle/>
          <a:p>
            <a:pPr algn="ctr"/>
          </a:p>
        </p:txBody>
      </p:sp>
      <p:sp>
        <p:nvSpPr>
          <p:cNvPr id="46" name="Rounded Rectangle 45"/>
          <p:cNvSpPr/>
          <p:nvPr/>
        </p:nvSpPr>
        <p:spPr>
          <a:xfrm>
            <a:off x="8284281" y="4398264"/>
            <a:ext cx="116495" cy="483900"/>
          </a:xfrm>
          <a:prstGeom prst="roundRect">
            <a:avLst>
              <a:gd name="adj" fmla="val 46153"/>
            </a:avLst>
          </a:prstGeom>
          <a:solidFill>
            <a:srgbClr val="F4F6F8"/>
          </a:solidFill>
          <a:ln w="31750">
            <a:solidFill>
              <a:srgbClr val="0E1116"/>
            </a:solidFill>
          </a:ln>
        </p:spPr>
        <p:txBody>
          <a:bodyPr rtlCol="0" anchor="ctr"/>
          <a:lstStyle/>
          <a:p>
            <a:pPr algn="ctr"/>
          </a:p>
        </p:txBody>
      </p:sp>
      <p:sp>
        <p:nvSpPr>
          <p:cNvPr id="47" name="Rounded Rectangle 46"/>
          <p:cNvSpPr/>
          <p:nvPr/>
        </p:nvSpPr>
        <p:spPr>
          <a:xfrm>
            <a:off x="8418698" y="4487875"/>
            <a:ext cx="116495" cy="394289"/>
          </a:xfrm>
          <a:prstGeom prst="roundRect">
            <a:avLst>
              <a:gd name="adj" fmla="val 46153"/>
            </a:avLst>
          </a:prstGeom>
          <a:solidFill>
            <a:srgbClr val="F4F6F8"/>
          </a:solidFill>
          <a:ln w="31750">
            <a:solidFill>
              <a:srgbClr val="0E1116"/>
            </a:solidFill>
          </a:ln>
        </p:spPr>
        <p:txBody>
          <a:bodyPr rtlCol="0" anchor="ctr"/>
          <a:lstStyle/>
          <a:p>
            <a:pPr algn="ctr"/>
          </a:p>
        </p:txBody>
      </p:sp>
      <p:sp>
        <p:nvSpPr>
          <p:cNvPr id="48" name="Rounded Rectangle 47"/>
          <p:cNvSpPr/>
          <p:nvPr/>
        </p:nvSpPr>
        <p:spPr>
          <a:xfrm rot="19680000">
            <a:off x="7854147" y="4864242"/>
            <a:ext cx="286756" cy="125456"/>
          </a:xfrm>
          <a:prstGeom prst="roundRect">
            <a:avLst>
              <a:gd name="adj" fmla="val 50000"/>
            </a:avLst>
          </a:prstGeom>
          <a:solidFill>
            <a:srgbClr val="F4F6F8"/>
          </a:solidFill>
          <a:ln w="31750">
            <a:solidFill>
              <a:srgbClr val="0E1116"/>
            </a:solidFill>
          </a:ln>
        </p:spPr>
        <p:txBody>
          <a:bodyPr rtlCol="0" anchor="ctr"/>
          <a:lstStyle/>
          <a:p>
            <a:pPr algn="ctr"/>
          </a:p>
        </p:txBody>
      </p:sp>
      <p:sp>
        <p:nvSpPr>
          <p:cNvPr id="49" name="TextBox 48"/>
          <p:cNvSpPr txBox="1"/>
          <p:nvPr/>
        </p:nvSpPr>
        <p:spPr>
          <a:xfrm>
            <a:off x="9006840" y="4288536"/>
            <a:ext cx="2468880" cy="502920"/>
          </a:xfrm>
          <a:prstGeom prst="rect">
            <a:avLst/>
          </a:prstGeom>
          <a:noFill/>
        </p:spPr>
        <p:txBody>
          <a:bodyPr wrap="square" anchor="t" lIns="0" rIns="0" tIns="0" bIns="0">
            <a:noAutofit/>
          </a:bodyPr>
          <a:lstStyle/>
          <a:p>
            <a:pPr algn="l">
              <a:lnSpc>
                <a:spcPct val="100000"/>
              </a:lnSpc>
              <a:spcBef>
                <a:spcPts val="0"/>
              </a:spcBef>
              <a:spcAft>
                <a:spcPts val="0"/>
              </a:spcAft>
            </a:pPr>
            <a:r>
              <a:rPr sz="2200" b="0" i="0">
                <a:solidFill>
                  <a:srgbClr val="F4F6F8"/>
                </a:solidFill>
                <a:latin typeface="Arial Black"/>
              </a:rPr>
              <a:t>OPEN HAND</a:t>
            </a:r>
          </a:p>
        </p:txBody>
      </p:sp>
      <p:sp>
        <p:nvSpPr>
          <p:cNvPr id="50" name="TextBox 49"/>
          <p:cNvSpPr txBox="1"/>
          <p:nvPr/>
        </p:nvSpPr>
        <p:spPr>
          <a:xfrm>
            <a:off x="9006840" y="4764024"/>
            <a:ext cx="2468880" cy="502920"/>
          </a:xfrm>
          <a:prstGeom prst="rect">
            <a:avLst/>
          </a:prstGeom>
          <a:noFill/>
        </p:spPr>
        <p:txBody>
          <a:bodyPr wrap="square" anchor="t" lIns="0" rIns="0" tIns="0" bIns="0">
            <a:noAutofit/>
          </a:bodyPr>
          <a:lstStyle/>
          <a:p>
            <a:pPr algn="l">
              <a:lnSpc>
                <a:spcPct val="100000"/>
              </a:lnSpc>
              <a:spcBef>
                <a:spcPts val="0"/>
              </a:spcBef>
              <a:spcAft>
                <a:spcPts val="0"/>
              </a:spcAft>
            </a:pPr>
            <a:r>
              <a:rPr sz="2200" b="1" i="0">
                <a:solidFill>
                  <a:srgbClr val="FFB400"/>
                </a:solidFill>
                <a:latin typeface="Arial"/>
              </a:rPr>
              <a:t>= KINETIC</a:t>
            </a:r>
          </a:p>
        </p:txBody>
      </p:sp>
      <p:sp>
        <p:nvSpPr>
          <p:cNvPr id="51" name="TextBox 50"/>
          <p:cNvSpPr txBox="1"/>
          <p:nvPr/>
        </p:nvSpPr>
        <p:spPr>
          <a:xfrm>
            <a:off x="685800" y="5577840"/>
            <a:ext cx="10817352" cy="658368"/>
          </a:xfrm>
          <a:prstGeom prst="rect">
            <a:avLst/>
          </a:prstGeom>
          <a:noFill/>
        </p:spPr>
        <p:txBody>
          <a:bodyPr wrap="square" anchor="ctr" lIns="0" rIns="0" tIns="0" bIns="0">
            <a:noAutofit/>
          </a:bodyPr>
          <a:lstStyle/>
          <a:p>
            <a:pPr algn="l">
              <a:lnSpc>
                <a:spcPct val="100000"/>
              </a:lnSpc>
              <a:spcBef>
                <a:spcPts val="0"/>
              </a:spcBef>
              <a:spcAft>
                <a:spcPts val="0"/>
              </a:spcAft>
            </a:pPr>
            <a:r>
              <a:rPr sz="2600" b="1" i="0" spc="400">
                <a:solidFill>
                  <a:srgbClr val="FFB400"/>
                </a:solidFill>
                <a:latin typeface="Arial Narrow"/>
              </a:rPr>
              <a:t>3 · 2 · 1 · SHOW!</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A9B3C0"/>
                </a:solidFill>
                <a:latin typeface="Arial Narrow"/>
              </a:rPr>
              <a:t>ACT 1 · ENERGY</a:t>
            </a:r>
          </a:p>
        </p:txBody>
      </p:sp>
      <p:sp>
        <p:nvSpPr>
          <p:cNvPr id="4" name="Rounded Rectangle 3"/>
          <p:cNvSpPr/>
          <p:nvPr/>
        </p:nvSpPr>
        <p:spPr>
          <a:xfrm>
            <a:off x="10058400" y="274320"/>
            <a:ext cx="1444752" cy="329184"/>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1500" b="1" i="0" spc="60">
                <a:solidFill>
                  <a:srgbClr val="12161C"/>
                </a:solidFill>
                <a:latin typeface="Arial"/>
              </a:rPr>
              <a:t>+100 EP</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6F7A89"/>
                </a:solidFill>
                <a:latin typeface="Arial Narrow"/>
              </a:rPr>
              <a:t>ENERGY LAB  ·  CRASH TEST #05</a:t>
            </a:r>
          </a:p>
        </p:txBody>
      </p:sp>
      <p:sp>
        <p:nvSpPr>
          <p:cNvPr id="6" name="Rectangle 5"/>
          <p:cNvSpPr/>
          <p:nvPr/>
        </p:nvSpPr>
        <p:spPr>
          <a:xfrm>
            <a:off x="4526280" y="6510528"/>
            <a:ext cx="127363" cy="54864"/>
          </a:xfrm>
          <a:prstGeom prst="rect">
            <a:avLst/>
          </a:prstGeom>
          <a:solidFill>
            <a:srgbClr val="8A6A1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8A6A1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FFB400"/>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2A3240"/>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2A3240"/>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2A3240"/>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2A3240"/>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2A3240"/>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2A3240"/>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2A3240"/>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2A3240"/>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2A3240"/>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2A3240"/>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2A3240"/>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6F7A89"/>
                </a:solidFill>
                <a:latin typeface="Arial Narrow"/>
              </a:rPr>
              <a:t>18</a:t>
            </a:fld>
          </a:p>
        </p:txBody>
      </p:sp>
      <p:sp>
        <p:nvSpPr>
          <p:cNvPr id="21" name="TextBox 20"/>
          <p:cNvSpPr txBox="1"/>
          <p:nvPr/>
        </p:nvSpPr>
        <p:spPr>
          <a:xfrm>
            <a:off x="685800" y="896112"/>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A9B3C0"/>
                </a:solidFill>
                <a:latin typeface="Arial Narrow"/>
              </a:rPr>
              <a:t>SITUATION 4 / 5</a:t>
            </a:r>
          </a:p>
        </p:txBody>
      </p:sp>
      <p:sp>
        <p:nvSpPr>
          <p:cNvPr id="22" name="TextBox 21"/>
          <p:cNvSpPr txBox="1"/>
          <p:nvPr/>
        </p:nvSpPr>
        <p:spPr>
          <a:xfrm>
            <a:off x="685800" y="1188720"/>
            <a:ext cx="10789920" cy="1234440"/>
          </a:xfrm>
          <a:prstGeom prst="rect">
            <a:avLst/>
          </a:prstGeom>
          <a:noFill/>
        </p:spPr>
        <p:txBody>
          <a:bodyPr wrap="square" anchor="t" lIns="0" rIns="0" tIns="0" bIns="0">
            <a:noAutofit/>
          </a:bodyPr>
          <a:lstStyle/>
          <a:p>
            <a:pPr algn="l">
              <a:lnSpc>
                <a:spcPct val="100000"/>
              </a:lnSpc>
              <a:spcBef>
                <a:spcPts val="0"/>
              </a:spcBef>
              <a:spcAft>
                <a:spcPts val="0"/>
              </a:spcAft>
            </a:pPr>
            <a:r>
              <a:rPr sz="3600" b="1" i="0">
                <a:solidFill>
                  <a:srgbClr val="F4F6F8"/>
                </a:solidFill>
                <a:latin typeface="Arial"/>
              </a:rPr>
              <a:t>A box is resting on top of a tall cabinet.</a:t>
            </a:r>
          </a:p>
        </p:txBody>
      </p:sp>
      <p:sp>
        <p:nvSpPr>
          <p:cNvPr id="23" name="Rounded Rectangle 22"/>
          <p:cNvSpPr/>
          <p:nvPr/>
        </p:nvSpPr>
        <p:spPr>
          <a:xfrm>
            <a:off x="685800" y="2514600"/>
            <a:ext cx="6492240" cy="2880360"/>
          </a:xfrm>
          <a:prstGeom prst="roundRect">
            <a:avLst>
              <a:gd name="adj" fmla="val 4444"/>
            </a:avLst>
          </a:prstGeom>
          <a:solidFill>
            <a:srgbClr val="1A2029"/>
          </a:solidFill>
          <a:ln w="19050">
            <a:solidFill>
              <a:srgbClr val="323C4A"/>
            </a:solidFill>
          </a:ln>
        </p:spPr>
        <p:txBody>
          <a:bodyPr rtlCol="0" anchor="ctr"/>
          <a:lstStyle/>
          <a:p>
            <a:pPr algn="ctr"/>
          </a:p>
        </p:txBody>
      </p:sp>
      <p:cxnSp>
        <p:nvCxnSpPr>
          <p:cNvPr id="24" name="Connector 23"/>
          <p:cNvCxnSpPr/>
          <p:nvPr/>
        </p:nvCxnSpPr>
        <p:spPr>
          <a:xfrm>
            <a:off x="1113739" y="5087722"/>
            <a:ext cx="5636362" cy="0"/>
          </a:xfrm>
          <a:prstGeom prst="line">
            <a:avLst/>
          </a:prstGeom>
          <a:ln w="44450" cap="rnd">
            <a:solidFill>
              <a:srgbClr val="6F7A89"/>
            </a:solidFill>
            <a:round/>
          </a:ln>
        </p:spPr>
      </p:cxnSp>
      <p:sp>
        <p:nvSpPr>
          <p:cNvPr id="25" name="Rectangle 24"/>
          <p:cNvSpPr/>
          <p:nvPr/>
        </p:nvSpPr>
        <p:spPr>
          <a:xfrm>
            <a:off x="2706624" y="3469234"/>
            <a:ext cx="2083003" cy="1618488"/>
          </a:xfrm>
          <a:prstGeom prst="rect">
            <a:avLst/>
          </a:prstGeom>
          <a:solidFill>
            <a:srgbClr val="232B36"/>
          </a:solidFill>
          <a:ln w="31750">
            <a:solidFill>
              <a:srgbClr val="A9B3C0"/>
            </a:solidFill>
          </a:ln>
        </p:spPr>
        <p:txBody>
          <a:bodyPr rtlCol="0" anchor="ctr"/>
          <a:lstStyle/>
          <a:p>
            <a:pPr algn="ctr"/>
          </a:p>
        </p:txBody>
      </p:sp>
      <p:cxnSp>
        <p:nvCxnSpPr>
          <p:cNvPr id="26" name="Connector 25"/>
          <p:cNvCxnSpPr/>
          <p:nvPr/>
        </p:nvCxnSpPr>
        <p:spPr>
          <a:xfrm>
            <a:off x="3748126" y="3469234"/>
            <a:ext cx="0" cy="1618488"/>
          </a:xfrm>
          <a:prstGeom prst="line">
            <a:avLst/>
          </a:prstGeom>
          <a:ln w="31750">
            <a:solidFill>
              <a:srgbClr val="A9B3C0"/>
            </a:solidFill>
          </a:ln>
        </p:spPr>
      </p:cxnSp>
      <p:sp>
        <p:nvSpPr>
          <p:cNvPr id="27" name="Oval 26"/>
          <p:cNvSpPr/>
          <p:nvPr/>
        </p:nvSpPr>
        <p:spPr>
          <a:xfrm>
            <a:off x="3549628" y="4204960"/>
            <a:ext cx="147036" cy="147036"/>
          </a:xfrm>
          <a:prstGeom prst="ellipse">
            <a:avLst/>
          </a:prstGeom>
          <a:solidFill>
            <a:srgbClr val="FFB400"/>
          </a:solidFill>
          <a:ln>
            <a:noFill/>
          </a:ln>
        </p:spPr>
        <p:txBody>
          <a:bodyPr rtlCol="0" anchor="ctr"/>
          <a:lstStyle/>
          <a:p>
            <a:pPr algn="ctr"/>
          </a:p>
        </p:txBody>
      </p:sp>
      <p:sp>
        <p:nvSpPr>
          <p:cNvPr id="28" name="Oval 27"/>
          <p:cNvSpPr/>
          <p:nvPr/>
        </p:nvSpPr>
        <p:spPr>
          <a:xfrm>
            <a:off x="3799588" y="4204960"/>
            <a:ext cx="147036" cy="147036"/>
          </a:xfrm>
          <a:prstGeom prst="ellipse">
            <a:avLst/>
          </a:prstGeom>
          <a:solidFill>
            <a:srgbClr val="FFB400"/>
          </a:solidFill>
          <a:ln>
            <a:noFill/>
          </a:ln>
        </p:spPr>
        <p:txBody>
          <a:bodyPr rtlCol="0" anchor="ctr"/>
          <a:lstStyle/>
          <a:p>
            <a:pPr algn="ctr"/>
          </a:p>
        </p:txBody>
      </p:sp>
      <p:sp>
        <p:nvSpPr>
          <p:cNvPr id="29" name="Rectangle 28"/>
          <p:cNvSpPr/>
          <p:nvPr/>
        </p:nvSpPr>
        <p:spPr>
          <a:xfrm>
            <a:off x="3135478" y="3064612"/>
            <a:ext cx="1225296" cy="404622"/>
          </a:xfrm>
          <a:prstGeom prst="rect">
            <a:avLst/>
          </a:prstGeom>
          <a:solidFill>
            <a:srgbClr val="B98A4E"/>
          </a:solidFill>
          <a:ln w="25400">
            <a:solidFill>
              <a:srgbClr val="8A6330"/>
            </a:solidFill>
          </a:ln>
        </p:spPr>
        <p:txBody>
          <a:bodyPr rtlCol="0" anchor="ctr"/>
          <a:lstStyle/>
          <a:p>
            <a:pPr algn="ctr"/>
          </a:p>
        </p:txBody>
      </p:sp>
      <p:sp>
        <p:nvSpPr>
          <p:cNvPr id="30" name="Rectangle 29"/>
          <p:cNvSpPr/>
          <p:nvPr/>
        </p:nvSpPr>
        <p:spPr>
          <a:xfrm>
            <a:off x="3650102" y="3064612"/>
            <a:ext cx="196047" cy="404622"/>
          </a:xfrm>
          <a:prstGeom prst="rect">
            <a:avLst/>
          </a:prstGeom>
          <a:solidFill>
            <a:srgbClr val="E8D3A7"/>
          </a:solidFill>
          <a:ln>
            <a:noFill/>
          </a:ln>
        </p:spPr>
        <p:txBody>
          <a:bodyPr rtlCol="0" anchor="ctr"/>
          <a:lstStyle/>
          <a:p>
            <a:pPr algn="ctr"/>
          </a:p>
        </p:txBody>
      </p:sp>
      <p:cxnSp>
        <p:nvCxnSpPr>
          <p:cNvPr id="31" name="Connector 30"/>
          <p:cNvCxnSpPr/>
          <p:nvPr/>
        </p:nvCxnSpPr>
        <p:spPr>
          <a:xfrm>
            <a:off x="5647334" y="3469234"/>
            <a:ext cx="0" cy="1618488"/>
          </a:xfrm>
          <a:prstGeom prst="line">
            <a:avLst/>
          </a:prstGeom>
          <a:ln w="38100">
            <a:solidFill>
              <a:srgbClr val="FFB400"/>
            </a:solidFill>
            <a:prstDash val="dash"/>
            <a:headEnd type="triangle" w="med" len="med"/>
            <a:tailEnd type="triangle" w="med" len="med"/>
          </a:ln>
        </p:spPr>
      </p:cxnSp>
      <p:sp>
        <p:nvSpPr>
          <p:cNvPr id="32" name="TextBox 31"/>
          <p:cNvSpPr txBox="1"/>
          <p:nvPr/>
        </p:nvSpPr>
        <p:spPr>
          <a:xfrm>
            <a:off x="5647334" y="4170578"/>
            <a:ext cx="1960474" cy="548640"/>
          </a:xfrm>
          <a:prstGeom prst="rect">
            <a:avLst/>
          </a:prstGeom>
          <a:noFill/>
        </p:spPr>
        <p:txBody>
          <a:bodyPr wrap="square" anchor="t" lIns="0" rIns="0" tIns="0" bIns="0">
            <a:noAutofit/>
          </a:bodyPr>
          <a:lstStyle/>
          <a:p>
            <a:pPr algn="ctr">
              <a:lnSpc>
                <a:spcPct val="100000"/>
              </a:lnSpc>
              <a:spcBef>
                <a:spcPts val="0"/>
              </a:spcBef>
              <a:spcAft>
                <a:spcPts val="0"/>
              </a:spcAft>
            </a:pPr>
            <a:r>
              <a:rPr sz="1500" b="1" i="0" spc="80">
                <a:solidFill>
                  <a:srgbClr val="FFB400"/>
                </a:solidFill>
                <a:latin typeface="Arial Narrow"/>
              </a:rPr>
              <a:t>HEIGHT</a:t>
            </a:r>
          </a:p>
        </p:txBody>
      </p:sp>
      <p:sp>
        <p:nvSpPr>
          <p:cNvPr id="33" name="Rounded Rectangle 32"/>
          <p:cNvSpPr/>
          <p:nvPr/>
        </p:nvSpPr>
        <p:spPr>
          <a:xfrm>
            <a:off x="7452360" y="2514600"/>
            <a:ext cx="4050792" cy="1325880"/>
          </a:xfrm>
          <a:prstGeom prst="roundRect">
            <a:avLst>
              <a:gd name="adj" fmla="val 9655"/>
            </a:avLst>
          </a:prstGeom>
          <a:solidFill>
            <a:srgbClr val="FFB400"/>
          </a:solidFill>
          <a:ln w="25400">
            <a:solidFill>
              <a:srgbClr val="FFB400"/>
            </a:solidFill>
          </a:ln>
        </p:spPr>
        <p:txBody>
          <a:bodyPr rtlCol="0" anchor="ctr"/>
          <a:lstStyle/>
          <a:p>
            <a:pPr algn="ctr"/>
          </a:p>
        </p:txBody>
      </p:sp>
      <p:sp>
        <p:nvSpPr>
          <p:cNvPr id="34" name="Rounded Rectangle 33"/>
          <p:cNvSpPr/>
          <p:nvPr/>
        </p:nvSpPr>
        <p:spPr>
          <a:xfrm>
            <a:off x="7952720" y="3184307"/>
            <a:ext cx="645201" cy="465978"/>
          </a:xfrm>
          <a:prstGeom prst="roundRect">
            <a:avLst>
              <a:gd name="adj" fmla="val 23076"/>
            </a:avLst>
          </a:prstGeom>
          <a:solidFill>
            <a:srgbClr val="12161C"/>
          </a:solidFill>
          <a:ln w="31750">
            <a:solidFill>
              <a:srgbClr val="FFB400"/>
            </a:solidFill>
          </a:ln>
        </p:spPr>
        <p:txBody>
          <a:bodyPr rtlCol="0" anchor="ctr"/>
          <a:lstStyle/>
          <a:p>
            <a:pPr algn="ctr"/>
          </a:p>
        </p:txBody>
      </p:sp>
      <p:sp>
        <p:nvSpPr>
          <p:cNvPr id="35" name="Rounded Rectangle 34"/>
          <p:cNvSpPr/>
          <p:nvPr/>
        </p:nvSpPr>
        <p:spPr>
          <a:xfrm>
            <a:off x="7952720" y="2987162"/>
            <a:ext cx="161300" cy="286756"/>
          </a:xfrm>
          <a:prstGeom prst="roundRect">
            <a:avLst>
              <a:gd name="adj" fmla="val 38888"/>
            </a:avLst>
          </a:prstGeom>
          <a:solidFill>
            <a:srgbClr val="12161C"/>
          </a:solidFill>
          <a:ln w="31750">
            <a:solidFill>
              <a:srgbClr val="FFB400"/>
            </a:solidFill>
          </a:ln>
        </p:spPr>
        <p:txBody>
          <a:bodyPr rtlCol="0" anchor="ctr"/>
          <a:lstStyle/>
          <a:p>
            <a:pPr algn="ctr"/>
          </a:p>
        </p:txBody>
      </p:sp>
      <p:sp>
        <p:nvSpPr>
          <p:cNvPr id="36" name="Rounded Rectangle 35"/>
          <p:cNvSpPr/>
          <p:nvPr/>
        </p:nvSpPr>
        <p:spPr>
          <a:xfrm>
            <a:off x="8114020" y="2987162"/>
            <a:ext cx="161300" cy="286756"/>
          </a:xfrm>
          <a:prstGeom prst="roundRect">
            <a:avLst>
              <a:gd name="adj" fmla="val 38888"/>
            </a:avLst>
          </a:prstGeom>
          <a:solidFill>
            <a:srgbClr val="12161C"/>
          </a:solidFill>
          <a:ln w="31750">
            <a:solidFill>
              <a:srgbClr val="FFB400"/>
            </a:solidFill>
          </a:ln>
        </p:spPr>
        <p:txBody>
          <a:bodyPr rtlCol="0" anchor="ctr"/>
          <a:lstStyle/>
          <a:p>
            <a:pPr algn="ctr"/>
          </a:p>
        </p:txBody>
      </p:sp>
      <p:sp>
        <p:nvSpPr>
          <p:cNvPr id="37" name="Rounded Rectangle 36"/>
          <p:cNvSpPr/>
          <p:nvPr/>
        </p:nvSpPr>
        <p:spPr>
          <a:xfrm>
            <a:off x="8275320" y="2987162"/>
            <a:ext cx="161300" cy="286756"/>
          </a:xfrm>
          <a:prstGeom prst="roundRect">
            <a:avLst>
              <a:gd name="adj" fmla="val 38888"/>
            </a:avLst>
          </a:prstGeom>
          <a:solidFill>
            <a:srgbClr val="12161C"/>
          </a:solidFill>
          <a:ln w="31750">
            <a:solidFill>
              <a:srgbClr val="FFB400"/>
            </a:solidFill>
          </a:ln>
        </p:spPr>
        <p:txBody>
          <a:bodyPr rtlCol="0" anchor="ctr"/>
          <a:lstStyle/>
          <a:p>
            <a:pPr algn="ctr"/>
          </a:p>
        </p:txBody>
      </p:sp>
      <p:sp>
        <p:nvSpPr>
          <p:cNvPr id="38" name="Rounded Rectangle 37"/>
          <p:cNvSpPr/>
          <p:nvPr/>
        </p:nvSpPr>
        <p:spPr>
          <a:xfrm>
            <a:off x="8436620" y="2987162"/>
            <a:ext cx="161300" cy="286756"/>
          </a:xfrm>
          <a:prstGeom prst="roundRect">
            <a:avLst>
              <a:gd name="adj" fmla="val 38888"/>
            </a:avLst>
          </a:prstGeom>
          <a:solidFill>
            <a:srgbClr val="12161C"/>
          </a:solidFill>
          <a:ln w="31750">
            <a:solidFill>
              <a:srgbClr val="FFB400"/>
            </a:solidFill>
          </a:ln>
        </p:spPr>
        <p:txBody>
          <a:bodyPr rtlCol="0" anchor="ctr"/>
          <a:lstStyle/>
          <a:p>
            <a:pPr algn="ctr"/>
          </a:p>
        </p:txBody>
      </p:sp>
      <p:sp>
        <p:nvSpPr>
          <p:cNvPr id="39" name="Rounded Rectangle 38"/>
          <p:cNvSpPr/>
          <p:nvPr/>
        </p:nvSpPr>
        <p:spPr>
          <a:xfrm>
            <a:off x="7898953" y="3345607"/>
            <a:ext cx="465978" cy="152339"/>
          </a:xfrm>
          <a:prstGeom prst="roundRect">
            <a:avLst>
              <a:gd name="adj" fmla="val 47058"/>
            </a:avLst>
          </a:prstGeom>
          <a:solidFill>
            <a:srgbClr val="12161C"/>
          </a:solidFill>
          <a:ln w="31750">
            <a:solidFill>
              <a:srgbClr val="FFB400"/>
            </a:solidFill>
          </a:ln>
        </p:spPr>
        <p:txBody>
          <a:bodyPr rtlCol="0" anchor="ctr"/>
          <a:lstStyle/>
          <a:p>
            <a:pPr algn="ctr"/>
          </a:p>
        </p:txBody>
      </p:sp>
      <p:sp>
        <p:nvSpPr>
          <p:cNvPr id="40" name="TextBox 39"/>
          <p:cNvSpPr txBox="1"/>
          <p:nvPr/>
        </p:nvSpPr>
        <p:spPr>
          <a:xfrm>
            <a:off x="9006840" y="2734056"/>
            <a:ext cx="2468880" cy="502920"/>
          </a:xfrm>
          <a:prstGeom prst="rect">
            <a:avLst/>
          </a:prstGeom>
          <a:noFill/>
        </p:spPr>
        <p:txBody>
          <a:bodyPr wrap="square" anchor="t" lIns="0" rIns="0" tIns="0" bIns="0">
            <a:noAutofit/>
          </a:bodyPr>
          <a:lstStyle/>
          <a:p>
            <a:pPr algn="l">
              <a:lnSpc>
                <a:spcPct val="100000"/>
              </a:lnSpc>
              <a:spcBef>
                <a:spcPts val="0"/>
              </a:spcBef>
              <a:spcAft>
                <a:spcPts val="0"/>
              </a:spcAft>
            </a:pPr>
            <a:r>
              <a:rPr sz="2200" b="0" i="0">
                <a:solidFill>
                  <a:srgbClr val="12161C"/>
                </a:solidFill>
                <a:latin typeface="Arial Black"/>
              </a:rPr>
              <a:t>FIST</a:t>
            </a:r>
          </a:p>
        </p:txBody>
      </p:sp>
      <p:sp>
        <p:nvSpPr>
          <p:cNvPr id="41" name="TextBox 40"/>
          <p:cNvSpPr txBox="1"/>
          <p:nvPr/>
        </p:nvSpPr>
        <p:spPr>
          <a:xfrm>
            <a:off x="9006840" y="3209544"/>
            <a:ext cx="2468880" cy="502920"/>
          </a:xfrm>
          <a:prstGeom prst="rect">
            <a:avLst/>
          </a:prstGeom>
          <a:noFill/>
        </p:spPr>
        <p:txBody>
          <a:bodyPr wrap="square" anchor="t" lIns="0" rIns="0" tIns="0" bIns="0">
            <a:noAutofit/>
          </a:bodyPr>
          <a:lstStyle/>
          <a:p>
            <a:pPr algn="l">
              <a:lnSpc>
                <a:spcPct val="100000"/>
              </a:lnSpc>
              <a:spcBef>
                <a:spcPts val="0"/>
              </a:spcBef>
              <a:spcAft>
                <a:spcPts val="0"/>
              </a:spcAft>
            </a:pPr>
            <a:r>
              <a:rPr sz="2200" b="1" i="0">
                <a:solidFill>
                  <a:srgbClr val="12161C"/>
                </a:solidFill>
                <a:latin typeface="Arial"/>
              </a:rPr>
              <a:t>= POTENTIAL</a:t>
            </a:r>
          </a:p>
        </p:txBody>
      </p:sp>
      <p:sp>
        <p:nvSpPr>
          <p:cNvPr id="42" name="Rounded Rectangle 41"/>
          <p:cNvSpPr/>
          <p:nvPr/>
        </p:nvSpPr>
        <p:spPr>
          <a:xfrm>
            <a:off x="7452360" y="4069080"/>
            <a:ext cx="4050792" cy="1325880"/>
          </a:xfrm>
          <a:prstGeom prst="roundRect">
            <a:avLst>
              <a:gd name="adj" fmla="val 9655"/>
            </a:avLst>
          </a:prstGeom>
          <a:solidFill>
            <a:srgbClr val="1A2029"/>
          </a:solidFill>
          <a:ln w="25400">
            <a:solidFill>
              <a:srgbClr val="323C4A"/>
            </a:solidFill>
          </a:ln>
        </p:spPr>
        <p:txBody>
          <a:bodyPr rtlCol="0" anchor="ctr"/>
          <a:lstStyle/>
          <a:p>
            <a:pPr algn="ctr"/>
          </a:p>
        </p:txBody>
      </p:sp>
      <p:sp>
        <p:nvSpPr>
          <p:cNvPr id="43" name="Rounded Rectangle 42"/>
          <p:cNvSpPr/>
          <p:nvPr/>
        </p:nvSpPr>
        <p:spPr>
          <a:xfrm>
            <a:off x="8006486" y="4828398"/>
            <a:ext cx="537667" cy="412212"/>
          </a:xfrm>
          <a:prstGeom prst="roundRect">
            <a:avLst>
              <a:gd name="adj" fmla="val 30434"/>
            </a:avLst>
          </a:prstGeom>
          <a:solidFill>
            <a:srgbClr val="6F7A89"/>
          </a:solidFill>
          <a:ln w="31750">
            <a:solidFill>
              <a:srgbClr val="0E1116"/>
            </a:solidFill>
          </a:ln>
        </p:spPr>
        <p:txBody>
          <a:bodyPr rtlCol="0" anchor="ctr"/>
          <a:lstStyle/>
          <a:p>
            <a:pPr algn="ctr"/>
          </a:p>
        </p:txBody>
      </p:sp>
      <p:sp>
        <p:nvSpPr>
          <p:cNvPr id="44" name="Rounded Rectangle 43"/>
          <p:cNvSpPr/>
          <p:nvPr/>
        </p:nvSpPr>
        <p:spPr>
          <a:xfrm>
            <a:off x="8015448" y="4452031"/>
            <a:ext cx="116495" cy="430134"/>
          </a:xfrm>
          <a:prstGeom prst="roundRect">
            <a:avLst>
              <a:gd name="adj" fmla="val 46153"/>
            </a:avLst>
          </a:prstGeom>
          <a:solidFill>
            <a:srgbClr val="6F7A89"/>
          </a:solidFill>
          <a:ln w="31750">
            <a:solidFill>
              <a:srgbClr val="0E1116"/>
            </a:solidFill>
          </a:ln>
        </p:spPr>
        <p:txBody>
          <a:bodyPr rtlCol="0" anchor="ctr"/>
          <a:lstStyle/>
          <a:p>
            <a:pPr algn="ctr"/>
          </a:p>
        </p:txBody>
      </p:sp>
      <p:sp>
        <p:nvSpPr>
          <p:cNvPr id="45" name="Rounded Rectangle 44"/>
          <p:cNvSpPr/>
          <p:nvPr/>
        </p:nvSpPr>
        <p:spPr>
          <a:xfrm>
            <a:off x="8149864" y="4362420"/>
            <a:ext cx="116495" cy="519745"/>
          </a:xfrm>
          <a:prstGeom prst="roundRect">
            <a:avLst>
              <a:gd name="adj" fmla="val 46153"/>
            </a:avLst>
          </a:prstGeom>
          <a:solidFill>
            <a:srgbClr val="6F7A89"/>
          </a:solidFill>
          <a:ln w="31750">
            <a:solidFill>
              <a:srgbClr val="0E1116"/>
            </a:solidFill>
          </a:ln>
        </p:spPr>
        <p:txBody>
          <a:bodyPr rtlCol="0" anchor="ctr"/>
          <a:lstStyle/>
          <a:p>
            <a:pPr algn="ctr"/>
          </a:p>
        </p:txBody>
      </p:sp>
      <p:sp>
        <p:nvSpPr>
          <p:cNvPr id="46" name="Rounded Rectangle 45"/>
          <p:cNvSpPr/>
          <p:nvPr/>
        </p:nvSpPr>
        <p:spPr>
          <a:xfrm>
            <a:off x="8284281" y="4398264"/>
            <a:ext cx="116495" cy="483900"/>
          </a:xfrm>
          <a:prstGeom prst="roundRect">
            <a:avLst>
              <a:gd name="adj" fmla="val 46153"/>
            </a:avLst>
          </a:prstGeom>
          <a:solidFill>
            <a:srgbClr val="6F7A89"/>
          </a:solidFill>
          <a:ln w="31750">
            <a:solidFill>
              <a:srgbClr val="0E1116"/>
            </a:solidFill>
          </a:ln>
        </p:spPr>
        <p:txBody>
          <a:bodyPr rtlCol="0" anchor="ctr"/>
          <a:lstStyle/>
          <a:p>
            <a:pPr algn="ctr"/>
          </a:p>
        </p:txBody>
      </p:sp>
      <p:sp>
        <p:nvSpPr>
          <p:cNvPr id="47" name="Rounded Rectangle 46"/>
          <p:cNvSpPr/>
          <p:nvPr/>
        </p:nvSpPr>
        <p:spPr>
          <a:xfrm>
            <a:off x="8418698" y="4487875"/>
            <a:ext cx="116495" cy="394289"/>
          </a:xfrm>
          <a:prstGeom prst="roundRect">
            <a:avLst>
              <a:gd name="adj" fmla="val 46153"/>
            </a:avLst>
          </a:prstGeom>
          <a:solidFill>
            <a:srgbClr val="6F7A89"/>
          </a:solidFill>
          <a:ln w="31750">
            <a:solidFill>
              <a:srgbClr val="0E1116"/>
            </a:solidFill>
          </a:ln>
        </p:spPr>
        <p:txBody>
          <a:bodyPr rtlCol="0" anchor="ctr"/>
          <a:lstStyle/>
          <a:p>
            <a:pPr algn="ctr"/>
          </a:p>
        </p:txBody>
      </p:sp>
      <p:sp>
        <p:nvSpPr>
          <p:cNvPr id="48" name="Rounded Rectangle 47"/>
          <p:cNvSpPr/>
          <p:nvPr/>
        </p:nvSpPr>
        <p:spPr>
          <a:xfrm rot="19680000">
            <a:off x="7854147" y="4864242"/>
            <a:ext cx="286756" cy="125456"/>
          </a:xfrm>
          <a:prstGeom prst="roundRect">
            <a:avLst>
              <a:gd name="adj" fmla="val 50000"/>
            </a:avLst>
          </a:prstGeom>
          <a:solidFill>
            <a:srgbClr val="6F7A89"/>
          </a:solidFill>
          <a:ln w="31750">
            <a:solidFill>
              <a:srgbClr val="0E1116"/>
            </a:solidFill>
          </a:ln>
        </p:spPr>
        <p:txBody>
          <a:bodyPr rtlCol="0" anchor="ctr"/>
          <a:lstStyle/>
          <a:p>
            <a:pPr algn="ctr"/>
          </a:p>
        </p:txBody>
      </p:sp>
      <p:sp>
        <p:nvSpPr>
          <p:cNvPr id="49" name="TextBox 48"/>
          <p:cNvSpPr txBox="1"/>
          <p:nvPr/>
        </p:nvSpPr>
        <p:spPr>
          <a:xfrm>
            <a:off x="9006840" y="4288536"/>
            <a:ext cx="2468880" cy="502920"/>
          </a:xfrm>
          <a:prstGeom prst="rect">
            <a:avLst/>
          </a:prstGeom>
          <a:noFill/>
        </p:spPr>
        <p:txBody>
          <a:bodyPr wrap="square" anchor="t" lIns="0" rIns="0" tIns="0" bIns="0">
            <a:noAutofit/>
          </a:bodyPr>
          <a:lstStyle/>
          <a:p>
            <a:pPr algn="l">
              <a:lnSpc>
                <a:spcPct val="100000"/>
              </a:lnSpc>
              <a:spcBef>
                <a:spcPts val="0"/>
              </a:spcBef>
              <a:spcAft>
                <a:spcPts val="0"/>
              </a:spcAft>
            </a:pPr>
            <a:r>
              <a:rPr sz="2200" b="0" i="0">
                <a:solidFill>
                  <a:srgbClr val="6F7A89"/>
                </a:solidFill>
                <a:latin typeface="Arial Black"/>
              </a:rPr>
              <a:t>OPEN HAND</a:t>
            </a:r>
          </a:p>
        </p:txBody>
      </p:sp>
      <p:sp>
        <p:nvSpPr>
          <p:cNvPr id="50" name="TextBox 49"/>
          <p:cNvSpPr txBox="1"/>
          <p:nvPr/>
        </p:nvSpPr>
        <p:spPr>
          <a:xfrm>
            <a:off x="9006840" y="4764024"/>
            <a:ext cx="2468880" cy="502920"/>
          </a:xfrm>
          <a:prstGeom prst="rect">
            <a:avLst/>
          </a:prstGeom>
          <a:noFill/>
        </p:spPr>
        <p:txBody>
          <a:bodyPr wrap="square" anchor="t" lIns="0" rIns="0" tIns="0" bIns="0">
            <a:noAutofit/>
          </a:bodyPr>
          <a:lstStyle/>
          <a:p>
            <a:pPr algn="l">
              <a:lnSpc>
                <a:spcPct val="100000"/>
              </a:lnSpc>
              <a:spcBef>
                <a:spcPts val="0"/>
              </a:spcBef>
              <a:spcAft>
                <a:spcPts val="0"/>
              </a:spcAft>
            </a:pPr>
            <a:r>
              <a:rPr sz="2200" b="1" i="0">
                <a:solidFill>
                  <a:srgbClr val="6F7A89"/>
                </a:solidFill>
                <a:latin typeface="Arial"/>
              </a:rPr>
              <a:t>= KINETIC</a:t>
            </a:r>
          </a:p>
        </p:txBody>
      </p:sp>
      <p:sp>
        <p:nvSpPr>
          <p:cNvPr id="51" name="Rounded Rectangle 50"/>
          <p:cNvSpPr/>
          <p:nvPr/>
        </p:nvSpPr>
        <p:spPr>
          <a:xfrm>
            <a:off x="685800" y="5577840"/>
            <a:ext cx="10817352" cy="658368"/>
          </a:xfrm>
          <a:prstGeom prst="roundRect">
            <a:avLst>
              <a:gd name="adj" fmla="val 16666"/>
            </a:avLst>
          </a:prstGeom>
          <a:solidFill>
            <a:srgbClr val="232B36"/>
          </a:solidFill>
          <a:ln>
            <a:noFill/>
          </a:ln>
        </p:spPr>
        <p:txBody>
          <a:bodyPr rtlCol="0" anchor="ctr"/>
          <a:lstStyle/>
          <a:p>
            <a:pPr algn="ctr"/>
          </a:p>
        </p:txBody>
      </p:sp>
      <p:sp>
        <p:nvSpPr>
          <p:cNvPr id="52" name="TextBox 51"/>
          <p:cNvSpPr txBox="1"/>
          <p:nvPr/>
        </p:nvSpPr>
        <p:spPr>
          <a:xfrm>
            <a:off x="914400" y="5577840"/>
            <a:ext cx="10424160" cy="658368"/>
          </a:xfrm>
          <a:prstGeom prst="rect">
            <a:avLst/>
          </a:prstGeom>
          <a:noFill/>
        </p:spPr>
        <p:txBody>
          <a:bodyPr wrap="square" anchor="ctr" lIns="0" rIns="0" tIns="0" bIns="0">
            <a:noAutofit/>
          </a:bodyPr>
          <a:lstStyle/>
          <a:p>
            <a:pPr algn="l">
              <a:lnSpc>
                <a:spcPct val="100000"/>
              </a:lnSpc>
              <a:spcBef>
                <a:spcPts val="0"/>
              </a:spcBef>
              <a:spcAft>
                <a:spcPts val="0"/>
              </a:spcAft>
            </a:pPr>
            <a:r>
              <a:rPr sz="2000" b="1" i="0">
                <a:solidFill>
                  <a:srgbClr val="FFB400"/>
                </a:solidFill>
                <a:latin typeface="Arial"/>
              </a:rPr>
              <a:t>POTENTIAL</a:t>
            </a:r>
            <a:r>
              <a:rPr sz="2000" b="0" i="0">
                <a:solidFill>
                  <a:srgbClr val="F4F6F8"/>
                </a:solidFill>
                <a:latin typeface="Arial"/>
              </a:rPr>
              <a:t>   Still, and high up → potential energy.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A9B3C0"/>
                </a:solidFill>
                <a:latin typeface="Arial Narrow"/>
              </a:rPr>
              <a:t>ACT 1 · ENERGY</a:t>
            </a:r>
          </a:p>
        </p:txBody>
      </p:sp>
      <p:sp>
        <p:nvSpPr>
          <p:cNvPr id="4" name="Rounded Rectangle 3"/>
          <p:cNvSpPr/>
          <p:nvPr/>
        </p:nvSpPr>
        <p:spPr>
          <a:xfrm>
            <a:off x="10058400" y="274320"/>
            <a:ext cx="1444752" cy="329184"/>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1500" b="1" i="0" spc="60">
                <a:solidFill>
                  <a:srgbClr val="12161C"/>
                </a:solidFill>
                <a:latin typeface="Arial"/>
              </a:rPr>
              <a:t>+100 EP</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6F7A89"/>
                </a:solidFill>
                <a:latin typeface="Arial Narrow"/>
              </a:rPr>
              <a:t>ENERGY LAB  ·  CRASH TEST #05</a:t>
            </a:r>
          </a:p>
        </p:txBody>
      </p:sp>
      <p:sp>
        <p:nvSpPr>
          <p:cNvPr id="6" name="Rectangle 5"/>
          <p:cNvSpPr/>
          <p:nvPr/>
        </p:nvSpPr>
        <p:spPr>
          <a:xfrm>
            <a:off x="4526280" y="6510528"/>
            <a:ext cx="127363" cy="54864"/>
          </a:xfrm>
          <a:prstGeom prst="rect">
            <a:avLst/>
          </a:prstGeom>
          <a:solidFill>
            <a:srgbClr val="8A6A1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8A6A1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FFB400"/>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2A3240"/>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2A3240"/>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2A3240"/>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2A3240"/>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2A3240"/>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2A3240"/>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2A3240"/>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2A3240"/>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2A3240"/>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2A3240"/>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2A3240"/>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6F7A89"/>
                </a:solidFill>
                <a:latin typeface="Arial Narrow"/>
              </a:rPr>
              <a:t>19</a:t>
            </a:fld>
          </a:p>
        </p:txBody>
      </p:sp>
      <p:sp>
        <p:nvSpPr>
          <p:cNvPr id="21" name="TextBox 20"/>
          <p:cNvSpPr txBox="1"/>
          <p:nvPr/>
        </p:nvSpPr>
        <p:spPr>
          <a:xfrm>
            <a:off x="685800" y="896112"/>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A9B3C0"/>
                </a:solidFill>
                <a:latin typeface="Arial Narrow"/>
              </a:rPr>
              <a:t>SITUATION 5 / 5</a:t>
            </a:r>
          </a:p>
        </p:txBody>
      </p:sp>
      <p:sp>
        <p:nvSpPr>
          <p:cNvPr id="22" name="TextBox 21"/>
          <p:cNvSpPr txBox="1"/>
          <p:nvPr/>
        </p:nvSpPr>
        <p:spPr>
          <a:xfrm>
            <a:off x="685800" y="1188720"/>
            <a:ext cx="10789920" cy="1234440"/>
          </a:xfrm>
          <a:prstGeom prst="rect">
            <a:avLst/>
          </a:prstGeom>
          <a:noFill/>
        </p:spPr>
        <p:txBody>
          <a:bodyPr wrap="square" anchor="t" lIns="0" rIns="0" tIns="0" bIns="0">
            <a:noAutofit/>
          </a:bodyPr>
          <a:lstStyle/>
          <a:p>
            <a:pPr algn="l">
              <a:lnSpc>
                <a:spcPct val="100000"/>
              </a:lnSpc>
              <a:spcBef>
                <a:spcPts val="0"/>
              </a:spcBef>
              <a:spcAft>
                <a:spcPts val="0"/>
              </a:spcAft>
            </a:pPr>
            <a:r>
              <a:rPr sz="3600" b="1" i="0">
                <a:solidFill>
                  <a:srgbClr val="F4F6F8"/>
                </a:solidFill>
                <a:latin typeface="Arial"/>
              </a:rPr>
              <a:t>A ball at the top of a ramp is released and rolls down.</a:t>
            </a:r>
          </a:p>
        </p:txBody>
      </p:sp>
      <p:sp>
        <p:nvSpPr>
          <p:cNvPr id="23" name="Rounded Rectangle 22"/>
          <p:cNvSpPr/>
          <p:nvPr/>
        </p:nvSpPr>
        <p:spPr>
          <a:xfrm>
            <a:off x="685800" y="2514600"/>
            <a:ext cx="6492240" cy="2880360"/>
          </a:xfrm>
          <a:prstGeom prst="roundRect">
            <a:avLst>
              <a:gd name="adj" fmla="val 4444"/>
            </a:avLst>
          </a:prstGeom>
          <a:solidFill>
            <a:srgbClr val="1A2029"/>
          </a:solidFill>
          <a:ln w="19050">
            <a:solidFill>
              <a:srgbClr val="323C4A"/>
            </a:solidFill>
          </a:ln>
        </p:spPr>
        <p:txBody>
          <a:bodyPr rtlCol="0" anchor="ctr"/>
          <a:lstStyle/>
          <a:p>
            <a:pPr algn="ctr"/>
          </a:p>
        </p:txBody>
      </p:sp>
      <p:sp>
        <p:nvSpPr>
          <p:cNvPr id="24" name="Freeform 23"/>
          <p:cNvSpPr/>
          <p:nvPr/>
        </p:nvSpPr>
        <p:spPr>
          <a:xfrm>
            <a:off x="1603858" y="3253435"/>
            <a:ext cx="4778654" cy="1834287"/>
          </a:xfrm>
          <a:custGeom>
            <a:avLst/>
            <a:gdLst/>
            <a:ahLst/>
            <a:cxnLst/>
            <a:rect l="l" t="t" r="r" b="b"/>
            <a:pathLst>
              <a:path w="4778654" h="1834287">
                <a:moveTo>
                  <a:pt x="0" y="0"/>
                </a:moveTo>
                <a:lnTo>
                  <a:pt x="0" y="1834287"/>
                </a:lnTo>
                <a:lnTo>
                  <a:pt x="4778654" y="1834287"/>
                </a:lnTo>
                <a:close/>
              </a:path>
            </a:pathLst>
          </a:custGeom>
          <a:solidFill>
            <a:srgbClr val="232B36"/>
          </a:solidFill>
          <a:ln w="31750">
            <a:solidFill>
              <a:srgbClr val="A9B3C0"/>
            </a:solidFill>
          </a:ln>
        </p:spPr>
        <p:txBody>
          <a:bodyPr rtlCol="0" anchor="ctr"/>
          <a:lstStyle/>
          <a:p>
            <a:pPr algn="ctr"/>
          </a:p>
        </p:txBody>
      </p:sp>
      <p:sp>
        <p:nvSpPr>
          <p:cNvPr id="25" name="Oval 24"/>
          <p:cNvSpPr/>
          <p:nvPr/>
        </p:nvSpPr>
        <p:spPr>
          <a:xfrm>
            <a:off x="1934603" y="2993520"/>
            <a:ext cx="458572" cy="458572"/>
          </a:xfrm>
          <a:prstGeom prst="ellipse">
            <a:avLst/>
          </a:prstGeom>
          <a:solidFill>
            <a:srgbClr val="F4F1E8"/>
          </a:solidFill>
          <a:ln w="19050">
            <a:solidFill>
              <a:srgbClr val="6F7A89"/>
            </a:solidFill>
          </a:ln>
        </p:spPr>
        <p:txBody>
          <a:bodyPr rtlCol="0" anchor="ctr"/>
          <a:lstStyle/>
          <a:p>
            <a:pPr algn="ctr"/>
          </a:p>
        </p:txBody>
      </p:sp>
      <p:sp>
        <p:nvSpPr>
          <p:cNvPr id="26" name="Freeform 25"/>
          <p:cNvSpPr/>
          <p:nvPr/>
        </p:nvSpPr>
        <p:spPr>
          <a:xfrm>
            <a:off x="2000072" y="3088663"/>
            <a:ext cx="42260" cy="264922"/>
          </a:xfrm>
          <a:custGeom>
            <a:avLst/>
            <a:gdLst/>
            <a:ahLst/>
            <a:cxnLst/>
            <a:rect l="l" t="t" r="r" b="b"/>
            <a:pathLst>
              <a:path w="42260" h="264922">
                <a:moveTo>
                  <a:pt x="0" y="0"/>
                </a:moveTo>
                <a:lnTo>
                  <a:pt x="6758" y="10210"/>
                </a:lnTo>
                <a:lnTo>
                  <a:pt x="12973" y="20760"/>
                </a:lnTo>
                <a:lnTo>
                  <a:pt x="18626" y="31621"/>
                </a:lnTo>
                <a:lnTo>
                  <a:pt x="23704" y="42762"/>
                </a:lnTo>
                <a:lnTo>
                  <a:pt x="28191" y="54154"/>
                </a:lnTo>
                <a:lnTo>
                  <a:pt x="32077" y="65766"/>
                </a:lnTo>
                <a:lnTo>
                  <a:pt x="35349" y="77564"/>
                </a:lnTo>
                <a:lnTo>
                  <a:pt x="37999" y="89518"/>
                </a:lnTo>
                <a:lnTo>
                  <a:pt x="40020" y="101594"/>
                </a:lnTo>
                <a:lnTo>
                  <a:pt x="41406" y="113760"/>
                </a:lnTo>
                <a:lnTo>
                  <a:pt x="42153" y="125981"/>
                </a:lnTo>
                <a:lnTo>
                  <a:pt x="42260" y="138225"/>
                </a:lnTo>
                <a:lnTo>
                  <a:pt x="41726" y="150457"/>
                </a:lnTo>
                <a:lnTo>
                  <a:pt x="40552" y="162645"/>
                </a:lnTo>
                <a:lnTo>
                  <a:pt x="38743" y="174754"/>
                </a:lnTo>
                <a:lnTo>
                  <a:pt x="36302" y="186753"/>
                </a:lnTo>
                <a:lnTo>
                  <a:pt x="33236" y="198607"/>
                </a:lnTo>
                <a:lnTo>
                  <a:pt x="29554" y="210284"/>
                </a:lnTo>
                <a:lnTo>
                  <a:pt x="25266" y="221753"/>
                </a:lnTo>
                <a:lnTo>
                  <a:pt x="20384" y="232981"/>
                </a:lnTo>
                <a:lnTo>
                  <a:pt x="14920" y="243939"/>
                </a:lnTo>
                <a:lnTo>
                  <a:pt x="8891" y="254596"/>
                </a:lnTo>
                <a:lnTo>
                  <a:pt x="2312" y="264922"/>
                </a:lnTo>
              </a:path>
            </a:pathLst>
          </a:custGeom>
          <a:noFill/>
          <a:ln w="19050" cap="rnd">
            <a:solidFill>
              <a:srgbClr val="F0525A"/>
            </a:solidFill>
            <a:round/>
          </a:ln>
        </p:spPr>
        <p:txBody>
          <a:bodyPr rtlCol="0" anchor="ctr"/>
          <a:lstStyle/>
          <a:p>
            <a:pPr algn="ctr"/>
          </a:p>
        </p:txBody>
      </p:sp>
      <p:sp>
        <p:nvSpPr>
          <p:cNvPr id="27" name="Freeform 26"/>
          <p:cNvSpPr/>
          <p:nvPr/>
        </p:nvSpPr>
        <p:spPr>
          <a:xfrm>
            <a:off x="2285446" y="3088663"/>
            <a:ext cx="42260" cy="264922"/>
          </a:xfrm>
          <a:custGeom>
            <a:avLst/>
            <a:gdLst/>
            <a:ahLst/>
            <a:cxnLst/>
            <a:rect l="l" t="t" r="r" b="b"/>
            <a:pathLst>
              <a:path w="42260" h="264922">
                <a:moveTo>
                  <a:pt x="42260" y="0"/>
                </a:moveTo>
                <a:lnTo>
                  <a:pt x="35502" y="10210"/>
                </a:lnTo>
                <a:lnTo>
                  <a:pt x="29287" y="20760"/>
                </a:lnTo>
                <a:lnTo>
                  <a:pt x="23634" y="31621"/>
                </a:lnTo>
                <a:lnTo>
                  <a:pt x="18556" y="42762"/>
                </a:lnTo>
                <a:lnTo>
                  <a:pt x="14069" y="54154"/>
                </a:lnTo>
                <a:lnTo>
                  <a:pt x="10184" y="65766"/>
                </a:lnTo>
                <a:lnTo>
                  <a:pt x="6912" y="77564"/>
                </a:lnTo>
                <a:lnTo>
                  <a:pt x="4261" y="89518"/>
                </a:lnTo>
                <a:lnTo>
                  <a:pt x="2241" y="101594"/>
                </a:lnTo>
                <a:lnTo>
                  <a:pt x="855" y="113760"/>
                </a:lnTo>
                <a:lnTo>
                  <a:pt x="107" y="125981"/>
                </a:lnTo>
                <a:lnTo>
                  <a:pt x="0" y="138225"/>
                </a:lnTo>
                <a:lnTo>
                  <a:pt x="534" y="150457"/>
                </a:lnTo>
                <a:lnTo>
                  <a:pt x="1708" y="162645"/>
                </a:lnTo>
                <a:lnTo>
                  <a:pt x="3518" y="174754"/>
                </a:lnTo>
                <a:lnTo>
                  <a:pt x="5959" y="186753"/>
                </a:lnTo>
                <a:lnTo>
                  <a:pt x="9024" y="198607"/>
                </a:lnTo>
                <a:lnTo>
                  <a:pt x="12706" y="210284"/>
                </a:lnTo>
                <a:lnTo>
                  <a:pt x="16994" y="221753"/>
                </a:lnTo>
                <a:lnTo>
                  <a:pt x="21877" y="232981"/>
                </a:lnTo>
                <a:lnTo>
                  <a:pt x="27340" y="243939"/>
                </a:lnTo>
                <a:lnTo>
                  <a:pt x="33369" y="254596"/>
                </a:lnTo>
                <a:lnTo>
                  <a:pt x="39948" y="264922"/>
                </a:lnTo>
              </a:path>
            </a:pathLst>
          </a:custGeom>
          <a:noFill/>
          <a:ln w="19050" cap="rnd">
            <a:solidFill>
              <a:srgbClr val="F0525A"/>
            </a:solidFill>
            <a:round/>
          </a:ln>
        </p:spPr>
        <p:txBody>
          <a:bodyPr rtlCol="0" anchor="ctr"/>
          <a:lstStyle/>
          <a:p>
            <a:pPr algn="ctr"/>
          </a:p>
        </p:txBody>
      </p:sp>
      <p:sp>
        <p:nvSpPr>
          <p:cNvPr id="28" name="Oval 27"/>
          <p:cNvSpPr/>
          <p:nvPr/>
        </p:nvSpPr>
        <p:spPr>
          <a:xfrm>
            <a:off x="4610650" y="4020721"/>
            <a:ext cx="458572" cy="458572"/>
          </a:xfrm>
          <a:prstGeom prst="ellipse">
            <a:avLst/>
          </a:prstGeom>
          <a:solidFill>
            <a:srgbClr val="F4F1E8"/>
          </a:solidFill>
          <a:ln w="19050">
            <a:solidFill>
              <a:srgbClr val="6F7A89"/>
            </a:solidFill>
          </a:ln>
        </p:spPr>
        <p:txBody>
          <a:bodyPr rtlCol="0" anchor="ctr"/>
          <a:lstStyle/>
          <a:p>
            <a:pPr algn="ctr"/>
          </a:p>
        </p:txBody>
      </p:sp>
      <p:sp>
        <p:nvSpPr>
          <p:cNvPr id="29" name="Freeform 28"/>
          <p:cNvSpPr/>
          <p:nvPr/>
        </p:nvSpPr>
        <p:spPr>
          <a:xfrm>
            <a:off x="4676119" y="4115863"/>
            <a:ext cx="42259" cy="264923"/>
          </a:xfrm>
          <a:custGeom>
            <a:avLst/>
            <a:gdLst/>
            <a:ahLst/>
            <a:cxnLst/>
            <a:rect l="l" t="t" r="r" b="b"/>
            <a:pathLst>
              <a:path w="42259" h="264923">
                <a:moveTo>
                  <a:pt x="0" y="0"/>
                </a:moveTo>
                <a:lnTo>
                  <a:pt x="6758" y="10210"/>
                </a:lnTo>
                <a:lnTo>
                  <a:pt x="12972" y="20760"/>
                </a:lnTo>
                <a:lnTo>
                  <a:pt x="18626" y="31621"/>
                </a:lnTo>
                <a:lnTo>
                  <a:pt x="23703" y="42763"/>
                </a:lnTo>
                <a:lnTo>
                  <a:pt x="28191" y="54155"/>
                </a:lnTo>
                <a:lnTo>
                  <a:pt x="32076" y="65766"/>
                </a:lnTo>
                <a:lnTo>
                  <a:pt x="35348" y="77565"/>
                </a:lnTo>
                <a:lnTo>
                  <a:pt x="37998" y="89519"/>
                </a:lnTo>
                <a:lnTo>
                  <a:pt x="40019" y="101595"/>
                </a:lnTo>
                <a:lnTo>
                  <a:pt x="41405" y="113760"/>
                </a:lnTo>
                <a:lnTo>
                  <a:pt x="42153" y="125981"/>
                </a:lnTo>
                <a:lnTo>
                  <a:pt x="42259" y="138225"/>
                </a:lnTo>
                <a:lnTo>
                  <a:pt x="41725" y="150458"/>
                </a:lnTo>
                <a:lnTo>
                  <a:pt x="40552" y="162645"/>
                </a:lnTo>
                <a:lnTo>
                  <a:pt x="38742" y="174755"/>
                </a:lnTo>
                <a:lnTo>
                  <a:pt x="36301" y="186753"/>
                </a:lnTo>
                <a:lnTo>
                  <a:pt x="33235" y="198607"/>
                </a:lnTo>
                <a:lnTo>
                  <a:pt x="29553" y="210285"/>
                </a:lnTo>
                <a:lnTo>
                  <a:pt x="25265" y="221753"/>
                </a:lnTo>
                <a:lnTo>
                  <a:pt x="20383" y="232982"/>
                </a:lnTo>
                <a:lnTo>
                  <a:pt x="14920" y="243940"/>
                </a:lnTo>
                <a:lnTo>
                  <a:pt x="8891" y="254596"/>
                </a:lnTo>
                <a:lnTo>
                  <a:pt x="2312" y="264923"/>
                </a:lnTo>
              </a:path>
            </a:pathLst>
          </a:custGeom>
          <a:noFill/>
          <a:ln w="19050" cap="rnd">
            <a:solidFill>
              <a:srgbClr val="F0525A"/>
            </a:solidFill>
            <a:round/>
          </a:ln>
        </p:spPr>
        <p:txBody>
          <a:bodyPr rtlCol="0" anchor="ctr"/>
          <a:lstStyle/>
          <a:p>
            <a:pPr algn="ctr"/>
          </a:p>
        </p:txBody>
      </p:sp>
      <p:sp>
        <p:nvSpPr>
          <p:cNvPr id="30" name="Freeform 29"/>
          <p:cNvSpPr/>
          <p:nvPr/>
        </p:nvSpPr>
        <p:spPr>
          <a:xfrm>
            <a:off x="4961493" y="4115863"/>
            <a:ext cx="42259" cy="264923"/>
          </a:xfrm>
          <a:custGeom>
            <a:avLst/>
            <a:gdLst/>
            <a:ahLst/>
            <a:cxnLst/>
            <a:rect l="l" t="t" r="r" b="b"/>
            <a:pathLst>
              <a:path w="42259" h="264923">
                <a:moveTo>
                  <a:pt x="42259" y="0"/>
                </a:moveTo>
                <a:lnTo>
                  <a:pt x="35501" y="10210"/>
                </a:lnTo>
                <a:lnTo>
                  <a:pt x="29287" y="20760"/>
                </a:lnTo>
                <a:lnTo>
                  <a:pt x="23633" y="31621"/>
                </a:lnTo>
                <a:lnTo>
                  <a:pt x="18556" y="42763"/>
                </a:lnTo>
                <a:lnTo>
                  <a:pt x="14068" y="54155"/>
                </a:lnTo>
                <a:lnTo>
                  <a:pt x="10183" y="65766"/>
                </a:lnTo>
                <a:lnTo>
                  <a:pt x="6911" y="77565"/>
                </a:lnTo>
                <a:lnTo>
                  <a:pt x="4261" y="89519"/>
                </a:lnTo>
                <a:lnTo>
                  <a:pt x="2240" y="101595"/>
                </a:lnTo>
                <a:lnTo>
                  <a:pt x="854" y="113760"/>
                </a:lnTo>
                <a:lnTo>
                  <a:pt x="107" y="125981"/>
                </a:lnTo>
                <a:lnTo>
                  <a:pt x="0" y="138225"/>
                </a:lnTo>
                <a:lnTo>
                  <a:pt x="534" y="150458"/>
                </a:lnTo>
                <a:lnTo>
                  <a:pt x="1707" y="162645"/>
                </a:lnTo>
                <a:lnTo>
                  <a:pt x="3517" y="174755"/>
                </a:lnTo>
                <a:lnTo>
                  <a:pt x="5958" y="186753"/>
                </a:lnTo>
                <a:lnTo>
                  <a:pt x="9024" y="198607"/>
                </a:lnTo>
                <a:lnTo>
                  <a:pt x="12706" y="210285"/>
                </a:lnTo>
                <a:lnTo>
                  <a:pt x="16994" y="221753"/>
                </a:lnTo>
                <a:lnTo>
                  <a:pt x="21876" y="232982"/>
                </a:lnTo>
                <a:lnTo>
                  <a:pt x="27339" y="243940"/>
                </a:lnTo>
                <a:lnTo>
                  <a:pt x="33369" y="254596"/>
                </a:lnTo>
                <a:lnTo>
                  <a:pt x="39947" y="264923"/>
                </a:lnTo>
              </a:path>
            </a:pathLst>
          </a:custGeom>
          <a:noFill/>
          <a:ln w="19050" cap="rnd">
            <a:solidFill>
              <a:srgbClr val="F0525A"/>
            </a:solidFill>
            <a:round/>
          </a:ln>
        </p:spPr>
        <p:txBody>
          <a:bodyPr rtlCol="0" anchor="ctr"/>
          <a:lstStyle/>
          <a:p>
            <a:pPr algn="ctr"/>
          </a:p>
        </p:txBody>
      </p:sp>
      <p:cxnSp>
        <p:nvCxnSpPr>
          <p:cNvPr id="31" name="Connector 30"/>
          <p:cNvCxnSpPr/>
          <p:nvPr/>
        </p:nvCxnSpPr>
        <p:spPr>
          <a:xfrm>
            <a:off x="4199683" y="4004246"/>
            <a:ext cx="469519" cy="180224"/>
          </a:xfrm>
          <a:prstGeom prst="line">
            <a:avLst/>
          </a:prstGeom>
          <a:ln w="44450" cap="rnd">
            <a:solidFill>
              <a:srgbClr val="FFB400"/>
            </a:solidFill>
            <a:round/>
          </a:ln>
        </p:spPr>
      </p:cxnSp>
      <p:cxnSp>
        <p:nvCxnSpPr>
          <p:cNvPr id="32" name="Connector 31"/>
          <p:cNvCxnSpPr/>
          <p:nvPr/>
        </p:nvCxnSpPr>
        <p:spPr>
          <a:xfrm>
            <a:off x="4124062" y="3818506"/>
            <a:ext cx="469518" cy="180225"/>
          </a:xfrm>
          <a:prstGeom prst="line">
            <a:avLst/>
          </a:prstGeom>
          <a:ln w="44450" cap="rnd">
            <a:solidFill>
              <a:srgbClr val="FFB400"/>
            </a:solidFill>
            <a:round/>
          </a:ln>
        </p:spPr>
      </p:cxnSp>
      <p:sp>
        <p:nvSpPr>
          <p:cNvPr id="33" name="Rounded Rectangle 32"/>
          <p:cNvSpPr/>
          <p:nvPr/>
        </p:nvSpPr>
        <p:spPr>
          <a:xfrm>
            <a:off x="7452360" y="2514600"/>
            <a:ext cx="4050792" cy="1325880"/>
          </a:xfrm>
          <a:prstGeom prst="roundRect">
            <a:avLst>
              <a:gd name="adj" fmla="val 9655"/>
            </a:avLst>
          </a:prstGeom>
          <a:solidFill>
            <a:srgbClr val="1A2029"/>
          </a:solidFill>
          <a:ln w="25400">
            <a:solidFill>
              <a:srgbClr val="323C4A"/>
            </a:solidFill>
          </a:ln>
        </p:spPr>
        <p:txBody>
          <a:bodyPr rtlCol="0" anchor="ctr"/>
          <a:lstStyle/>
          <a:p>
            <a:pPr algn="ctr"/>
          </a:p>
        </p:txBody>
      </p:sp>
      <p:sp>
        <p:nvSpPr>
          <p:cNvPr id="34" name="Rounded Rectangle 33"/>
          <p:cNvSpPr/>
          <p:nvPr/>
        </p:nvSpPr>
        <p:spPr>
          <a:xfrm>
            <a:off x="7952720" y="3184307"/>
            <a:ext cx="645201" cy="465978"/>
          </a:xfrm>
          <a:prstGeom prst="roundRect">
            <a:avLst>
              <a:gd name="adj" fmla="val 23076"/>
            </a:avLst>
          </a:prstGeom>
          <a:solidFill>
            <a:srgbClr val="F4F6F8"/>
          </a:solidFill>
          <a:ln w="31750">
            <a:solidFill>
              <a:srgbClr val="0E1116"/>
            </a:solidFill>
          </a:ln>
        </p:spPr>
        <p:txBody>
          <a:bodyPr rtlCol="0" anchor="ctr"/>
          <a:lstStyle/>
          <a:p>
            <a:pPr algn="ctr"/>
          </a:p>
        </p:txBody>
      </p:sp>
      <p:sp>
        <p:nvSpPr>
          <p:cNvPr id="35" name="Rounded Rectangle 34"/>
          <p:cNvSpPr/>
          <p:nvPr/>
        </p:nvSpPr>
        <p:spPr>
          <a:xfrm>
            <a:off x="7952720" y="2987162"/>
            <a:ext cx="161300" cy="286756"/>
          </a:xfrm>
          <a:prstGeom prst="roundRect">
            <a:avLst>
              <a:gd name="adj" fmla="val 38888"/>
            </a:avLst>
          </a:prstGeom>
          <a:solidFill>
            <a:srgbClr val="F4F6F8"/>
          </a:solidFill>
          <a:ln w="31750">
            <a:solidFill>
              <a:srgbClr val="0E1116"/>
            </a:solidFill>
          </a:ln>
        </p:spPr>
        <p:txBody>
          <a:bodyPr rtlCol="0" anchor="ctr"/>
          <a:lstStyle/>
          <a:p>
            <a:pPr algn="ctr"/>
          </a:p>
        </p:txBody>
      </p:sp>
      <p:sp>
        <p:nvSpPr>
          <p:cNvPr id="36" name="Rounded Rectangle 35"/>
          <p:cNvSpPr/>
          <p:nvPr/>
        </p:nvSpPr>
        <p:spPr>
          <a:xfrm>
            <a:off x="8114020" y="2987162"/>
            <a:ext cx="161300" cy="286756"/>
          </a:xfrm>
          <a:prstGeom prst="roundRect">
            <a:avLst>
              <a:gd name="adj" fmla="val 38888"/>
            </a:avLst>
          </a:prstGeom>
          <a:solidFill>
            <a:srgbClr val="F4F6F8"/>
          </a:solidFill>
          <a:ln w="31750">
            <a:solidFill>
              <a:srgbClr val="0E1116"/>
            </a:solidFill>
          </a:ln>
        </p:spPr>
        <p:txBody>
          <a:bodyPr rtlCol="0" anchor="ctr"/>
          <a:lstStyle/>
          <a:p>
            <a:pPr algn="ctr"/>
          </a:p>
        </p:txBody>
      </p:sp>
      <p:sp>
        <p:nvSpPr>
          <p:cNvPr id="37" name="Rounded Rectangle 36"/>
          <p:cNvSpPr/>
          <p:nvPr/>
        </p:nvSpPr>
        <p:spPr>
          <a:xfrm>
            <a:off x="8275320" y="2987162"/>
            <a:ext cx="161300" cy="286756"/>
          </a:xfrm>
          <a:prstGeom prst="roundRect">
            <a:avLst>
              <a:gd name="adj" fmla="val 38888"/>
            </a:avLst>
          </a:prstGeom>
          <a:solidFill>
            <a:srgbClr val="F4F6F8"/>
          </a:solidFill>
          <a:ln w="31750">
            <a:solidFill>
              <a:srgbClr val="0E1116"/>
            </a:solidFill>
          </a:ln>
        </p:spPr>
        <p:txBody>
          <a:bodyPr rtlCol="0" anchor="ctr"/>
          <a:lstStyle/>
          <a:p>
            <a:pPr algn="ctr"/>
          </a:p>
        </p:txBody>
      </p:sp>
      <p:sp>
        <p:nvSpPr>
          <p:cNvPr id="38" name="Rounded Rectangle 37"/>
          <p:cNvSpPr/>
          <p:nvPr/>
        </p:nvSpPr>
        <p:spPr>
          <a:xfrm>
            <a:off x="8436620" y="2987162"/>
            <a:ext cx="161300" cy="286756"/>
          </a:xfrm>
          <a:prstGeom prst="roundRect">
            <a:avLst>
              <a:gd name="adj" fmla="val 38888"/>
            </a:avLst>
          </a:prstGeom>
          <a:solidFill>
            <a:srgbClr val="F4F6F8"/>
          </a:solidFill>
          <a:ln w="31750">
            <a:solidFill>
              <a:srgbClr val="0E1116"/>
            </a:solidFill>
          </a:ln>
        </p:spPr>
        <p:txBody>
          <a:bodyPr rtlCol="0" anchor="ctr"/>
          <a:lstStyle/>
          <a:p>
            <a:pPr algn="ctr"/>
          </a:p>
        </p:txBody>
      </p:sp>
      <p:sp>
        <p:nvSpPr>
          <p:cNvPr id="39" name="Rounded Rectangle 38"/>
          <p:cNvSpPr/>
          <p:nvPr/>
        </p:nvSpPr>
        <p:spPr>
          <a:xfrm>
            <a:off x="7898953" y="3345607"/>
            <a:ext cx="465978" cy="152339"/>
          </a:xfrm>
          <a:prstGeom prst="roundRect">
            <a:avLst>
              <a:gd name="adj" fmla="val 47058"/>
            </a:avLst>
          </a:prstGeom>
          <a:solidFill>
            <a:srgbClr val="F4F6F8"/>
          </a:solidFill>
          <a:ln w="31750">
            <a:solidFill>
              <a:srgbClr val="0E1116"/>
            </a:solidFill>
          </a:ln>
        </p:spPr>
        <p:txBody>
          <a:bodyPr rtlCol="0" anchor="ctr"/>
          <a:lstStyle/>
          <a:p>
            <a:pPr algn="ctr"/>
          </a:p>
        </p:txBody>
      </p:sp>
      <p:sp>
        <p:nvSpPr>
          <p:cNvPr id="40" name="TextBox 39"/>
          <p:cNvSpPr txBox="1"/>
          <p:nvPr/>
        </p:nvSpPr>
        <p:spPr>
          <a:xfrm>
            <a:off x="9006840" y="2734056"/>
            <a:ext cx="2468880" cy="502920"/>
          </a:xfrm>
          <a:prstGeom prst="rect">
            <a:avLst/>
          </a:prstGeom>
          <a:noFill/>
        </p:spPr>
        <p:txBody>
          <a:bodyPr wrap="square" anchor="t" lIns="0" rIns="0" tIns="0" bIns="0">
            <a:noAutofit/>
          </a:bodyPr>
          <a:lstStyle/>
          <a:p>
            <a:pPr algn="l">
              <a:lnSpc>
                <a:spcPct val="100000"/>
              </a:lnSpc>
              <a:spcBef>
                <a:spcPts val="0"/>
              </a:spcBef>
              <a:spcAft>
                <a:spcPts val="0"/>
              </a:spcAft>
            </a:pPr>
            <a:r>
              <a:rPr sz="2200" b="0" i="0">
                <a:solidFill>
                  <a:srgbClr val="F4F6F8"/>
                </a:solidFill>
                <a:latin typeface="Arial Black"/>
              </a:rPr>
              <a:t>FIST</a:t>
            </a:r>
          </a:p>
        </p:txBody>
      </p:sp>
      <p:sp>
        <p:nvSpPr>
          <p:cNvPr id="41" name="TextBox 40"/>
          <p:cNvSpPr txBox="1"/>
          <p:nvPr/>
        </p:nvSpPr>
        <p:spPr>
          <a:xfrm>
            <a:off x="9006840" y="3209544"/>
            <a:ext cx="2468880" cy="502920"/>
          </a:xfrm>
          <a:prstGeom prst="rect">
            <a:avLst/>
          </a:prstGeom>
          <a:noFill/>
        </p:spPr>
        <p:txBody>
          <a:bodyPr wrap="square" anchor="t" lIns="0" rIns="0" tIns="0" bIns="0">
            <a:noAutofit/>
          </a:bodyPr>
          <a:lstStyle/>
          <a:p>
            <a:pPr algn="l">
              <a:lnSpc>
                <a:spcPct val="100000"/>
              </a:lnSpc>
              <a:spcBef>
                <a:spcPts val="0"/>
              </a:spcBef>
              <a:spcAft>
                <a:spcPts val="0"/>
              </a:spcAft>
            </a:pPr>
            <a:r>
              <a:rPr sz="2200" b="1" i="0">
                <a:solidFill>
                  <a:srgbClr val="FFB400"/>
                </a:solidFill>
                <a:latin typeface="Arial"/>
              </a:rPr>
              <a:t>= POTENTIAL</a:t>
            </a:r>
          </a:p>
        </p:txBody>
      </p:sp>
      <p:sp>
        <p:nvSpPr>
          <p:cNvPr id="42" name="Rounded Rectangle 41"/>
          <p:cNvSpPr/>
          <p:nvPr/>
        </p:nvSpPr>
        <p:spPr>
          <a:xfrm>
            <a:off x="7452360" y="4069080"/>
            <a:ext cx="4050792" cy="1325880"/>
          </a:xfrm>
          <a:prstGeom prst="roundRect">
            <a:avLst>
              <a:gd name="adj" fmla="val 9655"/>
            </a:avLst>
          </a:prstGeom>
          <a:solidFill>
            <a:srgbClr val="1A2029"/>
          </a:solidFill>
          <a:ln w="25400">
            <a:solidFill>
              <a:srgbClr val="323C4A"/>
            </a:solidFill>
          </a:ln>
        </p:spPr>
        <p:txBody>
          <a:bodyPr rtlCol="0" anchor="ctr"/>
          <a:lstStyle/>
          <a:p>
            <a:pPr algn="ctr"/>
          </a:p>
        </p:txBody>
      </p:sp>
      <p:sp>
        <p:nvSpPr>
          <p:cNvPr id="43" name="Rounded Rectangle 42"/>
          <p:cNvSpPr/>
          <p:nvPr/>
        </p:nvSpPr>
        <p:spPr>
          <a:xfrm>
            <a:off x="8006486" y="4828398"/>
            <a:ext cx="537667" cy="412212"/>
          </a:xfrm>
          <a:prstGeom prst="roundRect">
            <a:avLst>
              <a:gd name="adj" fmla="val 30434"/>
            </a:avLst>
          </a:prstGeom>
          <a:solidFill>
            <a:srgbClr val="F4F6F8"/>
          </a:solidFill>
          <a:ln w="31750">
            <a:solidFill>
              <a:srgbClr val="0E1116"/>
            </a:solidFill>
          </a:ln>
        </p:spPr>
        <p:txBody>
          <a:bodyPr rtlCol="0" anchor="ctr"/>
          <a:lstStyle/>
          <a:p>
            <a:pPr algn="ctr"/>
          </a:p>
        </p:txBody>
      </p:sp>
      <p:sp>
        <p:nvSpPr>
          <p:cNvPr id="44" name="Rounded Rectangle 43"/>
          <p:cNvSpPr/>
          <p:nvPr/>
        </p:nvSpPr>
        <p:spPr>
          <a:xfrm>
            <a:off x="8015448" y="4452031"/>
            <a:ext cx="116495" cy="430134"/>
          </a:xfrm>
          <a:prstGeom prst="roundRect">
            <a:avLst>
              <a:gd name="adj" fmla="val 46153"/>
            </a:avLst>
          </a:prstGeom>
          <a:solidFill>
            <a:srgbClr val="F4F6F8"/>
          </a:solidFill>
          <a:ln w="31750">
            <a:solidFill>
              <a:srgbClr val="0E1116"/>
            </a:solidFill>
          </a:ln>
        </p:spPr>
        <p:txBody>
          <a:bodyPr rtlCol="0" anchor="ctr"/>
          <a:lstStyle/>
          <a:p>
            <a:pPr algn="ctr"/>
          </a:p>
        </p:txBody>
      </p:sp>
      <p:sp>
        <p:nvSpPr>
          <p:cNvPr id="45" name="Rounded Rectangle 44"/>
          <p:cNvSpPr/>
          <p:nvPr/>
        </p:nvSpPr>
        <p:spPr>
          <a:xfrm>
            <a:off x="8149864" y="4362420"/>
            <a:ext cx="116495" cy="519745"/>
          </a:xfrm>
          <a:prstGeom prst="roundRect">
            <a:avLst>
              <a:gd name="adj" fmla="val 46153"/>
            </a:avLst>
          </a:prstGeom>
          <a:solidFill>
            <a:srgbClr val="F4F6F8"/>
          </a:solidFill>
          <a:ln w="31750">
            <a:solidFill>
              <a:srgbClr val="0E1116"/>
            </a:solidFill>
          </a:ln>
        </p:spPr>
        <p:txBody>
          <a:bodyPr rtlCol="0" anchor="ctr"/>
          <a:lstStyle/>
          <a:p>
            <a:pPr algn="ctr"/>
          </a:p>
        </p:txBody>
      </p:sp>
      <p:sp>
        <p:nvSpPr>
          <p:cNvPr id="46" name="Rounded Rectangle 45"/>
          <p:cNvSpPr/>
          <p:nvPr/>
        </p:nvSpPr>
        <p:spPr>
          <a:xfrm>
            <a:off x="8284281" y="4398264"/>
            <a:ext cx="116495" cy="483900"/>
          </a:xfrm>
          <a:prstGeom prst="roundRect">
            <a:avLst>
              <a:gd name="adj" fmla="val 46153"/>
            </a:avLst>
          </a:prstGeom>
          <a:solidFill>
            <a:srgbClr val="F4F6F8"/>
          </a:solidFill>
          <a:ln w="31750">
            <a:solidFill>
              <a:srgbClr val="0E1116"/>
            </a:solidFill>
          </a:ln>
        </p:spPr>
        <p:txBody>
          <a:bodyPr rtlCol="0" anchor="ctr"/>
          <a:lstStyle/>
          <a:p>
            <a:pPr algn="ctr"/>
          </a:p>
        </p:txBody>
      </p:sp>
      <p:sp>
        <p:nvSpPr>
          <p:cNvPr id="47" name="Rounded Rectangle 46"/>
          <p:cNvSpPr/>
          <p:nvPr/>
        </p:nvSpPr>
        <p:spPr>
          <a:xfrm>
            <a:off x="8418698" y="4487875"/>
            <a:ext cx="116495" cy="394289"/>
          </a:xfrm>
          <a:prstGeom prst="roundRect">
            <a:avLst>
              <a:gd name="adj" fmla="val 46153"/>
            </a:avLst>
          </a:prstGeom>
          <a:solidFill>
            <a:srgbClr val="F4F6F8"/>
          </a:solidFill>
          <a:ln w="31750">
            <a:solidFill>
              <a:srgbClr val="0E1116"/>
            </a:solidFill>
          </a:ln>
        </p:spPr>
        <p:txBody>
          <a:bodyPr rtlCol="0" anchor="ctr"/>
          <a:lstStyle/>
          <a:p>
            <a:pPr algn="ctr"/>
          </a:p>
        </p:txBody>
      </p:sp>
      <p:sp>
        <p:nvSpPr>
          <p:cNvPr id="48" name="Rounded Rectangle 47"/>
          <p:cNvSpPr/>
          <p:nvPr/>
        </p:nvSpPr>
        <p:spPr>
          <a:xfrm rot="19680000">
            <a:off x="7854147" y="4864242"/>
            <a:ext cx="286756" cy="125456"/>
          </a:xfrm>
          <a:prstGeom prst="roundRect">
            <a:avLst>
              <a:gd name="adj" fmla="val 50000"/>
            </a:avLst>
          </a:prstGeom>
          <a:solidFill>
            <a:srgbClr val="F4F6F8"/>
          </a:solidFill>
          <a:ln w="31750">
            <a:solidFill>
              <a:srgbClr val="0E1116"/>
            </a:solidFill>
          </a:ln>
        </p:spPr>
        <p:txBody>
          <a:bodyPr rtlCol="0" anchor="ctr"/>
          <a:lstStyle/>
          <a:p>
            <a:pPr algn="ctr"/>
          </a:p>
        </p:txBody>
      </p:sp>
      <p:sp>
        <p:nvSpPr>
          <p:cNvPr id="49" name="TextBox 48"/>
          <p:cNvSpPr txBox="1"/>
          <p:nvPr/>
        </p:nvSpPr>
        <p:spPr>
          <a:xfrm>
            <a:off x="9006840" y="4288536"/>
            <a:ext cx="2468880" cy="502920"/>
          </a:xfrm>
          <a:prstGeom prst="rect">
            <a:avLst/>
          </a:prstGeom>
          <a:noFill/>
        </p:spPr>
        <p:txBody>
          <a:bodyPr wrap="square" anchor="t" lIns="0" rIns="0" tIns="0" bIns="0">
            <a:noAutofit/>
          </a:bodyPr>
          <a:lstStyle/>
          <a:p>
            <a:pPr algn="l">
              <a:lnSpc>
                <a:spcPct val="100000"/>
              </a:lnSpc>
              <a:spcBef>
                <a:spcPts val="0"/>
              </a:spcBef>
              <a:spcAft>
                <a:spcPts val="0"/>
              </a:spcAft>
            </a:pPr>
            <a:r>
              <a:rPr sz="2200" b="0" i="0">
                <a:solidFill>
                  <a:srgbClr val="F4F6F8"/>
                </a:solidFill>
                <a:latin typeface="Arial Black"/>
              </a:rPr>
              <a:t>OPEN HAND</a:t>
            </a:r>
          </a:p>
        </p:txBody>
      </p:sp>
      <p:sp>
        <p:nvSpPr>
          <p:cNvPr id="50" name="TextBox 49"/>
          <p:cNvSpPr txBox="1"/>
          <p:nvPr/>
        </p:nvSpPr>
        <p:spPr>
          <a:xfrm>
            <a:off x="9006840" y="4764024"/>
            <a:ext cx="2468880" cy="502920"/>
          </a:xfrm>
          <a:prstGeom prst="rect">
            <a:avLst/>
          </a:prstGeom>
          <a:noFill/>
        </p:spPr>
        <p:txBody>
          <a:bodyPr wrap="square" anchor="t" lIns="0" rIns="0" tIns="0" bIns="0">
            <a:noAutofit/>
          </a:bodyPr>
          <a:lstStyle/>
          <a:p>
            <a:pPr algn="l">
              <a:lnSpc>
                <a:spcPct val="100000"/>
              </a:lnSpc>
              <a:spcBef>
                <a:spcPts val="0"/>
              </a:spcBef>
              <a:spcAft>
                <a:spcPts val="0"/>
              </a:spcAft>
            </a:pPr>
            <a:r>
              <a:rPr sz="2200" b="1" i="0">
                <a:solidFill>
                  <a:srgbClr val="FFB400"/>
                </a:solidFill>
                <a:latin typeface="Arial"/>
              </a:rPr>
              <a:t>= KINETIC</a:t>
            </a:r>
          </a:p>
        </p:txBody>
      </p:sp>
      <p:sp>
        <p:nvSpPr>
          <p:cNvPr id="51" name="TextBox 50"/>
          <p:cNvSpPr txBox="1"/>
          <p:nvPr/>
        </p:nvSpPr>
        <p:spPr>
          <a:xfrm>
            <a:off x="685800" y="5577840"/>
            <a:ext cx="10817352" cy="658368"/>
          </a:xfrm>
          <a:prstGeom prst="rect">
            <a:avLst/>
          </a:prstGeom>
          <a:noFill/>
        </p:spPr>
        <p:txBody>
          <a:bodyPr wrap="square" anchor="ctr" lIns="0" rIns="0" tIns="0" bIns="0">
            <a:noAutofit/>
          </a:bodyPr>
          <a:lstStyle/>
          <a:p>
            <a:pPr algn="l">
              <a:lnSpc>
                <a:spcPct val="100000"/>
              </a:lnSpc>
              <a:spcBef>
                <a:spcPts val="0"/>
              </a:spcBef>
              <a:spcAft>
                <a:spcPts val="0"/>
              </a:spcAft>
            </a:pPr>
            <a:r>
              <a:rPr sz="2600" b="1" i="0" spc="400">
                <a:solidFill>
                  <a:srgbClr val="FFB400"/>
                </a:solidFill>
                <a:latin typeface="Arial Narrow"/>
              </a:rPr>
              <a:t>3 · 2 · 1 · SHOW!</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A9B3C0"/>
                </a:solidFill>
                <a:latin typeface="Arial Narrow"/>
              </a:rPr>
              <a:t>ACT 1 · ENERGY</a:t>
            </a:r>
          </a:p>
        </p:txBody>
      </p:sp>
      <p:sp>
        <p:nvSpPr>
          <p:cNvPr id="4" name="Rounded Rectangle 3"/>
          <p:cNvSpPr/>
          <p:nvPr/>
        </p:nvSpPr>
        <p:spPr>
          <a:xfrm>
            <a:off x="10058400" y="274320"/>
            <a:ext cx="1444752" cy="329184"/>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1500" b="1" i="0" spc="60">
                <a:solidFill>
                  <a:srgbClr val="12161C"/>
                </a:solidFill>
                <a:latin typeface="Arial"/>
              </a:rPr>
              <a:t>+100 EP</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6F7A89"/>
                </a:solidFill>
                <a:latin typeface="Arial Narrow"/>
              </a:rPr>
              <a:t>ENERGY LAB  ·  CRASH TEST #05</a:t>
            </a:r>
          </a:p>
        </p:txBody>
      </p:sp>
      <p:sp>
        <p:nvSpPr>
          <p:cNvPr id="6" name="Rectangle 5"/>
          <p:cNvSpPr/>
          <p:nvPr/>
        </p:nvSpPr>
        <p:spPr>
          <a:xfrm>
            <a:off x="4526280" y="6510528"/>
            <a:ext cx="127363" cy="54864"/>
          </a:xfrm>
          <a:prstGeom prst="rect">
            <a:avLst/>
          </a:prstGeom>
          <a:solidFill>
            <a:srgbClr val="8A6A1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8A6A1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FFB400"/>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2A3240"/>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2A3240"/>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2A3240"/>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2A3240"/>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2A3240"/>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2A3240"/>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2A3240"/>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2A3240"/>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2A3240"/>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2A3240"/>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2A3240"/>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6F7A89"/>
                </a:solidFill>
                <a:latin typeface="Arial Narrow"/>
              </a:rPr>
              <a:t>20</a:t>
            </a:fld>
          </a:p>
        </p:txBody>
      </p:sp>
      <p:sp>
        <p:nvSpPr>
          <p:cNvPr id="21" name="TextBox 20"/>
          <p:cNvSpPr txBox="1"/>
          <p:nvPr/>
        </p:nvSpPr>
        <p:spPr>
          <a:xfrm>
            <a:off x="685800" y="896112"/>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A9B3C0"/>
                </a:solidFill>
                <a:latin typeface="Arial Narrow"/>
              </a:rPr>
              <a:t>SITUATION 5 / 5</a:t>
            </a:r>
          </a:p>
        </p:txBody>
      </p:sp>
      <p:sp>
        <p:nvSpPr>
          <p:cNvPr id="22" name="TextBox 21"/>
          <p:cNvSpPr txBox="1"/>
          <p:nvPr/>
        </p:nvSpPr>
        <p:spPr>
          <a:xfrm>
            <a:off x="685800" y="1188720"/>
            <a:ext cx="10789920" cy="1234440"/>
          </a:xfrm>
          <a:prstGeom prst="rect">
            <a:avLst/>
          </a:prstGeom>
          <a:noFill/>
        </p:spPr>
        <p:txBody>
          <a:bodyPr wrap="square" anchor="t" lIns="0" rIns="0" tIns="0" bIns="0">
            <a:noAutofit/>
          </a:bodyPr>
          <a:lstStyle/>
          <a:p>
            <a:pPr algn="l">
              <a:lnSpc>
                <a:spcPct val="100000"/>
              </a:lnSpc>
              <a:spcBef>
                <a:spcPts val="0"/>
              </a:spcBef>
              <a:spcAft>
                <a:spcPts val="0"/>
              </a:spcAft>
            </a:pPr>
            <a:r>
              <a:rPr sz="3600" b="1" i="0">
                <a:solidFill>
                  <a:srgbClr val="F4F6F8"/>
                </a:solidFill>
                <a:latin typeface="Arial"/>
              </a:rPr>
              <a:t>A ball at the top of a ramp is released and rolls down.</a:t>
            </a:r>
          </a:p>
        </p:txBody>
      </p:sp>
      <p:sp>
        <p:nvSpPr>
          <p:cNvPr id="23" name="Rounded Rectangle 22"/>
          <p:cNvSpPr/>
          <p:nvPr/>
        </p:nvSpPr>
        <p:spPr>
          <a:xfrm>
            <a:off x="685800" y="2514600"/>
            <a:ext cx="6492240" cy="2880360"/>
          </a:xfrm>
          <a:prstGeom prst="roundRect">
            <a:avLst>
              <a:gd name="adj" fmla="val 4444"/>
            </a:avLst>
          </a:prstGeom>
          <a:solidFill>
            <a:srgbClr val="1A2029"/>
          </a:solidFill>
          <a:ln w="19050">
            <a:solidFill>
              <a:srgbClr val="323C4A"/>
            </a:solidFill>
          </a:ln>
        </p:spPr>
        <p:txBody>
          <a:bodyPr rtlCol="0" anchor="ctr"/>
          <a:lstStyle/>
          <a:p>
            <a:pPr algn="ctr"/>
          </a:p>
        </p:txBody>
      </p:sp>
      <p:sp>
        <p:nvSpPr>
          <p:cNvPr id="24" name="Freeform 23"/>
          <p:cNvSpPr/>
          <p:nvPr/>
        </p:nvSpPr>
        <p:spPr>
          <a:xfrm>
            <a:off x="1603858" y="3253435"/>
            <a:ext cx="4778654" cy="1834287"/>
          </a:xfrm>
          <a:custGeom>
            <a:avLst/>
            <a:gdLst/>
            <a:ahLst/>
            <a:cxnLst/>
            <a:rect l="l" t="t" r="r" b="b"/>
            <a:pathLst>
              <a:path w="4778654" h="1834287">
                <a:moveTo>
                  <a:pt x="0" y="0"/>
                </a:moveTo>
                <a:lnTo>
                  <a:pt x="0" y="1834287"/>
                </a:lnTo>
                <a:lnTo>
                  <a:pt x="4778654" y="1834287"/>
                </a:lnTo>
                <a:close/>
              </a:path>
            </a:pathLst>
          </a:custGeom>
          <a:solidFill>
            <a:srgbClr val="232B36"/>
          </a:solidFill>
          <a:ln w="31750">
            <a:solidFill>
              <a:srgbClr val="A9B3C0"/>
            </a:solidFill>
          </a:ln>
        </p:spPr>
        <p:txBody>
          <a:bodyPr rtlCol="0" anchor="ctr"/>
          <a:lstStyle/>
          <a:p>
            <a:pPr algn="ctr"/>
          </a:p>
        </p:txBody>
      </p:sp>
      <p:sp>
        <p:nvSpPr>
          <p:cNvPr id="25" name="Oval 24"/>
          <p:cNvSpPr/>
          <p:nvPr/>
        </p:nvSpPr>
        <p:spPr>
          <a:xfrm>
            <a:off x="1934603" y="2993520"/>
            <a:ext cx="458572" cy="458572"/>
          </a:xfrm>
          <a:prstGeom prst="ellipse">
            <a:avLst/>
          </a:prstGeom>
          <a:solidFill>
            <a:srgbClr val="F4F1E8"/>
          </a:solidFill>
          <a:ln w="19050">
            <a:solidFill>
              <a:srgbClr val="6F7A89"/>
            </a:solidFill>
          </a:ln>
        </p:spPr>
        <p:txBody>
          <a:bodyPr rtlCol="0" anchor="ctr"/>
          <a:lstStyle/>
          <a:p>
            <a:pPr algn="ctr"/>
          </a:p>
        </p:txBody>
      </p:sp>
      <p:sp>
        <p:nvSpPr>
          <p:cNvPr id="26" name="Freeform 25"/>
          <p:cNvSpPr/>
          <p:nvPr/>
        </p:nvSpPr>
        <p:spPr>
          <a:xfrm>
            <a:off x="2000072" y="3088663"/>
            <a:ext cx="42260" cy="264922"/>
          </a:xfrm>
          <a:custGeom>
            <a:avLst/>
            <a:gdLst/>
            <a:ahLst/>
            <a:cxnLst/>
            <a:rect l="l" t="t" r="r" b="b"/>
            <a:pathLst>
              <a:path w="42260" h="264922">
                <a:moveTo>
                  <a:pt x="0" y="0"/>
                </a:moveTo>
                <a:lnTo>
                  <a:pt x="6758" y="10210"/>
                </a:lnTo>
                <a:lnTo>
                  <a:pt x="12973" y="20760"/>
                </a:lnTo>
                <a:lnTo>
                  <a:pt x="18626" y="31621"/>
                </a:lnTo>
                <a:lnTo>
                  <a:pt x="23704" y="42762"/>
                </a:lnTo>
                <a:lnTo>
                  <a:pt x="28191" y="54154"/>
                </a:lnTo>
                <a:lnTo>
                  <a:pt x="32077" y="65766"/>
                </a:lnTo>
                <a:lnTo>
                  <a:pt x="35349" y="77564"/>
                </a:lnTo>
                <a:lnTo>
                  <a:pt x="37999" y="89518"/>
                </a:lnTo>
                <a:lnTo>
                  <a:pt x="40020" y="101594"/>
                </a:lnTo>
                <a:lnTo>
                  <a:pt x="41406" y="113760"/>
                </a:lnTo>
                <a:lnTo>
                  <a:pt x="42153" y="125981"/>
                </a:lnTo>
                <a:lnTo>
                  <a:pt x="42260" y="138225"/>
                </a:lnTo>
                <a:lnTo>
                  <a:pt x="41726" y="150457"/>
                </a:lnTo>
                <a:lnTo>
                  <a:pt x="40552" y="162645"/>
                </a:lnTo>
                <a:lnTo>
                  <a:pt x="38743" y="174754"/>
                </a:lnTo>
                <a:lnTo>
                  <a:pt x="36302" y="186753"/>
                </a:lnTo>
                <a:lnTo>
                  <a:pt x="33236" y="198607"/>
                </a:lnTo>
                <a:lnTo>
                  <a:pt x="29554" y="210284"/>
                </a:lnTo>
                <a:lnTo>
                  <a:pt x="25266" y="221753"/>
                </a:lnTo>
                <a:lnTo>
                  <a:pt x="20384" y="232981"/>
                </a:lnTo>
                <a:lnTo>
                  <a:pt x="14920" y="243939"/>
                </a:lnTo>
                <a:lnTo>
                  <a:pt x="8891" y="254596"/>
                </a:lnTo>
                <a:lnTo>
                  <a:pt x="2312" y="264922"/>
                </a:lnTo>
              </a:path>
            </a:pathLst>
          </a:custGeom>
          <a:noFill/>
          <a:ln w="19050" cap="rnd">
            <a:solidFill>
              <a:srgbClr val="F0525A"/>
            </a:solidFill>
            <a:round/>
          </a:ln>
        </p:spPr>
        <p:txBody>
          <a:bodyPr rtlCol="0" anchor="ctr"/>
          <a:lstStyle/>
          <a:p>
            <a:pPr algn="ctr"/>
          </a:p>
        </p:txBody>
      </p:sp>
      <p:sp>
        <p:nvSpPr>
          <p:cNvPr id="27" name="Freeform 26"/>
          <p:cNvSpPr/>
          <p:nvPr/>
        </p:nvSpPr>
        <p:spPr>
          <a:xfrm>
            <a:off x="2285446" y="3088663"/>
            <a:ext cx="42260" cy="264922"/>
          </a:xfrm>
          <a:custGeom>
            <a:avLst/>
            <a:gdLst/>
            <a:ahLst/>
            <a:cxnLst/>
            <a:rect l="l" t="t" r="r" b="b"/>
            <a:pathLst>
              <a:path w="42260" h="264922">
                <a:moveTo>
                  <a:pt x="42260" y="0"/>
                </a:moveTo>
                <a:lnTo>
                  <a:pt x="35502" y="10210"/>
                </a:lnTo>
                <a:lnTo>
                  <a:pt x="29287" y="20760"/>
                </a:lnTo>
                <a:lnTo>
                  <a:pt x="23634" y="31621"/>
                </a:lnTo>
                <a:lnTo>
                  <a:pt x="18556" y="42762"/>
                </a:lnTo>
                <a:lnTo>
                  <a:pt x="14069" y="54154"/>
                </a:lnTo>
                <a:lnTo>
                  <a:pt x="10184" y="65766"/>
                </a:lnTo>
                <a:lnTo>
                  <a:pt x="6912" y="77564"/>
                </a:lnTo>
                <a:lnTo>
                  <a:pt x="4261" y="89518"/>
                </a:lnTo>
                <a:lnTo>
                  <a:pt x="2241" y="101594"/>
                </a:lnTo>
                <a:lnTo>
                  <a:pt x="855" y="113760"/>
                </a:lnTo>
                <a:lnTo>
                  <a:pt x="107" y="125981"/>
                </a:lnTo>
                <a:lnTo>
                  <a:pt x="0" y="138225"/>
                </a:lnTo>
                <a:lnTo>
                  <a:pt x="534" y="150457"/>
                </a:lnTo>
                <a:lnTo>
                  <a:pt x="1708" y="162645"/>
                </a:lnTo>
                <a:lnTo>
                  <a:pt x="3518" y="174754"/>
                </a:lnTo>
                <a:lnTo>
                  <a:pt x="5959" y="186753"/>
                </a:lnTo>
                <a:lnTo>
                  <a:pt x="9024" y="198607"/>
                </a:lnTo>
                <a:lnTo>
                  <a:pt x="12706" y="210284"/>
                </a:lnTo>
                <a:lnTo>
                  <a:pt x="16994" y="221753"/>
                </a:lnTo>
                <a:lnTo>
                  <a:pt x="21877" y="232981"/>
                </a:lnTo>
                <a:lnTo>
                  <a:pt x="27340" y="243939"/>
                </a:lnTo>
                <a:lnTo>
                  <a:pt x="33369" y="254596"/>
                </a:lnTo>
                <a:lnTo>
                  <a:pt x="39948" y="264922"/>
                </a:lnTo>
              </a:path>
            </a:pathLst>
          </a:custGeom>
          <a:noFill/>
          <a:ln w="19050" cap="rnd">
            <a:solidFill>
              <a:srgbClr val="F0525A"/>
            </a:solidFill>
            <a:round/>
          </a:ln>
        </p:spPr>
        <p:txBody>
          <a:bodyPr rtlCol="0" anchor="ctr"/>
          <a:lstStyle/>
          <a:p>
            <a:pPr algn="ctr"/>
          </a:p>
        </p:txBody>
      </p:sp>
      <p:sp>
        <p:nvSpPr>
          <p:cNvPr id="28" name="Oval 27"/>
          <p:cNvSpPr/>
          <p:nvPr/>
        </p:nvSpPr>
        <p:spPr>
          <a:xfrm>
            <a:off x="4610650" y="4020721"/>
            <a:ext cx="458572" cy="458572"/>
          </a:xfrm>
          <a:prstGeom prst="ellipse">
            <a:avLst/>
          </a:prstGeom>
          <a:solidFill>
            <a:srgbClr val="F4F1E8"/>
          </a:solidFill>
          <a:ln w="19050">
            <a:solidFill>
              <a:srgbClr val="6F7A89"/>
            </a:solidFill>
          </a:ln>
        </p:spPr>
        <p:txBody>
          <a:bodyPr rtlCol="0" anchor="ctr"/>
          <a:lstStyle/>
          <a:p>
            <a:pPr algn="ctr"/>
          </a:p>
        </p:txBody>
      </p:sp>
      <p:sp>
        <p:nvSpPr>
          <p:cNvPr id="29" name="Freeform 28"/>
          <p:cNvSpPr/>
          <p:nvPr/>
        </p:nvSpPr>
        <p:spPr>
          <a:xfrm>
            <a:off x="4676119" y="4115863"/>
            <a:ext cx="42259" cy="264923"/>
          </a:xfrm>
          <a:custGeom>
            <a:avLst/>
            <a:gdLst/>
            <a:ahLst/>
            <a:cxnLst/>
            <a:rect l="l" t="t" r="r" b="b"/>
            <a:pathLst>
              <a:path w="42259" h="264923">
                <a:moveTo>
                  <a:pt x="0" y="0"/>
                </a:moveTo>
                <a:lnTo>
                  <a:pt x="6758" y="10210"/>
                </a:lnTo>
                <a:lnTo>
                  <a:pt x="12972" y="20760"/>
                </a:lnTo>
                <a:lnTo>
                  <a:pt x="18626" y="31621"/>
                </a:lnTo>
                <a:lnTo>
                  <a:pt x="23703" y="42763"/>
                </a:lnTo>
                <a:lnTo>
                  <a:pt x="28191" y="54155"/>
                </a:lnTo>
                <a:lnTo>
                  <a:pt x="32076" y="65766"/>
                </a:lnTo>
                <a:lnTo>
                  <a:pt x="35348" y="77565"/>
                </a:lnTo>
                <a:lnTo>
                  <a:pt x="37998" y="89519"/>
                </a:lnTo>
                <a:lnTo>
                  <a:pt x="40019" y="101595"/>
                </a:lnTo>
                <a:lnTo>
                  <a:pt x="41405" y="113760"/>
                </a:lnTo>
                <a:lnTo>
                  <a:pt x="42153" y="125981"/>
                </a:lnTo>
                <a:lnTo>
                  <a:pt x="42259" y="138225"/>
                </a:lnTo>
                <a:lnTo>
                  <a:pt x="41725" y="150458"/>
                </a:lnTo>
                <a:lnTo>
                  <a:pt x="40552" y="162645"/>
                </a:lnTo>
                <a:lnTo>
                  <a:pt x="38742" y="174755"/>
                </a:lnTo>
                <a:lnTo>
                  <a:pt x="36301" y="186753"/>
                </a:lnTo>
                <a:lnTo>
                  <a:pt x="33235" y="198607"/>
                </a:lnTo>
                <a:lnTo>
                  <a:pt x="29553" y="210285"/>
                </a:lnTo>
                <a:lnTo>
                  <a:pt x="25265" y="221753"/>
                </a:lnTo>
                <a:lnTo>
                  <a:pt x="20383" y="232982"/>
                </a:lnTo>
                <a:lnTo>
                  <a:pt x="14920" y="243940"/>
                </a:lnTo>
                <a:lnTo>
                  <a:pt x="8891" y="254596"/>
                </a:lnTo>
                <a:lnTo>
                  <a:pt x="2312" y="264923"/>
                </a:lnTo>
              </a:path>
            </a:pathLst>
          </a:custGeom>
          <a:noFill/>
          <a:ln w="19050" cap="rnd">
            <a:solidFill>
              <a:srgbClr val="F0525A"/>
            </a:solidFill>
            <a:round/>
          </a:ln>
        </p:spPr>
        <p:txBody>
          <a:bodyPr rtlCol="0" anchor="ctr"/>
          <a:lstStyle/>
          <a:p>
            <a:pPr algn="ctr"/>
          </a:p>
        </p:txBody>
      </p:sp>
      <p:sp>
        <p:nvSpPr>
          <p:cNvPr id="30" name="Freeform 29"/>
          <p:cNvSpPr/>
          <p:nvPr/>
        </p:nvSpPr>
        <p:spPr>
          <a:xfrm>
            <a:off x="4961493" y="4115863"/>
            <a:ext cx="42259" cy="264923"/>
          </a:xfrm>
          <a:custGeom>
            <a:avLst/>
            <a:gdLst/>
            <a:ahLst/>
            <a:cxnLst/>
            <a:rect l="l" t="t" r="r" b="b"/>
            <a:pathLst>
              <a:path w="42259" h="264923">
                <a:moveTo>
                  <a:pt x="42259" y="0"/>
                </a:moveTo>
                <a:lnTo>
                  <a:pt x="35501" y="10210"/>
                </a:lnTo>
                <a:lnTo>
                  <a:pt x="29287" y="20760"/>
                </a:lnTo>
                <a:lnTo>
                  <a:pt x="23633" y="31621"/>
                </a:lnTo>
                <a:lnTo>
                  <a:pt x="18556" y="42763"/>
                </a:lnTo>
                <a:lnTo>
                  <a:pt x="14068" y="54155"/>
                </a:lnTo>
                <a:lnTo>
                  <a:pt x="10183" y="65766"/>
                </a:lnTo>
                <a:lnTo>
                  <a:pt x="6911" y="77565"/>
                </a:lnTo>
                <a:lnTo>
                  <a:pt x="4261" y="89519"/>
                </a:lnTo>
                <a:lnTo>
                  <a:pt x="2240" y="101595"/>
                </a:lnTo>
                <a:lnTo>
                  <a:pt x="854" y="113760"/>
                </a:lnTo>
                <a:lnTo>
                  <a:pt x="107" y="125981"/>
                </a:lnTo>
                <a:lnTo>
                  <a:pt x="0" y="138225"/>
                </a:lnTo>
                <a:lnTo>
                  <a:pt x="534" y="150458"/>
                </a:lnTo>
                <a:lnTo>
                  <a:pt x="1707" y="162645"/>
                </a:lnTo>
                <a:lnTo>
                  <a:pt x="3517" y="174755"/>
                </a:lnTo>
                <a:lnTo>
                  <a:pt x="5958" y="186753"/>
                </a:lnTo>
                <a:lnTo>
                  <a:pt x="9024" y="198607"/>
                </a:lnTo>
                <a:lnTo>
                  <a:pt x="12706" y="210285"/>
                </a:lnTo>
                <a:lnTo>
                  <a:pt x="16994" y="221753"/>
                </a:lnTo>
                <a:lnTo>
                  <a:pt x="21876" y="232982"/>
                </a:lnTo>
                <a:lnTo>
                  <a:pt x="27339" y="243940"/>
                </a:lnTo>
                <a:lnTo>
                  <a:pt x="33369" y="254596"/>
                </a:lnTo>
                <a:lnTo>
                  <a:pt x="39947" y="264923"/>
                </a:lnTo>
              </a:path>
            </a:pathLst>
          </a:custGeom>
          <a:noFill/>
          <a:ln w="19050" cap="rnd">
            <a:solidFill>
              <a:srgbClr val="F0525A"/>
            </a:solidFill>
            <a:round/>
          </a:ln>
        </p:spPr>
        <p:txBody>
          <a:bodyPr rtlCol="0" anchor="ctr"/>
          <a:lstStyle/>
          <a:p>
            <a:pPr algn="ctr"/>
          </a:p>
        </p:txBody>
      </p:sp>
      <p:cxnSp>
        <p:nvCxnSpPr>
          <p:cNvPr id="31" name="Connector 30"/>
          <p:cNvCxnSpPr/>
          <p:nvPr/>
        </p:nvCxnSpPr>
        <p:spPr>
          <a:xfrm>
            <a:off x="4199683" y="4004246"/>
            <a:ext cx="469519" cy="180224"/>
          </a:xfrm>
          <a:prstGeom prst="line">
            <a:avLst/>
          </a:prstGeom>
          <a:ln w="44450" cap="rnd">
            <a:solidFill>
              <a:srgbClr val="FFB400"/>
            </a:solidFill>
            <a:round/>
          </a:ln>
        </p:spPr>
      </p:cxnSp>
      <p:cxnSp>
        <p:nvCxnSpPr>
          <p:cNvPr id="32" name="Connector 31"/>
          <p:cNvCxnSpPr/>
          <p:nvPr/>
        </p:nvCxnSpPr>
        <p:spPr>
          <a:xfrm>
            <a:off x="4124062" y="3818506"/>
            <a:ext cx="469518" cy="180225"/>
          </a:xfrm>
          <a:prstGeom prst="line">
            <a:avLst/>
          </a:prstGeom>
          <a:ln w="44450" cap="rnd">
            <a:solidFill>
              <a:srgbClr val="FFB400"/>
            </a:solidFill>
            <a:round/>
          </a:ln>
        </p:spPr>
      </p:cxnSp>
      <p:sp>
        <p:nvSpPr>
          <p:cNvPr id="33" name="Rounded Rectangle 32"/>
          <p:cNvSpPr/>
          <p:nvPr/>
        </p:nvSpPr>
        <p:spPr>
          <a:xfrm>
            <a:off x="7452360" y="2514600"/>
            <a:ext cx="4050792" cy="1325880"/>
          </a:xfrm>
          <a:prstGeom prst="roundRect">
            <a:avLst>
              <a:gd name="adj" fmla="val 9655"/>
            </a:avLst>
          </a:prstGeom>
          <a:solidFill>
            <a:srgbClr val="FFB400"/>
          </a:solidFill>
          <a:ln w="25400">
            <a:solidFill>
              <a:srgbClr val="FFB400"/>
            </a:solidFill>
          </a:ln>
        </p:spPr>
        <p:txBody>
          <a:bodyPr rtlCol="0" anchor="ctr"/>
          <a:lstStyle/>
          <a:p>
            <a:pPr algn="ctr"/>
          </a:p>
        </p:txBody>
      </p:sp>
      <p:sp>
        <p:nvSpPr>
          <p:cNvPr id="34" name="Rounded Rectangle 33"/>
          <p:cNvSpPr/>
          <p:nvPr/>
        </p:nvSpPr>
        <p:spPr>
          <a:xfrm>
            <a:off x="7952720" y="3184307"/>
            <a:ext cx="645201" cy="465978"/>
          </a:xfrm>
          <a:prstGeom prst="roundRect">
            <a:avLst>
              <a:gd name="adj" fmla="val 23076"/>
            </a:avLst>
          </a:prstGeom>
          <a:solidFill>
            <a:srgbClr val="12161C"/>
          </a:solidFill>
          <a:ln w="31750">
            <a:solidFill>
              <a:srgbClr val="FFB400"/>
            </a:solidFill>
          </a:ln>
        </p:spPr>
        <p:txBody>
          <a:bodyPr rtlCol="0" anchor="ctr"/>
          <a:lstStyle/>
          <a:p>
            <a:pPr algn="ctr"/>
          </a:p>
        </p:txBody>
      </p:sp>
      <p:sp>
        <p:nvSpPr>
          <p:cNvPr id="35" name="Rounded Rectangle 34"/>
          <p:cNvSpPr/>
          <p:nvPr/>
        </p:nvSpPr>
        <p:spPr>
          <a:xfrm>
            <a:off x="7952720" y="2987162"/>
            <a:ext cx="161300" cy="286756"/>
          </a:xfrm>
          <a:prstGeom prst="roundRect">
            <a:avLst>
              <a:gd name="adj" fmla="val 38888"/>
            </a:avLst>
          </a:prstGeom>
          <a:solidFill>
            <a:srgbClr val="12161C"/>
          </a:solidFill>
          <a:ln w="31750">
            <a:solidFill>
              <a:srgbClr val="FFB400"/>
            </a:solidFill>
          </a:ln>
        </p:spPr>
        <p:txBody>
          <a:bodyPr rtlCol="0" anchor="ctr"/>
          <a:lstStyle/>
          <a:p>
            <a:pPr algn="ctr"/>
          </a:p>
        </p:txBody>
      </p:sp>
      <p:sp>
        <p:nvSpPr>
          <p:cNvPr id="36" name="Rounded Rectangle 35"/>
          <p:cNvSpPr/>
          <p:nvPr/>
        </p:nvSpPr>
        <p:spPr>
          <a:xfrm>
            <a:off x="8114020" y="2987162"/>
            <a:ext cx="161300" cy="286756"/>
          </a:xfrm>
          <a:prstGeom prst="roundRect">
            <a:avLst>
              <a:gd name="adj" fmla="val 38888"/>
            </a:avLst>
          </a:prstGeom>
          <a:solidFill>
            <a:srgbClr val="12161C"/>
          </a:solidFill>
          <a:ln w="31750">
            <a:solidFill>
              <a:srgbClr val="FFB400"/>
            </a:solidFill>
          </a:ln>
        </p:spPr>
        <p:txBody>
          <a:bodyPr rtlCol="0" anchor="ctr"/>
          <a:lstStyle/>
          <a:p>
            <a:pPr algn="ctr"/>
          </a:p>
        </p:txBody>
      </p:sp>
      <p:sp>
        <p:nvSpPr>
          <p:cNvPr id="37" name="Rounded Rectangle 36"/>
          <p:cNvSpPr/>
          <p:nvPr/>
        </p:nvSpPr>
        <p:spPr>
          <a:xfrm>
            <a:off x="8275320" y="2987162"/>
            <a:ext cx="161300" cy="286756"/>
          </a:xfrm>
          <a:prstGeom prst="roundRect">
            <a:avLst>
              <a:gd name="adj" fmla="val 38888"/>
            </a:avLst>
          </a:prstGeom>
          <a:solidFill>
            <a:srgbClr val="12161C"/>
          </a:solidFill>
          <a:ln w="31750">
            <a:solidFill>
              <a:srgbClr val="FFB400"/>
            </a:solidFill>
          </a:ln>
        </p:spPr>
        <p:txBody>
          <a:bodyPr rtlCol="0" anchor="ctr"/>
          <a:lstStyle/>
          <a:p>
            <a:pPr algn="ctr"/>
          </a:p>
        </p:txBody>
      </p:sp>
      <p:sp>
        <p:nvSpPr>
          <p:cNvPr id="38" name="Rounded Rectangle 37"/>
          <p:cNvSpPr/>
          <p:nvPr/>
        </p:nvSpPr>
        <p:spPr>
          <a:xfrm>
            <a:off x="8436620" y="2987162"/>
            <a:ext cx="161300" cy="286756"/>
          </a:xfrm>
          <a:prstGeom prst="roundRect">
            <a:avLst>
              <a:gd name="adj" fmla="val 38888"/>
            </a:avLst>
          </a:prstGeom>
          <a:solidFill>
            <a:srgbClr val="12161C"/>
          </a:solidFill>
          <a:ln w="31750">
            <a:solidFill>
              <a:srgbClr val="FFB400"/>
            </a:solidFill>
          </a:ln>
        </p:spPr>
        <p:txBody>
          <a:bodyPr rtlCol="0" anchor="ctr"/>
          <a:lstStyle/>
          <a:p>
            <a:pPr algn="ctr"/>
          </a:p>
        </p:txBody>
      </p:sp>
      <p:sp>
        <p:nvSpPr>
          <p:cNvPr id="39" name="Rounded Rectangle 38"/>
          <p:cNvSpPr/>
          <p:nvPr/>
        </p:nvSpPr>
        <p:spPr>
          <a:xfrm>
            <a:off x="7898953" y="3345607"/>
            <a:ext cx="465978" cy="152339"/>
          </a:xfrm>
          <a:prstGeom prst="roundRect">
            <a:avLst>
              <a:gd name="adj" fmla="val 47058"/>
            </a:avLst>
          </a:prstGeom>
          <a:solidFill>
            <a:srgbClr val="12161C"/>
          </a:solidFill>
          <a:ln w="31750">
            <a:solidFill>
              <a:srgbClr val="FFB400"/>
            </a:solidFill>
          </a:ln>
        </p:spPr>
        <p:txBody>
          <a:bodyPr rtlCol="0" anchor="ctr"/>
          <a:lstStyle/>
          <a:p>
            <a:pPr algn="ctr"/>
          </a:p>
        </p:txBody>
      </p:sp>
      <p:sp>
        <p:nvSpPr>
          <p:cNvPr id="40" name="TextBox 39"/>
          <p:cNvSpPr txBox="1"/>
          <p:nvPr/>
        </p:nvSpPr>
        <p:spPr>
          <a:xfrm>
            <a:off x="9006840" y="2734056"/>
            <a:ext cx="2468880" cy="502920"/>
          </a:xfrm>
          <a:prstGeom prst="rect">
            <a:avLst/>
          </a:prstGeom>
          <a:noFill/>
        </p:spPr>
        <p:txBody>
          <a:bodyPr wrap="square" anchor="t" lIns="0" rIns="0" tIns="0" bIns="0">
            <a:noAutofit/>
          </a:bodyPr>
          <a:lstStyle/>
          <a:p>
            <a:pPr algn="l">
              <a:lnSpc>
                <a:spcPct val="100000"/>
              </a:lnSpc>
              <a:spcBef>
                <a:spcPts val="0"/>
              </a:spcBef>
              <a:spcAft>
                <a:spcPts val="0"/>
              </a:spcAft>
            </a:pPr>
            <a:r>
              <a:rPr sz="2200" b="0" i="0">
                <a:solidFill>
                  <a:srgbClr val="12161C"/>
                </a:solidFill>
                <a:latin typeface="Arial Black"/>
              </a:rPr>
              <a:t>FIST</a:t>
            </a:r>
          </a:p>
        </p:txBody>
      </p:sp>
      <p:sp>
        <p:nvSpPr>
          <p:cNvPr id="41" name="TextBox 40"/>
          <p:cNvSpPr txBox="1"/>
          <p:nvPr/>
        </p:nvSpPr>
        <p:spPr>
          <a:xfrm>
            <a:off x="9006840" y="3209544"/>
            <a:ext cx="2468880" cy="502920"/>
          </a:xfrm>
          <a:prstGeom prst="rect">
            <a:avLst/>
          </a:prstGeom>
          <a:noFill/>
        </p:spPr>
        <p:txBody>
          <a:bodyPr wrap="square" anchor="t" lIns="0" rIns="0" tIns="0" bIns="0">
            <a:noAutofit/>
          </a:bodyPr>
          <a:lstStyle/>
          <a:p>
            <a:pPr algn="l">
              <a:lnSpc>
                <a:spcPct val="100000"/>
              </a:lnSpc>
              <a:spcBef>
                <a:spcPts val="0"/>
              </a:spcBef>
              <a:spcAft>
                <a:spcPts val="0"/>
              </a:spcAft>
            </a:pPr>
            <a:r>
              <a:rPr sz="2200" b="1" i="0">
                <a:solidFill>
                  <a:srgbClr val="12161C"/>
                </a:solidFill>
                <a:latin typeface="Arial"/>
              </a:rPr>
              <a:t>= POTENTIAL</a:t>
            </a:r>
          </a:p>
        </p:txBody>
      </p:sp>
      <p:sp>
        <p:nvSpPr>
          <p:cNvPr id="42" name="Rounded Rectangle 41"/>
          <p:cNvSpPr/>
          <p:nvPr/>
        </p:nvSpPr>
        <p:spPr>
          <a:xfrm>
            <a:off x="7680960" y="2359152"/>
            <a:ext cx="868680" cy="310896"/>
          </a:xfrm>
          <a:prstGeom prst="roundRect">
            <a:avLst>
              <a:gd name="adj" fmla="val 50000"/>
            </a:avLst>
          </a:prstGeom>
          <a:solidFill>
            <a:srgbClr val="12161C"/>
          </a:solidFill>
          <a:ln w="19050">
            <a:solidFill>
              <a:srgbClr val="FFB400"/>
            </a:solidFill>
          </a:ln>
        </p:spPr>
        <p:txBody>
          <a:bodyPr rtlCol="0" anchor="ctr" wrap="square" lIns="0" rIns="0" tIns="0" bIns="0">
            <a:noAutofit/>
          </a:bodyPr>
          <a:lstStyle/>
          <a:p>
            <a:pPr algn="ctr">
              <a:lnSpc>
                <a:spcPct val="100000"/>
              </a:lnSpc>
              <a:spcBef>
                <a:spcPts val="0"/>
              </a:spcBef>
              <a:spcAft>
                <a:spcPts val="0"/>
              </a:spcAft>
            </a:pPr>
            <a:r>
              <a:rPr sz="1300" b="1" i="0" spc="150">
                <a:solidFill>
                  <a:srgbClr val="FFB400"/>
                </a:solidFill>
                <a:latin typeface="Arial Narrow"/>
              </a:rPr>
              <a:t>FIRST</a:t>
            </a:r>
          </a:p>
        </p:txBody>
      </p:sp>
      <p:sp>
        <p:nvSpPr>
          <p:cNvPr id="43" name="Rounded Rectangle 42"/>
          <p:cNvSpPr/>
          <p:nvPr/>
        </p:nvSpPr>
        <p:spPr>
          <a:xfrm>
            <a:off x="7452360" y="4069080"/>
            <a:ext cx="4050792" cy="1325880"/>
          </a:xfrm>
          <a:prstGeom prst="roundRect">
            <a:avLst>
              <a:gd name="adj" fmla="val 9655"/>
            </a:avLst>
          </a:prstGeom>
          <a:solidFill>
            <a:srgbClr val="FFB400"/>
          </a:solidFill>
          <a:ln w="25400">
            <a:solidFill>
              <a:srgbClr val="FFB400"/>
            </a:solidFill>
          </a:ln>
        </p:spPr>
        <p:txBody>
          <a:bodyPr rtlCol="0" anchor="ctr"/>
          <a:lstStyle/>
          <a:p>
            <a:pPr algn="ctr"/>
          </a:p>
        </p:txBody>
      </p:sp>
      <p:sp>
        <p:nvSpPr>
          <p:cNvPr id="44" name="Rounded Rectangle 43"/>
          <p:cNvSpPr/>
          <p:nvPr/>
        </p:nvSpPr>
        <p:spPr>
          <a:xfrm>
            <a:off x="8006486" y="4828398"/>
            <a:ext cx="537667" cy="412212"/>
          </a:xfrm>
          <a:prstGeom prst="roundRect">
            <a:avLst>
              <a:gd name="adj" fmla="val 30434"/>
            </a:avLst>
          </a:prstGeom>
          <a:solidFill>
            <a:srgbClr val="12161C"/>
          </a:solidFill>
          <a:ln w="31750">
            <a:solidFill>
              <a:srgbClr val="FFB400"/>
            </a:solidFill>
          </a:ln>
        </p:spPr>
        <p:txBody>
          <a:bodyPr rtlCol="0" anchor="ctr"/>
          <a:lstStyle/>
          <a:p>
            <a:pPr algn="ctr"/>
          </a:p>
        </p:txBody>
      </p:sp>
      <p:sp>
        <p:nvSpPr>
          <p:cNvPr id="45" name="Rounded Rectangle 44"/>
          <p:cNvSpPr/>
          <p:nvPr/>
        </p:nvSpPr>
        <p:spPr>
          <a:xfrm>
            <a:off x="8015448" y="4452031"/>
            <a:ext cx="116495" cy="430134"/>
          </a:xfrm>
          <a:prstGeom prst="roundRect">
            <a:avLst>
              <a:gd name="adj" fmla="val 46153"/>
            </a:avLst>
          </a:prstGeom>
          <a:solidFill>
            <a:srgbClr val="12161C"/>
          </a:solidFill>
          <a:ln w="31750">
            <a:solidFill>
              <a:srgbClr val="FFB400"/>
            </a:solidFill>
          </a:ln>
        </p:spPr>
        <p:txBody>
          <a:bodyPr rtlCol="0" anchor="ctr"/>
          <a:lstStyle/>
          <a:p>
            <a:pPr algn="ctr"/>
          </a:p>
        </p:txBody>
      </p:sp>
      <p:sp>
        <p:nvSpPr>
          <p:cNvPr id="46" name="Rounded Rectangle 45"/>
          <p:cNvSpPr/>
          <p:nvPr/>
        </p:nvSpPr>
        <p:spPr>
          <a:xfrm>
            <a:off x="8149864" y="4362420"/>
            <a:ext cx="116495" cy="519745"/>
          </a:xfrm>
          <a:prstGeom prst="roundRect">
            <a:avLst>
              <a:gd name="adj" fmla="val 46153"/>
            </a:avLst>
          </a:prstGeom>
          <a:solidFill>
            <a:srgbClr val="12161C"/>
          </a:solidFill>
          <a:ln w="31750">
            <a:solidFill>
              <a:srgbClr val="FFB400"/>
            </a:solidFill>
          </a:ln>
        </p:spPr>
        <p:txBody>
          <a:bodyPr rtlCol="0" anchor="ctr"/>
          <a:lstStyle/>
          <a:p>
            <a:pPr algn="ctr"/>
          </a:p>
        </p:txBody>
      </p:sp>
      <p:sp>
        <p:nvSpPr>
          <p:cNvPr id="47" name="Rounded Rectangle 46"/>
          <p:cNvSpPr/>
          <p:nvPr/>
        </p:nvSpPr>
        <p:spPr>
          <a:xfrm>
            <a:off x="8284281" y="4398264"/>
            <a:ext cx="116495" cy="483900"/>
          </a:xfrm>
          <a:prstGeom prst="roundRect">
            <a:avLst>
              <a:gd name="adj" fmla="val 46153"/>
            </a:avLst>
          </a:prstGeom>
          <a:solidFill>
            <a:srgbClr val="12161C"/>
          </a:solidFill>
          <a:ln w="31750">
            <a:solidFill>
              <a:srgbClr val="FFB400"/>
            </a:solidFill>
          </a:ln>
        </p:spPr>
        <p:txBody>
          <a:bodyPr rtlCol="0" anchor="ctr"/>
          <a:lstStyle/>
          <a:p>
            <a:pPr algn="ctr"/>
          </a:p>
        </p:txBody>
      </p:sp>
      <p:sp>
        <p:nvSpPr>
          <p:cNvPr id="48" name="Rounded Rectangle 47"/>
          <p:cNvSpPr/>
          <p:nvPr/>
        </p:nvSpPr>
        <p:spPr>
          <a:xfrm>
            <a:off x="8418698" y="4487875"/>
            <a:ext cx="116495" cy="394289"/>
          </a:xfrm>
          <a:prstGeom prst="roundRect">
            <a:avLst>
              <a:gd name="adj" fmla="val 46153"/>
            </a:avLst>
          </a:prstGeom>
          <a:solidFill>
            <a:srgbClr val="12161C"/>
          </a:solidFill>
          <a:ln w="31750">
            <a:solidFill>
              <a:srgbClr val="FFB400"/>
            </a:solidFill>
          </a:ln>
        </p:spPr>
        <p:txBody>
          <a:bodyPr rtlCol="0" anchor="ctr"/>
          <a:lstStyle/>
          <a:p>
            <a:pPr algn="ctr"/>
          </a:p>
        </p:txBody>
      </p:sp>
      <p:sp>
        <p:nvSpPr>
          <p:cNvPr id="49" name="Rounded Rectangle 48"/>
          <p:cNvSpPr/>
          <p:nvPr/>
        </p:nvSpPr>
        <p:spPr>
          <a:xfrm rot="19680000">
            <a:off x="7854147" y="4864242"/>
            <a:ext cx="286756" cy="125456"/>
          </a:xfrm>
          <a:prstGeom prst="roundRect">
            <a:avLst>
              <a:gd name="adj" fmla="val 50000"/>
            </a:avLst>
          </a:prstGeom>
          <a:solidFill>
            <a:srgbClr val="12161C"/>
          </a:solidFill>
          <a:ln w="31750">
            <a:solidFill>
              <a:srgbClr val="FFB400"/>
            </a:solidFill>
          </a:ln>
        </p:spPr>
        <p:txBody>
          <a:bodyPr rtlCol="0" anchor="ctr"/>
          <a:lstStyle/>
          <a:p>
            <a:pPr algn="ctr"/>
          </a:p>
        </p:txBody>
      </p:sp>
      <p:sp>
        <p:nvSpPr>
          <p:cNvPr id="50" name="TextBox 49"/>
          <p:cNvSpPr txBox="1"/>
          <p:nvPr/>
        </p:nvSpPr>
        <p:spPr>
          <a:xfrm>
            <a:off x="9006840" y="4288536"/>
            <a:ext cx="2468880" cy="502920"/>
          </a:xfrm>
          <a:prstGeom prst="rect">
            <a:avLst/>
          </a:prstGeom>
          <a:noFill/>
        </p:spPr>
        <p:txBody>
          <a:bodyPr wrap="square" anchor="t" lIns="0" rIns="0" tIns="0" bIns="0">
            <a:noAutofit/>
          </a:bodyPr>
          <a:lstStyle/>
          <a:p>
            <a:pPr algn="l">
              <a:lnSpc>
                <a:spcPct val="100000"/>
              </a:lnSpc>
              <a:spcBef>
                <a:spcPts val="0"/>
              </a:spcBef>
              <a:spcAft>
                <a:spcPts val="0"/>
              </a:spcAft>
            </a:pPr>
            <a:r>
              <a:rPr sz="2200" b="0" i="0">
                <a:solidFill>
                  <a:srgbClr val="12161C"/>
                </a:solidFill>
                <a:latin typeface="Arial Black"/>
              </a:rPr>
              <a:t>OPEN HAND</a:t>
            </a:r>
          </a:p>
        </p:txBody>
      </p:sp>
      <p:sp>
        <p:nvSpPr>
          <p:cNvPr id="51" name="TextBox 50"/>
          <p:cNvSpPr txBox="1"/>
          <p:nvPr/>
        </p:nvSpPr>
        <p:spPr>
          <a:xfrm>
            <a:off x="9006840" y="4764024"/>
            <a:ext cx="2468880" cy="502920"/>
          </a:xfrm>
          <a:prstGeom prst="rect">
            <a:avLst/>
          </a:prstGeom>
          <a:noFill/>
        </p:spPr>
        <p:txBody>
          <a:bodyPr wrap="square" anchor="t" lIns="0" rIns="0" tIns="0" bIns="0">
            <a:noAutofit/>
          </a:bodyPr>
          <a:lstStyle/>
          <a:p>
            <a:pPr algn="l">
              <a:lnSpc>
                <a:spcPct val="100000"/>
              </a:lnSpc>
              <a:spcBef>
                <a:spcPts val="0"/>
              </a:spcBef>
              <a:spcAft>
                <a:spcPts val="0"/>
              </a:spcAft>
            </a:pPr>
            <a:r>
              <a:rPr sz="2200" b="1" i="0">
                <a:solidFill>
                  <a:srgbClr val="12161C"/>
                </a:solidFill>
                <a:latin typeface="Arial"/>
              </a:rPr>
              <a:t>= KINETIC</a:t>
            </a:r>
          </a:p>
        </p:txBody>
      </p:sp>
      <p:sp>
        <p:nvSpPr>
          <p:cNvPr id="52" name="Rounded Rectangle 51"/>
          <p:cNvSpPr/>
          <p:nvPr/>
        </p:nvSpPr>
        <p:spPr>
          <a:xfrm>
            <a:off x="7680960" y="3913632"/>
            <a:ext cx="868680" cy="310896"/>
          </a:xfrm>
          <a:prstGeom prst="roundRect">
            <a:avLst>
              <a:gd name="adj" fmla="val 50000"/>
            </a:avLst>
          </a:prstGeom>
          <a:solidFill>
            <a:srgbClr val="12161C"/>
          </a:solidFill>
          <a:ln w="19050">
            <a:solidFill>
              <a:srgbClr val="FFB400"/>
            </a:solidFill>
          </a:ln>
        </p:spPr>
        <p:txBody>
          <a:bodyPr rtlCol="0" anchor="ctr" wrap="square" lIns="0" rIns="0" tIns="0" bIns="0">
            <a:noAutofit/>
          </a:bodyPr>
          <a:lstStyle/>
          <a:p>
            <a:pPr algn="ctr">
              <a:lnSpc>
                <a:spcPct val="100000"/>
              </a:lnSpc>
              <a:spcBef>
                <a:spcPts val="0"/>
              </a:spcBef>
              <a:spcAft>
                <a:spcPts val="0"/>
              </a:spcAft>
            </a:pPr>
            <a:r>
              <a:rPr sz="1300" b="1" i="0" spc="150">
                <a:solidFill>
                  <a:srgbClr val="FFB400"/>
                </a:solidFill>
                <a:latin typeface="Arial Narrow"/>
              </a:rPr>
              <a:t>THEN</a:t>
            </a:r>
          </a:p>
        </p:txBody>
      </p:sp>
      <p:sp>
        <p:nvSpPr>
          <p:cNvPr id="53" name="Rounded Rectangle 52"/>
          <p:cNvSpPr/>
          <p:nvPr/>
        </p:nvSpPr>
        <p:spPr>
          <a:xfrm>
            <a:off x="685800" y="5577840"/>
            <a:ext cx="10817352" cy="658368"/>
          </a:xfrm>
          <a:prstGeom prst="roundRect">
            <a:avLst>
              <a:gd name="adj" fmla="val 16666"/>
            </a:avLst>
          </a:prstGeom>
          <a:solidFill>
            <a:srgbClr val="232B36"/>
          </a:solidFill>
          <a:ln>
            <a:noFill/>
          </a:ln>
        </p:spPr>
        <p:txBody>
          <a:bodyPr rtlCol="0" anchor="ctr"/>
          <a:lstStyle/>
          <a:p>
            <a:pPr algn="ctr"/>
          </a:p>
        </p:txBody>
      </p:sp>
      <p:sp>
        <p:nvSpPr>
          <p:cNvPr id="54" name="TextBox 53"/>
          <p:cNvSpPr txBox="1"/>
          <p:nvPr/>
        </p:nvSpPr>
        <p:spPr>
          <a:xfrm>
            <a:off x="914400" y="5577840"/>
            <a:ext cx="10424160" cy="658368"/>
          </a:xfrm>
          <a:prstGeom prst="rect">
            <a:avLst/>
          </a:prstGeom>
          <a:noFill/>
        </p:spPr>
        <p:txBody>
          <a:bodyPr wrap="square" anchor="ctr" lIns="0" rIns="0" tIns="0" bIns="0">
            <a:noAutofit/>
          </a:bodyPr>
          <a:lstStyle/>
          <a:p>
            <a:pPr algn="l">
              <a:lnSpc>
                <a:spcPct val="100000"/>
              </a:lnSpc>
              <a:spcBef>
                <a:spcPts val="0"/>
              </a:spcBef>
              <a:spcAft>
                <a:spcPts val="0"/>
              </a:spcAft>
            </a:pPr>
            <a:r>
              <a:rPr sz="2000" b="1" i="0">
                <a:solidFill>
                  <a:srgbClr val="FFB400"/>
                </a:solidFill>
                <a:latin typeface="Arial"/>
              </a:rPr>
              <a:t>POTENTIAL → KINETIC</a:t>
            </a:r>
            <a:r>
              <a:rPr sz="2000" b="0" i="0">
                <a:solidFill>
                  <a:srgbClr val="F4F6F8"/>
                </a:solidFill>
                <a:latin typeface="Arial"/>
              </a:rPr>
              <a:t>   Still, then moving: potential energy becomes kinetic energy.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A9B3C0"/>
                </a:solidFill>
                <a:latin typeface="Arial Narrow"/>
              </a:rPr>
              <a:t>ACT 2 · VOCABULARY</a:t>
            </a:r>
          </a:p>
        </p:txBody>
      </p:sp>
      <p:sp>
        <p:nvSpPr>
          <p:cNvPr id="4" name="TextBox 3"/>
          <p:cNvSpPr txBox="1"/>
          <p:nvPr/>
        </p:nvSpPr>
        <p:spPr>
          <a:xfrm>
            <a:off x="7315200" y="310896"/>
            <a:ext cx="4187952" cy="274320"/>
          </a:xfrm>
          <a:prstGeom prst="rect">
            <a:avLst/>
          </a:prstGeom>
          <a:noFill/>
        </p:spPr>
        <p:txBody>
          <a:bodyPr wrap="square" anchor="t" lIns="0" rIns="0" tIns="0" bIns="0">
            <a:noAutofit/>
          </a:bodyPr>
          <a:lstStyle/>
          <a:p>
            <a:pPr algn="r">
              <a:lnSpc>
                <a:spcPct val="100000"/>
              </a:lnSpc>
              <a:spcBef>
                <a:spcPts val="0"/>
              </a:spcBef>
              <a:spcAft>
                <a:spcPts val="0"/>
              </a:spcAft>
            </a:pPr>
            <a:r>
              <a:rPr sz="1300" b="1" i="0" spc="220">
                <a:solidFill>
                  <a:srgbClr val="6F7A89"/>
                </a:solidFill>
                <a:latin typeface="Arial Narrow"/>
              </a:rPr>
              <a:t>DYNAMICS ENGINEER</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6F7A89"/>
                </a:solidFill>
                <a:latin typeface="Arial Narrow"/>
              </a:rPr>
              <a:t>ENERGY LAB  ·  CRASH TEST #05</a:t>
            </a:r>
          </a:p>
        </p:txBody>
      </p:sp>
      <p:sp>
        <p:nvSpPr>
          <p:cNvPr id="6" name="Rectangle 5"/>
          <p:cNvSpPr/>
          <p:nvPr/>
        </p:nvSpPr>
        <p:spPr>
          <a:xfrm>
            <a:off x="4526280" y="6510528"/>
            <a:ext cx="127363" cy="54864"/>
          </a:xfrm>
          <a:prstGeom prst="rect">
            <a:avLst/>
          </a:prstGeom>
          <a:solidFill>
            <a:srgbClr val="8A6A1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8A6A1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8A6A1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FFB400"/>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2A3240"/>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2A3240"/>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2A3240"/>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2A3240"/>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2A3240"/>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2A3240"/>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2A3240"/>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2A3240"/>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2A3240"/>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2A3240"/>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6F7A89"/>
                </a:solidFill>
                <a:latin typeface="Arial Narrow"/>
              </a:rPr>
              <a:t>21</a:t>
            </a:fld>
          </a:p>
        </p:txBody>
      </p:sp>
      <p:sp>
        <p:nvSpPr>
          <p:cNvPr id="21" name="TextBox 20"/>
          <p:cNvSpPr txBox="1"/>
          <p:nvPr/>
        </p:nvSpPr>
        <p:spPr>
          <a:xfrm>
            <a:off x="685800" y="100584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A9B3C0"/>
                </a:solidFill>
                <a:latin typeface="Arial Narrow"/>
              </a:rPr>
              <a:t>ACT 2 · ENGINEERING VOCABULARY</a:t>
            </a:r>
          </a:p>
        </p:txBody>
      </p:sp>
      <p:sp>
        <p:nvSpPr>
          <p:cNvPr id="22" name="TextBox 21"/>
          <p:cNvSpPr txBox="1"/>
          <p:nvPr/>
        </p:nvSpPr>
        <p:spPr>
          <a:xfrm>
            <a:off x="685800" y="1371600"/>
            <a:ext cx="10789920" cy="1005840"/>
          </a:xfrm>
          <a:prstGeom prst="rect">
            <a:avLst/>
          </a:prstGeom>
          <a:noFill/>
        </p:spPr>
        <p:txBody>
          <a:bodyPr wrap="square" anchor="t" lIns="0" rIns="0" tIns="0" bIns="0">
            <a:noAutofit/>
          </a:bodyPr>
          <a:lstStyle/>
          <a:p>
            <a:pPr algn="l">
              <a:lnSpc>
                <a:spcPct val="100000"/>
              </a:lnSpc>
              <a:spcBef>
                <a:spcPts val="0"/>
              </a:spcBef>
              <a:spcAft>
                <a:spcPts val="0"/>
              </a:spcAft>
            </a:pPr>
            <a:r>
              <a:rPr sz="5200" b="0" i="0">
                <a:solidFill>
                  <a:srgbClr val="F4F6F8"/>
                </a:solidFill>
                <a:latin typeface="Arial Black"/>
              </a:rPr>
              <a:t>SPEAK LIKE AN ENGINEER.</a:t>
            </a:r>
          </a:p>
        </p:txBody>
      </p:sp>
      <p:sp>
        <p:nvSpPr>
          <p:cNvPr id="23" name="TextBox 22"/>
          <p:cNvSpPr txBox="1"/>
          <p:nvPr/>
        </p:nvSpPr>
        <p:spPr>
          <a:xfrm>
            <a:off x="685800" y="2514600"/>
            <a:ext cx="9692640" cy="822960"/>
          </a:xfrm>
          <a:prstGeom prst="rect">
            <a:avLst/>
          </a:prstGeom>
          <a:noFill/>
        </p:spPr>
        <p:txBody>
          <a:bodyPr wrap="square" anchor="t" lIns="0" rIns="0" tIns="0" bIns="0">
            <a:noAutofit/>
          </a:bodyPr>
          <a:lstStyle/>
          <a:p>
            <a:pPr algn="l">
              <a:lnSpc>
                <a:spcPct val="100000"/>
              </a:lnSpc>
              <a:spcBef>
                <a:spcPts val="0"/>
              </a:spcBef>
              <a:spcAft>
                <a:spcPts val="0"/>
              </a:spcAft>
            </a:pPr>
            <a:r>
              <a:rPr sz="2400" b="0" i="0">
                <a:solidFill>
                  <a:srgbClr val="A9B3C0"/>
                </a:solidFill>
                <a:latin typeface="Arial"/>
              </a:rPr>
              <a:t>Ten words from the textbook. You will need every one of them for the reading, the listening, and the final test.</a:t>
            </a:r>
          </a:p>
        </p:txBody>
      </p:sp>
      <p:sp>
        <p:nvSpPr>
          <p:cNvPr id="24" name="Rounded Rectangle 23"/>
          <p:cNvSpPr/>
          <p:nvPr/>
        </p:nvSpPr>
        <p:spPr>
          <a:xfrm>
            <a:off x="685800" y="3794760"/>
            <a:ext cx="1993392" cy="749808"/>
          </a:xfrm>
          <a:prstGeom prst="roundRect">
            <a:avLst>
              <a:gd name="adj" fmla="val 14634"/>
            </a:avLst>
          </a:prstGeom>
          <a:solidFill>
            <a:srgbClr val="232B36"/>
          </a:solidFill>
          <a:ln w="19050">
            <a:solidFill>
              <a:srgbClr val="323C4A"/>
            </a:solidFill>
          </a:ln>
        </p:spPr>
        <p:txBody>
          <a:bodyPr rtlCol="0" anchor="ctr" wrap="square" lIns="0" rIns="0" tIns="0" bIns="0">
            <a:noAutofit/>
          </a:bodyPr>
          <a:lstStyle/>
          <a:p>
            <a:pPr algn="ctr">
              <a:lnSpc>
                <a:spcPct val="100000"/>
              </a:lnSpc>
              <a:spcBef>
                <a:spcPts val="0"/>
              </a:spcBef>
              <a:spcAft>
                <a:spcPts val="0"/>
              </a:spcAft>
            </a:pPr>
            <a:r>
              <a:rPr sz="1600" b="1" i="0">
                <a:solidFill>
                  <a:srgbClr val="F4F6F8"/>
                </a:solidFill>
                <a:latin typeface="Arial"/>
              </a:rPr>
              <a:t>DECELERATE</a:t>
            </a:r>
          </a:p>
        </p:txBody>
      </p:sp>
      <p:sp>
        <p:nvSpPr>
          <p:cNvPr id="25" name="Rounded Rectangle 24"/>
          <p:cNvSpPr/>
          <p:nvPr/>
        </p:nvSpPr>
        <p:spPr>
          <a:xfrm>
            <a:off x="2816352" y="3794760"/>
            <a:ext cx="1993392" cy="749808"/>
          </a:xfrm>
          <a:prstGeom prst="roundRect">
            <a:avLst>
              <a:gd name="adj" fmla="val 14634"/>
            </a:avLst>
          </a:prstGeom>
          <a:solidFill>
            <a:srgbClr val="232B36"/>
          </a:solidFill>
          <a:ln w="19050">
            <a:solidFill>
              <a:srgbClr val="323C4A"/>
            </a:solidFill>
          </a:ln>
        </p:spPr>
        <p:txBody>
          <a:bodyPr rtlCol="0" anchor="ctr" wrap="square" lIns="0" rIns="0" tIns="0" bIns="0">
            <a:noAutofit/>
          </a:bodyPr>
          <a:lstStyle/>
          <a:p>
            <a:pPr algn="ctr">
              <a:lnSpc>
                <a:spcPct val="100000"/>
              </a:lnSpc>
              <a:spcBef>
                <a:spcPts val="0"/>
              </a:spcBef>
              <a:spcAft>
                <a:spcPts val="0"/>
              </a:spcAft>
            </a:pPr>
            <a:r>
              <a:rPr sz="1400" b="1" i="0">
                <a:solidFill>
                  <a:srgbClr val="F4F6F8"/>
                </a:solidFill>
                <a:latin typeface="Arial"/>
              </a:rPr>
              <a:t>STOPPING DISTANCE</a:t>
            </a:r>
          </a:p>
        </p:txBody>
      </p:sp>
      <p:sp>
        <p:nvSpPr>
          <p:cNvPr id="26" name="Rounded Rectangle 25"/>
          <p:cNvSpPr/>
          <p:nvPr/>
        </p:nvSpPr>
        <p:spPr>
          <a:xfrm>
            <a:off x="4946904" y="3794760"/>
            <a:ext cx="1993392" cy="749808"/>
          </a:xfrm>
          <a:prstGeom prst="roundRect">
            <a:avLst>
              <a:gd name="adj" fmla="val 14634"/>
            </a:avLst>
          </a:prstGeom>
          <a:solidFill>
            <a:srgbClr val="232B36"/>
          </a:solidFill>
          <a:ln w="19050">
            <a:solidFill>
              <a:srgbClr val="323C4A"/>
            </a:solidFill>
          </a:ln>
        </p:spPr>
        <p:txBody>
          <a:bodyPr rtlCol="0" anchor="ctr" wrap="square" lIns="0" rIns="0" tIns="0" bIns="0">
            <a:noAutofit/>
          </a:bodyPr>
          <a:lstStyle/>
          <a:p>
            <a:pPr algn="ctr">
              <a:lnSpc>
                <a:spcPct val="100000"/>
              </a:lnSpc>
              <a:spcBef>
                <a:spcPts val="0"/>
              </a:spcBef>
              <a:spcAft>
                <a:spcPts val="0"/>
              </a:spcAft>
            </a:pPr>
            <a:r>
              <a:rPr sz="1400" b="1" i="0">
                <a:solidFill>
                  <a:srgbClr val="F4F6F8"/>
                </a:solidFill>
                <a:latin typeface="Arial"/>
              </a:rPr>
              <a:t>KINETIC ENERGY</a:t>
            </a:r>
          </a:p>
        </p:txBody>
      </p:sp>
      <p:sp>
        <p:nvSpPr>
          <p:cNvPr id="27" name="Rounded Rectangle 26"/>
          <p:cNvSpPr/>
          <p:nvPr/>
        </p:nvSpPr>
        <p:spPr>
          <a:xfrm>
            <a:off x="7077456" y="3794760"/>
            <a:ext cx="1993392" cy="749808"/>
          </a:xfrm>
          <a:prstGeom prst="roundRect">
            <a:avLst>
              <a:gd name="adj" fmla="val 14634"/>
            </a:avLst>
          </a:prstGeom>
          <a:solidFill>
            <a:srgbClr val="232B36"/>
          </a:solidFill>
          <a:ln w="19050">
            <a:solidFill>
              <a:srgbClr val="323C4A"/>
            </a:solidFill>
          </a:ln>
        </p:spPr>
        <p:txBody>
          <a:bodyPr rtlCol="0" anchor="ctr" wrap="square" lIns="0" rIns="0" tIns="0" bIns="0">
            <a:noAutofit/>
          </a:bodyPr>
          <a:lstStyle/>
          <a:p>
            <a:pPr algn="ctr">
              <a:lnSpc>
                <a:spcPct val="100000"/>
              </a:lnSpc>
              <a:spcBef>
                <a:spcPts val="0"/>
              </a:spcBef>
              <a:spcAft>
                <a:spcPts val="0"/>
              </a:spcAft>
            </a:pPr>
            <a:r>
              <a:rPr sz="1400" b="1" i="0">
                <a:solidFill>
                  <a:srgbClr val="F4F6F8"/>
                </a:solidFill>
                <a:latin typeface="Arial"/>
              </a:rPr>
              <a:t>POTENTIAL ENERGY</a:t>
            </a:r>
          </a:p>
        </p:txBody>
      </p:sp>
      <p:sp>
        <p:nvSpPr>
          <p:cNvPr id="28" name="Rounded Rectangle 27"/>
          <p:cNvSpPr/>
          <p:nvPr/>
        </p:nvSpPr>
        <p:spPr>
          <a:xfrm>
            <a:off x="9208008" y="3794760"/>
            <a:ext cx="1993392" cy="749808"/>
          </a:xfrm>
          <a:prstGeom prst="roundRect">
            <a:avLst>
              <a:gd name="adj" fmla="val 14634"/>
            </a:avLst>
          </a:prstGeom>
          <a:solidFill>
            <a:srgbClr val="232B36"/>
          </a:solidFill>
          <a:ln w="19050">
            <a:solidFill>
              <a:srgbClr val="323C4A"/>
            </a:solidFill>
          </a:ln>
        </p:spPr>
        <p:txBody>
          <a:bodyPr rtlCol="0" anchor="ctr" wrap="square" lIns="0" rIns="0" tIns="0" bIns="0">
            <a:noAutofit/>
          </a:bodyPr>
          <a:lstStyle/>
          <a:p>
            <a:pPr algn="ctr">
              <a:lnSpc>
                <a:spcPct val="100000"/>
              </a:lnSpc>
              <a:spcBef>
                <a:spcPts val="0"/>
              </a:spcBef>
              <a:spcAft>
                <a:spcPts val="0"/>
              </a:spcAft>
            </a:pPr>
            <a:r>
              <a:rPr sz="1600" b="1" i="0">
                <a:solidFill>
                  <a:srgbClr val="F4F6F8"/>
                </a:solidFill>
                <a:latin typeface="Arial"/>
              </a:rPr>
              <a:t>FORCE</a:t>
            </a:r>
          </a:p>
        </p:txBody>
      </p:sp>
      <p:sp>
        <p:nvSpPr>
          <p:cNvPr id="29" name="Rounded Rectangle 28"/>
          <p:cNvSpPr/>
          <p:nvPr/>
        </p:nvSpPr>
        <p:spPr>
          <a:xfrm>
            <a:off x="685800" y="4754880"/>
            <a:ext cx="1993392" cy="749808"/>
          </a:xfrm>
          <a:prstGeom prst="roundRect">
            <a:avLst>
              <a:gd name="adj" fmla="val 14634"/>
            </a:avLst>
          </a:prstGeom>
          <a:solidFill>
            <a:srgbClr val="232B36"/>
          </a:solidFill>
          <a:ln w="19050">
            <a:solidFill>
              <a:srgbClr val="323C4A"/>
            </a:solidFill>
          </a:ln>
        </p:spPr>
        <p:txBody>
          <a:bodyPr rtlCol="0" anchor="ctr" wrap="square" lIns="0" rIns="0" tIns="0" bIns="0">
            <a:noAutofit/>
          </a:bodyPr>
          <a:lstStyle/>
          <a:p>
            <a:pPr algn="ctr">
              <a:lnSpc>
                <a:spcPct val="100000"/>
              </a:lnSpc>
              <a:spcBef>
                <a:spcPts val="0"/>
              </a:spcBef>
              <a:spcAft>
                <a:spcPts val="0"/>
              </a:spcAft>
            </a:pPr>
            <a:r>
              <a:rPr sz="1600" b="1" i="0">
                <a:solidFill>
                  <a:srgbClr val="F4F6F8"/>
                </a:solidFill>
                <a:latin typeface="Arial"/>
              </a:rPr>
              <a:t>WORK</a:t>
            </a:r>
          </a:p>
        </p:txBody>
      </p:sp>
      <p:sp>
        <p:nvSpPr>
          <p:cNvPr id="30" name="Rounded Rectangle 29"/>
          <p:cNvSpPr/>
          <p:nvPr/>
        </p:nvSpPr>
        <p:spPr>
          <a:xfrm>
            <a:off x="2816352" y="4754880"/>
            <a:ext cx="1993392" cy="749808"/>
          </a:xfrm>
          <a:prstGeom prst="roundRect">
            <a:avLst>
              <a:gd name="adj" fmla="val 14634"/>
            </a:avLst>
          </a:prstGeom>
          <a:solidFill>
            <a:srgbClr val="232B36"/>
          </a:solidFill>
          <a:ln w="19050">
            <a:solidFill>
              <a:srgbClr val="323C4A"/>
            </a:solidFill>
          </a:ln>
        </p:spPr>
        <p:txBody>
          <a:bodyPr rtlCol="0" anchor="ctr" wrap="square" lIns="0" rIns="0" tIns="0" bIns="0">
            <a:noAutofit/>
          </a:bodyPr>
          <a:lstStyle/>
          <a:p>
            <a:pPr algn="ctr">
              <a:lnSpc>
                <a:spcPct val="100000"/>
              </a:lnSpc>
              <a:spcBef>
                <a:spcPts val="0"/>
              </a:spcBef>
              <a:spcAft>
                <a:spcPts val="0"/>
              </a:spcAft>
            </a:pPr>
            <a:r>
              <a:rPr sz="1600" b="1" i="0">
                <a:solidFill>
                  <a:srgbClr val="F4F6F8"/>
                </a:solidFill>
                <a:latin typeface="Arial"/>
              </a:rPr>
              <a:t>ABSTRACT</a:t>
            </a:r>
          </a:p>
        </p:txBody>
      </p:sp>
      <p:sp>
        <p:nvSpPr>
          <p:cNvPr id="31" name="Rounded Rectangle 30"/>
          <p:cNvSpPr/>
          <p:nvPr/>
        </p:nvSpPr>
        <p:spPr>
          <a:xfrm>
            <a:off x="4946904" y="4754880"/>
            <a:ext cx="1993392" cy="749808"/>
          </a:xfrm>
          <a:prstGeom prst="roundRect">
            <a:avLst>
              <a:gd name="adj" fmla="val 14634"/>
            </a:avLst>
          </a:prstGeom>
          <a:solidFill>
            <a:srgbClr val="232B36"/>
          </a:solidFill>
          <a:ln w="19050">
            <a:solidFill>
              <a:srgbClr val="323C4A"/>
            </a:solidFill>
          </a:ln>
        </p:spPr>
        <p:txBody>
          <a:bodyPr rtlCol="0" anchor="ctr" wrap="square" lIns="0" rIns="0" tIns="0" bIns="0">
            <a:noAutofit/>
          </a:bodyPr>
          <a:lstStyle/>
          <a:p>
            <a:pPr algn="ctr">
              <a:lnSpc>
                <a:spcPct val="100000"/>
              </a:lnSpc>
              <a:spcBef>
                <a:spcPts val="0"/>
              </a:spcBef>
              <a:spcAft>
                <a:spcPts val="0"/>
              </a:spcAft>
            </a:pPr>
            <a:r>
              <a:rPr sz="1400" b="1" i="0">
                <a:solidFill>
                  <a:srgbClr val="F4F6F8"/>
                </a:solidFill>
                <a:latin typeface="Arial"/>
              </a:rPr>
              <a:t>WORK-ENERGY PRINCIPLE</a:t>
            </a:r>
          </a:p>
        </p:txBody>
      </p:sp>
      <p:sp>
        <p:nvSpPr>
          <p:cNvPr id="32" name="Rounded Rectangle 31"/>
          <p:cNvSpPr/>
          <p:nvPr/>
        </p:nvSpPr>
        <p:spPr>
          <a:xfrm>
            <a:off x="7077456" y="4754880"/>
            <a:ext cx="1993392" cy="749808"/>
          </a:xfrm>
          <a:prstGeom prst="roundRect">
            <a:avLst>
              <a:gd name="adj" fmla="val 14634"/>
            </a:avLst>
          </a:prstGeom>
          <a:solidFill>
            <a:srgbClr val="232B36"/>
          </a:solidFill>
          <a:ln w="19050">
            <a:solidFill>
              <a:srgbClr val="323C4A"/>
            </a:solidFill>
          </a:ln>
        </p:spPr>
        <p:txBody>
          <a:bodyPr rtlCol="0" anchor="ctr" wrap="square" lIns="0" rIns="0" tIns="0" bIns="0">
            <a:noAutofit/>
          </a:bodyPr>
          <a:lstStyle/>
          <a:p>
            <a:pPr algn="ctr">
              <a:lnSpc>
                <a:spcPct val="100000"/>
              </a:lnSpc>
              <a:spcBef>
                <a:spcPts val="0"/>
              </a:spcBef>
              <a:spcAft>
                <a:spcPts val="0"/>
              </a:spcAft>
            </a:pPr>
            <a:r>
              <a:rPr sz="1600" b="1" i="0">
                <a:solidFill>
                  <a:srgbClr val="F4F6F8"/>
                </a:solidFill>
                <a:latin typeface="Arial"/>
              </a:rPr>
              <a:t>G</a:t>
            </a:r>
          </a:p>
        </p:txBody>
      </p:sp>
      <p:sp>
        <p:nvSpPr>
          <p:cNvPr id="33" name="Rounded Rectangle 32"/>
          <p:cNvSpPr/>
          <p:nvPr/>
        </p:nvSpPr>
        <p:spPr>
          <a:xfrm>
            <a:off x="9208008" y="4754880"/>
            <a:ext cx="1993392" cy="749808"/>
          </a:xfrm>
          <a:prstGeom prst="roundRect">
            <a:avLst>
              <a:gd name="adj" fmla="val 14634"/>
            </a:avLst>
          </a:prstGeom>
          <a:solidFill>
            <a:srgbClr val="232B36"/>
          </a:solidFill>
          <a:ln w="19050">
            <a:solidFill>
              <a:srgbClr val="323C4A"/>
            </a:solidFill>
          </a:ln>
        </p:spPr>
        <p:txBody>
          <a:bodyPr rtlCol="0" anchor="ctr" wrap="square" lIns="0" rIns="0" tIns="0" bIns="0">
            <a:noAutofit/>
          </a:bodyPr>
          <a:lstStyle/>
          <a:p>
            <a:pPr algn="ctr">
              <a:lnSpc>
                <a:spcPct val="100000"/>
              </a:lnSpc>
              <a:spcBef>
                <a:spcPts val="0"/>
              </a:spcBef>
              <a:spcAft>
                <a:spcPts val="0"/>
              </a:spcAft>
            </a:pPr>
            <a:r>
              <a:rPr sz="1600" b="1" i="0">
                <a:solidFill>
                  <a:srgbClr val="F4F6F8"/>
                </a:solidFill>
                <a:latin typeface="Arial"/>
              </a:rPr>
              <a:t>TRANSFER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12161C"/>
                </a:solidFill>
                <a:latin typeface="Arial Narrow"/>
              </a:rPr>
              <a:t>ACT 2 · VOCABULARY</a:t>
            </a:r>
          </a:p>
        </p:txBody>
      </p:sp>
      <p:sp>
        <p:nvSpPr>
          <p:cNvPr id="4" name="TextBox 3"/>
          <p:cNvSpPr txBox="1"/>
          <p:nvPr/>
        </p:nvSpPr>
        <p:spPr>
          <a:xfrm>
            <a:off x="7315200" y="310896"/>
            <a:ext cx="4187952" cy="274320"/>
          </a:xfrm>
          <a:prstGeom prst="rect">
            <a:avLst/>
          </a:prstGeom>
          <a:noFill/>
        </p:spPr>
        <p:txBody>
          <a:bodyPr wrap="square" anchor="t" lIns="0" rIns="0" tIns="0" bIns="0">
            <a:noAutofit/>
          </a:bodyPr>
          <a:lstStyle/>
          <a:p>
            <a:pPr algn="r">
              <a:lnSpc>
                <a:spcPct val="100000"/>
              </a:lnSpc>
              <a:spcBef>
                <a:spcPts val="0"/>
              </a:spcBef>
              <a:spcAft>
                <a:spcPts val="0"/>
              </a:spcAft>
            </a:pPr>
            <a:r>
              <a:rPr sz="1300" b="1" i="0" spc="220">
                <a:solidFill>
                  <a:srgbClr val="8A93A0"/>
                </a:solidFill>
                <a:latin typeface="Arial Narrow"/>
              </a:rPr>
              <a:t>DYNAMICS ENGINEER</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8A93A0"/>
                </a:solidFill>
                <a:latin typeface="Arial Narrow"/>
              </a:rPr>
              <a:t>ENERGY LAB  ·  CRASH TEST #05</a:t>
            </a:r>
          </a:p>
        </p:txBody>
      </p:sp>
      <p:sp>
        <p:nvSpPr>
          <p:cNvPr id="6" name="Rectangle 5"/>
          <p:cNvSpPr/>
          <p:nvPr/>
        </p:nvSpPr>
        <p:spPr>
          <a:xfrm>
            <a:off x="4526280" y="6510528"/>
            <a:ext cx="127363" cy="54864"/>
          </a:xfrm>
          <a:prstGeom prst="rect">
            <a:avLst/>
          </a:prstGeom>
          <a:solidFill>
            <a:srgbClr val="D9B55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D9B55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D9B55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FFB400"/>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D5D0C4"/>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D5D0C4"/>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D5D0C4"/>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D5D0C4"/>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D5D0C4"/>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D5D0C4"/>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D5D0C4"/>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D5D0C4"/>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D5D0C4"/>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D5D0C4"/>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8A93A0"/>
                </a:solidFill>
                <a:latin typeface="Arial Narrow"/>
              </a:rPr>
              <a:t>22</a:t>
            </a:fld>
          </a:p>
        </p:txBody>
      </p:sp>
      <p:sp>
        <p:nvSpPr>
          <p:cNvPr id="21" name="Rounded Rectangle 20"/>
          <p:cNvSpPr/>
          <p:nvPr/>
        </p:nvSpPr>
        <p:spPr>
          <a:xfrm>
            <a:off x="9052560" y="914400"/>
            <a:ext cx="2278475" cy="274320"/>
          </a:xfrm>
          <a:prstGeom prst="roundRect">
            <a:avLst>
              <a:gd name="adj" fmla="val 50000"/>
            </a:avLst>
          </a:prstGeom>
          <a:noFill/>
          <a:ln w="19050">
            <a:solidFill>
              <a:srgbClr val="0B6A96"/>
            </a:solidFill>
          </a:ln>
        </p:spPr>
        <p:txBody>
          <a:bodyPr rtlCol="0" anchor="ctr" wrap="square" lIns="0" rIns="0" tIns="0" bIns="0">
            <a:noAutofit/>
          </a:bodyPr>
          <a:lstStyle/>
          <a:p>
            <a:pPr algn="ctr">
              <a:lnSpc>
                <a:spcPct val="100000"/>
              </a:lnSpc>
              <a:spcBef>
                <a:spcPts val="0"/>
              </a:spcBef>
              <a:spcAft>
                <a:spcPts val="0"/>
              </a:spcAft>
            </a:pPr>
            <a:r>
              <a:rPr sz="1300" b="1" i="0" spc="200">
                <a:solidFill>
                  <a:srgbClr val="0B6A96"/>
                </a:solidFill>
                <a:latin typeface="Arial Narrow"/>
              </a:rPr>
              <a:t>TEXTBOOK · TASK 3.1</a:t>
            </a:r>
          </a:p>
        </p:txBody>
      </p:sp>
      <p:sp>
        <p:nvSpPr>
          <p:cNvPr id="22" name="TextBox 21"/>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56606E"/>
                </a:solidFill>
                <a:latin typeface="Arial Narrow"/>
              </a:rPr>
              <a:t>VOCABULARY · 1 OF 6</a:t>
            </a:r>
          </a:p>
        </p:txBody>
      </p:sp>
      <p:sp>
        <p:nvSpPr>
          <p:cNvPr id="23" name="TextBox 22"/>
          <p:cNvSpPr txBox="1"/>
          <p:nvPr/>
        </p:nvSpPr>
        <p:spPr>
          <a:xfrm>
            <a:off x="685800" y="1234440"/>
            <a:ext cx="10789920" cy="1005840"/>
          </a:xfrm>
          <a:prstGeom prst="rect">
            <a:avLst/>
          </a:prstGeom>
          <a:noFill/>
        </p:spPr>
        <p:txBody>
          <a:bodyPr wrap="square" anchor="t" lIns="0" rIns="0" tIns="0" bIns="0">
            <a:noAutofit/>
          </a:bodyPr>
          <a:lstStyle/>
          <a:p>
            <a:pPr algn="l">
              <a:lnSpc>
                <a:spcPct val="100000"/>
              </a:lnSpc>
              <a:spcBef>
                <a:spcPts val="0"/>
              </a:spcBef>
              <a:spcAft>
                <a:spcPts val="0"/>
              </a:spcAft>
            </a:pPr>
            <a:r>
              <a:rPr sz="5600" b="0" i="0">
                <a:solidFill>
                  <a:srgbClr val="12161C"/>
                </a:solidFill>
                <a:latin typeface="Arial Black"/>
              </a:rPr>
              <a:t>DECELERATE</a:t>
            </a:r>
          </a:p>
        </p:txBody>
      </p:sp>
      <p:sp>
        <p:nvSpPr>
          <p:cNvPr id="24" name="Rounded Rectangle 23"/>
          <p:cNvSpPr/>
          <p:nvPr/>
        </p:nvSpPr>
        <p:spPr>
          <a:xfrm>
            <a:off x="685800" y="2423160"/>
            <a:ext cx="4297680" cy="658368"/>
          </a:xfrm>
          <a:prstGeom prst="roundRect">
            <a:avLst>
              <a:gd name="adj" fmla="val 38461"/>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2600" b="1" i="0">
                <a:solidFill>
                  <a:srgbClr val="12161C"/>
                </a:solidFill>
                <a:latin typeface="Arial"/>
              </a:rPr>
              <a:t>TO REDUCE SPEED</a:t>
            </a:r>
          </a:p>
        </p:txBody>
      </p:sp>
      <p:sp>
        <p:nvSpPr>
          <p:cNvPr id="25" name="Rounded Rectangle 24"/>
          <p:cNvSpPr/>
          <p:nvPr/>
        </p:nvSpPr>
        <p:spPr>
          <a:xfrm>
            <a:off x="685800" y="3429000"/>
            <a:ext cx="1724558" cy="1234440"/>
          </a:xfrm>
          <a:prstGeom prst="roundRect">
            <a:avLst>
              <a:gd name="adj" fmla="val 7407"/>
            </a:avLst>
          </a:prstGeom>
          <a:solidFill>
            <a:srgbClr val="12161C"/>
          </a:solidFill>
          <a:ln>
            <a:noFill/>
          </a:ln>
        </p:spPr>
        <p:txBody>
          <a:bodyPr rtlCol="0" anchor="ctr" wrap="square" lIns="0" rIns="0" tIns="0" bIns="0">
            <a:noAutofit/>
          </a:bodyPr>
          <a:lstStyle/>
          <a:p>
            <a:pPr algn="ctr">
              <a:lnSpc>
                <a:spcPct val="100000"/>
              </a:lnSpc>
              <a:spcBef>
                <a:spcPts val="0"/>
              </a:spcBef>
              <a:spcAft>
                <a:spcPts val="200"/>
              </a:spcAft>
            </a:pPr>
            <a:r>
              <a:rPr sz="3400" b="1" i="0">
                <a:solidFill>
                  <a:srgbClr val="FFFFFF"/>
                </a:solidFill>
                <a:latin typeface="Arial Black"/>
              </a:rPr>
              <a:t>120</a:t>
            </a:r>
          </a:p>
          <a:p>
            <a:pPr algn="ctr">
              <a:lnSpc>
                <a:spcPct val="100000"/>
              </a:lnSpc>
              <a:spcBef>
                <a:spcPts val="0"/>
              </a:spcBef>
              <a:spcAft>
                <a:spcPts val="200"/>
              </a:spcAft>
            </a:pPr>
            <a:r>
              <a:rPr sz="1300" b="1" i="0">
                <a:solidFill>
                  <a:srgbClr val="FFFFFF"/>
                </a:solidFill>
                <a:latin typeface="Arial"/>
              </a:rPr>
              <a:t>km/h</a:t>
            </a:r>
          </a:p>
        </p:txBody>
      </p:sp>
      <p:sp>
        <p:nvSpPr>
          <p:cNvPr id="26" name="Freeform 25"/>
          <p:cNvSpPr/>
          <p:nvPr/>
        </p:nvSpPr>
        <p:spPr>
          <a:xfrm>
            <a:off x="2465222" y="3836365"/>
            <a:ext cx="438912" cy="419710"/>
          </a:xfrm>
          <a:custGeom>
            <a:avLst/>
            <a:gdLst/>
            <a:ahLst/>
            <a:cxnLst/>
            <a:rect l="l" t="t" r="r" b="b"/>
            <a:pathLst>
              <a:path w="438912" h="419710">
                <a:moveTo>
                  <a:pt x="0" y="121716"/>
                </a:moveTo>
                <a:lnTo>
                  <a:pt x="241402" y="121716"/>
                </a:lnTo>
                <a:lnTo>
                  <a:pt x="241402" y="0"/>
                </a:lnTo>
                <a:lnTo>
                  <a:pt x="438912" y="209855"/>
                </a:lnTo>
                <a:lnTo>
                  <a:pt x="241402" y="419710"/>
                </a:lnTo>
                <a:lnTo>
                  <a:pt x="241402" y="297994"/>
                </a:lnTo>
                <a:lnTo>
                  <a:pt x="0" y="297994"/>
                </a:lnTo>
                <a:close/>
              </a:path>
            </a:pathLst>
          </a:custGeom>
          <a:solidFill>
            <a:srgbClr val="56606E"/>
          </a:solidFill>
          <a:ln>
            <a:noFill/>
          </a:ln>
        </p:spPr>
        <p:txBody>
          <a:bodyPr rtlCol="0" anchor="ctr"/>
          <a:lstStyle/>
          <a:p>
            <a:pPr algn="ctr"/>
          </a:p>
        </p:txBody>
      </p:sp>
      <p:sp>
        <p:nvSpPr>
          <p:cNvPr id="27" name="Rounded Rectangle 26"/>
          <p:cNvSpPr/>
          <p:nvPr/>
        </p:nvSpPr>
        <p:spPr>
          <a:xfrm>
            <a:off x="2958998" y="3429000"/>
            <a:ext cx="1724558" cy="1234440"/>
          </a:xfrm>
          <a:prstGeom prst="roundRect">
            <a:avLst>
              <a:gd name="adj" fmla="val 7407"/>
            </a:avLst>
          </a:prstGeom>
          <a:solidFill>
            <a:srgbClr val="3A4350"/>
          </a:solidFill>
          <a:ln>
            <a:noFill/>
          </a:ln>
        </p:spPr>
        <p:txBody>
          <a:bodyPr rtlCol="0" anchor="ctr" wrap="square" lIns="0" rIns="0" tIns="0" bIns="0">
            <a:noAutofit/>
          </a:bodyPr>
          <a:lstStyle/>
          <a:p>
            <a:pPr algn="ctr">
              <a:lnSpc>
                <a:spcPct val="100000"/>
              </a:lnSpc>
              <a:spcBef>
                <a:spcPts val="0"/>
              </a:spcBef>
              <a:spcAft>
                <a:spcPts val="200"/>
              </a:spcAft>
            </a:pPr>
            <a:r>
              <a:rPr sz="3400" b="1" i="0">
                <a:solidFill>
                  <a:srgbClr val="FFFFFF"/>
                </a:solidFill>
                <a:latin typeface="Arial Black"/>
              </a:rPr>
              <a:t>100</a:t>
            </a:r>
          </a:p>
          <a:p>
            <a:pPr algn="ctr">
              <a:lnSpc>
                <a:spcPct val="100000"/>
              </a:lnSpc>
              <a:spcBef>
                <a:spcPts val="0"/>
              </a:spcBef>
              <a:spcAft>
                <a:spcPts val="200"/>
              </a:spcAft>
            </a:pPr>
            <a:r>
              <a:rPr sz="1300" b="1" i="0">
                <a:solidFill>
                  <a:srgbClr val="FFFFFF"/>
                </a:solidFill>
                <a:latin typeface="Arial"/>
              </a:rPr>
              <a:t>km/h</a:t>
            </a:r>
          </a:p>
        </p:txBody>
      </p:sp>
      <p:sp>
        <p:nvSpPr>
          <p:cNvPr id="28" name="Freeform 27"/>
          <p:cNvSpPr/>
          <p:nvPr/>
        </p:nvSpPr>
        <p:spPr>
          <a:xfrm>
            <a:off x="4738421" y="3836365"/>
            <a:ext cx="438912" cy="419710"/>
          </a:xfrm>
          <a:custGeom>
            <a:avLst/>
            <a:gdLst/>
            <a:ahLst/>
            <a:cxnLst/>
            <a:rect l="l" t="t" r="r" b="b"/>
            <a:pathLst>
              <a:path w="438912" h="419710">
                <a:moveTo>
                  <a:pt x="0" y="121716"/>
                </a:moveTo>
                <a:lnTo>
                  <a:pt x="241401" y="121716"/>
                </a:lnTo>
                <a:lnTo>
                  <a:pt x="241401" y="0"/>
                </a:lnTo>
                <a:lnTo>
                  <a:pt x="438912" y="209855"/>
                </a:lnTo>
                <a:lnTo>
                  <a:pt x="241401" y="419710"/>
                </a:lnTo>
                <a:lnTo>
                  <a:pt x="241401" y="297994"/>
                </a:lnTo>
                <a:lnTo>
                  <a:pt x="0" y="297994"/>
                </a:lnTo>
                <a:close/>
              </a:path>
            </a:pathLst>
          </a:custGeom>
          <a:solidFill>
            <a:srgbClr val="56606E"/>
          </a:solidFill>
          <a:ln>
            <a:noFill/>
          </a:ln>
        </p:spPr>
        <p:txBody>
          <a:bodyPr rtlCol="0" anchor="ctr"/>
          <a:lstStyle/>
          <a:p>
            <a:pPr algn="ctr"/>
          </a:p>
        </p:txBody>
      </p:sp>
      <p:sp>
        <p:nvSpPr>
          <p:cNvPr id="29" name="Rounded Rectangle 28"/>
          <p:cNvSpPr/>
          <p:nvPr/>
        </p:nvSpPr>
        <p:spPr>
          <a:xfrm>
            <a:off x="5232197" y="3429000"/>
            <a:ext cx="1724558" cy="1234440"/>
          </a:xfrm>
          <a:prstGeom prst="roundRect">
            <a:avLst>
              <a:gd name="adj" fmla="val 7407"/>
            </a:avLst>
          </a:prstGeom>
          <a:solidFill>
            <a:srgbClr val="5A6472"/>
          </a:solidFill>
          <a:ln>
            <a:noFill/>
          </a:ln>
        </p:spPr>
        <p:txBody>
          <a:bodyPr rtlCol="0" anchor="ctr" wrap="square" lIns="0" rIns="0" tIns="0" bIns="0">
            <a:noAutofit/>
          </a:bodyPr>
          <a:lstStyle/>
          <a:p>
            <a:pPr algn="ctr">
              <a:lnSpc>
                <a:spcPct val="100000"/>
              </a:lnSpc>
              <a:spcBef>
                <a:spcPts val="0"/>
              </a:spcBef>
              <a:spcAft>
                <a:spcPts val="200"/>
              </a:spcAft>
            </a:pPr>
            <a:r>
              <a:rPr sz="3400" b="1" i="0">
                <a:solidFill>
                  <a:srgbClr val="FFFFFF"/>
                </a:solidFill>
                <a:latin typeface="Arial Black"/>
              </a:rPr>
              <a:t>70</a:t>
            </a:r>
          </a:p>
          <a:p>
            <a:pPr algn="ctr">
              <a:lnSpc>
                <a:spcPct val="100000"/>
              </a:lnSpc>
              <a:spcBef>
                <a:spcPts val="0"/>
              </a:spcBef>
              <a:spcAft>
                <a:spcPts val="200"/>
              </a:spcAft>
            </a:pPr>
            <a:r>
              <a:rPr sz="1300" b="1" i="0">
                <a:solidFill>
                  <a:srgbClr val="FFFFFF"/>
                </a:solidFill>
                <a:latin typeface="Arial"/>
              </a:rPr>
              <a:t>km/h</a:t>
            </a:r>
          </a:p>
        </p:txBody>
      </p:sp>
      <p:sp>
        <p:nvSpPr>
          <p:cNvPr id="30" name="Freeform 29"/>
          <p:cNvSpPr/>
          <p:nvPr/>
        </p:nvSpPr>
        <p:spPr>
          <a:xfrm>
            <a:off x="7011619" y="3836365"/>
            <a:ext cx="438912" cy="419710"/>
          </a:xfrm>
          <a:custGeom>
            <a:avLst/>
            <a:gdLst/>
            <a:ahLst/>
            <a:cxnLst/>
            <a:rect l="l" t="t" r="r" b="b"/>
            <a:pathLst>
              <a:path w="438912" h="419710">
                <a:moveTo>
                  <a:pt x="0" y="121716"/>
                </a:moveTo>
                <a:lnTo>
                  <a:pt x="241402" y="121716"/>
                </a:lnTo>
                <a:lnTo>
                  <a:pt x="241402" y="0"/>
                </a:lnTo>
                <a:lnTo>
                  <a:pt x="438912" y="209855"/>
                </a:lnTo>
                <a:lnTo>
                  <a:pt x="241402" y="419710"/>
                </a:lnTo>
                <a:lnTo>
                  <a:pt x="241402" y="297994"/>
                </a:lnTo>
                <a:lnTo>
                  <a:pt x="0" y="297994"/>
                </a:lnTo>
                <a:close/>
              </a:path>
            </a:pathLst>
          </a:custGeom>
          <a:solidFill>
            <a:srgbClr val="56606E"/>
          </a:solidFill>
          <a:ln>
            <a:noFill/>
          </a:ln>
        </p:spPr>
        <p:txBody>
          <a:bodyPr rtlCol="0" anchor="ctr"/>
          <a:lstStyle/>
          <a:p>
            <a:pPr algn="ctr"/>
          </a:p>
        </p:txBody>
      </p:sp>
      <p:sp>
        <p:nvSpPr>
          <p:cNvPr id="31" name="Rounded Rectangle 30"/>
          <p:cNvSpPr/>
          <p:nvPr/>
        </p:nvSpPr>
        <p:spPr>
          <a:xfrm>
            <a:off x="7505395" y="3429000"/>
            <a:ext cx="1724558" cy="1234440"/>
          </a:xfrm>
          <a:prstGeom prst="roundRect">
            <a:avLst>
              <a:gd name="adj" fmla="val 7407"/>
            </a:avLst>
          </a:prstGeom>
          <a:solidFill>
            <a:srgbClr val="8A93A0"/>
          </a:solidFill>
          <a:ln>
            <a:noFill/>
          </a:ln>
        </p:spPr>
        <p:txBody>
          <a:bodyPr rtlCol="0" anchor="ctr" wrap="square" lIns="0" rIns="0" tIns="0" bIns="0">
            <a:noAutofit/>
          </a:bodyPr>
          <a:lstStyle/>
          <a:p>
            <a:pPr algn="ctr">
              <a:lnSpc>
                <a:spcPct val="100000"/>
              </a:lnSpc>
              <a:spcBef>
                <a:spcPts val="0"/>
              </a:spcBef>
              <a:spcAft>
                <a:spcPts val="200"/>
              </a:spcAft>
            </a:pPr>
            <a:r>
              <a:rPr sz="3400" b="1" i="0">
                <a:solidFill>
                  <a:srgbClr val="FFFFFF"/>
                </a:solidFill>
                <a:latin typeface="Arial Black"/>
              </a:rPr>
              <a:t>40</a:t>
            </a:r>
          </a:p>
          <a:p>
            <a:pPr algn="ctr">
              <a:lnSpc>
                <a:spcPct val="100000"/>
              </a:lnSpc>
              <a:spcBef>
                <a:spcPts val="0"/>
              </a:spcBef>
              <a:spcAft>
                <a:spcPts val="200"/>
              </a:spcAft>
            </a:pPr>
            <a:r>
              <a:rPr sz="1300" b="1" i="0">
                <a:solidFill>
                  <a:srgbClr val="FFFFFF"/>
                </a:solidFill>
                <a:latin typeface="Arial"/>
              </a:rPr>
              <a:t>km/h</a:t>
            </a:r>
          </a:p>
        </p:txBody>
      </p:sp>
      <p:sp>
        <p:nvSpPr>
          <p:cNvPr id="32" name="Freeform 31"/>
          <p:cNvSpPr/>
          <p:nvPr/>
        </p:nvSpPr>
        <p:spPr>
          <a:xfrm>
            <a:off x="9284818" y="3836365"/>
            <a:ext cx="438912" cy="419710"/>
          </a:xfrm>
          <a:custGeom>
            <a:avLst/>
            <a:gdLst/>
            <a:ahLst/>
            <a:cxnLst/>
            <a:rect l="l" t="t" r="r" b="b"/>
            <a:pathLst>
              <a:path w="438912" h="419710">
                <a:moveTo>
                  <a:pt x="0" y="121716"/>
                </a:moveTo>
                <a:lnTo>
                  <a:pt x="241401" y="121716"/>
                </a:lnTo>
                <a:lnTo>
                  <a:pt x="241401" y="0"/>
                </a:lnTo>
                <a:lnTo>
                  <a:pt x="438912" y="209855"/>
                </a:lnTo>
                <a:lnTo>
                  <a:pt x="241401" y="419710"/>
                </a:lnTo>
                <a:lnTo>
                  <a:pt x="241401" y="297994"/>
                </a:lnTo>
                <a:lnTo>
                  <a:pt x="0" y="297994"/>
                </a:lnTo>
                <a:close/>
              </a:path>
            </a:pathLst>
          </a:custGeom>
          <a:solidFill>
            <a:srgbClr val="56606E"/>
          </a:solidFill>
          <a:ln>
            <a:noFill/>
          </a:ln>
        </p:spPr>
        <p:txBody>
          <a:bodyPr rtlCol="0" anchor="ctr"/>
          <a:lstStyle/>
          <a:p>
            <a:pPr algn="ctr"/>
          </a:p>
        </p:txBody>
      </p:sp>
      <p:sp>
        <p:nvSpPr>
          <p:cNvPr id="33" name="Rounded Rectangle 32"/>
          <p:cNvSpPr/>
          <p:nvPr/>
        </p:nvSpPr>
        <p:spPr>
          <a:xfrm>
            <a:off x="9778594" y="3429000"/>
            <a:ext cx="1724558" cy="1234440"/>
          </a:xfrm>
          <a:prstGeom prst="roundRect">
            <a:avLst>
              <a:gd name="adj" fmla="val 7407"/>
            </a:avLst>
          </a:prstGeom>
          <a:solidFill>
            <a:srgbClr val="C8323A"/>
          </a:solidFill>
          <a:ln>
            <a:noFill/>
          </a:ln>
        </p:spPr>
        <p:txBody>
          <a:bodyPr rtlCol="0" anchor="ctr" wrap="square" lIns="0" rIns="0" tIns="0" bIns="0">
            <a:noAutofit/>
          </a:bodyPr>
          <a:lstStyle/>
          <a:p>
            <a:pPr algn="ctr">
              <a:lnSpc>
                <a:spcPct val="100000"/>
              </a:lnSpc>
              <a:spcBef>
                <a:spcPts val="0"/>
              </a:spcBef>
              <a:spcAft>
                <a:spcPts val="200"/>
              </a:spcAft>
            </a:pPr>
            <a:r>
              <a:rPr sz="3400" b="1" i="0">
                <a:solidFill>
                  <a:srgbClr val="FFFFFF"/>
                </a:solidFill>
                <a:latin typeface="Arial Black"/>
              </a:rPr>
              <a:t>0</a:t>
            </a:r>
          </a:p>
          <a:p>
            <a:pPr algn="ctr">
              <a:lnSpc>
                <a:spcPct val="100000"/>
              </a:lnSpc>
              <a:spcBef>
                <a:spcPts val="0"/>
              </a:spcBef>
              <a:spcAft>
                <a:spcPts val="200"/>
              </a:spcAft>
            </a:pPr>
            <a:r>
              <a:rPr sz="1300" b="1" i="0">
                <a:solidFill>
                  <a:srgbClr val="FFFFFF"/>
                </a:solidFill>
                <a:latin typeface="Arial"/>
              </a:rPr>
              <a:t>km/h</a:t>
            </a:r>
          </a:p>
        </p:txBody>
      </p:sp>
      <p:sp>
        <p:nvSpPr>
          <p:cNvPr id="34" name="Rectangle 33"/>
          <p:cNvSpPr/>
          <p:nvPr/>
        </p:nvSpPr>
        <p:spPr>
          <a:xfrm>
            <a:off x="685800" y="5074920"/>
            <a:ext cx="64008" cy="685800"/>
          </a:xfrm>
          <a:prstGeom prst="rect">
            <a:avLst/>
          </a:prstGeom>
          <a:solidFill>
            <a:srgbClr val="FFB400"/>
          </a:solidFill>
          <a:ln>
            <a:noFill/>
          </a:ln>
        </p:spPr>
        <p:txBody>
          <a:bodyPr rtlCol="0" anchor="ctr"/>
          <a:lstStyle/>
          <a:p>
            <a:pPr algn="ctr"/>
          </a:p>
        </p:txBody>
      </p:sp>
      <p:sp>
        <p:nvSpPr>
          <p:cNvPr id="35" name="TextBox 34"/>
          <p:cNvSpPr txBox="1"/>
          <p:nvPr/>
        </p:nvSpPr>
        <p:spPr>
          <a:xfrm>
            <a:off x="941832" y="5074920"/>
            <a:ext cx="9802368" cy="685800"/>
          </a:xfrm>
          <a:prstGeom prst="rect">
            <a:avLst/>
          </a:prstGeom>
          <a:noFill/>
        </p:spPr>
        <p:txBody>
          <a:bodyPr wrap="square" anchor="ctr" lIns="0" rIns="0" tIns="0" bIns="0">
            <a:noAutofit/>
          </a:bodyPr>
          <a:lstStyle/>
          <a:p>
            <a:pPr algn="l">
              <a:lnSpc>
                <a:spcPct val="100000"/>
              </a:lnSpc>
              <a:spcBef>
                <a:spcPts val="0"/>
              </a:spcBef>
              <a:spcAft>
                <a:spcPts val="0"/>
              </a:spcAft>
            </a:pPr>
            <a:r>
              <a:rPr sz="2600" b="0" i="0">
                <a:solidFill>
                  <a:srgbClr val="12161C"/>
                </a:solidFill>
                <a:latin typeface="Arial"/>
              </a:rPr>
              <a:t>Drivers </a:t>
            </a:r>
            <a:r>
              <a:rPr sz="2600" b="1" i="0">
                <a:solidFill>
                  <a:srgbClr val="9C5A00"/>
                </a:solidFill>
                <a:latin typeface="Arial"/>
              </a:rPr>
              <a:t>decelerate</a:t>
            </a:r>
            <a:r>
              <a:rPr sz="2600" b="0" i="0">
                <a:solidFill>
                  <a:srgbClr val="12161C"/>
                </a:solidFill>
                <a:latin typeface="Arial"/>
              </a:rPr>
              <a:t> when they press the brakes.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12161C"/>
                </a:solidFill>
                <a:latin typeface="Arial Narrow"/>
              </a:rPr>
              <a:t>ACT 2 · VOCABULARY</a:t>
            </a:r>
          </a:p>
        </p:txBody>
      </p:sp>
      <p:sp>
        <p:nvSpPr>
          <p:cNvPr id="4" name="TextBox 3"/>
          <p:cNvSpPr txBox="1"/>
          <p:nvPr/>
        </p:nvSpPr>
        <p:spPr>
          <a:xfrm>
            <a:off x="7315200" y="310896"/>
            <a:ext cx="4187952" cy="274320"/>
          </a:xfrm>
          <a:prstGeom prst="rect">
            <a:avLst/>
          </a:prstGeom>
          <a:noFill/>
        </p:spPr>
        <p:txBody>
          <a:bodyPr wrap="square" anchor="t" lIns="0" rIns="0" tIns="0" bIns="0">
            <a:noAutofit/>
          </a:bodyPr>
          <a:lstStyle/>
          <a:p>
            <a:pPr algn="r">
              <a:lnSpc>
                <a:spcPct val="100000"/>
              </a:lnSpc>
              <a:spcBef>
                <a:spcPts val="0"/>
              </a:spcBef>
              <a:spcAft>
                <a:spcPts val="0"/>
              </a:spcAft>
            </a:pPr>
            <a:r>
              <a:rPr sz="1300" b="1" i="0" spc="220">
                <a:solidFill>
                  <a:srgbClr val="8A93A0"/>
                </a:solidFill>
                <a:latin typeface="Arial Narrow"/>
              </a:rPr>
              <a:t>DYNAMICS ENGINEER</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8A93A0"/>
                </a:solidFill>
                <a:latin typeface="Arial Narrow"/>
              </a:rPr>
              <a:t>ENERGY LAB  ·  CRASH TEST #05</a:t>
            </a:r>
          </a:p>
        </p:txBody>
      </p:sp>
      <p:sp>
        <p:nvSpPr>
          <p:cNvPr id="6" name="Rectangle 5"/>
          <p:cNvSpPr/>
          <p:nvPr/>
        </p:nvSpPr>
        <p:spPr>
          <a:xfrm>
            <a:off x="4526280" y="6510528"/>
            <a:ext cx="127363" cy="54864"/>
          </a:xfrm>
          <a:prstGeom prst="rect">
            <a:avLst/>
          </a:prstGeom>
          <a:solidFill>
            <a:srgbClr val="D9B55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D9B55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D9B55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FFB400"/>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D5D0C4"/>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D5D0C4"/>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D5D0C4"/>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D5D0C4"/>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D5D0C4"/>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D5D0C4"/>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D5D0C4"/>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D5D0C4"/>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D5D0C4"/>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D5D0C4"/>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8A93A0"/>
                </a:solidFill>
                <a:latin typeface="Arial Narrow"/>
              </a:rPr>
              <a:t>23</a:t>
            </a:fld>
          </a:p>
        </p:txBody>
      </p:sp>
      <p:sp>
        <p:nvSpPr>
          <p:cNvPr id="21" name="Rounded Rectangle 20"/>
          <p:cNvSpPr/>
          <p:nvPr/>
        </p:nvSpPr>
        <p:spPr>
          <a:xfrm>
            <a:off x="9052560" y="914400"/>
            <a:ext cx="2278475" cy="274320"/>
          </a:xfrm>
          <a:prstGeom prst="roundRect">
            <a:avLst>
              <a:gd name="adj" fmla="val 50000"/>
            </a:avLst>
          </a:prstGeom>
          <a:noFill/>
          <a:ln w="19050">
            <a:solidFill>
              <a:srgbClr val="0B6A96"/>
            </a:solidFill>
          </a:ln>
        </p:spPr>
        <p:txBody>
          <a:bodyPr rtlCol="0" anchor="ctr" wrap="square" lIns="0" rIns="0" tIns="0" bIns="0">
            <a:noAutofit/>
          </a:bodyPr>
          <a:lstStyle/>
          <a:p>
            <a:pPr algn="ctr">
              <a:lnSpc>
                <a:spcPct val="100000"/>
              </a:lnSpc>
              <a:spcBef>
                <a:spcPts val="0"/>
              </a:spcBef>
              <a:spcAft>
                <a:spcPts val="0"/>
              </a:spcAft>
            </a:pPr>
            <a:r>
              <a:rPr sz="1300" b="1" i="0" spc="200">
                <a:solidFill>
                  <a:srgbClr val="0B6A96"/>
                </a:solidFill>
                <a:latin typeface="Arial Narrow"/>
              </a:rPr>
              <a:t>TEXTBOOK · TASK 3.1</a:t>
            </a:r>
          </a:p>
        </p:txBody>
      </p:sp>
      <p:sp>
        <p:nvSpPr>
          <p:cNvPr id="22" name="TextBox 21"/>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56606E"/>
                </a:solidFill>
                <a:latin typeface="Arial Narrow"/>
              </a:rPr>
              <a:t>VOCABULARY · 2 OF 6</a:t>
            </a:r>
          </a:p>
        </p:txBody>
      </p:sp>
      <p:sp>
        <p:nvSpPr>
          <p:cNvPr id="23" name="TextBox 22"/>
          <p:cNvSpPr txBox="1"/>
          <p:nvPr/>
        </p:nvSpPr>
        <p:spPr>
          <a:xfrm>
            <a:off x="685800" y="1234440"/>
            <a:ext cx="10789920" cy="1005840"/>
          </a:xfrm>
          <a:prstGeom prst="rect">
            <a:avLst/>
          </a:prstGeom>
          <a:noFill/>
        </p:spPr>
        <p:txBody>
          <a:bodyPr wrap="square" anchor="t" lIns="0" rIns="0" tIns="0" bIns="0">
            <a:noAutofit/>
          </a:bodyPr>
          <a:lstStyle/>
          <a:p>
            <a:pPr algn="l">
              <a:lnSpc>
                <a:spcPct val="100000"/>
              </a:lnSpc>
              <a:spcBef>
                <a:spcPts val="0"/>
              </a:spcBef>
              <a:spcAft>
                <a:spcPts val="0"/>
              </a:spcAft>
            </a:pPr>
            <a:r>
              <a:rPr sz="4600" b="0" i="0">
                <a:solidFill>
                  <a:srgbClr val="12161C"/>
                </a:solidFill>
                <a:latin typeface="Arial Black"/>
              </a:rPr>
              <a:t>STOPPING DISTANCE</a:t>
            </a:r>
          </a:p>
        </p:txBody>
      </p:sp>
      <p:sp>
        <p:nvSpPr>
          <p:cNvPr id="24" name="TextBox 23"/>
          <p:cNvSpPr txBox="1"/>
          <p:nvPr/>
        </p:nvSpPr>
        <p:spPr>
          <a:xfrm>
            <a:off x="685800" y="2148840"/>
            <a:ext cx="7315200" cy="457200"/>
          </a:xfrm>
          <a:prstGeom prst="rect">
            <a:avLst/>
          </a:prstGeom>
          <a:noFill/>
        </p:spPr>
        <p:txBody>
          <a:bodyPr wrap="square" anchor="t" lIns="0" rIns="0" tIns="0" bIns="0">
            <a:noAutofit/>
          </a:bodyPr>
          <a:lstStyle/>
          <a:p>
            <a:pPr algn="l">
              <a:lnSpc>
                <a:spcPct val="100000"/>
              </a:lnSpc>
              <a:spcBef>
                <a:spcPts val="0"/>
              </a:spcBef>
              <a:spcAft>
                <a:spcPts val="0"/>
              </a:spcAft>
            </a:pPr>
            <a:r>
              <a:rPr sz="2400" b="0" i="0">
                <a:solidFill>
                  <a:srgbClr val="56606E"/>
                </a:solidFill>
                <a:latin typeface="Arial"/>
              </a:rPr>
              <a:t>the distance a vehicle travels before it stops</a:t>
            </a:r>
          </a:p>
        </p:txBody>
      </p:sp>
      <p:sp>
        <p:nvSpPr>
          <p:cNvPr id="25" name="Rounded Rectangle 24"/>
          <p:cNvSpPr/>
          <p:nvPr/>
        </p:nvSpPr>
        <p:spPr>
          <a:xfrm>
            <a:off x="685800" y="2834640"/>
            <a:ext cx="10360152" cy="2011680"/>
          </a:xfrm>
          <a:prstGeom prst="roundRect">
            <a:avLst>
              <a:gd name="adj" fmla="val 6363"/>
            </a:avLst>
          </a:prstGeom>
          <a:solidFill>
            <a:srgbClr val="FFFFFF"/>
          </a:solidFill>
          <a:ln w="19050">
            <a:solidFill>
              <a:srgbClr val="CFC9BC"/>
            </a:solidFill>
          </a:ln>
        </p:spPr>
        <p:txBody>
          <a:bodyPr rtlCol="0" anchor="ctr"/>
          <a:lstStyle/>
          <a:p>
            <a:pPr algn="ctr"/>
          </a:p>
        </p:txBody>
      </p:sp>
      <p:sp>
        <p:nvSpPr>
          <p:cNvPr id="26" name="Freeform 25"/>
          <p:cNvSpPr/>
          <p:nvPr/>
        </p:nvSpPr>
        <p:spPr>
          <a:xfrm>
            <a:off x="1238098" y="3460090"/>
            <a:ext cx="1580083" cy="510235"/>
          </a:xfrm>
          <a:custGeom>
            <a:avLst/>
            <a:gdLst/>
            <a:ahLst/>
            <a:cxnLst/>
            <a:rect l="l" t="t" r="r" b="b"/>
            <a:pathLst>
              <a:path w="1580083" h="510235">
                <a:moveTo>
                  <a:pt x="0" y="510235"/>
                </a:moveTo>
                <a:lnTo>
                  <a:pt x="0" y="312724"/>
                </a:lnTo>
                <a:lnTo>
                  <a:pt x="65836" y="230428"/>
                </a:lnTo>
                <a:lnTo>
                  <a:pt x="345643" y="197510"/>
                </a:lnTo>
                <a:lnTo>
                  <a:pt x="510235" y="0"/>
                </a:lnTo>
                <a:lnTo>
                  <a:pt x="971092" y="0"/>
                </a:lnTo>
                <a:lnTo>
                  <a:pt x="1201521" y="213969"/>
                </a:lnTo>
                <a:lnTo>
                  <a:pt x="1497787" y="279806"/>
                </a:lnTo>
                <a:lnTo>
                  <a:pt x="1580083" y="395020"/>
                </a:lnTo>
                <a:lnTo>
                  <a:pt x="1580083" y="510235"/>
                </a:lnTo>
                <a:close/>
              </a:path>
            </a:pathLst>
          </a:custGeom>
          <a:solidFill>
            <a:srgbClr val="3A4657"/>
          </a:solidFill>
          <a:ln>
            <a:noFill/>
          </a:ln>
        </p:spPr>
        <p:txBody>
          <a:bodyPr rtlCol="0" anchor="ctr"/>
          <a:lstStyle/>
          <a:p>
            <a:pPr algn="ctr"/>
          </a:p>
        </p:txBody>
      </p:sp>
      <p:sp>
        <p:nvSpPr>
          <p:cNvPr id="27" name="Freeform 26"/>
          <p:cNvSpPr/>
          <p:nvPr/>
        </p:nvSpPr>
        <p:spPr>
          <a:xfrm>
            <a:off x="1666037" y="3509467"/>
            <a:ext cx="650138" cy="148133"/>
          </a:xfrm>
          <a:custGeom>
            <a:avLst/>
            <a:gdLst/>
            <a:ahLst/>
            <a:cxnLst/>
            <a:rect l="l" t="t" r="r" b="b"/>
            <a:pathLst>
              <a:path w="650138" h="148133">
                <a:moveTo>
                  <a:pt x="0" y="148133"/>
                </a:moveTo>
                <a:lnTo>
                  <a:pt x="123444" y="0"/>
                </a:lnTo>
                <a:lnTo>
                  <a:pt x="510235" y="0"/>
                </a:lnTo>
                <a:lnTo>
                  <a:pt x="650138" y="148133"/>
                </a:lnTo>
                <a:close/>
              </a:path>
            </a:pathLst>
          </a:custGeom>
          <a:solidFill>
            <a:srgbClr val="9FD8F2"/>
          </a:solidFill>
          <a:ln>
            <a:noFill/>
          </a:ln>
        </p:spPr>
        <p:txBody>
          <a:bodyPr rtlCol="0" anchor="ctr"/>
          <a:lstStyle/>
          <a:p>
            <a:pPr algn="ctr"/>
          </a:p>
        </p:txBody>
      </p:sp>
      <p:cxnSp>
        <p:nvCxnSpPr>
          <p:cNvPr id="28" name="Connector 27"/>
          <p:cNvCxnSpPr/>
          <p:nvPr/>
        </p:nvCxnSpPr>
        <p:spPr>
          <a:xfrm>
            <a:off x="1986991" y="3509467"/>
            <a:ext cx="0" cy="148133"/>
          </a:xfrm>
          <a:prstGeom prst="line">
            <a:avLst/>
          </a:prstGeom>
          <a:ln w="38100">
            <a:solidFill>
              <a:srgbClr val="3A4657"/>
            </a:solidFill>
          </a:ln>
        </p:spPr>
      </p:cxnSp>
      <p:sp>
        <p:nvSpPr>
          <p:cNvPr id="29" name="Oval 28"/>
          <p:cNvSpPr/>
          <p:nvPr/>
        </p:nvSpPr>
        <p:spPr>
          <a:xfrm>
            <a:off x="1422441" y="3874861"/>
            <a:ext cx="256764" cy="256764"/>
          </a:xfrm>
          <a:prstGeom prst="ellipse">
            <a:avLst/>
          </a:prstGeom>
          <a:solidFill>
            <a:srgbClr val="0B0E12"/>
          </a:solidFill>
          <a:ln w="25400">
            <a:solidFill>
              <a:srgbClr val="F5F3EE"/>
            </a:solidFill>
          </a:ln>
        </p:spPr>
        <p:txBody>
          <a:bodyPr rtlCol="0" anchor="ctr"/>
          <a:lstStyle/>
          <a:p>
            <a:pPr algn="ctr"/>
          </a:p>
        </p:txBody>
      </p:sp>
      <p:sp>
        <p:nvSpPr>
          <p:cNvPr id="30" name="Oval 29"/>
          <p:cNvSpPr/>
          <p:nvPr/>
        </p:nvSpPr>
        <p:spPr>
          <a:xfrm>
            <a:off x="1491569" y="3943990"/>
            <a:ext cx="118506" cy="118506"/>
          </a:xfrm>
          <a:prstGeom prst="ellipse">
            <a:avLst/>
          </a:prstGeom>
          <a:solidFill>
            <a:srgbClr val="B7C0CC"/>
          </a:solidFill>
          <a:ln>
            <a:noFill/>
          </a:ln>
        </p:spPr>
        <p:txBody>
          <a:bodyPr rtlCol="0" anchor="ctr"/>
          <a:lstStyle/>
          <a:p>
            <a:pPr algn="ctr"/>
          </a:p>
        </p:txBody>
      </p:sp>
      <p:sp>
        <p:nvSpPr>
          <p:cNvPr id="31" name="Oval 30"/>
          <p:cNvSpPr/>
          <p:nvPr/>
        </p:nvSpPr>
        <p:spPr>
          <a:xfrm>
            <a:off x="2344156" y="3874861"/>
            <a:ext cx="256764" cy="256764"/>
          </a:xfrm>
          <a:prstGeom prst="ellipse">
            <a:avLst/>
          </a:prstGeom>
          <a:solidFill>
            <a:srgbClr val="0B0E12"/>
          </a:solidFill>
          <a:ln w="25400">
            <a:solidFill>
              <a:srgbClr val="F5F3EE"/>
            </a:solidFill>
          </a:ln>
        </p:spPr>
        <p:txBody>
          <a:bodyPr rtlCol="0" anchor="ctr"/>
          <a:lstStyle/>
          <a:p>
            <a:pPr algn="ctr"/>
          </a:p>
        </p:txBody>
      </p:sp>
      <p:sp>
        <p:nvSpPr>
          <p:cNvPr id="32" name="Oval 31"/>
          <p:cNvSpPr/>
          <p:nvPr/>
        </p:nvSpPr>
        <p:spPr>
          <a:xfrm>
            <a:off x="2413284" y="3943990"/>
            <a:ext cx="118506" cy="118506"/>
          </a:xfrm>
          <a:prstGeom prst="ellipse">
            <a:avLst/>
          </a:prstGeom>
          <a:solidFill>
            <a:srgbClr val="B7C0CC"/>
          </a:solidFill>
          <a:ln>
            <a:noFill/>
          </a:ln>
        </p:spPr>
        <p:txBody>
          <a:bodyPr rtlCol="0" anchor="ctr"/>
          <a:lstStyle/>
          <a:p>
            <a:pPr algn="ctr"/>
          </a:p>
        </p:txBody>
      </p:sp>
      <p:sp>
        <p:nvSpPr>
          <p:cNvPr id="33" name="Rounded Rectangle 32"/>
          <p:cNvSpPr/>
          <p:nvPr/>
        </p:nvSpPr>
        <p:spPr>
          <a:xfrm>
            <a:off x="3200400" y="3337560"/>
            <a:ext cx="1417320" cy="457200"/>
          </a:xfrm>
          <a:prstGeom prst="roundRect">
            <a:avLst>
              <a:gd name="adj" fmla="val 16000"/>
            </a:avLst>
          </a:prstGeom>
          <a:solidFill>
            <a:srgbClr val="C8323A"/>
          </a:solidFill>
          <a:ln>
            <a:noFill/>
          </a:ln>
        </p:spPr>
        <p:txBody>
          <a:bodyPr rtlCol="0" anchor="ctr" wrap="square" lIns="0" rIns="0" tIns="0" bIns="0">
            <a:noAutofit/>
          </a:bodyPr>
          <a:lstStyle/>
          <a:p>
            <a:pPr algn="ctr">
              <a:lnSpc>
                <a:spcPct val="100000"/>
              </a:lnSpc>
              <a:spcBef>
                <a:spcPts val="0"/>
              </a:spcBef>
              <a:spcAft>
                <a:spcPts val="0"/>
              </a:spcAft>
            </a:pPr>
            <a:r>
              <a:rPr sz="1800" b="1" i="0">
                <a:solidFill>
                  <a:srgbClr val="FFFFFF"/>
                </a:solidFill>
                <a:latin typeface="Arial"/>
              </a:rPr>
              <a:t>BRAKE</a:t>
            </a:r>
          </a:p>
        </p:txBody>
      </p:sp>
      <p:cxnSp>
        <p:nvCxnSpPr>
          <p:cNvPr id="34" name="Connector 33"/>
          <p:cNvCxnSpPr/>
          <p:nvPr/>
        </p:nvCxnSpPr>
        <p:spPr>
          <a:xfrm>
            <a:off x="3200400" y="4050792"/>
            <a:ext cx="6720840" cy="0"/>
          </a:xfrm>
          <a:prstGeom prst="line">
            <a:avLst/>
          </a:prstGeom>
          <a:ln w="38100">
            <a:solidFill>
              <a:srgbClr val="FFB400"/>
            </a:solidFill>
            <a:prstDash val="dash"/>
            <a:headEnd type="triangle" w="med" len="med"/>
            <a:tailEnd type="triangle" w="med" len="med"/>
          </a:ln>
        </p:spPr>
      </p:cxnSp>
      <p:sp>
        <p:nvSpPr>
          <p:cNvPr id="35" name="TextBox 34"/>
          <p:cNvSpPr txBox="1"/>
          <p:nvPr/>
        </p:nvSpPr>
        <p:spPr>
          <a:xfrm>
            <a:off x="3200400" y="4178808"/>
            <a:ext cx="7863840" cy="365760"/>
          </a:xfrm>
          <a:prstGeom prst="rect">
            <a:avLst/>
          </a:prstGeom>
          <a:noFill/>
        </p:spPr>
        <p:txBody>
          <a:bodyPr wrap="square" anchor="t" lIns="0" rIns="0" tIns="0" bIns="0">
            <a:noAutofit/>
          </a:bodyPr>
          <a:lstStyle/>
          <a:p>
            <a:pPr algn="ctr">
              <a:lnSpc>
                <a:spcPct val="100000"/>
              </a:lnSpc>
              <a:spcBef>
                <a:spcPts val="0"/>
              </a:spcBef>
              <a:spcAft>
                <a:spcPts val="0"/>
              </a:spcAft>
            </a:pPr>
            <a:r>
              <a:rPr sz="2000" b="1" i="0" spc="200">
                <a:solidFill>
                  <a:srgbClr val="9C5A00"/>
                </a:solidFill>
                <a:latin typeface="Arial Narrow"/>
              </a:rPr>
              <a:t>STOPPING DISTANCE</a:t>
            </a:r>
          </a:p>
        </p:txBody>
      </p:sp>
      <p:sp>
        <p:nvSpPr>
          <p:cNvPr id="36" name="Rounded Rectangle 35"/>
          <p:cNvSpPr/>
          <p:nvPr/>
        </p:nvSpPr>
        <p:spPr>
          <a:xfrm>
            <a:off x="9966960" y="3337560"/>
            <a:ext cx="914400" cy="457200"/>
          </a:xfrm>
          <a:prstGeom prst="roundRect">
            <a:avLst>
              <a:gd name="adj" fmla="val 16000"/>
            </a:avLst>
          </a:prstGeom>
          <a:solidFill>
            <a:srgbClr val="12161C"/>
          </a:solidFill>
          <a:ln>
            <a:noFill/>
          </a:ln>
        </p:spPr>
        <p:txBody>
          <a:bodyPr rtlCol="0" anchor="ctr" wrap="square" lIns="0" rIns="0" tIns="0" bIns="0">
            <a:noAutofit/>
          </a:bodyPr>
          <a:lstStyle/>
          <a:p>
            <a:pPr algn="ctr">
              <a:lnSpc>
                <a:spcPct val="100000"/>
              </a:lnSpc>
              <a:spcBef>
                <a:spcPts val="0"/>
              </a:spcBef>
              <a:spcAft>
                <a:spcPts val="0"/>
              </a:spcAft>
            </a:pPr>
            <a:r>
              <a:rPr sz="1800" b="1" i="0">
                <a:solidFill>
                  <a:srgbClr val="FFFFFF"/>
                </a:solidFill>
                <a:latin typeface="Arial"/>
              </a:rPr>
              <a:t>STOP</a:t>
            </a:r>
          </a:p>
        </p:txBody>
      </p:sp>
      <p:sp>
        <p:nvSpPr>
          <p:cNvPr id="37" name="Rectangle 36"/>
          <p:cNvSpPr/>
          <p:nvPr/>
        </p:nvSpPr>
        <p:spPr>
          <a:xfrm>
            <a:off x="685800" y="5074920"/>
            <a:ext cx="64008" cy="685800"/>
          </a:xfrm>
          <a:prstGeom prst="rect">
            <a:avLst/>
          </a:prstGeom>
          <a:solidFill>
            <a:srgbClr val="FFB400"/>
          </a:solidFill>
          <a:ln>
            <a:noFill/>
          </a:ln>
        </p:spPr>
        <p:txBody>
          <a:bodyPr rtlCol="0" anchor="ctr"/>
          <a:lstStyle/>
          <a:p>
            <a:pPr algn="ctr"/>
          </a:p>
        </p:txBody>
      </p:sp>
      <p:sp>
        <p:nvSpPr>
          <p:cNvPr id="38" name="TextBox 37"/>
          <p:cNvSpPr txBox="1"/>
          <p:nvPr/>
        </p:nvSpPr>
        <p:spPr>
          <a:xfrm>
            <a:off x="941832" y="5074920"/>
            <a:ext cx="9802368" cy="685800"/>
          </a:xfrm>
          <a:prstGeom prst="rect">
            <a:avLst/>
          </a:prstGeom>
          <a:noFill/>
        </p:spPr>
        <p:txBody>
          <a:bodyPr wrap="square" anchor="ctr" lIns="0" rIns="0" tIns="0" bIns="0">
            <a:noAutofit/>
          </a:bodyPr>
          <a:lstStyle/>
          <a:p>
            <a:pPr algn="l">
              <a:lnSpc>
                <a:spcPct val="100000"/>
              </a:lnSpc>
              <a:spcBef>
                <a:spcPts val="0"/>
              </a:spcBef>
              <a:spcAft>
                <a:spcPts val="0"/>
              </a:spcAft>
            </a:pPr>
            <a:r>
              <a:rPr sz="2600" b="1" i="0">
                <a:solidFill>
                  <a:srgbClr val="9C5A00"/>
                </a:solidFill>
                <a:latin typeface="Arial"/>
              </a:rPr>
              <a:t>The stopping distance</a:t>
            </a:r>
            <a:r>
              <a:rPr sz="2600" b="0" i="0">
                <a:solidFill>
                  <a:srgbClr val="12161C"/>
                </a:solidFill>
                <a:latin typeface="Arial"/>
              </a:rPr>
              <a:t> of this car is dangerously long.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12161C"/>
                </a:solidFill>
                <a:latin typeface="Arial Narrow"/>
              </a:rPr>
              <a:t>ACT 2 · VOCABULARY</a:t>
            </a:r>
          </a:p>
        </p:txBody>
      </p:sp>
      <p:sp>
        <p:nvSpPr>
          <p:cNvPr id="4" name="TextBox 3"/>
          <p:cNvSpPr txBox="1"/>
          <p:nvPr/>
        </p:nvSpPr>
        <p:spPr>
          <a:xfrm>
            <a:off x="7315200" y="310896"/>
            <a:ext cx="4187952" cy="274320"/>
          </a:xfrm>
          <a:prstGeom prst="rect">
            <a:avLst/>
          </a:prstGeom>
          <a:noFill/>
        </p:spPr>
        <p:txBody>
          <a:bodyPr wrap="square" anchor="t" lIns="0" rIns="0" tIns="0" bIns="0">
            <a:noAutofit/>
          </a:bodyPr>
          <a:lstStyle/>
          <a:p>
            <a:pPr algn="r">
              <a:lnSpc>
                <a:spcPct val="100000"/>
              </a:lnSpc>
              <a:spcBef>
                <a:spcPts val="0"/>
              </a:spcBef>
              <a:spcAft>
                <a:spcPts val="0"/>
              </a:spcAft>
            </a:pPr>
            <a:r>
              <a:rPr sz="1300" b="1" i="0" spc="220">
                <a:solidFill>
                  <a:srgbClr val="8A93A0"/>
                </a:solidFill>
                <a:latin typeface="Arial Narrow"/>
              </a:rPr>
              <a:t>DYNAMICS ENGINEER</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8A93A0"/>
                </a:solidFill>
                <a:latin typeface="Arial Narrow"/>
              </a:rPr>
              <a:t>ENERGY LAB  ·  CRASH TEST #05</a:t>
            </a:r>
          </a:p>
        </p:txBody>
      </p:sp>
      <p:sp>
        <p:nvSpPr>
          <p:cNvPr id="6" name="Rectangle 5"/>
          <p:cNvSpPr/>
          <p:nvPr/>
        </p:nvSpPr>
        <p:spPr>
          <a:xfrm>
            <a:off x="4526280" y="6510528"/>
            <a:ext cx="127363" cy="54864"/>
          </a:xfrm>
          <a:prstGeom prst="rect">
            <a:avLst/>
          </a:prstGeom>
          <a:solidFill>
            <a:srgbClr val="D9B55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D9B55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D9B55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FFB400"/>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D5D0C4"/>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D5D0C4"/>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D5D0C4"/>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D5D0C4"/>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D5D0C4"/>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D5D0C4"/>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D5D0C4"/>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D5D0C4"/>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D5D0C4"/>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D5D0C4"/>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8A93A0"/>
                </a:solidFill>
                <a:latin typeface="Arial Narrow"/>
              </a:rPr>
              <a:t>24</a:t>
            </a:fld>
          </a:p>
        </p:txBody>
      </p:sp>
      <p:sp>
        <p:nvSpPr>
          <p:cNvPr id="21" name="Rounded Rectangle 20"/>
          <p:cNvSpPr/>
          <p:nvPr/>
        </p:nvSpPr>
        <p:spPr>
          <a:xfrm>
            <a:off x="9052560" y="914400"/>
            <a:ext cx="2278475" cy="274320"/>
          </a:xfrm>
          <a:prstGeom prst="roundRect">
            <a:avLst>
              <a:gd name="adj" fmla="val 50000"/>
            </a:avLst>
          </a:prstGeom>
          <a:noFill/>
          <a:ln w="19050">
            <a:solidFill>
              <a:srgbClr val="0B6A96"/>
            </a:solidFill>
          </a:ln>
        </p:spPr>
        <p:txBody>
          <a:bodyPr rtlCol="0" anchor="ctr" wrap="square" lIns="0" rIns="0" tIns="0" bIns="0">
            <a:noAutofit/>
          </a:bodyPr>
          <a:lstStyle/>
          <a:p>
            <a:pPr algn="ctr">
              <a:lnSpc>
                <a:spcPct val="100000"/>
              </a:lnSpc>
              <a:spcBef>
                <a:spcPts val="0"/>
              </a:spcBef>
              <a:spcAft>
                <a:spcPts val="0"/>
              </a:spcAft>
            </a:pPr>
            <a:r>
              <a:rPr sz="1300" b="1" i="0" spc="200">
                <a:solidFill>
                  <a:srgbClr val="0B6A96"/>
                </a:solidFill>
                <a:latin typeface="Arial Narrow"/>
              </a:rPr>
              <a:t>TEXTBOOK · TASK 3.2</a:t>
            </a:r>
          </a:p>
        </p:txBody>
      </p:sp>
      <p:sp>
        <p:nvSpPr>
          <p:cNvPr id="22" name="TextBox 21"/>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56606E"/>
                </a:solidFill>
                <a:latin typeface="Arial Narrow"/>
              </a:rPr>
              <a:t>VOCABULARY · 3 OF 6</a:t>
            </a:r>
          </a:p>
        </p:txBody>
      </p:sp>
      <p:sp>
        <p:nvSpPr>
          <p:cNvPr id="23" name="TextBox 22"/>
          <p:cNvSpPr txBox="1"/>
          <p:nvPr/>
        </p:nvSpPr>
        <p:spPr>
          <a:xfrm>
            <a:off x="685800" y="1234440"/>
            <a:ext cx="10789920" cy="1005840"/>
          </a:xfrm>
          <a:prstGeom prst="rect">
            <a:avLst/>
          </a:prstGeom>
          <a:noFill/>
        </p:spPr>
        <p:txBody>
          <a:bodyPr wrap="square" anchor="t" lIns="0" rIns="0" tIns="0" bIns="0">
            <a:noAutofit/>
          </a:bodyPr>
          <a:lstStyle/>
          <a:p>
            <a:pPr algn="l">
              <a:lnSpc>
                <a:spcPct val="100000"/>
              </a:lnSpc>
              <a:spcBef>
                <a:spcPts val="0"/>
              </a:spcBef>
              <a:spcAft>
                <a:spcPts val="0"/>
              </a:spcAft>
            </a:pPr>
            <a:r>
              <a:rPr sz="4600" b="0" i="0">
                <a:solidFill>
                  <a:srgbClr val="12161C"/>
                </a:solidFill>
                <a:latin typeface="Arial Black"/>
              </a:rPr>
              <a:t>KINETIC ENERGY</a:t>
            </a:r>
          </a:p>
        </p:txBody>
      </p:sp>
      <p:sp>
        <p:nvSpPr>
          <p:cNvPr id="24" name="Rounded Rectangle 23"/>
          <p:cNvSpPr/>
          <p:nvPr/>
        </p:nvSpPr>
        <p:spPr>
          <a:xfrm>
            <a:off x="685800" y="2286000"/>
            <a:ext cx="4754880" cy="3291840"/>
          </a:xfrm>
          <a:prstGeom prst="roundRect">
            <a:avLst>
              <a:gd name="adj" fmla="val 3888"/>
            </a:avLst>
          </a:prstGeom>
          <a:solidFill>
            <a:srgbClr val="FFFFFF"/>
          </a:solidFill>
          <a:ln w="19050">
            <a:solidFill>
              <a:srgbClr val="CFC9BC"/>
            </a:solidFill>
          </a:ln>
        </p:spPr>
        <p:txBody>
          <a:bodyPr rtlCol="0" anchor="ctr"/>
          <a:lstStyle/>
          <a:p>
            <a:pPr algn="ctr"/>
          </a:p>
        </p:txBody>
      </p:sp>
      <p:cxnSp>
        <p:nvCxnSpPr>
          <p:cNvPr id="25" name="Connector 24"/>
          <p:cNvCxnSpPr/>
          <p:nvPr/>
        </p:nvCxnSpPr>
        <p:spPr>
          <a:xfrm>
            <a:off x="1044245" y="4634179"/>
            <a:ext cx="4037990" cy="0"/>
          </a:xfrm>
          <a:prstGeom prst="line">
            <a:avLst/>
          </a:prstGeom>
          <a:ln w="44450" cap="rnd">
            <a:solidFill>
              <a:srgbClr val="8A93A0"/>
            </a:solidFill>
            <a:round/>
          </a:ln>
        </p:spPr>
      </p:cxnSp>
      <p:cxnSp>
        <p:nvCxnSpPr>
          <p:cNvPr id="26" name="Connector 25"/>
          <p:cNvCxnSpPr/>
          <p:nvPr/>
        </p:nvCxnSpPr>
        <p:spPr>
          <a:xfrm>
            <a:off x="1952793" y="3697834"/>
            <a:ext cx="1040221" cy="0"/>
          </a:xfrm>
          <a:prstGeom prst="line">
            <a:avLst/>
          </a:prstGeom>
          <a:ln w="44450" cap="rnd">
            <a:solidFill>
              <a:srgbClr val="FFB400"/>
            </a:solidFill>
            <a:round/>
          </a:ln>
        </p:spPr>
      </p:cxnSp>
      <p:cxnSp>
        <p:nvCxnSpPr>
          <p:cNvPr id="27" name="Connector 26"/>
          <p:cNvCxnSpPr/>
          <p:nvPr/>
        </p:nvCxnSpPr>
        <p:spPr>
          <a:xfrm>
            <a:off x="1768450" y="3990442"/>
            <a:ext cx="1224564" cy="0"/>
          </a:xfrm>
          <a:prstGeom prst="line">
            <a:avLst/>
          </a:prstGeom>
          <a:ln w="44450" cap="rnd">
            <a:solidFill>
              <a:srgbClr val="FFB400"/>
            </a:solidFill>
            <a:round/>
          </a:ln>
        </p:spPr>
      </p:cxnSp>
      <p:cxnSp>
        <p:nvCxnSpPr>
          <p:cNvPr id="28" name="Connector 27"/>
          <p:cNvCxnSpPr/>
          <p:nvPr/>
        </p:nvCxnSpPr>
        <p:spPr>
          <a:xfrm>
            <a:off x="1768450" y="4283050"/>
            <a:ext cx="1224564" cy="0"/>
          </a:xfrm>
          <a:prstGeom prst="line">
            <a:avLst/>
          </a:prstGeom>
          <a:ln w="44450" cap="rnd">
            <a:solidFill>
              <a:srgbClr val="FFB400"/>
            </a:solidFill>
            <a:round/>
          </a:ln>
        </p:spPr>
      </p:cxnSp>
      <p:cxnSp>
        <p:nvCxnSpPr>
          <p:cNvPr id="29" name="Connector 28"/>
          <p:cNvCxnSpPr/>
          <p:nvPr/>
        </p:nvCxnSpPr>
        <p:spPr>
          <a:xfrm>
            <a:off x="1952793" y="4575658"/>
            <a:ext cx="1040221" cy="0"/>
          </a:xfrm>
          <a:prstGeom prst="line">
            <a:avLst/>
          </a:prstGeom>
          <a:ln w="44450" cap="rnd">
            <a:solidFill>
              <a:srgbClr val="FFB400"/>
            </a:solidFill>
            <a:round/>
          </a:ln>
        </p:spPr>
      </p:cxnSp>
      <p:sp>
        <p:nvSpPr>
          <p:cNvPr id="30" name="Oval 29"/>
          <p:cNvSpPr/>
          <p:nvPr/>
        </p:nvSpPr>
        <p:spPr>
          <a:xfrm>
            <a:off x="3092501" y="3639312"/>
            <a:ext cx="994867" cy="994867"/>
          </a:xfrm>
          <a:prstGeom prst="ellipse">
            <a:avLst/>
          </a:prstGeom>
          <a:solidFill>
            <a:srgbClr val="FFFFFF"/>
          </a:solidFill>
          <a:ln w="20726">
            <a:solidFill>
              <a:srgbClr val="12161C"/>
            </a:solidFill>
          </a:ln>
        </p:spPr>
        <p:txBody>
          <a:bodyPr rtlCol="0" anchor="ctr"/>
          <a:lstStyle/>
          <a:p>
            <a:pPr algn="ctr"/>
          </a:p>
        </p:txBody>
      </p:sp>
      <p:sp>
        <p:nvSpPr>
          <p:cNvPr id="31" name="Freeform 30"/>
          <p:cNvSpPr/>
          <p:nvPr/>
        </p:nvSpPr>
        <p:spPr>
          <a:xfrm>
            <a:off x="3234536" y="3845723"/>
            <a:ext cx="91681" cy="574747"/>
          </a:xfrm>
          <a:custGeom>
            <a:avLst/>
            <a:gdLst/>
            <a:ahLst/>
            <a:cxnLst/>
            <a:rect l="l" t="t" r="r" b="b"/>
            <a:pathLst>
              <a:path w="91681" h="574747">
                <a:moveTo>
                  <a:pt x="0" y="0"/>
                </a:moveTo>
                <a:lnTo>
                  <a:pt x="14661" y="22151"/>
                </a:lnTo>
                <a:lnTo>
                  <a:pt x="28143" y="45039"/>
                </a:lnTo>
                <a:lnTo>
                  <a:pt x="40408" y="68601"/>
                </a:lnTo>
                <a:lnTo>
                  <a:pt x="51424" y="92773"/>
                </a:lnTo>
                <a:lnTo>
                  <a:pt x="61160" y="117488"/>
                </a:lnTo>
                <a:lnTo>
                  <a:pt x="69588" y="142678"/>
                </a:lnTo>
                <a:lnTo>
                  <a:pt x="76687" y="168276"/>
                </a:lnTo>
                <a:lnTo>
                  <a:pt x="82437" y="194209"/>
                </a:lnTo>
                <a:lnTo>
                  <a:pt x="86821" y="220409"/>
                </a:lnTo>
                <a:lnTo>
                  <a:pt x="89828" y="246801"/>
                </a:lnTo>
                <a:lnTo>
                  <a:pt x="91450" y="273315"/>
                </a:lnTo>
                <a:lnTo>
                  <a:pt x="91681" y="299878"/>
                </a:lnTo>
                <a:lnTo>
                  <a:pt x="90523" y="326416"/>
                </a:lnTo>
                <a:lnTo>
                  <a:pt x="87977" y="352857"/>
                </a:lnTo>
                <a:lnTo>
                  <a:pt x="84050" y="379129"/>
                </a:lnTo>
                <a:lnTo>
                  <a:pt x="78754" y="405159"/>
                </a:lnTo>
                <a:lnTo>
                  <a:pt x="72103" y="430876"/>
                </a:lnTo>
                <a:lnTo>
                  <a:pt x="64116" y="456210"/>
                </a:lnTo>
                <a:lnTo>
                  <a:pt x="54813" y="481091"/>
                </a:lnTo>
                <a:lnTo>
                  <a:pt x="44221" y="505452"/>
                </a:lnTo>
                <a:lnTo>
                  <a:pt x="32368" y="529224"/>
                </a:lnTo>
                <a:lnTo>
                  <a:pt x="19288" y="552344"/>
                </a:lnTo>
                <a:lnTo>
                  <a:pt x="5015" y="574747"/>
                </a:lnTo>
              </a:path>
            </a:pathLst>
          </a:custGeom>
          <a:noFill/>
          <a:ln w="22108" cap="rnd">
            <a:solidFill>
              <a:srgbClr val="C8323A"/>
            </a:solidFill>
            <a:round/>
          </a:ln>
        </p:spPr>
        <p:txBody>
          <a:bodyPr rtlCol="0" anchor="ctr"/>
          <a:lstStyle/>
          <a:p>
            <a:pPr algn="ctr"/>
          </a:p>
        </p:txBody>
      </p:sp>
      <p:sp>
        <p:nvSpPr>
          <p:cNvPr id="32" name="Freeform 31"/>
          <p:cNvSpPr/>
          <p:nvPr/>
        </p:nvSpPr>
        <p:spPr>
          <a:xfrm>
            <a:off x="3853651" y="3845723"/>
            <a:ext cx="91682" cy="574747"/>
          </a:xfrm>
          <a:custGeom>
            <a:avLst/>
            <a:gdLst/>
            <a:ahLst/>
            <a:cxnLst/>
            <a:rect l="l" t="t" r="r" b="b"/>
            <a:pathLst>
              <a:path w="91682" h="574747">
                <a:moveTo>
                  <a:pt x="91682" y="0"/>
                </a:moveTo>
                <a:lnTo>
                  <a:pt x="77021" y="22151"/>
                </a:lnTo>
                <a:lnTo>
                  <a:pt x="63539" y="45039"/>
                </a:lnTo>
                <a:lnTo>
                  <a:pt x="51273" y="68601"/>
                </a:lnTo>
                <a:lnTo>
                  <a:pt x="40258" y="92773"/>
                </a:lnTo>
                <a:lnTo>
                  <a:pt x="30522" y="117488"/>
                </a:lnTo>
                <a:lnTo>
                  <a:pt x="22093" y="142678"/>
                </a:lnTo>
                <a:lnTo>
                  <a:pt x="14995" y="168276"/>
                </a:lnTo>
                <a:lnTo>
                  <a:pt x="9245" y="194209"/>
                </a:lnTo>
                <a:lnTo>
                  <a:pt x="4861" y="220409"/>
                </a:lnTo>
                <a:lnTo>
                  <a:pt x="1854" y="246801"/>
                </a:lnTo>
                <a:lnTo>
                  <a:pt x="232" y="273315"/>
                </a:lnTo>
                <a:lnTo>
                  <a:pt x="0" y="299878"/>
                </a:lnTo>
                <a:lnTo>
                  <a:pt x="1159" y="326416"/>
                </a:lnTo>
                <a:lnTo>
                  <a:pt x="3705" y="352857"/>
                </a:lnTo>
                <a:lnTo>
                  <a:pt x="7631" y="379129"/>
                </a:lnTo>
                <a:lnTo>
                  <a:pt x="12927" y="405159"/>
                </a:lnTo>
                <a:lnTo>
                  <a:pt x="19578" y="430876"/>
                </a:lnTo>
                <a:lnTo>
                  <a:pt x="27566" y="456210"/>
                </a:lnTo>
                <a:lnTo>
                  <a:pt x="36869" y="481091"/>
                </a:lnTo>
                <a:lnTo>
                  <a:pt x="47461" y="505452"/>
                </a:lnTo>
                <a:lnTo>
                  <a:pt x="59314" y="529224"/>
                </a:lnTo>
                <a:lnTo>
                  <a:pt x="72394" y="552344"/>
                </a:lnTo>
                <a:lnTo>
                  <a:pt x="86667" y="574747"/>
                </a:lnTo>
              </a:path>
            </a:pathLst>
          </a:custGeom>
          <a:noFill/>
          <a:ln w="22108" cap="rnd">
            <a:solidFill>
              <a:srgbClr val="C8323A"/>
            </a:solidFill>
            <a:round/>
          </a:ln>
        </p:spPr>
        <p:txBody>
          <a:bodyPr rtlCol="0" anchor="ctr"/>
          <a:lstStyle/>
          <a:p>
            <a:pPr algn="ctr"/>
          </a:p>
        </p:txBody>
      </p:sp>
      <p:sp>
        <p:nvSpPr>
          <p:cNvPr id="33" name="Freeform 32"/>
          <p:cNvSpPr/>
          <p:nvPr/>
        </p:nvSpPr>
        <p:spPr>
          <a:xfrm>
            <a:off x="4262933" y="3860231"/>
            <a:ext cx="731520" cy="553029"/>
          </a:xfrm>
          <a:custGeom>
            <a:avLst/>
            <a:gdLst/>
            <a:ahLst/>
            <a:cxnLst/>
            <a:rect l="l" t="t" r="r" b="b"/>
            <a:pathLst>
              <a:path w="731520" h="553029">
                <a:moveTo>
                  <a:pt x="0" y="408188"/>
                </a:moveTo>
                <a:lnTo>
                  <a:pt x="336499" y="408188"/>
                </a:lnTo>
                <a:lnTo>
                  <a:pt x="336499" y="553029"/>
                </a:lnTo>
                <a:lnTo>
                  <a:pt x="731520" y="276515"/>
                </a:lnTo>
                <a:lnTo>
                  <a:pt x="336499" y="0"/>
                </a:lnTo>
                <a:lnTo>
                  <a:pt x="336499" y="144841"/>
                </a:lnTo>
                <a:lnTo>
                  <a:pt x="0" y="144841"/>
                </a:lnTo>
                <a:close/>
              </a:path>
            </a:pathLst>
          </a:custGeom>
          <a:solidFill>
            <a:srgbClr val="FFB400"/>
          </a:solidFill>
          <a:ln>
            <a:noFill/>
          </a:ln>
        </p:spPr>
        <p:txBody>
          <a:bodyPr rtlCol="0" anchor="ctr"/>
          <a:lstStyle/>
          <a:p>
            <a:pPr algn="ctr"/>
          </a:p>
        </p:txBody>
      </p:sp>
      <p:sp>
        <p:nvSpPr>
          <p:cNvPr id="34" name="Rectangle 33"/>
          <p:cNvSpPr/>
          <p:nvPr/>
        </p:nvSpPr>
        <p:spPr>
          <a:xfrm>
            <a:off x="5760720" y="2468880"/>
            <a:ext cx="64008" cy="1463040"/>
          </a:xfrm>
          <a:prstGeom prst="rect">
            <a:avLst/>
          </a:prstGeom>
          <a:solidFill>
            <a:srgbClr val="FFB400"/>
          </a:solidFill>
          <a:ln>
            <a:noFill/>
          </a:ln>
        </p:spPr>
        <p:txBody>
          <a:bodyPr rtlCol="0" anchor="ctr"/>
          <a:lstStyle/>
          <a:p>
            <a:pPr algn="ctr"/>
          </a:p>
        </p:txBody>
      </p:sp>
      <p:sp>
        <p:nvSpPr>
          <p:cNvPr id="35" name="TextBox 34"/>
          <p:cNvSpPr txBox="1"/>
          <p:nvPr/>
        </p:nvSpPr>
        <p:spPr>
          <a:xfrm>
            <a:off x="6016752" y="2468880"/>
            <a:ext cx="4956048" cy="1463040"/>
          </a:xfrm>
          <a:prstGeom prst="rect">
            <a:avLst/>
          </a:prstGeom>
          <a:noFill/>
        </p:spPr>
        <p:txBody>
          <a:bodyPr wrap="square" anchor="ctr" lIns="0" rIns="0" tIns="0" bIns="0">
            <a:noAutofit/>
          </a:bodyPr>
          <a:lstStyle/>
          <a:p>
            <a:pPr algn="l">
              <a:lnSpc>
                <a:spcPct val="100000"/>
              </a:lnSpc>
              <a:spcBef>
                <a:spcPts val="0"/>
              </a:spcBef>
              <a:spcAft>
                <a:spcPts val="0"/>
              </a:spcAft>
            </a:pPr>
            <a:r>
              <a:rPr sz="2400" b="1" i="0">
                <a:solidFill>
                  <a:srgbClr val="9C5A00"/>
                </a:solidFill>
                <a:latin typeface="Arial"/>
              </a:rPr>
              <a:t>kinetic energy</a:t>
            </a:r>
            <a:r>
              <a:rPr sz="2400" b="0" i="0">
                <a:solidFill>
                  <a:srgbClr val="12161C"/>
                </a:solidFill>
                <a:latin typeface="Arial"/>
              </a:rPr>
              <a:t> — the textbook rule:</a:t>
            </a:r>
          </a:p>
        </p:txBody>
      </p:sp>
      <p:sp>
        <p:nvSpPr>
          <p:cNvPr id="36" name="TextBox 35"/>
          <p:cNvSpPr txBox="1"/>
          <p:nvPr/>
        </p:nvSpPr>
        <p:spPr>
          <a:xfrm>
            <a:off x="5760720" y="3794760"/>
            <a:ext cx="5212080" cy="1645920"/>
          </a:xfrm>
          <a:prstGeom prst="rect">
            <a:avLst/>
          </a:prstGeom>
          <a:noFill/>
        </p:spPr>
        <p:txBody>
          <a:bodyPr wrap="square" anchor="t" lIns="0" rIns="0" tIns="0" bIns="0">
            <a:noAutofit/>
          </a:bodyPr>
          <a:lstStyle/>
          <a:p>
            <a:pPr algn="l">
              <a:lnSpc>
                <a:spcPct val="125000"/>
              </a:lnSpc>
              <a:spcBef>
                <a:spcPts val="0"/>
              </a:spcBef>
              <a:spcAft>
                <a:spcPts val="600"/>
              </a:spcAft>
            </a:pPr>
            <a:r>
              <a:rPr sz="2400" b="0" i="0">
                <a:solidFill>
                  <a:srgbClr val="12161C"/>
                </a:solidFill>
                <a:latin typeface="Arial"/>
              </a:rPr>
              <a:t>A still object has </a:t>
            </a:r>
            <a:r>
              <a:rPr sz="2400" b="1" i="0">
                <a:solidFill>
                  <a:srgbClr val="9C5A00"/>
                </a:solidFill>
                <a:latin typeface="Arial"/>
              </a:rPr>
              <a:t>potential energy</a:t>
            </a:r>
            <a:r>
              <a:rPr sz="2400" b="0" i="0">
                <a:solidFill>
                  <a:srgbClr val="12161C"/>
                </a:solidFill>
                <a:latin typeface="Arial"/>
              </a:rPr>
              <a:t>.</a:t>
            </a:r>
          </a:p>
          <a:p>
            <a:pPr algn="l">
              <a:lnSpc>
                <a:spcPct val="125000"/>
              </a:lnSpc>
              <a:spcBef>
                <a:spcPts val="0"/>
              </a:spcBef>
              <a:spcAft>
                <a:spcPts val="600"/>
              </a:spcAft>
            </a:pPr>
            <a:r>
              <a:rPr sz="2400" b="0" i="0">
                <a:solidFill>
                  <a:srgbClr val="12161C"/>
                </a:solidFill>
                <a:latin typeface="Arial"/>
              </a:rPr>
              <a:t>A moving object has </a:t>
            </a:r>
            <a:r>
              <a:rPr sz="2400" b="1" i="0">
                <a:solidFill>
                  <a:srgbClr val="9C5A00"/>
                </a:solidFill>
                <a:latin typeface="Arial"/>
              </a:rPr>
              <a:t>kinetic energy</a:t>
            </a:r>
            <a:r>
              <a:rPr sz="2400" b="0" i="0">
                <a:solidFill>
                  <a:srgbClr val="12161C"/>
                </a:solidFill>
                <a:latin typeface="Arial"/>
              </a:rPr>
              <a: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12161C"/>
                </a:solidFill>
                <a:latin typeface="Arial Narrow"/>
              </a:rPr>
              <a:t>ACT 2 · VOCABULARY</a:t>
            </a:r>
          </a:p>
        </p:txBody>
      </p:sp>
      <p:sp>
        <p:nvSpPr>
          <p:cNvPr id="4" name="TextBox 3"/>
          <p:cNvSpPr txBox="1"/>
          <p:nvPr/>
        </p:nvSpPr>
        <p:spPr>
          <a:xfrm>
            <a:off x="7315200" y="310896"/>
            <a:ext cx="4187952" cy="274320"/>
          </a:xfrm>
          <a:prstGeom prst="rect">
            <a:avLst/>
          </a:prstGeom>
          <a:noFill/>
        </p:spPr>
        <p:txBody>
          <a:bodyPr wrap="square" anchor="t" lIns="0" rIns="0" tIns="0" bIns="0">
            <a:noAutofit/>
          </a:bodyPr>
          <a:lstStyle/>
          <a:p>
            <a:pPr algn="r">
              <a:lnSpc>
                <a:spcPct val="100000"/>
              </a:lnSpc>
              <a:spcBef>
                <a:spcPts val="0"/>
              </a:spcBef>
              <a:spcAft>
                <a:spcPts val="0"/>
              </a:spcAft>
            </a:pPr>
            <a:r>
              <a:rPr sz="1300" b="1" i="0" spc="220">
                <a:solidFill>
                  <a:srgbClr val="8A93A0"/>
                </a:solidFill>
                <a:latin typeface="Arial Narrow"/>
              </a:rPr>
              <a:t>DYNAMICS ENGINEER</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8A93A0"/>
                </a:solidFill>
                <a:latin typeface="Arial Narrow"/>
              </a:rPr>
              <a:t>ENERGY LAB  ·  CRASH TEST #05</a:t>
            </a:r>
          </a:p>
        </p:txBody>
      </p:sp>
      <p:sp>
        <p:nvSpPr>
          <p:cNvPr id="6" name="Rectangle 5"/>
          <p:cNvSpPr/>
          <p:nvPr/>
        </p:nvSpPr>
        <p:spPr>
          <a:xfrm>
            <a:off x="4526280" y="6510528"/>
            <a:ext cx="127363" cy="54864"/>
          </a:xfrm>
          <a:prstGeom prst="rect">
            <a:avLst/>
          </a:prstGeom>
          <a:solidFill>
            <a:srgbClr val="D9B55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D9B55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D9B55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FFB400"/>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D5D0C4"/>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D5D0C4"/>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D5D0C4"/>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D5D0C4"/>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D5D0C4"/>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D5D0C4"/>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D5D0C4"/>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D5D0C4"/>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D5D0C4"/>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D5D0C4"/>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8A93A0"/>
                </a:solidFill>
                <a:latin typeface="Arial Narrow"/>
              </a:rPr>
              <a:t>25</a:t>
            </a:fld>
          </a:p>
        </p:txBody>
      </p:sp>
      <p:sp>
        <p:nvSpPr>
          <p:cNvPr id="21" name="Rounded Rectangle 20"/>
          <p:cNvSpPr/>
          <p:nvPr/>
        </p:nvSpPr>
        <p:spPr>
          <a:xfrm>
            <a:off x="9052560" y="914400"/>
            <a:ext cx="2278475" cy="274320"/>
          </a:xfrm>
          <a:prstGeom prst="roundRect">
            <a:avLst>
              <a:gd name="adj" fmla="val 50000"/>
            </a:avLst>
          </a:prstGeom>
          <a:noFill/>
          <a:ln w="19050">
            <a:solidFill>
              <a:srgbClr val="0B6A96"/>
            </a:solidFill>
          </a:ln>
        </p:spPr>
        <p:txBody>
          <a:bodyPr rtlCol="0" anchor="ctr" wrap="square" lIns="0" rIns="0" tIns="0" bIns="0">
            <a:noAutofit/>
          </a:bodyPr>
          <a:lstStyle/>
          <a:p>
            <a:pPr algn="ctr">
              <a:lnSpc>
                <a:spcPct val="100000"/>
              </a:lnSpc>
              <a:spcBef>
                <a:spcPts val="0"/>
              </a:spcBef>
              <a:spcAft>
                <a:spcPts val="0"/>
              </a:spcAft>
            </a:pPr>
            <a:r>
              <a:rPr sz="1300" b="1" i="0" spc="200">
                <a:solidFill>
                  <a:srgbClr val="0B6A96"/>
                </a:solidFill>
                <a:latin typeface="Arial Narrow"/>
              </a:rPr>
              <a:t>TEXTBOOK · TASK 3.2</a:t>
            </a:r>
          </a:p>
        </p:txBody>
      </p:sp>
      <p:sp>
        <p:nvSpPr>
          <p:cNvPr id="22" name="TextBox 21"/>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56606E"/>
                </a:solidFill>
                <a:latin typeface="Arial Narrow"/>
              </a:rPr>
              <a:t>VOCABULARY · 4 OF 6</a:t>
            </a:r>
          </a:p>
        </p:txBody>
      </p:sp>
      <p:sp>
        <p:nvSpPr>
          <p:cNvPr id="23" name="TextBox 22"/>
          <p:cNvSpPr txBox="1"/>
          <p:nvPr/>
        </p:nvSpPr>
        <p:spPr>
          <a:xfrm>
            <a:off x="685800" y="1234440"/>
            <a:ext cx="10789920" cy="1005840"/>
          </a:xfrm>
          <a:prstGeom prst="rect">
            <a:avLst/>
          </a:prstGeom>
          <a:noFill/>
        </p:spPr>
        <p:txBody>
          <a:bodyPr wrap="square" anchor="t" lIns="0" rIns="0" tIns="0" bIns="0">
            <a:noAutofit/>
          </a:bodyPr>
          <a:lstStyle/>
          <a:p>
            <a:pPr algn="l">
              <a:lnSpc>
                <a:spcPct val="100000"/>
              </a:lnSpc>
              <a:spcBef>
                <a:spcPts val="0"/>
              </a:spcBef>
              <a:spcAft>
                <a:spcPts val="0"/>
              </a:spcAft>
            </a:pPr>
            <a:r>
              <a:rPr sz="4600" b="0" i="0">
                <a:solidFill>
                  <a:srgbClr val="12161C"/>
                </a:solidFill>
                <a:latin typeface="Arial Black"/>
              </a:rPr>
              <a:t>POTENTIAL ENERGY</a:t>
            </a:r>
          </a:p>
        </p:txBody>
      </p:sp>
      <p:sp>
        <p:nvSpPr>
          <p:cNvPr id="24" name="Rounded Rectangle 23"/>
          <p:cNvSpPr/>
          <p:nvPr/>
        </p:nvSpPr>
        <p:spPr>
          <a:xfrm>
            <a:off x="685800" y="2286000"/>
            <a:ext cx="4754880" cy="3291840"/>
          </a:xfrm>
          <a:prstGeom prst="roundRect">
            <a:avLst>
              <a:gd name="adj" fmla="val 3888"/>
            </a:avLst>
          </a:prstGeom>
          <a:solidFill>
            <a:srgbClr val="FFFFFF"/>
          </a:solidFill>
          <a:ln w="19050">
            <a:solidFill>
              <a:srgbClr val="CFC9BC"/>
            </a:solidFill>
          </a:ln>
        </p:spPr>
        <p:txBody>
          <a:bodyPr rtlCol="0" anchor="ctr"/>
          <a:lstStyle/>
          <a:p>
            <a:pPr algn="ctr"/>
          </a:p>
        </p:txBody>
      </p:sp>
      <p:cxnSp>
        <p:nvCxnSpPr>
          <p:cNvPr id="25" name="Connector 24"/>
          <p:cNvCxnSpPr/>
          <p:nvPr/>
        </p:nvCxnSpPr>
        <p:spPr>
          <a:xfrm>
            <a:off x="1044245" y="5160874"/>
            <a:ext cx="4037990" cy="0"/>
          </a:xfrm>
          <a:prstGeom prst="line">
            <a:avLst/>
          </a:prstGeom>
          <a:ln w="44450" cap="rnd">
            <a:solidFill>
              <a:srgbClr val="8A93A0"/>
            </a:solidFill>
            <a:round/>
          </a:ln>
        </p:spPr>
      </p:cxnSp>
      <p:sp>
        <p:nvSpPr>
          <p:cNvPr id="26" name="Rectangle 25"/>
          <p:cNvSpPr/>
          <p:nvPr/>
        </p:nvSpPr>
        <p:spPr>
          <a:xfrm>
            <a:off x="2009851" y="3697834"/>
            <a:ext cx="1843430" cy="146304"/>
          </a:xfrm>
          <a:prstGeom prst="rect">
            <a:avLst/>
          </a:prstGeom>
          <a:solidFill>
            <a:srgbClr val="56606E"/>
          </a:solidFill>
          <a:ln>
            <a:noFill/>
          </a:ln>
        </p:spPr>
        <p:txBody>
          <a:bodyPr rtlCol="0" anchor="ctr"/>
          <a:lstStyle/>
          <a:p>
            <a:pPr algn="ctr"/>
          </a:p>
        </p:txBody>
      </p:sp>
      <p:sp>
        <p:nvSpPr>
          <p:cNvPr id="27" name="Rectangle 26"/>
          <p:cNvSpPr/>
          <p:nvPr/>
        </p:nvSpPr>
        <p:spPr>
          <a:xfrm>
            <a:off x="2141525" y="3844138"/>
            <a:ext cx="131674" cy="1316736"/>
          </a:xfrm>
          <a:prstGeom prst="rect">
            <a:avLst/>
          </a:prstGeom>
          <a:solidFill>
            <a:srgbClr val="56606E"/>
          </a:solidFill>
          <a:ln>
            <a:noFill/>
          </a:ln>
        </p:spPr>
        <p:txBody>
          <a:bodyPr rtlCol="0" anchor="ctr"/>
          <a:lstStyle/>
          <a:p>
            <a:pPr algn="ctr"/>
          </a:p>
        </p:txBody>
      </p:sp>
      <p:sp>
        <p:nvSpPr>
          <p:cNvPr id="28" name="Rectangle 27"/>
          <p:cNvSpPr/>
          <p:nvPr/>
        </p:nvSpPr>
        <p:spPr>
          <a:xfrm>
            <a:off x="3633826" y="3844138"/>
            <a:ext cx="131674" cy="1316736"/>
          </a:xfrm>
          <a:prstGeom prst="rect">
            <a:avLst/>
          </a:prstGeom>
          <a:solidFill>
            <a:srgbClr val="56606E"/>
          </a:solidFill>
          <a:ln>
            <a:noFill/>
          </a:ln>
        </p:spPr>
        <p:txBody>
          <a:bodyPr rtlCol="0" anchor="ctr"/>
          <a:lstStyle/>
          <a:p>
            <a:pPr algn="ctr"/>
          </a:p>
        </p:txBody>
      </p:sp>
      <p:sp>
        <p:nvSpPr>
          <p:cNvPr id="29" name="Oval 28"/>
          <p:cNvSpPr/>
          <p:nvPr/>
        </p:nvSpPr>
        <p:spPr>
          <a:xfrm>
            <a:off x="2551176" y="2937053"/>
            <a:ext cx="760781" cy="760781"/>
          </a:xfrm>
          <a:prstGeom prst="ellipse">
            <a:avLst/>
          </a:prstGeom>
          <a:solidFill>
            <a:srgbClr val="FFFFFF"/>
          </a:solidFill>
          <a:ln w="19050">
            <a:solidFill>
              <a:srgbClr val="12161C"/>
            </a:solidFill>
          </a:ln>
        </p:spPr>
        <p:txBody>
          <a:bodyPr rtlCol="0" anchor="ctr"/>
          <a:lstStyle/>
          <a:p>
            <a:pPr algn="ctr"/>
          </a:p>
        </p:txBody>
      </p:sp>
      <p:sp>
        <p:nvSpPr>
          <p:cNvPr id="30" name="Freeform 29"/>
          <p:cNvSpPr/>
          <p:nvPr/>
        </p:nvSpPr>
        <p:spPr>
          <a:xfrm>
            <a:off x="2659791" y="3094897"/>
            <a:ext cx="70109" cy="439512"/>
          </a:xfrm>
          <a:custGeom>
            <a:avLst/>
            <a:gdLst/>
            <a:ahLst/>
            <a:cxnLst/>
            <a:rect l="l" t="t" r="r" b="b"/>
            <a:pathLst>
              <a:path w="70109" h="439512">
                <a:moveTo>
                  <a:pt x="0" y="0"/>
                </a:moveTo>
                <a:lnTo>
                  <a:pt x="11211" y="16938"/>
                </a:lnTo>
                <a:lnTo>
                  <a:pt x="21521" y="34441"/>
                </a:lnTo>
                <a:lnTo>
                  <a:pt x="30901" y="52459"/>
                </a:lnTo>
                <a:lnTo>
                  <a:pt x="39325" y="70943"/>
                </a:lnTo>
                <a:lnTo>
                  <a:pt x="46769" y="89843"/>
                </a:lnTo>
                <a:lnTo>
                  <a:pt x="53215" y="109107"/>
                </a:lnTo>
                <a:lnTo>
                  <a:pt x="58643" y="128681"/>
                </a:lnTo>
                <a:lnTo>
                  <a:pt x="63040" y="148513"/>
                </a:lnTo>
                <a:lnTo>
                  <a:pt x="66393" y="168547"/>
                </a:lnTo>
                <a:lnTo>
                  <a:pt x="68692" y="188730"/>
                </a:lnTo>
                <a:lnTo>
                  <a:pt x="69932" y="209005"/>
                </a:lnTo>
                <a:lnTo>
                  <a:pt x="70109" y="229318"/>
                </a:lnTo>
                <a:lnTo>
                  <a:pt x="69223" y="249612"/>
                </a:lnTo>
                <a:lnTo>
                  <a:pt x="67276" y="269831"/>
                </a:lnTo>
                <a:lnTo>
                  <a:pt x="64274" y="289921"/>
                </a:lnTo>
                <a:lnTo>
                  <a:pt x="60224" y="309827"/>
                </a:lnTo>
                <a:lnTo>
                  <a:pt x="55138" y="329493"/>
                </a:lnTo>
                <a:lnTo>
                  <a:pt x="49030" y="348866"/>
                </a:lnTo>
                <a:lnTo>
                  <a:pt x="41916" y="367893"/>
                </a:lnTo>
                <a:lnTo>
                  <a:pt x="33816" y="386521"/>
                </a:lnTo>
                <a:lnTo>
                  <a:pt x="24752" y="404700"/>
                </a:lnTo>
                <a:lnTo>
                  <a:pt x="14750" y="422380"/>
                </a:lnTo>
                <a:lnTo>
                  <a:pt x="3835" y="439512"/>
                </a:lnTo>
              </a:path>
            </a:pathLst>
          </a:custGeom>
          <a:noFill/>
          <a:ln w="19050" cap="rnd">
            <a:solidFill>
              <a:srgbClr val="C8323A"/>
            </a:solidFill>
            <a:round/>
          </a:ln>
        </p:spPr>
        <p:txBody>
          <a:bodyPr rtlCol="0" anchor="ctr"/>
          <a:lstStyle/>
          <a:p>
            <a:pPr algn="ctr"/>
          </a:p>
        </p:txBody>
      </p:sp>
      <p:sp>
        <p:nvSpPr>
          <p:cNvPr id="31" name="Freeform 30"/>
          <p:cNvSpPr/>
          <p:nvPr/>
        </p:nvSpPr>
        <p:spPr>
          <a:xfrm>
            <a:off x="3133232" y="3094897"/>
            <a:ext cx="70110" cy="439512"/>
          </a:xfrm>
          <a:custGeom>
            <a:avLst/>
            <a:gdLst/>
            <a:ahLst/>
            <a:cxnLst/>
            <a:rect l="l" t="t" r="r" b="b"/>
            <a:pathLst>
              <a:path w="70110" h="439512">
                <a:moveTo>
                  <a:pt x="70110" y="0"/>
                </a:moveTo>
                <a:lnTo>
                  <a:pt x="58898" y="16938"/>
                </a:lnTo>
                <a:lnTo>
                  <a:pt x="48589" y="34441"/>
                </a:lnTo>
                <a:lnTo>
                  <a:pt x="39209" y="52459"/>
                </a:lnTo>
                <a:lnTo>
                  <a:pt x="30785" y="70943"/>
                </a:lnTo>
                <a:lnTo>
                  <a:pt x="23340" y="89843"/>
                </a:lnTo>
                <a:lnTo>
                  <a:pt x="16895" y="109107"/>
                </a:lnTo>
                <a:lnTo>
                  <a:pt x="11467" y="128681"/>
                </a:lnTo>
                <a:lnTo>
                  <a:pt x="7070" y="148513"/>
                </a:lnTo>
                <a:lnTo>
                  <a:pt x="3717" y="168547"/>
                </a:lnTo>
                <a:lnTo>
                  <a:pt x="1418" y="188730"/>
                </a:lnTo>
                <a:lnTo>
                  <a:pt x="178" y="209005"/>
                </a:lnTo>
                <a:lnTo>
                  <a:pt x="0" y="229318"/>
                </a:lnTo>
                <a:lnTo>
                  <a:pt x="886" y="249612"/>
                </a:lnTo>
                <a:lnTo>
                  <a:pt x="2833" y="269831"/>
                </a:lnTo>
                <a:lnTo>
                  <a:pt x="5836" y="289921"/>
                </a:lnTo>
                <a:lnTo>
                  <a:pt x="9886" y="309827"/>
                </a:lnTo>
                <a:lnTo>
                  <a:pt x="14972" y="329493"/>
                </a:lnTo>
                <a:lnTo>
                  <a:pt x="21080" y="348866"/>
                </a:lnTo>
                <a:lnTo>
                  <a:pt x="28194" y="367893"/>
                </a:lnTo>
                <a:lnTo>
                  <a:pt x="36294" y="386521"/>
                </a:lnTo>
                <a:lnTo>
                  <a:pt x="45357" y="404700"/>
                </a:lnTo>
                <a:lnTo>
                  <a:pt x="55360" y="422380"/>
                </a:lnTo>
                <a:lnTo>
                  <a:pt x="66274" y="439512"/>
                </a:lnTo>
              </a:path>
            </a:pathLst>
          </a:custGeom>
          <a:noFill/>
          <a:ln w="19050" cap="rnd">
            <a:solidFill>
              <a:srgbClr val="C8323A"/>
            </a:solidFill>
            <a:round/>
          </a:ln>
        </p:spPr>
        <p:txBody>
          <a:bodyPr rtlCol="0" anchor="ctr"/>
          <a:lstStyle/>
          <a:p>
            <a:pPr algn="ctr"/>
          </a:p>
        </p:txBody>
      </p:sp>
      <p:cxnSp>
        <p:nvCxnSpPr>
          <p:cNvPr id="32" name="Connector 31"/>
          <p:cNvCxnSpPr/>
          <p:nvPr/>
        </p:nvCxnSpPr>
        <p:spPr>
          <a:xfrm>
            <a:off x="4379976" y="3697834"/>
            <a:ext cx="0" cy="1463040"/>
          </a:xfrm>
          <a:prstGeom prst="line">
            <a:avLst/>
          </a:prstGeom>
          <a:ln w="38100">
            <a:solidFill>
              <a:srgbClr val="FFB400"/>
            </a:solidFill>
            <a:prstDash val="dash"/>
            <a:headEnd type="triangle" w="med" len="med"/>
            <a:tailEnd type="triangle" w="med" len="med"/>
          </a:ln>
        </p:spPr>
      </p:cxnSp>
      <p:sp>
        <p:nvSpPr>
          <p:cNvPr id="33" name="TextBox 32"/>
          <p:cNvSpPr txBox="1"/>
          <p:nvPr/>
        </p:nvSpPr>
        <p:spPr>
          <a:xfrm>
            <a:off x="4379976" y="4224528"/>
            <a:ext cx="1316736" cy="548640"/>
          </a:xfrm>
          <a:prstGeom prst="rect">
            <a:avLst/>
          </a:prstGeom>
          <a:noFill/>
        </p:spPr>
        <p:txBody>
          <a:bodyPr wrap="square" anchor="t" lIns="0" rIns="0" tIns="0" bIns="0">
            <a:noAutofit/>
          </a:bodyPr>
          <a:lstStyle/>
          <a:p>
            <a:pPr algn="ctr">
              <a:lnSpc>
                <a:spcPct val="100000"/>
              </a:lnSpc>
              <a:spcBef>
                <a:spcPts val="0"/>
              </a:spcBef>
              <a:spcAft>
                <a:spcPts val="0"/>
              </a:spcAft>
            </a:pPr>
            <a:r>
              <a:rPr sz="1500" b="1" i="0" spc="80">
                <a:solidFill>
                  <a:srgbClr val="9C5A00"/>
                </a:solidFill>
                <a:latin typeface="Arial Narrow"/>
              </a:rPr>
              <a:t>HEIGHT</a:t>
            </a:r>
          </a:p>
        </p:txBody>
      </p:sp>
      <p:sp>
        <p:nvSpPr>
          <p:cNvPr id="34" name="Rectangle 33"/>
          <p:cNvSpPr/>
          <p:nvPr/>
        </p:nvSpPr>
        <p:spPr>
          <a:xfrm>
            <a:off x="5760720" y="2468880"/>
            <a:ext cx="64008" cy="1463040"/>
          </a:xfrm>
          <a:prstGeom prst="rect">
            <a:avLst/>
          </a:prstGeom>
          <a:solidFill>
            <a:srgbClr val="FFB400"/>
          </a:solidFill>
          <a:ln>
            <a:noFill/>
          </a:ln>
        </p:spPr>
        <p:txBody>
          <a:bodyPr rtlCol="0" anchor="ctr"/>
          <a:lstStyle/>
          <a:p>
            <a:pPr algn="ctr"/>
          </a:p>
        </p:txBody>
      </p:sp>
      <p:sp>
        <p:nvSpPr>
          <p:cNvPr id="35" name="TextBox 34"/>
          <p:cNvSpPr txBox="1"/>
          <p:nvPr/>
        </p:nvSpPr>
        <p:spPr>
          <a:xfrm>
            <a:off x="6016752" y="2468880"/>
            <a:ext cx="4956048" cy="1463040"/>
          </a:xfrm>
          <a:prstGeom prst="rect">
            <a:avLst/>
          </a:prstGeom>
          <a:noFill/>
        </p:spPr>
        <p:txBody>
          <a:bodyPr wrap="square" anchor="ctr" lIns="0" rIns="0" tIns="0" bIns="0">
            <a:noAutofit/>
          </a:bodyPr>
          <a:lstStyle/>
          <a:p>
            <a:pPr algn="l">
              <a:lnSpc>
                <a:spcPct val="100000"/>
              </a:lnSpc>
              <a:spcBef>
                <a:spcPts val="0"/>
              </a:spcBef>
              <a:spcAft>
                <a:spcPts val="0"/>
              </a:spcAft>
            </a:pPr>
            <a:r>
              <a:rPr sz="2400" b="1" i="0">
                <a:solidFill>
                  <a:srgbClr val="9C5A00"/>
                </a:solidFill>
                <a:latin typeface="Arial"/>
              </a:rPr>
              <a:t>potential energy</a:t>
            </a:r>
            <a:r>
              <a:rPr sz="2400" b="0" i="0">
                <a:solidFill>
                  <a:srgbClr val="12161C"/>
                </a:solidFill>
                <a:latin typeface="Arial"/>
              </a:rPr>
              <a:t> — the textbook rule:</a:t>
            </a:r>
          </a:p>
        </p:txBody>
      </p:sp>
      <p:sp>
        <p:nvSpPr>
          <p:cNvPr id="36" name="TextBox 35"/>
          <p:cNvSpPr txBox="1"/>
          <p:nvPr/>
        </p:nvSpPr>
        <p:spPr>
          <a:xfrm>
            <a:off x="5760720" y="3794760"/>
            <a:ext cx="5212080" cy="1645920"/>
          </a:xfrm>
          <a:prstGeom prst="rect">
            <a:avLst/>
          </a:prstGeom>
          <a:noFill/>
        </p:spPr>
        <p:txBody>
          <a:bodyPr wrap="square" anchor="t" lIns="0" rIns="0" tIns="0" bIns="0">
            <a:noAutofit/>
          </a:bodyPr>
          <a:lstStyle/>
          <a:p>
            <a:pPr algn="l">
              <a:lnSpc>
                <a:spcPct val="125000"/>
              </a:lnSpc>
              <a:spcBef>
                <a:spcPts val="0"/>
              </a:spcBef>
              <a:spcAft>
                <a:spcPts val="600"/>
              </a:spcAft>
            </a:pPr>
            <a:r>
              <a:rPr sz="2400" b="0" i="0">
                <a:solidFill>
                  <a:srgbClr val="12161C"/>
                </a:solidFill>
                <a:latin typeface="Arial"/>
              </a:rPr>
              <a:t>A still object has </a:t>
            </a:r>
            <a:r>
              <a:rPr sz="2400" b="1" i="0">
                <a:solidFill>
                  <a:srgbClr val="9C5A00"/>
                </a:solidFill>
                <a:latin typeface="Arial"/>
              </a:rPr>
              <a:t>potential energy</a:t>
            </a:r>
            <a:r>
              <a:rPr sz="2400" b="0" i="0">
                <a:solidFill>
                  <a:srgbClr val="12161C"/>
                </a:solidFill>
                <a:latin typeface="Arial"/>
              </a:rPr>
              <a:t>.</a:t>
            </a:r>
          </a:p>
          <a:p>
            <a:pPr algn="l">
              <a:lnSpc>
                <a:spcPct val="125000"/>
              </a:lnSpc>
              <a:spcBef>
                <a:spcPts val="0"/>
              </a:spcBef>
              <a:spcAft>
                <a:spcPts val="600"/>
              </a:spcAft>
            </a:pPr>
            <a:r>
              <a:rPr sz="2400" b="0" i="0">
                <a:solidFill>
                  <a:srgbClr val="12161C"/>
                </a:solidFill>
                <a:latin typeface="Arial"/>
              </a:rPr>
              <a:t>A moving object has </a:t>
            </a:r>
            <a:r>
              <a:rPr sz="2400" b="1" i="0">
                <a:solidFill>
                  <a:srgbClr val="9C5A00"/>
                </a:solidFill>
                <a:latin typeface="Arial"/>
              </a:rPr>
              <a:t>kinetic energy</a:t>
            </a:r>
            <a:r>
              <a:rPr sz="2400" b="0" i="0">
                <a:solidFill>
                  <a:srgbClr val="12161C"/>
                </a:solidFill>
                <a:latin typeface="Arial"/>
              </a:rPr>
              <a: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12161C"/>
                </a:solidFill>
                <a:latin typeface="Arial Narrow"/>
              </a:rPr>
              <a:t>ACT 2 · VOCABULARY</a:t>
            </a:r>
          </a:p>
        </p:txBody>
      </p:sp>
      <p:sp>
        <p:nvSpPr>
          <p:cNvPr id="4" name="TextBox 3"/>
          <p:cNvSpPr txBox="1"/>
          <p:nvPr/>
        </p:nvSpPr>
        <p:spPr>
          <a:xfrm>
            <a:off x="7315200" y="310896"/>
            <a:ext cx="4187952" cy="274320"/>
          </a:xfrm>
          <a:prstGeom prst="rect">
            <a:avLst/>
          </a:prstGeom>
          <a:noFill/>
        </p:spPr>
        <p:txBody>
          <a:bodyPr wrap="square" anchor="t" lIns="0" rIns="0" tIns="0" bIns="0">
            <a:noAutofit/>
          </a:bodyPr>
          <a:lstStyle/>
          <a:p>
            <a:pPr algn="r">
              <a:lnSpc>
                <a:spcPct val="100000"/>
              </a:lnSpc>
              <a:spcBef>
                <a:spcPts val="0"/>
              </a:spcBef>
              <a:spcAft>
                <a:spcPts val="0"/>
              </a:spcAft>
            </a:pPr>
            <a:r>
              <a:rPr sz="1300" b="1" i="0" spc="220">
                <a:solidFill>
                  <a:srgbClr val="8A93A0"/>
                </a:solidFill>
                <a:latin typeface="Arial Narrow"/>
              </a:rPr>
              <a:t>DYNAMICS ENGINEER</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8A93A0"/>
                </a:solidFill>
                <a:latin typeface="Arial Narrow"/>
              </a:rPr>
              <a:t>ENERGY LAB  ·  CRASH TEST #05</a:t>
            </a:r>
          </a:p>
        </p:txBody>
      </p:sp>
      <p:sp>
        <p:nvSpPr>
          <p:cNvPr id="6" name="Rectangle 5"/>
          <p:cNvSpPr/>
          <p:nvPr/>
        </p:nvSpPr>
        <p:spPr>
          <a:xfrm>
            <a:off x="4526280" y="6510528"/>
            <a:ext cx="127363" cy="54864"/>
          </a:xfrm>
          <a:prstGeom prst="rect">
            <a:avLst/>
          </a:prstGeom>
          <a:solidFill>
            <a:srgbClr val="D9B55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D9B55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D9B55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FFB400"/>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D5D0C4"/>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D5D0C4"/>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D5D0C4"/>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D5D0C4"/>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D5D0C4"/>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D5D0C4"/>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D5D0C4"/>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D5D0C4"/>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D5D0C4"/>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D5D0C4"/>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8A93A0"/>
                </a:solidFill>
                <a:latin typeface="Arial Narrow"/>
              </a:rPr>
              <a:t>26</a:t>
            </a:fld>
          </a:p>
        </p:txBody>
      </p:sp>
      <p:sp>
        <p:nvSpPr>
          <p:cNvPr id="21" name="Rounded Rectangle 20"/>
          <p:cNvSpPr/>
          <p:nvPr/>
        </p:nvSpPr>
        <p:spPr>
          <a:xfrm>
            <a:off x="9052560" y="914400"/>
            <a:ext cx="2278475" cy="274320"/>
          </a:xfrm>
          <a:prstGeom prst="roundRect">
            <a:avLst>
              <a:gd name="adj" fmla="val 50000"/>
            </a:avLst>
          </a:prstGeom>
          <a:noFill/>
          <a:ln w="19050">
            <a:solidFill>
              <a:srgbClr val="0B6A96"/>
            </a:solidFill>
          </a:ln>
        </p:spPr>
        <p:txBody>
          <a:bodyPr rtlCol="0" anchor="ctr" wrap="square" lIns="0" rIns="0" tIns="0" bIns="0">
            <a:noAutofit/>
          </a:bodyPr>
          <a:lstStyle/>
          <a:p>
            <a:pPr algn="ctr">
              <a:lnSpc>
                <a:spcPct val="100000"/>
              </a:lnSpc>
              <a:spcBef>
                <a:spcPts val="0"/>
              </a:spcBef>
              <a:spcAft>
                <a:spcPts val="0"/>
              </a:spcAft>
            </a:pPr>
            <a:r>
              <a:rPr sz="1300" b="1" i="0" spc="200">
                <a:solidFill>
                  <a:srgbClr val="0B6A96"/>
                </a:solidFill>
                <a:latin typeface="Arial Narrow"/>
              </a:rPr>
              <a:t>TEXTBOOK · TASK 3.3</a:t>
            </a:r>
          </a:p>
        </p:txBody>
      </p:sp>
      <p:sp>
        <p:nvSpPr>
          <p:cNvPr id="22" name="TextBox 21"/>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56606E"/>
                </a:solidFill>
                <a:latin typeface="Arial Narrow"/>
              </a:rPr>
              <a:t>VOCABULARY · 5–6 OF 6</a:t>
            </a:r>
          </a:p>
        </p:txBody>
      </p:sp>
      <p:sp>
        <p:nvSpPr>
          <p:cNvPr id="23" name="TextBox 22"/>
          <p:cNvSpPr txBox="1"/>
          <p:nvPr/>
        </p:nvSpPr>
        <p:spPr>
          <a:xfrm>
            <a:off x="685800" y="1234440"/>
            <a:ext cx="10789920" cy="1005840"/>
          </a:xfrm>
          <a:prstGeom prst="rect">
            <a:avLst/>
          </a:prstGeom>
          <a:noFill/>
        </p:spPr>
        <p:txBody>
          <a:bodyPr wrap="square" anchor="t" lIns="0" rIns="0" tIns="0" bIns="0">
            <a:noAutofit/>
          </a:bodyPr>
          <a:lstStyle/>
          <a:p>
            <a:pPr algn="l">
              <a:lnSpc>
                <a:spcPct val="100000"/>
              </a:lnSpc>
              <a:spcBef>
                <a:spcPts val="0"/>
              </a:spcBef>
              <a:spcAft>
                <a:spcPts val="0"/>
              </a:spcAft>
            </a:pPr>
            <a:r>
              <a:rPr sz="4600" b="0" i="0">
                <a:solidFill>
                  <a:srgbClr val="12161C"/>
                </a:solidFill>
                <a:latin typeface="Arial Black"/>
              </a:rPr>
              <a:t>FORCE  vs  WORK</a:t>
            </a:r>
          </a:p>
        </p:txBody>
      </p:sp>
      <p:sp>
        <p:nvSpPr>
          <p:cNvPr id="24" name="Rounded Rectangle 23"/>
          <p:cNvSpPr/>
          <p:nvPr/>
        </p:nvSpPr>
        <p:spPr>
          <a:xfrm>
            <a:off x="685800" y="2331720"/>
            <a:ext cx="5120640" cy="3429000"/>
          </a:xfrm>
          <a:prstGeom prst="roundRect">
            <a:avLst>
              <a:gd name="adj" fmla="val 3733"/>
            </a:avLst>
          </a:prstGeom>
          <a:solidFill>
            <a:srgbClr val="FFFFFF"/>
          </a:solidFill>
          <a:ln w="19050">
            <a:solidFill>
              <a:srgbClr val="CFC9BC"/>
            </a:solidFill>
          </a:ln>
        </p:spPr>
        <p:txBody>
          <a:bodyPr rtlCol="0" anchor="ctr"/>
          <a:lstStyle/>
          <a:p>
            <a:pPr algn="ctr"/>
          </a:p>
        </p:txBody>
      </p:sp>
      <p:sp>
        <p:nvSpPr>
          <p:cNvPr id="25" name="TextBox 24"/>
          <p:cNvSpPr txBox="1"/>
          <p:nvPr/>
        </p:nvSpPr>
        <p:spPr>
          <a:xfrm>
            <a:off x="960120" y="2514600"/>
            <a:ext cx="4572000" cy="640080"/>
          </a:xfrm>
          <a:prstGeom prst="rect">
            <a:avLst/>
          </a:prstGeom>
          <a:noFill/>
        </p:spPr>
        <p:txBody>
          <a:bodyPr wrap="square" anchor="t" lIns="0" rIns="0" tIns="0" bIns="0">
            <a:noAutofit/>
          </a:bodyPr>
          <a:lstStyle/>
          <a:p>
            <a:pPr algn="l">
              <a:lnSpc>
                <a:spcPct val="100000"/>
              </a:lnSpc>
              <a:spcBef>
                <a:spcPts val="0"/>
              </a:spcBef>
              <a:spcAft>
                <a:spcPts val="0"/>
              </a:spcAft>
            </a:pPr>
            <a:r>
              <a:rPr sz="3400" b="0" i="0">
                <a:solidFill>
                  <a:srgbClr val="12161C"/>
                </a:solidFill>
                <a:latin typeface="Arial Black"/>
              </a:rPr>
              <a:t>FORCE</a:t>
            </a:r>
          </a:p>
        </p:txBody>
      </p:sp>
      <p:sp>
        <p:nvSpPr>
          <p:cNvPr id="26" name="TextBox 25"/>
          <p:cNvSpPr txBox="1"/>
          <p:nvPr/>
        </p:nvSpPr>
        <p:spPr>
          <a:xfrm>
            <a:off x="960120" y="3200400"/>
            <a:ext cx="4572000" cy="685800"/>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56606E"/>
                </a:solidFill>
                <a:latin typeface="Arial"/>
              </a:rPr>
              <a:t>a push or a pull</a:t>
            </a:r>
          </a:p>
        </p:txBody>
      </p:sp>
      <p:sp>
        <p:nvSpPr>
          <p:cNvPr id="27" name="Oval 26"/>
          <p:cNvSpPr/>
          <p:nvPr/>
        </p:nvSpPr>
        <p:spPr>
          <a:xfrm>
            <a:off x="3685032" y="4096512"/>
            <a:ext cx="768096" cy="768096"/>
          </a:xfrm>
          <a:prstGeom prst="ellipse">
            <a:avLst/>
          </a:prstGeom>
          <a:solidFill>
            <a:srgbClr val="12161C"/>
          </a:solidFill>
          <a:ln>
            <a:noFill/>
          </a:ln>
        </p:spPr>
        <p:txBody>
          <a:bodyPr rtlCol="0" anchor="ctr"/>
          <a:lstStyle/>
          <a:p>
            <a:pPr algn="ctr"/>
          </a:p>
        </p:txBody>
      </p:sp>
      <p:sp>
        <p:nvSpPr>
          <p:cNvPr id="28" name="Freeform 27"/>
          <p:cNvSpPr/>
          <p:nvPr/>
        </p:nvSpPr>
        <p:spPr>
          <a:xfrm>
            <a:off x="1600200" y="4326941"/>
            <a:ext cx="1965960" cy="307238"/>
          </a:xfrm>
          <a:custGeom>
            <a:avLst/>
            <a:gdLst/>
            <a:ahLst/>
            <a:cxnLst/>
            <a:rect l="l" t="t" r="r" b="b"/>
            <a:pathLst>
              <a:path w="1965960" h="307238">
                <a:moveTo>
                  <a:pt x="0" y="226771"/>
                </a:moveTo>
                <a:lnTo>
                  <a:pt x="1746504" y="226771"/>
                </a:lnTo>
                <a:lnTo>
                  <a:pt x="1746504" y="307238"/>
                </a:lnTo>
                <a:lnTo>
                  <a:pt x="1965960" y="153619"/>
                </a:lnTo>
                <a:lnTo>
                  <a:pt x="1746504" y="0"/>
                </a:lnTo>
                <a:lnTo>
                  <a:pt x="1746504" y="80467"/>
                </a:lnTo>
                <a:lnTo>
                  <a:pt x="0" y="80467"/>
                </a:lnTo>
                <a:close/>
              </a:path>
            </a:pathLst>
          </a:custGeom>
          <a:solidFill>
            <a:srgbClr val="FFB400"/>
          </a:solidFill>
          <a:ln>
            <a:noFill/>
          </a:ln>
        </p:spPr>
        <p:txBody>
          <a:bodyPr rtlCol="0" anchor="ctr"/>
          <a:lstStyle/>
          <a:p>
            <a:pPr algn="ctr"/>
          </a:p>
        </p:txBody>
      </p:sp>
      <p:sp>
        <p:nvSpPr>
          <p:cNvPr id="29" name="TextBox 28"/>
          <p:cNvSpPr txBox="1"/>
          <p:nvPr/>
        </p:nvSpPr>
        <p:spPr>
          <a:xfrm>
            <a:off x="1600200" y="5029200"/>
            <a:ext cx="2743200" cy="365760"/>
          </a:xfrm>
          <a:prstGeom prst="rect">
            <a:avLst/>
          </a:prstGeom>
          <a:noFill/>
        </p:spPr>
        <p:txBody>
          <a:bodyPr wrap="square" anchor="t" lIns="0" rIns="0" tIns="0" bIns="0">
            <a:noAutofit/>
          </a:bodyPr>
          <a:lstStyle/>
          <a:p>
            <a:pPr algn="l">
              <a:lnSpc>
                <a:spcPct val="100000"/>
              </a:lnSpc>
              <a:spcBef>
                <a:spcPts val="0"/>
              </a:spcBef>
              <a:spcAft>
                <a:spcPts val="0"/>
              </a:spcAft>
            </a:pPr>
            <a:r>
              <a:rPr sz="1600" b="1" i="0" spc="200">
                <a:solidFill>
                  <a:srgbClr val="9C5A00"/>
                </a:solidFill>
                <a:latin typeface="Arial Narrow"/>
              </a:rPr>
              <a:t>PUSH</a:t>
            </a:r>
          </a:p>
        </p:txBody>
      </p:sp>
      <p:sp>
        <p:nvSpPr>
          <p:cNvPr id="30" name="Rounded Rectangle 29"/>
          <p:cNvSpPr/>
          <p:nvPr/>
        </p:nvSpPr>
        <p:spPr>
          <a:xfrm>
            <a:off x="6208776" y="2331720"/>
            <a:ext cx="5120640" cy="3429000"/>
          </a:xfrm>
          <a:prstGeom prst="roundRect">
            <a:avLst>
              <a:gd name="adj" fmla="val 3733"/>
            </a:avLst>
          </a:prstGeom>
          <a:solidFill>
            <a:srgbClr val="FFFFFF"/>
          </a:solidFill>
          <a:ln w="19050">
            <a:solidFill>
              <a:srgbClr val="CFC9BC"/>
            </a:solidFill>
          </a:ln>
        </p:spPr>
        <p:txBody>
          <a:bodyPr rtlCol="0" anchor="ctr"/>
          <a:lstStyle/>
          <a:p>
            <a:pPr algn="ctr"/>
          </a:p>
        </p:txBody>
      </p:sp>
      <p:sp>
        <p:nvSpPr>
          <p:cNvPr id="31" name="TextBox 30"/>
          <p:cNvSpPr txBox="1"/>
          <p:nvPr/>
        </p:nvSpPr>
        <p:spPr>
          <a:xfrm>
            <a:off x="6483096" y="2514600"/>
            <a:ext cx="4572000" cy="640080"/>
          </a:xfrm>
          <a:prstGeom prst="rect">
            <a:avLst/>
          </a:prstGeom>
          <a:noFill/>
        </p:spPr>
        <p:txBody>
          <a:bodyPr wrap="square" anchor="t" lIns="0" rIns="0" tIns="0" bIns="0">
            <a:noAutofit/>
          </a:bodyPr>
          <a:lstStyle/>
          <a:p>
            <a:pPr algn="l">
              <a:lnSpc>
                <a:spcPct val="100000"/>
              </a:lnSpc>
              <a:spcBef>
                <a:spcPts val="0"/>
              </a:spcBef>
              <a:spcAft>
                <a:spcPts val="0"/>
              </a:spcAft>
            </a:pPr>
            <a:r>
              <a:rPr sz="3400" b="0" i="0">
                <a:solidFill>
                  <a:srgbClr val="12161C"/>
                </a:solidFill>
                <a:latin typeface="Arial Black"/>
              </a:rPr>
              <a:t>WORK</a:t>
            </a:r>
          </a:p>
        </p:txBody>
      </p:sp>
      <p:sp>
        <p:nvSpPr>
          <p:cNvPr id="32" name="TextBox 31"/>
          <p:cNvSpPr txBox="1"/>
          <p:nvPr/>
        </p:nvSpPr>
        <p:spPr>
          <a:xfrm>
            <a:off x="6483096" y="3200400"/>
            <a:ext cx="4572000" cy="685800"/>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56606E"/>
                </a:solidFill>
                <a:latin typeface="Arial"/>
              </a:rPr>
              <a:t>what a force does when it moves something</a:t>
            </a:r>
          </a:p>
        </p:txBody>
      </p:sp>
      <p:sp>
        <p:nvSpPr>
          <p:cNvPr id="33" name="Rectangle 32"/>
          <p:cNvSpPr/>
          <p:nvPr/>
        </p:nvSpPr>
        <p:spPr>
          <a:xfrm>
            <a:off x="7031736" y="4206240"/>
            <a:ext cx="822960" cy="594360"/>
          </a:xfrm>
          <a:prstGeom prst="rect">
            <a:avLst/>
          </a:prstGeom>
          <a:solidFill>
            <a:srgbClr val="56606E"/>
          </a:solidFill>
          <a:ln>
            <a:noFill/>
          </a:ln>
        </p:spPr>
        <p:txBody>
          <a:bodyPr rtlCol="0" anchor="ctr"/>
          <a:lstStyle/>
          <a:p>
            <a:pPr algn="ctr"/>
          </a:p>
        </p:txBody>
      </p:sp>
      <p:sp>
        <p:nvSpPr>
          <p:cNvPr id="34" name="Freeform 33"/>
          <p:cNvSpPr/>
          <p:nvPr/>
        </p:nvSpPr>
        <p:spPr>
          <a:xfrm>
            <a:off x="7991856" y="4346143"/>
            <a:ext cx="1783080" cy="268834"/>
          </a:xfrm>
          <a:custGeom>
            <a:avLst/>
            <a:gdLst/>
            <a:ahLst/>
            <a:cxnLst/>
            <a:rect l="l" t="t" r="r" b="b"/>
            <a:pathLst>
              <a:path w="1783080" h="268834">
                <a:moveTo>
                  <a:pt x="0" y="198425"/>
                </a:moveTo>
                <a:lnTo>
                  <a:pt x="1591056" y="198425"/>
                </a:lnTo>
                <a:lnTo>
                  <a:pt x="1591056" y="268834"/>
                </a:lnTo>
                <a:lnTo>
                  <a:pt x="1783080" y="134417"/>
                </a:lnTo>
                <a:lnTo>
                  <a:pt x="1591056" y="0"/>
                </a:lnTo>
                <a:lnTo>
                  <a:pt x="1591056" y="70409"/>
                </a:lnTo>
                <a:lnTo>
                  <a:pt x="0" y="70409"/>
                </a:lnTo>
                <a:close/>
              </a:path>
            </a:pathLst>
          </a:custGeom>
          <a:solidFill>
            <a:srgbClr val="FFB400"/>
          </a:solidFill>
          <a:ln>
            <a:noFill/>
          </a:ln>
        </p:spPr>
        <p:txBody>
          <a:bodyPr rtlCol="0" anchor="ctr"/>
          <a:lstStyle/>
          <a:p>
            <a:pPr algn="ctr"/>
          </a:p>
        </p:txBody>
      </p:sp>
      <p:sp>
        <p:nvSpPr>
          <p:cNvPr id="35" name="Rectangle 34"/>
          <p:cNvSpPr/>
          <p:nvPr/>
        </p:nvSpPr>
        <p:spPr>
          <a:xfrm>
            <a:off x="9866376" y="4206240"/>
            <a:ext cx="822960" cy="594360"/>
          </a:xfrm>
          <a:prstGeom prst="rect">
            <a:avLst/>
          </a:prstGeom>
          <a:solidFill>
            <a:srgbClr val="56606E">
              <a:alpha val="45000"/>
            </a:srgbClr>
          </a:solidFill>
          <a:ln>
            <a:noFill/>
          </a:ln>
        </p:spPr>
        <p:txBody>
          <a:bodyPr rtlCol="0" anchor="ctr"/>
          <a:lstStyle/>
          <a:p>
            <a:pPr algn="ctr"/>
          </a:p>
        </p:txBody>
      </p:sp>
      <p:sp>
        <p:nvSpPr>
          <p:cNvPr id="36" name="TextBox 35"/>
          <p:cNvSpPr txBox="1"/>
          <p:nvPr/>
        </p:nvSpPr>
        <p:spPr>
          <a:xfrm>
            <a:off x="7031736" y="5029200"/>
            <a:ext cx="3657600" cy="365760"/>
          </a:xfrm>
          <a:prstGeom prst="rect">
            <a:avLst/>
          </a:prstGeom>
          <a:noFill/>
        </p:spPr>
        <p:txBody>
          <a:bodyPr wrap="square" anchor="t" lIns="0" rIns="0" tIns="0" bIns="0">
            <a:noAutofit/>
          </a:bodyPr>
          <a:lstStyle/>
          <a:p>
            <a:pPr algn="l">
              <a:lnSpc>
                <a:spcPct val="100000"/>
              </a:lnSpc>
              <a:spcBef>
                <a:spcPts val="0"/>
              </a:spcBef>
              <a:spcAft>
                <a:spcPts val="0"/>
              </a:spcAft>
            </a:pPr>
            <a:r>
              <a:rPr sz="1500" b="1" i="0" spc="150">
                <a:solidFill>
                  <a:srgbClr val="9C5A00"/>
                </a:solidFill>
                <a:latin typeface="Arial Narrow"/>
              </a:rPr>
              <a:t>OBJECT MOVES = WORK DONE</a:t>
            </a:r>
          </a:p>
        </p:txBody>
      </p:sp>
      <p:sp>
        <p:nvSpPr>
          <p:cNvPr id="37" name="Rectangle 36"/>
          <p:cNvSpPr/>
          <p:nvPr/>
        </p:nvSpPr>
        <p:spPr>
          <a:xfrm>
            <a:off x="685800" y="5779008"/>
            <a:ext cx="10360152" cy="18288"/>
          </a:xfrm>
          <a:prstGeom prst="rect">
            <a:avLst/>
          </a:prstGeom>
          <a:solidFill>
            <a:srgbClr val="CFC9BC"/>
          </a:solidFill>
          <a:ln>
            <a:noFill/>
          </a:ln>
        </p:spPr>
        <p:txBody>
          <a:bodyPr rtlCol="0" anchor="ctr"/>
          <a:lstStyle/>
          <a:p>
            <a:pPr algn="ctr"/>
          </a:p>
        </p:txBody>
      </p:sp>
      <p:sp>
        <p:nvSpPr>
          <p:cNvPr id="38" name="Rounded Rectangle 37"/>
          <p:cNvSpPr/>
          <p:nvPr/>
        </p:nvSpPr>
        <p:spPr>
          <a:xfrm>
            <a:off x="685800" y="5907024"/>
            <a:ext cx="1126585" cy="274320"/>
          </a:xfrm>
          <a:prstGeom prst="roundRect">
            <a:avLst>
              <a:gd name="adj" fmla="val 50000"/>
            </a:avLst>
          </a:prstGeom>
          <a:noFill/>
          <a:ln w="19050">
            <a:solidFill>
              <a:srgbClr val="0B6A96"/>
            </a:solidFill>
          </a:ln>
        </p:spPr>
        <p:txBody>
          <a:bodyPr rtlCol="0" anchor="ctr" wrap="square" lIns="0" rIns="0" tIns="0" bIns="0">
            <a:noAutofit/>
          </a:bodyPr>
          <a:lstStyle/>
          <a:p>
            <a:pPr algn="ctr">
              <a:lnSpc>
                <a:spcPct val="100000"/>
              </a:lnSpc>
              <a:spcBef>
                <a:spcPts val="0"/>
              </a:spcBef>
              <a:spcAft>
                <a:spcPts val="0"/>
              </a:spcAft>
            </a:pPr>
            <a:r>
              <a:rPr sz="1300" b="1" i="0" spc="200">
                <a:solidFill>
                  <a:srgbClr val="0B6A96"/>
                </a:solidFill>
                <a:latin typeface="Arial Narrow"/>
              </a:rPr>
              <a:t>TASK 3.3</a:t>
            </a:r>
          </a:p>
        </p:txBody>
      </p:sp>
      <p:sp>
        <p:nvSpPr>
          <p:cNvPr id="39" name="TextBox 38"/>
          <p:cNvSpPr txBox="1"/>
          <p:nvPr/>
        </p:nvSpPr>
        <p:spPr>
          <a:xfrm>
            <a:off x="2331720" y="5870448"/>
            <a:ext cx="8732520" cy="457200"/>
          </a:xfrm>
          <a:prstGeom prst="rect">
            <a:avLst/>
          </a:prstGeom>
          <a:noFill/>
        </p:spPr>
        <p:txBody>
          <a:bodyPr wrap="square" anchor="t" lIns="0" rIns="0" tIns="0" bIns="0">
            <a:noAutofit/>
          </a:bodyPr>
          <a:lstStyle/>
          <a:p>
            <a:pPr algn="r">
              <a:lnSpc>
                <a:spcPct val="100000"/>
              </a:lnSpc>
              <a:spcBef>
                <a:spcPts val="0"/>
              </a:spcBef>
              <a:spcAft>
                <a:spcPts val="0"/>
              </a:spcAft>
            </a:pPr>
            <a:r>
              <a:rPr sz="1700" b="0" i="0">
                <a:solidFill>
                  <a:srgbClr val="56606E"/>
                </a:solidFill>
                <a:latin typeface="Arial"/>
              </a:rPr>
              <a:t>“the </a:t>
            </a:r>
            <a:r>
              <a:rPr sz="1700" b="1" i="0">
                <a:solidFill>
                  <a:srgbClr val="9C5A00"/>
                </a:solidFill>
                <a:latin typeface="Arial"/>
              </a:rPr>
              <a:t>force</a:t>
            </a:r>
            <a:r>
              <a:rPr sz="1700" b="0" i="0">
                <a:solidFill>
                  <a:srgbClr val="56606E"/>
                </a:solidFill>
                <a:latin typeface="Arial"/>
              </a:rPr>
              <a:t> moves it forward”   “a machine does </a:t>
            </a:r>
            <a:r>
              <a:rPr sz="1700" b="1" i="0">
                <a:solidFill>
                  <a:srgbClr val="9C5A00"/>
                </a:solidFill>
                <a:latin typeface="Arial"/>
              </a:rPr>
              <a:t>work</a:t>
            </a:r>
            <a:r>
              <a:rPr sz="1700" b="0" i="0">
                <a:solidFill>
                  <a:srgbClr val="56606E"/>
                </a:solidFill>
                <a:latin typeface="Arial"/>
              </a:rPr>
              <a: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12161C"/>
                </a:solidFill>
                <a:latin typeface="Arial Narrow"/>
              </a:rPr>
              <a:t>ACT 2 · VOCABULARY</a:t>
            </a:r>
          </a:p>
        </p:txBody>
      </p:sp>
      <p:sp>
        <p:nvSpPr>
          <p:cNvPr id="4" name="TextBox 3"/>
          <p:cNvSpPr txBox="1"/>
          <p:nvPr/>
        </p:nvSpPr>
        <p:spPr>
          <a:xfrm>
            <a:off x="7315200" y="310896"/>
            <a:ext cx="4187952" cy="274320"/>
          </a:xfrm>
          <a:prstGeom prst="rect">
            <a:avLst/>
          </a:prstGeom>
          <a:noFill/>
        </p:spPr>
        <p:txBody>
          <a:bodyPr wrap="square" anchor="t" lIns="0" rIns="0" tIns="0" bIns="0">
            <a:noAutofit/>
          </a:bodyPr>
          <a:lstStyle/>
          <a:p>
            <a:pPr algn="r">
              <a:lnSpc>
                <a:spcPct val="100000"/>
              </a:lnSpc>
              <a:spcBef>
                <a:spcPts val="0"/>
              </a:spcBef>
              <a:spcAft>
                <a:spcPts val="0"/>
              </a:spcAft>
            </a:pPr>
            <a:r>
              <a:rPr sz="1300" b="1" i="0" spc="220">
                <a:solidFill>
                  <a:srgbClr val="8A93A0"/>
                </a:solidFill>
                <a:latin typeface="Arial Narrow"/>
              </a:rPr>
              <a:t>RESEARCH ENGINEER</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8A93A0"/>
                </a:solidFill>
                <a:latin typeface="Arial Narrow"/>
              </a:rPr>
              <a:t>ENERGY LAB  ·  CRASH TEST #05</a:t>
            </a:r>
          </a:p>
        </p:txBody>
      </p:sp>
      <p:sp>
        <p:nvSpPr>
          <p:cNvPr id="6" name="Rectangle 5"/>
          <p:cNvSpPr/>
          <p:nvPr/>
        </p:nvSpPr>
        <p:spPr>
          <a:xfrm>
            <a:off x="4526280" y="6510528"/>
            <a:ext cx="127363" cy="54864"/>
          </a:xfrm>
          <a:prstGeom prst="rect">
            <a:avLst/>
          </a:prstGeom>
          <a:solidFill>
            <a:srgbClr val="D9B55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D9B55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D9B55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FFB400"/>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D5D0C4"/>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D5D0C4"/>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D5D0C4"/>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D5D0C4"/>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D5D0C4"/>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D5D0C4"/>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D5D0C4"/>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D5D0C4"/>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D5D0C4"/>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D5D0C4"/>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8A93A0"/>
                </a:solidFill>
                <a:latin typeface="Arial Narrow"/>
              </a:rPr>
              <a:t>27</a:t>
            </a:fld>
          </a:p>
        </p:txBody>
      </p:sp>
      <p:sp>
        <p:nvSpPr>
          <p:cNvPr id="21" name="Rounded Rectangle 20"/>
          <p:cNvSpPr/>
          <p:nvPr/>
        </p:nvSpPr>
        <p:spPr>
          <a:xfrm>
            <a:off x="9052560" y="914400"/>
            <a:ext cx="2114645" cy="274320"/>
          </a:xfrm>
          <a:prstGeom prst="roundRect">
            <a:avLst>
              <a:gd name="adj" fmla="val 50000"/>
            </a:avLst>
          </a:prstGeom>
          <a:noFill/>
          <a:ln w="19050">
            <a:solidFill>
              <a:srgbClr val="0B6A96"/>
            </a:solidFill>
          </a:ln>
        </p:spPr>
        <p:txBody>
          <a:bodyPr rtlCol="0" anchor="ctr" wrap="square" lIns="0" rIns="0" tIns="0" bIns="0">
            <a:noAutofit/>
          </a:bodyPr>
          <a:lstStyle/>
          <a:p>
            <a:pPr algn="ctr">
              <a:lnSpc>
                <a:spcPct val="100000"/>
              </a:lnSpc>
              <a:spcBef>
                <a:spcPts val="0"/>
              </a:spcBef>
              <a:spcAft>
                <a:spcPts val="0"/>
              </a:spcAft>
            </a:pPr>
            <a:r>
              <a:rPr sz="1300" b="1" i="0" spc="200">
                <a:solidFill>
                  <a:srgbClr val="0B6A96"/>
                </a:solidFill>
                <a:latin typeface="Arial Narrow"/>
              </a:rPr>
              <a:t>TEXTBOOK · TASK 4</a:t>
            </a:r>
          </a:p>
        </p:txBody>
      </p:sp>
      <p:sp>
        <p:nvSpPr>
          <p:cNvPr id="22" name="TextBox 21"/>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56606E"/>
                </a:solidFill>
                <a:latin typeface="Arial Narrow"/>
              </a:rPr>
              <a:t>VOCABULARY · TASK 4</a:t>
            </a:r>
          </a:p>
        </p:txBody>
      </p:sp>
      <p:sp>
        <p:nvSpPr>
          <p:cNvPr id="23" name="TextBox 22"/>
          <p:cNvSpPr txBox="1"/>
          <p:nvPr/>
        </p:nvSpPr>
        <p:spPr>
          <a:xfrm>
            <a:off x="685800" y="1234440"/>
            <a:ext cx="10789920" cy="1005840"/>
          </a:xfrm>
          <a:prstGeom prst="rect">
            <a:avLst/>
          </a:prstGeom>
          <a:noFill/>
        </p:spPr>
        <p:txBody>
          <a:bodyPr wrap="square" anchor="t" lIns="0" rIns="0" tIns="0" bIns="0">
            <a:noAutofit/>
          </a:bodyPr>
          <a:lstStyle/>
          <a:p>
            <a:pPr algn="l">
              <a:lnSpc>
                <a:spcPct val="100000"/>
              </a:lnSpc>
              <a:spcBef>
                <a:spcPts val="0"/>
              </a:spcBef>
              <a:spcAft>
                <a:spcPts val="0"/>
              </a:spcAft>
            </a:pPr>
            <a:r>
              <a:rPr sz="4400" b="0" i="0">
                <a:solidFill>
                  <a:srgbClr val="12161C"/>
                </a:solidFill>
                <a:latin typeface="Arial Black"/>
              </a:rPr>
              <a:t>FOUR MORE WORDS.</a:t>
            </a:r>
          </a:p>
        </p:txBody>
      </p:sp>
      <p:sp>
        <p:nvSpPr>
          <p:cNvPr id="24" name="Freeform 23"/>
          <p:cNvSpPr/>
          <p:nvPr/>
        </p:nvSpPr>
        <p:spPr>
          <a:xfrm>
            <a:off x="822960" y="2286000"/>
            <a:ext cx="2103120" cy="3017520"/>
          </a:xfrm>
          <a:custGeom>
            <a:avLst/>
            <a:gdLst/>
            <a:ahLst/>
            <a:cxnLst/>
            <a:rect l="l" t="t" r="r" b="b"/>
            <a:pathLst>
              <a:path w="2103120" h="3017520">
                <a:moveTo>
                  <a:pt x="0" y="0"/>
                </a:moveTo>
                <a:lnTo>
                  <a:pt x="1847088" y="0"/>
                </a:lnTo>
                <a:lnTo>
                  <a:pt x="2103120" y="256032"/>
                </a:lnTo>
                <a:lnTo>
                  <a:pt x="2103120" y="3017520"/>
                </a:lnTo>
                <a:lnTo>
                  <a:pt x="0" y="3017520"/>
                </a:lnTo>
                <a:close/>
              </a:path>
            </a:pathLst>
          </a:custGeom>
          <a:solidFill>
            <a:srgbClr val="E9E5DC"/>
          </a:solidFill>
          <a:ln w="31750">
            <a:solidFill>
              <a:srgbClr val="CFC9BC"/>
            </a:solidFill>
          </a:ln>
        </p:spPr>
        <p:txBody>
          <a:bodyPr rtlCol="0" anchor="ctr"/>
          <a:lstStyle/>
          <a:p>
            <a:pPr algn="ctr"/>
          </a:p>
        </p:txBody>
      </p:sp>
      <p:sp>
        <p:nvSpPr>
          <p:cNvPr id="25" name="Freeform 24"/>
          <p:cNvSpPr/>
          <p:nvPr/>
        </p:nvSpPr>
        <p:spPr>
          <a:xfrm>
            <a:off x="2670048" y="2286000"/>
            <a:ext cx="256032" cy="256032"/>
          </a:xfrm>
          <a:custGeom>
            <a:avLst/>
            <a:gdLst/>
            <a:ahLst/>
            <a:cxnLst/>
            <a:rect l="l" t="t" r="r" b="b"/>
            <a:pathLst>
              <a:path w="256032" h="256032">
                <a:moveTo>
                  <a:pt x="0" y="0"/>
                </a:moveTo>
                <a:lnTo>
                  <a:pt x="0" y="256032"/>
                </a:lnTo>
                <a:lnTo>
                  <a:pt x="256032" y="256032"/>
                </a:lnTo>
                <a:close/>
              </a:path>
            </a:pathLst>
          </a:custGeom>
          <a:solidFill>
            <a:srgbClr val="CFC9BC"/>
          </a:solidFill>
          <a:ln>
            <a:noFill/>
          </a:ln>
        </p:spPr>
        <p:txBody>
          <a:bodyPr rtlCol="0" anchor="ctr"/>
          <a:lstStyle/>
          <a:p>
            <a:pPr algn="ctr"/>
          </a:p>
        </p:txBody>
      </p:sp>
      <p:cxnSp>
        <p:nvCxnSpPr>
          <p:cNvPr id="26" name="Connector 25"/>
          <p:cNvCxnSpPr/>
          <p:nvPr/>
        </p:nvCxnSpPr>
        <p:spPr>
          <a:xfrm>
            <a:off x="1005840" y="2688336"/>
            <a:ext cx="1737360" cy="0"/>
          </a:xfrm>
          <a:prstGeom prst="line">
            <a:avLst/>
          </a:prstGeom>
          <a:ln w="28575" cap="rnd">
            <a:solidFill>
              <a:srgbClr val="56606E"/>
            </a:solidFill>
            <a:round/>
          </a:ln>
        </p:spPr>
      </p:cxnSp>
      <p:cxnSp>
        <p:nvCxnSpPr>
          <p:cNvPr id="27" name="Connector 26"/>
          <p:cNvCxnSpPr/>
          <p:nvPr/>
        </p:nvCxnSpPr>
        <p:spPr>
          <a:xfrm>
            <a:off x="1005840" y="3043646"/>
            <a:ext cx="1737360" cy="0"/>
          </a:xfrm>
          <a:prstGeom prst="line">
            <a:avLst/>
          </a:prstGeom>
          <a:ln w="28575" cap="rnd">
            <a:solidFill>
              <a:srgbClr val="56606E"/>
            </a:solidFill>
            <a:round/>
          </a:ln>
        </p:spPr>
      </p:cxnSp>
      <p:cxnSp>
        <p:nvCxnSpPr>
          <p:cNvPr id="28" name="Connector 27"/>
          <p:cNvCxnSpPr/>
          <p:nvPr/>
        </p:nvCxnSpPr>
        <p:spPr>
          <a:xfrm>
            <a:off x="1005840" y="3398955"/>
            <a:ext cx="1417320" cy="0"/>
          </a:xfrm>
          <a:prstGeom prst="line">
            <a:avLst/>
          </a:prstGeom>
          <a:ln w="28575" cap="rnd">
            <a:solidFill>
              <a:srgbClr val="56606E"/>
            </a:solidFill>
            <a:round/>
          </a:ln>
        </p:spPr>
      </p:cxnSp>
      <p:cxnSp>
        <p:nvCxnSpPr>
          <p:cNvPr id="29" name="Connector 28"/>
          <p:cNvCxnSpPr/>
          <p:nvPr/>
        </p:nvCxnSpPr>
        <p:spPr>
          <a:xfrm>
            <a:off x="1005840" y="3754265"/>
            <a:ext cx="1737360" cy="0"/>
          </a:xfrm>
          <a:prstGeom prst="line">
            <a:avLst/>
          </a:prstGeom>
          <a:ln w="28575" cap="rnd">
            <a:solidFill>
              <a:srgbClr val="56606E"/>
            </a:solidFill>
            <a:round/>
          </a:ln>
        </p:spPr>
      </p:cxnSp>
      <p:cxnSp>
        <p:nvCxnSpPr>
          <p:cNvPr id="30" name="Connector 29"/>
          <p:cNvCxnSpPr/>
          <p:nvPr/>
        </p:nvCxnSpPr>
        <p:spPr>
          <a:xfrm>
            <a:off x="1005840" y="4109575"/>
            <a:ext cx="1737360" cy="0"/>
          </a:xfrm>
          <a:prstGeom prst="line">
            <a:avLst/>
          </a:prstGeom>
          <a:ln w="28575" cap="rnd">
            <a:solidFill>
              <a:srgbClr val="56606E"/>
            </a:solidFill>
            <a:round/>
          </a:ln>
        </p:spPr>
      </p:cxnSp>
      <p:cxnSp>
        <p:nvCxnSpPr>
          <p:cNvPr id="31" name="Connector 30"/>
          <p:cNvCxnSpPr/>
          <p:nvPr/>
        </p:nvCxnSpPr>
        <p:spPr>
          <a:xfrm>
            <a:off x="1005840" y="4464885"/>
            <a:ext cx="1417320" cy="0"/>
          </a:xfrm>
          <a:prstGeom prst="line">
            <a:avLst/>
          </a:prstGeom>
          <a:ln w="28575" cap="rnd">
            <a:solidFill>
              <a:srgbClr val="56606E"/>
            </a:solidFill>
            <a:round/>
          </a:ln>
        </p:spPr>
      </p:cxnSp>
      <p:cxnSp>
        <p:nvCxnSpPr>
          <p:cNvPr id="32" name="Connector 31"/>
          <p:cNvCxnSpPr/>
          <p:nvPr/>
        </p:nvCxnSpPr>
        <p:spPr>
          <a:xfrm>
            <a:off x="1005840" y="4820194"/>
            <a:ext cx="1737360" cy="0"/>
          </a:xfrm>
          <a:prstGeom prst="line">
            <a:avLst/>
          </a:prstGeom>
          <a:ln w="28575" cap="rnd">
            <a:solidFill>
              <a:srgbClr val="56606E"/>
            </a:solidFill>
            <a:round/>
          </a:ln>
        </p:spPr>
      </p:cxnSp>
      <p:sp>
        <p:nvSpPr>
          <p:cNvPr id="33" name="Freeform 32"/>
          <p:cNvSpPr/>
          <p:nvPr/>
        </p:nvSpPr>
        <p:spPr>
          <a:xfrm>
            <a:off x="3200400" y="3537814"/>
            <a:ext cx="1097280" cy="422452"/>
          </a:xfrm>
          <a:custGeom>
            <a:avLst/>
            <a:gdLst/>
            <a:ahLst/>
            <a:cxnLst/>
            <a:rect l="l" t="t" r="r" b="b"/>
            <a:pathLst>
              <a:path w="1097280" h="422452">
                <a:moveTo>
                  <a:pt x="0" y="311810"/>
                </a:moveTo>
                <a:lnTo>
                  <a:pt x="795528" y="311810"/>
                </a:lnTo>
                <a:lnTo>
                  <a:pt x="795528" y="422452"/>
                </a:lnTo>
                <a:lnTo>
                  <a:pt x="1097280" y="211226"/>
                </a:lnTo>
                <a:lnTo>
                  <a:pt x="795528" y="0"/>
                </a:lnTo>
                <a:lnTo>
                  <a:pt x="795528" y="110642"/>
                </a:lnTo>
                <a:lnTo>
                  <a:pt x="0" y="110642"/>
                </a:lnTo>
                <a:close/>
              </a:path>
            </a:pathLst>
          </a:custGeom>
          <a:solidFill>
            <a:srgbClr val="FFB400"/>
          </a:solidFill>
          <a:ln>
            <a:noFill/>
          </a:ln>
        </p:spPr>
        <p:txBody>
          <a:bodyPr rtlCol="0" anchor="ctr"/>
          <a:lstStyle/>
          <a:p>
            <a:pPr algn="ctr"/>
          </a:p>
        </p:txBody>
      </p:sp>
      <p:sp>
        <p:nvSpPr>
          <p:cNvPr id="34" name="Rounded Rectangle 33"/>
          <p:cNvSpPr/>
          <p:nvPr/>
        </p:nvSpPr>
        <p:spPr>
          <a:xfrm>
            <a:off x="4572000" y="2651760"/>
            <a:ext cx="2377440" cy="2286000"/>
          </a:xfrm>
          <a:prstGeom prst="roundRect">
            <a:avLst>
              <a:gd name="adj" fmla="val 5600"/>
            </a:avLst>
          </a:prstGeom>
          <a:solidFill>
            <a:srgbClr val="FFB400"/>
          </a:solidFill>
          <a:ln w="19050">
            <a:solidFill>
              <a:srgbClr val="CFC9BC"/>
            </a:solidFill>
          </a:ln>
        </p:spPr>
        <p:txBody>
          <a:bodyPr rtlCol="0" anchor="ctr"/>
          <a:lstStyle/>
          <a:p>
            <a:pPr algn="ctr"/>
          </a:p>
        </p:txBody>
      </p:sp>
      <p:sp>
        <p:nvSpPr>
          <p:cNvPr id="35" name="TextBox 34"/>
          <p:cNvSpPr txBox="1"/>
          <p:nvPr/>
        </p:nvSpPr>
        <p:spPr>
          <a:xfrm>
            <a:off x="4754880" y="2880360"/>
            <a:ext cx="2011680" cy="1828800"/>
          </a:xfrm>
          <a:prstGeom prst="rect">
            <a:avLst/>
          </a:prstGeom>
          <a:noFill/>
        </p:spPr>
        <p:txBody>
          <a:bodyPr wrap="square" anchor="t" lIns="0" rIns="0" tIns="0" bIns="0">
            <a:noAutofit/>
          </a:bodyPr>
          <a:lstStyle/>
          <a:p>
            <a:pPr algn="ctr">
              <a:lnSpc>
                <a:spcPct val="100000"/>
              </a:lnSpc>
              <a:spcBef>
                <a:spcPts val="0"/>
              </a:spcBef>
              <a:spcAft>
                <a:spcPts val="0"/>
              </a:spcAft>
            </a:pPr>
            <a:r>
              <a:rPr sz="2600" b="0" i="0">
                <a:solidFill>
                  <a:srgbClr val="12161C"/>
                </a:solidFill>
                <a:latin typeface="Arial Black"/>
              </a:rPr>
              <a:t>ABSTRACT</a:t>
            </a:r>
          </a:p>
        </p:txBody>
      </p:sp>
      <p:sp>
        <p:nvSpPr>
          <p:cNvPr id="36" name="Rectangle 35"/>
          <p:cNvSpPr/>
          <p:nvPr/>
        </p:nvSpPr>
        <p:spPr>
          <a:xfrm>
            <a:off x="7406640" y="2377440"/>
            <a:ext cx="64008" cy="2926080"/>
          </a:xfrm>
          <a:prstGeom prst="rect">
            <a:avLst/>
          </a:prstGeom>
          <a:solidFill>
            <a:srgbClr val="FFB400"/>
          </a:solidFill>
          <a:ln>
            <a:noFill/>
          </a:ln>
        </p:spPr>
        <p:txBody>
          <a:bodyPr rtlCol="0" anchor="ctr"/>
          <a:lstStyle/>
          <a:p>
            <a:pPr algn="ctr"/>
          </a:p>
        </p:txBody>
      </p:sp>
      <p:sp>
        <p:nvSpPr>
          <p:cNvPr id="37" name="TextBox 36"/>
          <p:cNvSpPr txBox="1"/>
          <p:nvPr/>
        </p:nvSpPr>
        <p:spPr>
          <a:xfrm>
            <a:off x="7662672" y="2377440"/>
            <a:ext cx="3310128" cy="2926080"/>
          </a:xfrm>
          <a:prstGeom prst="rect">
            <a:avLst/>
          </a:prstGeom>
          <a:noFill/>
        </p:spPr>
        <p:txBody>
          <a:bodyPr wrap="square" anchor="ctr" lIns="0" rIns="0" tIns="0" bIns="0">
            <a:noAutofit/>
          </a:bodyPr>
          <a:lstStyle/>
          <a:p>
            <a:pPr algn="l">
              <a:lnSpc>
                <a:spcPct val="100000"/>
              </a:lnSpc>
              <a:spcBef>
                <a:spcPts val="0"/>
              </a:spcBef>
              <a:spcAft>
                <a:spcPts val="0"/>
              </a:spcAft>
            </a:pPr>
            <a:r>
              <a:rPr sz="2200" b="1" i="0">
                <a:solidFill>
                  <a:srgbClr val="9C5A00"/>
                </a:solidFill>
                <a:latin typeface="Arial"/>
              </a:rPr>
              <a:t>abstract</a:t>
            </a:r>
            <a:r>
              <a:rPr sz="2200" b="0" i="0">
                <a:solidFill>
                  <a:srgbClr val="12161C"/>
                </a:solidFill>
                <a:latin typeface="Arial"/>
              </a:rPr>
              <a:t> (noun) — </a:t>
            </a:r>
            <a:r>
              <a:rPr sz="2200" b="0" i="1">
                <a:solidFill>
                  <a:srgbClr val="12161C"/>
                </a:solidFill>
                <a:latin typeface="Arial"/>
              </a:rPr>
              <a:t>a summary of an article, document, or other text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12161C"/>
                </a:solidFill>
                <a:latin typeface="Arial Narrow"/>
              </a:rPr>
              <a:t>ACT 2 · VOCABULARY</a:t>
            </a:r>
          </a:p>
        </p:txBody>
      </p:sp>
      <p:sp>
        <p:nvSpPr>
          <p:cNvPr id="4" name="TextBox 3"/>
          <p:cNvSpPr txBox="1"/>
          <p:nvPr/>
        </p:nvSpPr>
        <p:spPr>
          <a:xfrm>
            <a:off x="7315200" y="310896"/>
            <a:ext cx="4187952" cy="274320"/>
          </a:xfrm>
          <a:prstGeom prst="rect">
            <a:avLst/>
          </a:prstGeom>
          <a:noFill/>
        </p:spPr>
        <p:txBody>
          <a:bodyPr wrap="square" anchor="t" lIns="0" rIns="0" tIns="0" bIns="0">
            <a:noAutofit/>
          </a:bodyPr>
          <a:lstStyle/>
          <a:p>
            <a:pPr algn="r">
              <a:lnSpc>
                <a:spcPct val="100000"/>
              </a:lnSpc>
              <a:spcBef>
                <a:spcPts val="0"/>
              </a:spcBef>
              <a:spcAft>
                <a:spcPts val="0"/>
              </a:spcAft>
            </a:pPr>
            <a:r>
              <a:rPr sz="1300" b="1" i="0" spc="220">
                <a:solidFill>
                  <a:srgbClr val="8A93A0"/>
                </a:solidFill>
                <a:latin typeface="Arial Narrow"/>
              </a:rPr>
              <a:t>RESEARCH ENGINEER</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8A93A0"/>
                </a:solidFill>
                <a:latin typeface="Arial Narrow"/>
              </a:rPr>
              <a:t>ENERGY LAB  ·  CRASH TEST #05</a:t>
            </a:r>
          </a:p>
        </p:txBody>
      </p:sp>
      <p:sp>
        <p:nvSpPr>
          <p:cNvPr id="6" name="Rectangle 5"/>
          <p:cNvSpPr/>
          <p:nvPr/>
        </p:nvSpPr>
        <p:spPr>
          <a:xfrm>
            <a:off x="4526280" y="6510528"/>
            <a:ext cx="127363" cy="54864"/>
          </a:xfrm>
          <a:prstGeom prst="rect">
            <a:avLst/>
          </a:prstGeom>
          <a:solidFill>
            <a:srgbClr val="D9B55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D9B55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D9B55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FFB400"/>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D5D0C4"/>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D5D0C4"/>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D5D0C4"/>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D5D0C4"/>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D5D0C4"/>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D5D0C4"/>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D5D0C4"/>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D5D0C4"/>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D5D0C4"/>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D5D0C4"/>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8A93A0"/>
                </a:solidFill>
                <a:latin typeface="Arial Narrow"/>
              </a:rPr>
              <a:t>28</a:t>
            </a:fld>
          </a:p>
        </p:txBody>
      </p:sp>
      <p:sp>
        <p:nvSpPr>
          <p:cNvPr id="21" name="Rounded Rectangle 20"/>
          <p:cNvSpPr/>
          <p:nvPr/>
        </p:nvSpPr>
        <p:spPr>
          <a:xfrm>
            <a:off x="8732520" y="914400"/>
            <a:ext cx="3244786" cy="274320"/>
          </a:xfrm>
          <a:prstGeom prst="roundRect">
            <a:avLst>
              <a:gd name="adj" fmla="val 50000"/>
            </a:avLst>
          </a:prstGeom>
          <a:noFill/>
          <a:ln w="19050">
            <a:solidFill>
              <a:srgbClr val="0B6A96"/>
            </a:solidFill>
          </a:ln>
        </p:spPr>
        <p:txBody>
          <a:bodyPr rtlCol="0" anchor="ctr" wrap="square" lIns="0" rIns="0" tIns="0" bIns="0">
            <a:noAutofit/>
          </a:bodyPr>
          <a:lstStyle/>
          <a:p>
            <a:pPr algn="ctr">
              <a:lnSpc>
                <a:spcPct val="100000"/>
              </a:lnSpc>
              <a:spcBef>
                <a:spcPts val="0"/>
              </a:spcBef>
              <a:spcAft>
                <a:spcPts val="0"/>
              </a:spcAft>
            </a:pPr>
            <a:r>
              <a:rPr sz="1300" b="1" i="0" spc="200">
                <a:solidFill>
                  <a:srgbClr val="0B6A96"/>
                </a:solidFill>
                <a:latin typeface="Arial Narrow"/>
              </a:rPr>
              <a:t>TEXTBOOK · TASK 4 · MATCHING</a:t>
            </a:r>
          </a:p>
        </p:txBody>
      </p:sp>
      <p:sp>
        <p:nvSpPr>
          <p:cNvPr id="22" name="TextBox 21"/>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56606E"/>
                </a:solidFill>
                <a:latin typeface="Arial Narrow"/>
              </a:rPr>
              <a:t>VOCABULARY · TASK 4</a:t>
            </a:r>
          </a:p>
        </p:txBody>
      </p:sp>
      <p:sp>
        <p:nvSpPr>
          <p:cNvPr id="23" name="TextBox 22"/>
          <p:cNvSpPr txBox="1"/>
          <p:nvPr/>
        </p:nvSpPr>
        <p:spPr>
          <a:xfrm>
            <a:off x="685800" y="1234440"/>
            <a:ext cx="10789920" cy="1005840"/>
          </a:xfrm>
          <a:prstGeom prst="rect">
            <a:avLst/>
          </a:prstGeom>
          <a:noFill/>
        </p:spPr>
        <p:txBody>
          <a:bodyPr wrap="square" anchor="t" lIns="0" rIns="0" tIns="0" bIns="0">
            <a:noAutofit/>
          </a:bodyPr>
          <a:lstStyle/>
          <a:p>
            <a:pPr algn="l">
              <a:lnSpc>
                <a:spcPct val="100000"/>
              </a:lnSpc>
              <a:spcBef>
                <a:spcPts val="0"/>
              </a:spcBef>
              <a:spcAft>
                <a:spcPts val="0"/>
              </a:spcAft>
            </a:pPr>
            <a:r>
              <a:rPr sz="4200" b="0" i="0">
                <a:solidFill>
                  <a:srgbClr val="12161C"/>
                </a:solidFill>
                <a:latin typeface="Arial Black"/>
              </a:rPr>
              <a:t>MATCH THE WORDS.</a:t>
            </a:r>
          </a:p>
        </p:txBody>
      </p:sp>
      <p:sp>
        <p:nvSpPr>
          <p:cNvPr id="24" name="Rounded Rectangle 23"/>
          <p:cNvSpPr/>
          <p:nvPr/>
        </p:nvSpPr>
        <p:spPr>
          <a:xfrm>
            <a:off x="685800" y="2331720"/>
            <a:ext cx="5074920" cy="713232"/>
          </a:xfrm>
          <a:prstGeom prst="roundRect">
            <a:avLst>
              <a:gd name="adj" fmla="val 17948"/>
            </a:avLst>
          </a:prstGeom>
          <a:solidFill>
            <a:srgbClr val="FFFFFF"/>
          </a:solidFill>
          <a:ln w="19050">
            <a:solidFill>
              <a:srgbClr val="CFC9BC"/>
            </a:solidFill>
          </a:ln>
        </p:spPr>
        <p:txBody>
          <a:bodyPr rtlCol="0" anchor="ctr"/>
          <a:lstStyle/>
          <a:p>
            <a:pPr algn="ctr"/>
          </a:p>
        </p:txBody>
      </p:sp>
      <p:sp>
        <p:nvSpPr>
          <p:cNvPr id="25" name="TextBox 24"/>
          <p:cNvSpPr txBox="1"/>
          <p:nvPr/>
        </p:nvSpPr>
        <p:spPr>
          <a:xfrm>
            <a:off x="914400" y="2331720"/>
            <a:ext cx="457200" cy="713232"/>
          </a:xfrm>
          <a:prstGeom prst="rect">
            <a:avLst/>
          </a:prstGeom>
          <a:noFill/>
        </p:spPr>
        <p:txBody>
          <a:bodyPr wrap="square" anchor="ctr" lIns="0" rIns="0" tIns="0" bIns="0">
            <a:noAutofit/>
          </a:bodyPr>
          <a:lstStyle/>
          <a:p>
            <a:pPr algn="l">
              <a:lnSpc>
                <a:spcPct val="100000"/>
              </a:lnSpc>
              <a:spcBef>
                <a:spcPts val="0"/>
              </a:spcBef>
              <a:spcAft>
                <a:spcPts val="0"/>
              </a:spcAft>
            </a:pPr>
            <a:r>
              <a:rPr sz="2400" b="1" i="0">
                <a:solidFill>
                  <a:srgbClr val="9C5A00"/>
                </a:solidFill>
                <a:latin typeface="Arial Black"/>
              </a:rPr>
              <a:t>1</a:t>
            </a:r>
          </a:p>
        </p:txBody>
      </p:sp>
      <p:sp>
        <p:nvSpPr>
          <p:cNvPr id="26" name="TextBox 25"/>
          <p:cNvSpPr txBox="1"/>
          <p:nvPr/>
        </p:nvSpPr>
        <p:spPr>
          <a:xfrm>
            <a:off x="1463040" y="2331720"/>
            <a:ext cx="4114800" cy="713232"/>
          </a:xfrm>
          <a:prstGeom prst="rect">
            <a:avLst/>
          </a:prstGeom>
          <a:noFill/>
        </p:spPr>
        <p:txBody>
          <a:bodyPr wrap="square" anchor="ctr" lIns="0" rIns="0" tIns="0" bIns="0">
            <a:noAutofit/>
          </a:bodyPr>
          <a:lstStyle/>
          <a:p>
            <a:pPr algn="l">
              <a:lnSpc>
                <a:spcPct val="100000"/>
              </a:lnSpc>
              <a:spcBef>
                <a:spcPts val="0"/>
              </a:spcBef>
              <a:spcAft>
                <a:spcPts val="0"/>
              </a:spcAft>
            </a:pPr>
            <a:r>
              <a:rPr sz="2200" b="1" i="0">
                <a:solidFill>
                  <a:srgbClr val="12161C"/>
                </a:solidFill>
                <a:latin typeface="Arial"/>
              </a:rPr>
              <a:t>ABSTRACT</a:t>
            </a:r>
          </a:p>
        </p:txBody>
      </p:sp>
      <p:sp>
        <p:nvSpPr>
          <p:cNvPr id="27" name="Rounded Rectangle 26"/>
          <p:cNvSpPr/>
          <p:nvPr/>
        </p:nvSpPr>
        <p:spPr>
          <a:xfrm>
            <a:off x="685800" y="3172968"/>
            <a:ext cx="5074920" cy="713232"/>
          </a:xfrm>
          <a:prstGeom prst="roundRect">
            <a:avLst>
              <a:gd name="adj" fmla="val 17948"/>
            </a:avLst>
          </a:prstGeom>
          <a:solidFill>
            <a:srgbClr val="FFFFFF"/>
          </a:solidFill>
          <a:ln w="19050">
            <a:solidFill>
              <a:srgbClr val="CFC9BC"/>
            </a:solidFill>
          </a:ln>
        </p:spPr>
        <p:txBody>
          <a:bodyPr rtlCol="0" anchor="ctr"/>
          <a:lstStyle/>
          <a:p>
            <a:pPr algn="ctr"/>
          </a:p>
        </p:txBody>
      </p:sp>
      <p:sp>
        <p:nvSpPr>
          <p:cNvPr id="28" name="TextBox 27"/>
          <p:cNvSpPr txBox="1"/>
          <p:nvPr/>
        </p:nvSpPr>
        <p:spPr>
          <a:xfrm>
            <a:off x="914400" y="3172968"/>
            <a:ext cx="457200" cy="713232"/>
          </a:xfrm>
          <a:prstGeom prst="rect">
            <a:avLst/>
          </a:prstGeom>
          <a:noFill/>
        </p:spPr>
        <p:txBody>
          <a:bodyPr wrap="square" anchor="ctr" lIns="0" rIns="0" tIns="0" bIns="0">
            <a:noAutofit/>
          </a:bodyPr>
          <a:lstStyle/>
          <a:p>
            <a:pPr algn="l">
              <a:lnSpc>
                <a:spcPct val="100000"/>
              </a:lnSpc>
              <a:spcBef>
                <a:spcPts val="0"/>
              </a:spcBef>
              <a:spcAft>
                <a:spcPts val="0"/>
              </a:spcAft>
            </a:pPr>
            <a:r>
              <a:rPr sz="2400" b="1" i="0">
                <a:solidFill>
                  <a:srgbClr val="9C5A00"/>
                </a:solidFill>
                <a:latin typeface="Arial Black"/>
              </a:rPr>
              <a:t>2</a:t>
            </a:r>
          </a:p>
        </p:txBody>
      </p:sp>
      <p:sp>
        <p:nvSpPr>
          <p:cNvPr id="29" name="TextBox 28"/>
          <p:cNvSpPr txBox="1"/>
          <p:nvPr/>
        </p:nvSpPr>
        <p:spPr>
          <a:xfrm>
            <a:off x="1463040" y="3172968"/>
            <a:ext cx="4114800" cy="713232"/>
          </a:xfrm>
          <a:prstGeom prst="rect">
            <a:avLst/>
          </a:prstGeom>
          <a:noFill/>
        </p:spPr>
        <p:txBody>
          <a:bodyPr wrap="square" anchor="ctr" lIns="0" rIns="0" tIns="0" bIns="0">
            <a:noAutofit/>
          </a:bodyPr>
          <a:lstStyle/>
          <a:p>
            <a:pPr algn="l">
              <a:lnSpc>
                <a:spcPct val="100000"/>
              </a:lnSpc>
              <a:spcBef>
                <a:spcPts val="0"/>
              </a:spcBef>
              <a:spcAft>
                <a:spcPts val="0"/>
              </a:spcAft>
            </a:pPr>
            <a:r>
              <a:rPr sz="2200" b="1" i="0">
                <a:solidFill>
                  <a:srgbClr val="12161C"/>
                </a:solidFill>
                <a:latin typeface="Arial"/>
              </a:rPr>
              <a:t>WORK-ENERGY PRINCIPLE</a:t>
            </a:r>
          </a:p>
        </p:txBody>
      </p:sp>
      <p:sp>
        <p:nvSpPr>
          <p:cNvPr id="30" name="Rounded Rectangle 29"/>
          <p:cNvSpPr/>
          <p:nvPr/>
        </p:nvSpPr>
        <p:spPr>
          <a:xfrm>
            <a:off x="685800" y="4014216"/>
            <a:ext cx="5074920" cy="713232"/>
          </a:xfrm>
          <a:prstGeom prst="roundRect">
            <a:avLst>
              <a:gd name="adj" fmla="val 17948"/>
            </a:avLst>
          </a:prstGeom>
          <a:solidFill>
            <a:srgbClr val="FFFFFF"/>
          </a:solidFill>
          <a:ln w="19050">
            <a:solidFill>
              <a:srgbClr val="CFC9BC"/>
            </a:solidFill>
          </a:ln>
        </p:spPr>
        <p:txBody>
          <a:bodyPr rtlCol="0" anchor="ctr"/>
          <a:lstStyle/>
          <a:p>
            <a:pPr algn="ctr"/>
          </a:p>
        </p:txBody>
      </p:sp>
      <p:sp>
        <p:nvSpPr>
          <p:cNvPr id="31" name="TextBox 30"/>
          <p:cNvSpPr txBox="1"/>
          <p:nvPr/>
        </p:nvSpPr>
        <p:spPr>
          <a:xfrm>
            <a:off x="914400" y="4014216"/>
            <a:ext cx="457200" cy="713232"/>
          </a:xfrm>
          <a:prstGeom prst="rect">
            <a:avLst/>
          </a:prstGeom>
          <a:noFill/>
        </p:spPr>
        <p:txBody>
          <a:bodyPr wrap="square" anchor="ctr" lIns="0" rIns="0" tIns="0" bIns="0">
            <a:noAutofit/>
          </a:bodyPr>
          <a:lstStyle/>
          <a:p>
            <a:pPr algn="l">
              <a:lnSpc>
                <a:spcPct val="100000"/>
              </a:lnSpc>
              <a:spcBef>
                <a:spcPts val="0"/>
              </a:spcBef>
              <a:spcAft>
                <a:spcPts val="0"/>
              </a:spcAft>
            </a:pPr>
            <a:r>
              <a:rPr sz="2400" b="1" i="0">
                <a:solidFill>
                  <a:srgbClr val="9C5A00"/>
                </a:solidFill>
                <a:latin typeface="Arial Black"/>
              </a:rPr>
              <a:t>3</a:t>
            </a:r>
          </a:p>
        </p:txBody>
      </p:sp>
      <p:sp>
        <p:nvSpPr>
          <p:cNvPr id="32" name="TextBox 31"/>
          <p:cNvSpPr txBox="1"/>
          <p:nvPr/>
        </p:nvSpPr>
        <p:spPr>
          <a:xfrm>
            <a:off x="1463040" y="4014216"/>
            <a:ext cx="4114800" cy="713232"/>
          </a:xfrm>
          <a:prstGeom prst="rect">
            <a:avLst/>
          </a:prstGeom>
          <a:noFill/>
        </p:spPr>
        <p:txBody>
          <a:bodyPr wrap="square" anchor="ctr" lIns="0" rIns="0" tIns="0" bIns="0">
            <a:noAutofit/>
          </a:bodyPr>
          <a:lstStyle/>
          <a:p>
            <a:pPr algn="l">
              <a:lnSpc>
                <a:spcPct val="100000"/>
              </a:lnSpc>
              <a:spcBef>
                <a:spcPts val="0"/>
              </a:spcBef>
              <a:spcAft>
                <a:spcPts val="0"/>
              </a:spcAft>
            </a:pPr>
            <a:r>
              <a:rPr sz="2200" b="1" i="0">
                <a:solidFill>
                  <a:srgbClr val="12161C"/>
                </a:solidFill>
                <a:latin typeface="Arial"/>
              </a:rPr>
              <a:t>G</a:t>
            </a:r>
          </a:p>
        </p:txBody>
      </p:sp>
      <p:sp>
        <p:nvSpPr>
          <p:cNvPr id="33" name="Rounded Rectangle 32"/>
          <p:cNvSpPr/>
          <p:nvPr/>
        </p:nvSpPr>
        <p:spPr>
          <a:xfrm>
            <a:off x="685800" y="4855464"/>
            <a:ext cx="5074920" cy="713232"/>
          </a:xfrm>
          <a:prstGeom prst="roundRect">
            <a:avLst>
              <a:gd name="adj" fmla="val 17948"/>
            </a:avLst>
          </a:prstGeom>
          <a:solidFill>
            <a:srgbClr val="FFFFFF"/>
          </a:solidFill>
          <a:ln w="19050">
            <a:solidFill>
              <a:srgbClr val="CFC9BC"/>
            </a:solidFill>
          </a:ln>
        </p:spPr>
        <p:txBody>
          <a:bodyPr rtlCol="0" anchor="ctr"/>
          <a:lstStyle/>
          <a:p>
            <a:pPr algn="ctr"/>
          </a:p>
        </p:txBody>
      </p:sp>
      <p:sp>
        <p:nvSpPr>
          <p:cNvPr id="34" name="TextBox 33"/>
          <p:cNvSpPr txBox="1"/>
          <p:nvPr/>
        </p:nvSpPr>
        <p:spPr>
          <a:xfrm>
            <a:off x="914400" y="4855464"/>
            <a:ext cx="457200" cy="713232"/>
          </a:xfrm>
          <a:prstGeom prst="rect">
            <a:avLst/>
          </a:prstGeom>
          <a:noFill/>
        </p:spPr>
        <p:txBody>
          <a:bodyPr wrap="square" anchor="ctr" lIns="0" rIns="0" tIns="0" bIns="0">
            <a:noAutofit/>
          </a:bodyPr>
          <a:lstStyle/>
          <a:p>
            <a:pPr algn="l">
              <a:lnSpc>
                <a:spcPct val="100000"/>
              </a:lnSpc>
              <a:spcBef>
                <a:spcPts val="0"/>
              </a:spcBef>
              <a:spcAft>
                <a:spcPts val="0"/>
              </a:spcAft>
            </a:pPr>
            <a:r>
              <a:rPr sz="2400" b="1" i="0">
                <a:solidFill>
                  <a:srgbClr val="9C5A00"/>
                </a:solidFill>
                <a:latin typeface="Arial Black"/>
              </a:rPr>
              <a:t>4</a:t>
            </a:r>
          </a:p>
        </p:txBody>
      </p:sp>
      <p:sp>
        <p:nvSpPr>
          <p:cNvPr id="35" name="TextBox 34"/>
          <p:cNvSpPr txBox="1"/>
          <p:nvPr/>
        </p:nvSpPr>
        <p:spPr>
          <a:xfrm>
            <a:off x="1463040" y="4855464"/>
            <a:ext cx="4114800" cy="713232"/>
          </a:xfrm>
          <a:prstGeom prst="rect">
            <a:avLst/>
          </a:prstGeom>
          <a:noFill/>
        </p:spPr>
        <p:txBody>
          <a:bodyPr wrap="square" anchor="ctr" lIns="0" rIns="0" tIns="0" bIns="0">
            <a:noAutofit/>
          </a:bodyPr>
          <a:lstStyle/>
          <a:p>
            <a:pPr algn="l">
              <a:lnSpc>
                <a:spcPct val="100000"/>
              </a:lnSpc>
              <a:spcBef>
                <a:spcPts val="0"/>
              </a:spcBef>
              <a:spcAft>
                <a:spcPts val="0"/>
              </a:spcAft>
            </a:pPr>
            <a:r>
              <a:rPr sz="2200" b="1" i="0">
                <a:solidFill>
                  <a:srgbClr val="12161C"/>
                </a:solidFill>
                <a:latin typeface="Arial"/>
              </a:rPr>
              <a:t>TRANSFER</a:t>
            </a:r>
          </a:p>
        </p:txBody>
      </p:sp>
      <p:sp>
        <p:nvSpPr>
          <p:cNvPr id="36" name="Rounded Rectangle 35"/>
          <p:cNvSpPr/>
          <p:nvPr/>
        </p:nvSpPr>
        <p:spPr>
          <a:xfrm>
            <a:off x="5989320" y="2331720"/>
            <a:ext cx="5074920" cy="713232"/>
          </a:xfrm>
          <a:prstGeom prst="roundRect">
            <a:avLst>
              <a:gd name="adj" fmla="val 17948"/>
            </a:avLst>
          </a:prstGeom>
          <a:solidFill>
            <a:srgbClr val="E9E5DC"/>
          </a:solidFill>
          <a:ln w="19050">
            <a:solidFill>
              <a:srgbClr val="CFC9BC"/>
            </a:solidFill>
          </a:ln>
        </p:spPr>
        <p:txBody>
          <a:bodyPr rtlCol="0" anchor="ctr"/>
          <a:lstStyle/>
          <a:p>
            <a:pPr algn="ctr"/>
          </a:p>
        </p:txBody>
      </p:sp>
      <p:sp>
        <p:nvSpPr>
          <p:cNvPr id="37" name="TextBox 36"/>
          <p:cNvSpPr txBox="1"/>
          <p:nvPr/>
        </p:nvSpPr>
        <p:spPr>
          <a:xfrm>
            <a:off x="6217920" y="2331720"/>
            <a:ext cx="457200" cy="713232"/>
          </a:xfrm>
          <a:prstGeom prst="rect">
            <a:avLst/>
          </a:prstGeom>
          <a:noFill/>
        </p:spPr>
        <p:txBody>
          <a:bodyPr wrap="square" anchor="ctr" lIns="0" rIns="0" tIns="0" bIns="0">
            <a:noAutofit/>
          </a:bodyPr>
          <a:lstStyle/>
          <a:p>
            <a:pPr algn="l">
              <a:lnSpc>
                <a:spcPct val="100000"/>
              </a:lnSpc>
              <a:spcBef>
                <a:spcPts val="0"/>
              </a:spcBef>
              <a:spcAft>
                <a:spcPts val="0"/>
              </a:spcAft>
            </a:pPr>
            <a:r>
              <a:rPr sz="2400" b="1" i="0">
                <a:solidFill>
                  <a:srgbClr val="56606E"/>
                </a:solidFill>
                <a:latin typeface="Arial Black"/>
              </a:rPr>
              <a:t>A</a:t>
            </a:r>
          </a:p>
        </p:txBody>
      </p:sp>
      <p:sp>
        <p:nvSpPr>
          <p:cNvPr id="38" name="TextBox 37"/>
          <p:cNvSpPr txBox="1"/>
          <p:nvPr/>
        </p:nvSpPr>
        <p:spPr>
          <a:xfrm>
            <a:off x="6766560" y="2331720"/>
            <a:ext cx="4160520" cy="713232"/>
          </a:xfrm>
          <a:prstGeom prst="rect">
            <a:avLst/>
          </a:prstGeom>
          <a:noFill/>
        </p:spPr>
        <p:txBody>
          <a:bodyPr wrap="square" anchor="ctr" lIns="0" rIns="0" tIns="0" bIns="0">
            <a:noAutofit/>
          </a:bodyPr>
          <a:lstStyle/>
          <a:p>
            <a:pPr algn="l">
              <a:lnSpc>
                <a:spcPct val="100000"/>
              </a:lnSpc>
              <a:spcBef>
                <a:spcPts val="0"/>
              </a:spcBef>
              <a:spcAft>
                <a:spcPts val="0"/>
              </a:spcAft>
            </a:pPr>
            <a:r>
              <a:rPr sz="1600" b="0" i="0">
                <a:solidFill>
                  <a:srgbClr val="12161C"/>
                </a:solidFill>
                <a:latin typeface="Arial"/>
              </a:rPr>
              <a:t>a summary of an article, document, or other text</a:t>
            </a:r>
          </a:p>
        </p:txBody>
      </p:sp>
      <p:sp>
        <p:nvSpPr>
          <p:cNvPr id="39" name="Rounded Rectangle 38"/>
          <p:cNvSpPr/>
          <p:nvPr/>
        </p:nvSpPr>
        <p:spPr>
          <a:xfrm>
            <a:off x="5989320" y="3172968"/>
            <a:ext cx="5074920" cy="713232"/>
          </a:xfrm>
          <a:prstGeom prst="roundRect">
            <a:avLst>
              <a:gd name="adj" fmla="val 17948"/>
            </a:avLst>
          </a:prstGeom>
          <a:solidFill>
            <a:srgbClr val="E9E5DC"/>
          </a:solidFill>
          <a:ln w="19050">
            <a:solidFill>
              <a:srgbClr val="CFC9BC"/>
            </a:solidFill>
          </a:ln>
        </p:spPr>
        <p:txBody>
          <a:bodyPr rtlCol="0" anchor="ctr"/>
          <a:lstStyle/>
          <a:p>
            <a:pPr algn="ctr"/>
          </a:p>
        </p:txBody>
      </p:sp>
      <p:sp>
        <p:nvSpPr>
          <p:cNvPr id="40" name="TextBox 39"/>
          <p:cNvSpPr txBox="1"/>
          <p:nvPr/>
        </p:nvSpPr>
        <p:spPr>
          <a:xfrm>
            <a:off x="6217920" y="3172968"/>
            <a:ext cx="457200" cy="713232"/>
          </a:xfrm>
          <a:prstGeom prst="rect">
            <a:avLst/>
          </a:prstGeom>
          <a:noFill/>
        </p:spPr>
        <p:txBody>
          <a:bodyPr wrap="square" anchor="ctr" lIns="0" rIns="0" tIns="0" bIns="0">
            <a:noAutofit/>
          </a:bodyPr>
          <a:lstStyle/>
          <a:p>
            <a:pPr algn="l">
              <a:lnSpc>
                <a:spcPct val="100000"/>
              </a:lnSpc>
              <a:spcBef>
                <a:spcPts val="0"/>
              </a:spcBef>
              <a:spcAft>
                <a:spcPts val="0"/>
              </a:spcAft>
            </a:pPr>
            <a:r>
              <a:rPr sz="2400" b="1" i="0">
                <a:solidFill>
                  <a:srgbClr val="56606E"/>
                </a:solidFill>
                <a:latin typeface="Arial Black"/>
              </a:rPr>
              <a:t>B</a:t>
            </a:r>
          </a:p>
        </p:txBody>
      </p:sp>
      <p:sp>
        <p:nvSpPr>
          <p:cNvPr id="41" name="TextBox 40"/>
          <p:cNvSpPr txBox="1"/>
          <p:nvPr/>
        </p:nvSpPr>
        <p:spPr>
          <a:xfrm>
            <a:off x="6766560" y="3172968"/>
            <a:ext cx="4160520" cy="713232"/>
          </a:xfrm>
          <a:prstGeom prst="rect">
            <a:avLst/>
          </a:prstGeom>
          <a:noFill/>
        </p:spPr>
        <p:txBody>
          <a:bodyPr wrap="square" anchor="ctr" lIns="0" rIns="0" tIns="0" bIns="0">
            <a:noAutofit/>
          </a:bodyPr>
          <a:lstStyle/>
          <a:p>
            <a:pPr algn="l">
              <a:lnSpc>
                <a:spcPct val="100000"/>
              </a:lnSpc>
              <a:spcBef>
                <a:spcPts val="0"/>
              </a:spcBef>
              <a:spcAft>
                <a:spcPts val="0"/>
              </a:spcAft>
            </a:pPr>
            <a:r>
              <a:rPr sz="1600" b="0" i="0">
                <a:solidFill>
                  <a:srgbClr val="12161C"/>
                </a:solidFill>
                <a:latin typeface="Arial"/>
              </a:rPr>
              <a:t>to move from one object to another</a:t>
            </a:r>
          </a:p>
        </p:txBody>
      </p:sp>
      <p:sp>
        <p:nvSpPr>
          <p:cNvPr id="42" name="Rounded Rectangle 41"/>
          <p:cNvSpPr/>
          <p:nvPr/>
        </p:nvSpPr>
        <p:spPr>
          <a:xfrm>
            <a:off x="5989320" y="4014216"/>
            <a:ext cx="5074920" cy="713232"/>
          </a:xfrm>
          <a:prstGeom prst="roundRect">
            <a:avLst>
              <a:gd name="adj" fmla="val 17948"/>
            </a:avLst>
          </a:prstGeom>
          <a:solidFill>
            <a:srgbClr val="E9E5DC"/>
          </a:solidFill>
          <a:ln w="19050">
            <a:solidFill>
              <a:srgbClr val="CFC9BC"/>
            </a:solidFill>
          </a:ln>
        </p:spPr>
        <p:txBody>
          <a:bodyPr rtlCol="0" anchor="ctr"/>
          <a:lstStyle/>
          <a:p>
            <a:pPr algn="ctr"/>
          </a:p>
        </p:txBody>
      </p:sp>
      <p:sp>
        <p:nvSpPr>
          <p:cNvPr id="43" name="TextBox 42"/>
          <p:cNvSpPr txBox="1"/>
          <p:nvPr/>
        </p:nvSpPr>
        <p:spPr>
          <a:xfrm>
            <a:off x="6217920" y="4014216"/>
            <a:ext cx="457200" cy="713232"/>
          </a:xfrm>
          <a:prstGeom prst="rect">
            <a:avLst/>
          </a:prstGeom>
          <a:noFill/>
        </p:spPr>
        <p:txBody>
          <a:bodyPr wrap="square" anchor="ctr" lIns="0" rIns="0" tIns="0" bIns="0">
            <a:noAutofit/>
          </a:bodyPr>
          <a:lstStyle/>
          <a:p>
            <a:pPr algn="l">
              <a:lnSpc>
                <a:spcPct val="100000"/>
              </a:lnSpc>
              <a:spcBef>
                <a:spcPts val="0"/>
              </a:spcBef>
              <a:spcAft>
                <a:spcPts val="0"/>
              </a:spcAft>
            </a:pPr>
            <a:r>
              <a:rPr sz="2400" b="1" i="0">
                <a:solidFill>
                  <a:srgbClr val="56606E"/>
                </a:solidFill>
                <a:latin typeface="Arial Black"/>
              </a:rPr>
              <a:t>C</a:t>
            </a:r>
          </a:p>
        </p:txBody>
      </p:sp>
      <p:sp>
        <p:nvSpPr>
          <p:cNvPr id="44" name="TextBox 43"/>
          <p:cNvSpPr txBox="1"/>
          <p:nvPr/>
        </p:nvSpPr>
        <p:spPr>
          <a:xfrm>
            <a:off x="6766560" y="4014216"/>
            <a:ext cx="4160520" cy="713232"/>
          </a:xfrm>
          <a:prstGeom prst="rect">
            <a:avLst/>
          </a:prstGeom>
          <a:noFill/>
        </p:spPr>
        <p:txBody>
          <a:bodyPr wrap="square" anchor="ctr" lIns="0" rIns="0" tIns="0" bIns="0">
            <a:noAutofit/>
          </a:bodyPr>
          <a:lstStyle/>
          <a:p>
            <a:pPr algn="l">
              <a:lnSpc>
                <a:spcPct val="100000"/>
              </a:lnSpc>
              <a:spcBef>
                <a:spcPts val="0"/>
              </a:spcBef>
              <a:spcAft>
                <a:spcPts val="0"/>
              </a:spcAft>
            </a:pPr>
            <a:r>
              <a:rPr sz="1600" b="0" i="0">
                <a:solidFill>
                  <a:srgbClr val="12161C"/>
                </a:solidFill>
                <a:latin typeface="Arial"/>
              </a:rPr>
              <a:t>the unit of force that equals the force of gravity</a:t>
            </a:r>
          </a:p>
        </p:txBody>
      </p:sp>
      <p:sp>
        <p:nvSpPr>
          <p:cNvPr id="45" name="Rounded Rectangle 44"/>
          <p:cNvSpPr/>
          <p:nvPr/>
        </p:nvSpPr>
        <p:spPr>
          <a:xfrm>
            <a:off x="5989320" y="4855464"/>
            <a:ext cx="5074920" cy="713232"/>
          </a:xfrm>
          <a:prstGeom prst="roundRect">
            <a:avLst>
              <a:gd name="adj" fmla="val 17948"/>
            </a:avLst>
          </a:prstGeom>
          <a:solidFill>
            <a:srgbClr val="E9E5DC"/>
          </a:solidFill>
          <a:ln w="19050">
            <a:solidFill>
              <a:srgbClr val="CFC9BC"/>
            </a:solidFill>
          </a:ln>
        </p:spPr>
        <p:txBody>
          <a:bodyPr rtlCol="0" anchor="ctr"/>
          <a:lstStyle/>
          <a:p>
            <a:pPr algn="ctr"/>
          </a:p>
        </p:txBody>
      </p:sp>
      <p:sp>
        <p:nvSpPr>
          <p:cNvPr id="46" name="TextBox 45"/>
          <p:cNvSpPr txBox="1"/>
          <p:nvPr/>
        </p:nvSpPr>
        <p:spPr>
          <a:xfrm>
            <a:off x="6217920" y="4855464"/>
            <a:ext cx="457200" cy="713232"/>
          </a:xfrm>
          <a:prstGeom prst="rect">
            <a:avLst/>
          </a:prstGeom>
          <a:noFill/>
        </p:spPr>
        <p:txBody>
          <a:bodyPr wrap="square" anchor="ctr" lIns="0" rIns="0" tIns="0" bIns="0">
            <a:noAutofit/>
          </a:bodyPr>
          <a:lstStyle/>
          <a:p>
            <a:pPr algn="l">
              <a:lnSpc>
                <a:spcPct val="100000"/>
              </a:lnSpc>
              <a:spcBef>
                <a:spcPts val="0"/>
              </a:spcBef>
              <a:spcAft>
                <a:spcPts val="0"/>
              </a:spcAft>
            </a:pPr>
            <a:r>
              <a:rPr sz="2400" b="1" i="0">
                <a:solidFill>
                  <a:srgbClr val="56606E"/>
                </a:solidFill>
                <a:latin typeface="Arial Black"/>
              </a:rPr>
              <a:t>D</a:t>
            </a:r>
          </a:p>
        </p:txBody>
      </p:sp>
      <p:sp>
        <p:nvSpPr>
          <p:cNvPr id="47" name="TextBox 46"/>
          <p:cNvSpPr txBox="1"/>
          <p:nvPr/>
        </p:nvSpPr>
        <p:spPr>
          <a:xfrm>
            <a:off x="6766560" y="4855464"/>
            <a:ext cx="4160520" cy="713232"/>
          </a:xfrm>
          <a:prstGeom prst="rect">
            <a:avLst/>
          </a:prstGeom>
          <a:noFill/>
        </p:spPr>
        <p:txBody>
          <a:bodyPr wrap="square" anchor="ctr" lIns="0" rIns="0" tIns="0" bIns="0">
            <a:noAutofit/>
          </a:bodyPr>
          <a:lstStyle/>
          <a:p>
            <a:pPr algn="l">
              <a:lnSpc>
                <a:spcPct val="100000"/>
              </a:lnSpc>
              <a:spcBef>
                <a:spcPts val="0"/>
              </a:spcBef>
              <a:spcAft>
                <a:spcPts val="0"/>
              </a:spcAft>
            </a:pPr>
            <a:r>
              <a:rPr sz="1600" b="0" i="0">
                <a:solidFill>
                  <a:srgbClr val="12161C"/>
                </a:solidFill>
                <a:latin typeface="Arial"/>
              </a:rPr>
              <a:t>the idea that a moving object's energy equals the distance it moves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12161C"/>
                </a:solidFill>
                <a:latin typeface="Arial Narrow"/>
              </a:rPr>
              <a:t>ACT 2 · VOCABULARY</a:t>
            </a:r>
          </a:p>
        </p:txBody>
      </p:sp>
      <p:sp>
        <p:nvSpPr>
          <p:cNvPr id="4" name="TextBox 3"/>
          <p:cNvSpPr txBox="1"/>
          <p:nvPr/>
        </p:nvSpPr>
        <p:spPr>
          <a:xfrm>
            <a:off x="7315200" y="310896"/>
            <a:ext cx="4187952" cy="274320"/>
          </a:xfrm>
          <a:prstGeom prst="rect">
            <a:avLst/>
          </a:prstGeom>
          <a:noFill/>
        </p:spPr>
        <p:txBody>
          <a:bodyPr wrap="square" anchor="t" lIns="0" rIns="0" tIns="0" bIns="0">
            <a:noAutofit/>
          </a:bodyPr>
          <a:lstStyle/>
          <a:p>
            <a:pPr algn="r">
              <a:lnSpc>
                <a:spcPct val="100000"/>
              </a:lnSpc>
              <a:spcBef>
                <a:spcPts val="0"/>
              </a:spcBef>
              <a:spcAft>
                <a:spcPts val="0"/>
              </a:spcAft>
            </a:pPr>
            <a:r>
              <a:rPr sz="1300" b="1" i="0" spc="220">
                <a:solidFill>
                  <a:srgbClr val="8A93A0"/>
                </a:solidFill>
                <a:latin typeface="Arial Narrow"/>
              </a:rPr>
              <a:t>RESEARCH ENGINEER</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8A93A0"/>
                </a:solidFill>
                <a:latin typeface="Arial Narrow"/>
              </a:rPr>
              <a:t>ENERGY LAB  ·  CRASH TEST #05</a:t>
            </a:r>
          </a:p>
        </p:txBody>
      </p:sp>
      <p:sp>
        <p:nvSpPr>
          <p:cNvPr id="6" name="Rectangle 5"/>
          <p:cNvSpPr/>
          <p:nvPr/>
        </p:nvSpPr>
        <p:spPr>
          <a:xfrm>
            <a:off x="4526280" y="6510528"/>
            <a:ext cx="127363" cy="54864"/>
          </a:xfrm>
          <a:prstGeom prst="rect">
            <a:avLst/>
          </a:prstGeom>
          <a:solidFill>
            <a:srgbClr val="D9B55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D9B55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D9B55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FFB400"/>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D5D0C4"/>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D5D0C4"/>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D5D0C4"/>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D5D0C4"/>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D5D0C4"/>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D5D0C4"/>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D5D0C4"/>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D5D0C4"/>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D5D0C4"/>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D5D0C4"/>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8A93A0"/>
                </a:solidFill>
                <a:latin typeface="Arial Narrow"/>
              </a:rPr>
              <a:t>29</a:t>
            </a:fld>
          </a:p>
        </p:txBody>
      </p:sp>
      <p:sp>
        <p:nvSpPr>
          <p:cNvPr id="21" name="Rounded Rectangle 20"/>
          <p:cNvSpPr/>
          <p:nvPr/>
        </p:nvSpPr>
        <p:spPr>
          <a:xfrm>
            <a:off x="685800" y="1234440"/>
            <a:ext cx="5120640" cy="4480560"/>
          </a:xfrm>
          <a:prstGeom prst="roundRect">
            <a:avLst>
              <a:gd name="adj" fmla="val 2857"/>
            </a:avLst>
          </a:prstGeom>
          <a:solidFill>
            <a:srgbClr val="FFFFFF"/>
          </a:solidFill>
          <a:ln w="19050">
            <a:solidFill>
              <a:srgbClr val="CFC9BC"/>
            </a:solidFill>
          </a:ln>
        </p:spPr>
        <p:txBody>
          <a:bodyPr rtlCol="0" anchor="ctr"/>
          <a:lstStyle/>
          <a:p>
            <a:pPr algn="ctr"/>
          </a:p>
        </p:txBody>
      </p:sp>
      <p:sp>
        <p:nvSpPr>
          <p:cNvPr id="22" name="TextBox 21"/>
          <p:cNvSpPr txBox="1"/>
          <p:nvPr/>
        </p:nvSpPr>
        <p:spPr>
          <a:xfrm>
            <a:off x="960120" y="1417320"/>
            <a:ext cx="4572000" cy="640080"/>
          </a:xfrm>
          <a:prstGeom prst="rect">
            <a:avLst/>
          </a:prstGeom>
          <a:noFill/>
        </p:spPr>
        <p:txBody>
          <a:bodyPr wrap="square" anchor="t" lIns="0" rIns="0" tIns="0" bIns="0">
            <a:noAutofit/>
          </a:bodyPr>
          <a:lstStyle/>
          <a:p>
            <a:pPr algn="l">
              <a:lnSpc>
                <a:spcPct val="100000"/>
              </a:lnSpc>
              <a:spcBef>
                <a:spcPts val="0"/>
              </a:spcBef>
              <a:spcAft>
                <a:spcPts val="0"/>
              </a:spcAft>
            </a:pPr>
            <a:r>
              <a:rPr sz="3400" b="0" i="0">
                <a:solidFill>
                  <a:srgbClr val="12161C"/>
                </a:solidFill>
                <a:latin typeface="Arial Black"/>
              </a:rPr>
              <a:t>G</a:t>
            </a:r>
          </a:p>
        </p:txBody>
      </p:sp>
      <p:sp>
        <p:nvSpPr>
          <p:cNvPr id="23" name="TextBox 22"/>
          <p:cNvSpPr txBox="1"/>
          <p:nvPr/>
        </p:nvSpPr>
        <p:spPr>
          <a:xfrm>
            <a:off x="960120" y="2148840"/>
            <a:ext cx="4572000" cy="731520"/>
          </a:xfrm>
          <a:prstGeom prst="rect">
            <a:avLst/>
          </a:prstGeom>
          <a:noFill/>
        </p:spPr>
        <p:txBody>
          <a:bodyPr wrap="square" anchor="t" lIns="0" rIns="0" tIns="0" bIns="0">
            <a:noAutofit/>
          </a:bodyPr>
          <a:lstStyle/>
          <a:p>
            <a:pPr algn="l">
              <a:lnSpc>
                <a:spcPct val="110000"/>
              </a:lnSpc>
              <a:spcBef>
                <a:spcPts val="0"/>
              </a:spcBef>
              <a:spcAft>
                <a:spcPts val="0"/>
              </a:spcAft>
            </a:pPr>
            <a:r>
              <a:rPr sz="1900" b="0" i="0">
                <a:solidFill>
                  <a:srgbClr val="56606E"/>
                </a:solidFill>
                <a:latin typeface="Arial"/>
              </a:rPr>
              <a:t>the unit of force that equals the force of gravity</a:t>
            </a:r>
          </a:p>
        </p:txBody>
      </p:sp>
      <p:sp>
        <p:nvSpPr>
          <p:cNvPr id="24" name="Rounded Rectangle 23"/>
          <p:cNvSpPr/>
          <p:nvPr/>
        </p:nvSpPr>
        <p:spPr>
          <a:xfrm>
            <a:off x="2240280" y="3063240"/>
            <a:ext cx="2011680" cy="1371600"/>
          </a:xfrm>
          <a:prstGeom prst="roundRect">
            <a:avLst>
              <a:gd name="adj" fmla="val 9333"/>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4400" b="1" i="0">
                <a:solidFill>
                  <a:srgbClr val="12161C"/>
                </a:solidFill>
                <a:latin typeface="Arial Black"/>
              </a:rPr>
              <a:t>1 G</a:t>
            </a:r>
          </a:p>
        </p:txBody>
      </p:sp>
      <p:sp>
        <p:nvSpPr>
          <p:cNvPr id="25" name="TextBox 24"/>
          <p:cNvSpPr txBox="1"/>
          <p:nvPr/>
        </p:nvSpPr>
        <p:spPr>
          <a:xfrm>
            <a:off x="960120" y="4572000"/>
            <a:ext cx="4572000" cy="548640"/>
          </a:xfrm>
          <a:prstGeom prst="rect">
            <a:avLst/>
          </a:prstGeom>
          <a:noFill/>
        </p:spPr>
        <p:txBody>
          <a:bodyPr wrap="square" anchor="t" lIns="0" rIns="0" tIns="0" bIns="0">
            <a:noAutofit/>
          </a:bodyPr>
          <a:lstStyle/>
          <a:p>
            <a:pPr algn="l">
              <a:lnSpc>
                <a:spcPct val="100000"/>
              </a:lnSpc>
              <a:spcBef>
                <a:spcPts val="0"/>
              </a:spcBef>
              <a:spcAft>
                <a:spcPts val="0"/>
              </a:spcAft>
            </a:pPr>
            <a:r>
              <a:rPr sz="1700" b="0" i="0">
                <a:solidFill>
                  <a:srgbClr val="12161C"/>
                </a:solidFill>
                <a:latin typeface="Arial"/>
              </a:rPr>
              <a:t>= the pull of gravity you feel on Earth</a:t>
            </a:r>
          </a:p>
        </p:txBody>
      </p:sp>
      <p:sp>
        <p:nvSpPr>
          <p:cNvPr id="26" name="Rounded Rectangle 25"/>
          <p:cNvSpPr/>
          <p:nvPr/>
        </p:nvSpPr>
        <p:spPr>
          <a:xfrm>
            <a:off x="6208776" y="1234440"/>
            <a:ext cx="5120640" cy="4480560"/>
          </a:xfrm>
          <a:prstGeom prst="roundRect">
            <a:avLst>
              <a:gd name="adj" fmla="val 2857"/>
            </a:avLst>
          </a:prstGeom>
          <a:solidFill>
            <a:srgbClr val="FFFFFF"/>
          </a:solidFill>
          <a:ln w="19050">
            <a:solidFill>
              <a:srgbClr val="CFC9BC"/>
            </a:solidFill>
          </a:ln>
        </p:spPr>
        <p:txBody>
          <a:bodyPr rtlCol="0" anchor="ctr"/>
          <a:lstStyle/>
          <a:p>
            <a:pPr algn="ctr"/>
          </a:p>
        </p:txBody>
      </p:sp>
      <p:sp>
        <p:nvSpPr>
          <p:cNvPr id="27" name="TextBox 26"/>
          <p:cNvSpPr txBox="1"/>
          <p:nvPr/>
        </p:nvSpPr>
        <p:spPr>
          <a:xfrm>
            <a:off x="6483096" y="1417320"/>
            <a:ext cx="4572000" cy="640080"/>
          </a:xfrm>
          <a:prstGeom prst="rect">
            <a:avLst/>
          </a:prstGeom>
          <a:noFill/>
        </p:spPr>
        <p:txBody>
          <a:bodyPr wrap="square" anchor="t" lIns="0" rIns="0" tIns="0" bIns="0">
            <a:noAutofit/>
          </a:bodyPr>
          <a:lstStyle/>
          <a:p>
            <a:pPr algn="l">
              <a:lnSpc>
                <a:spcPct val="100000"/>
              </a:lnSpc>
              <a:spcBef>
                <a:spcPts val="0"/>
              </a:spcBef>
              <a:spcAft>
                <a:spcPts val="0"/>
              </a:spcAft>
            </a:pPr>
            <a:r>
              <a:rPr sz="3400" b="0" i="0">
                <a:solidFill>
                  <a:srgbClr val="12161C"/>
                </a:solidFill>
                <a:latin typeface="Arial Black"/>
              </a:rPr>
              <a:t>TRANSFER</a:t>
            </a:r>
          </a:p>
        </p:txBody>
      </p:sp>
      <p:sp>
        <p:nvSpPr>
          <p:cNvPr id="28" name="TextBox 27"/>
          <p:cNvSpPr txBox="1"/>
          <p:nvPr/>
        </p:nvSpPr>
        <p:spPr>
          <a:xfrm>
            <a:off x="6483096" y="2148840"/>
            <a:ext cx="4572000" cy="731520"/>
          </a:xfrm>
          <a:prstGeom prst="rect">
            <a:avLst/>
          </a:prstGeom>
          <a:noFill/>
        </p:spPr>
        <p:txBody>
          <a:bodyPr wrap="square" anchor="t" lIns="0" rIns="0" tIns="0" bIns="0">
            <a:noAutofit/>
          </a:bodyPr>
          <a:lstStyle/>
          <a:p>
            <a:pPr algn="l">
              <a:lnSpc>
                <a:spcPct val="110000"/>
              </a:lnSpc>
              <a:spcBef>
                <a:spcPts val="0"/>
              </a:spcBef>
              <a:spcAft>
                <a:spcPts val="0"/>
              </a:spcAft>
            </a:pPr>
            <a:r>
              <a:rPr sz="1900" b="0" i="0">
                <a:solidFill>
                  <a:srgbClr val="56606E"/>
                </a:solidFill>
                <a:latin typeface="Arial"/>
              </a:rPr>
              <a:t>to move from one object to another</a:t>
            </a:r>
          </a:p>
        </p:txBody>
      </p:sp>
      <p:sp>
        <p:nvSpPr>
          <p:cNvPr id="29" name="Freeform 28"/>
          <p:cNvSpPr/>
          <p:nvPr/>
        </p:nvSpPr>
        <p:spPr>
          <a:xfrm>
            <a:off x="6665976" y="3017520"/>
            <a:ext cx="1371600" cy="1600200"/>
          </a:xfrm>
          <a:custGeom>
            <a:avLst/>
            <a:gdLst/>
            <a:ahLst/>
            <a:cxnLst/>
            <a:rect l="l" t="t" r="r" b="b"/>
            <a:pathLst>
              <a:path w="1371600" h="1600200">
                <a:moveTo>
                  <a:pt x="0" y="0"/>
                </a:moveTo>
                <a:lnTo>
                  <a:pt x="1115568" y="0"/>
                </a:lnTo>
                <a:lnTo>
                  <a:pt x="1371600" y="256032"/>
                </a:lnTo>
                <a:lnTo>
                  <a:pt x="1371600" y="1600200"/>
                </a:lnTo>
                <a:lnTo>
                  <a:pt x="0" y="1600200"/>
                </a:lnTo>
                <a:close/>
              </a:path>
            </a:pathLst>
          </a:custGeom>
          <a:solidFill>
            <a:srgbClr val="E9E5DC"/>
          </a:solidFill>
          <a:ln w="31750">
            <a:solidFill>
              <a:srgbClr val="CFC9BC"/>
            </a:solidFill>
          </a:ln>
        </p:spPr>
        <p:txBody>
          <a:bodyPr rtlCol="0" anchor="ctr"/>
          <a:lstStyle/>
          <a:p>
            <a:pPr algn="ctr"/>
          </a:p>
        </p:txBody>
      </p:sp>
      <p:sp>
        <p:nvSpPr>
          <p:cNvPr id="30" name="Freeform 29"/>
          <p:cNvSpPr/>
          <p:nvPr/>
        </p:nvSpPr>
        <p:spPr>
          <a:xfrm>
            <a:off x="7781544" y="3017520"/>
            <a:ext cx="256032" cy="256032"/>
          </a:xfrm>
          <a:custGeom>
            <a:avLst/>
            <a:gdLst/>
            <a:ahLst/>
            <a:cxnLst/>
            <a:rect l="l" t="t" r="r" b="b"/>
            <a:pathLst>
              <a:path w="256032" h="256032">
                <a:moveTo>
                  <a:pt x="0" y="0"/>
                </a:moveTo>
                <a:lnTo>
                  <a:pt x="0" y="256032"/>
                </a:lnTo>
                <a:lnTo>
                  <a:pt x="256032" y="256032"/>
                </a:lnTo>
                <a:close/>
              </a:path>
            </a:pathLst>
          </a:custGeom>
          <a:solidFill>
            <a:srgbClr val="CFC9BC"/>
          </a:solidFill>
          <a:ln>
            <a:noFill/>
          </a:ln>
        </p:spPr>
        <p:txBody>
          <a:bodyPr rtlCol="0" anchor="ctr"/>
          <a:lstStyle/>
          <a:p>
            <a:pPr algn="ctr"/>
          </a:p>
        </p:txBody>
      </p:sp>
      <p:cxnSp>
        <p:nvCxnSpPr>
          <p:cNvPr id="31" name="Connector 30"/>
          <p:cNvCxnSpPr/>
          <p:nvPr/>
        </p:nvCxnSpPr>
        <p:spPr>
          <a:xfrm>
            <a:off x="6848856" y="3419856"/>
            <a:ext cx="1005840" cy="0"/>
          </a:xfrm>
          <a:prstGeom prst="line">
            <a:avLst/>
          </a:prstGeom>
          <a:ln w="28575" cap="rnd">
            <a:solidFill>
              <a:srgbClr val="56606E"/>
            </a:solidFill>
            <a:round/>
          </a:ln>
        </p:spPr>
      </p:cxnSp>
      <p:cxnSp>
        <p:nvCxnSpPr>
          <p:cNvPr id="32" name="Connector 31"/>
          <p:cNvCxnSpPr/>
          <p:nvPr/>
        </p:nvCxnSpPr>
        <p:spPr>
          <a:xfrm>
            <a:off x="6848856" y="3687318"/>
            <a:ext cx="1005840" cy="0"/>
          </a:xfrm>
          <a:prstGeom prst="line">
            <a:avLst/>
          </a:prstGeom>
          <a:ln w="28575" cap="rnd">
            <a:solidFill>
              <a:srgbClr val="56606E"/>
            </a:solidFill>
            <a:round/>
          </a:ln>
        </p:spPr>
      </p:cxnSp>
      <p:cxnSp>
        <p:nvCxnSpPr>
          <p:cNvPr id="33" name="Connector 32"/>
          <p:cNvCxnSpPr/>
          <p:nvPr/>
        </p:nvCxnSpPr>
        <p:spPr>
          <a:xfrm>
            <a:off x="6848856" y="3954780"/>
            <a:ext cx="685800" cy="0"/>
          </a:xfrm>
          <a:prstGeom prst="line">
            <a:avLst/>
          </a:prstGeom>
          <a:ln w="28575" cap="rnd">
            <a:solidFill>
              <a:srgbClr val="56606E"/>
            </a:solidFill>
            <a:round/>
          </a:ln>
        </p:spPr>
      </p:cxnSp>
      <p:cxnSp>
        <p:nvCxnSpPr>
          <p:cNvPr id="34" name="Connector 33"/>
          <p:cNvCxnSpPr/>
          <p:nvPr/>
        </p:nvCxnSpPr>
        <p:spPr>
          <a:xfrm>
            <a:off x="6848856" y="4222242"/>
            <a:ext cx="1005840" cy="0"/>
          </a:xfrm>
          <a:prstGeom prst="line">
            <a:avLst/>
          </a:prstGeom>
          <a:ln w="28575" cap="rnd">
            <a:solidFill>
              <a:srgbClr val="56606E"/>
            </a:solidFill>
            <a:round/>
          </a:ln>
        </p:spPr>
      </p:cxnSp>
      <p:sp>
        <p:nvSpPr>
          <p:cNvPr id="35" name="Freeform 34"/>
          <p:cNvSpPr/>
          <p:nvPr/>
        </p:nvSpPr>
        <p:spPr>
          <a:xfrm>
            <a:off x="8174736" y="3641141"/>
            <a:ext cx="1097280" cy="307238"/>
          </a:xfrm>
          <a:custGeom>
            <a:avLst/>
            <a:gdLst/>
            <a:ahLst/>
            <a:cxnLst/>
            <a:rect l="l" t="t" r="r" b="b"/>
            <a:pathLst>
              <a:path w="1097280" h="307238">
                <a:moveTo>
                  <a:pt x="0" y="226771"/>
                </a:moveTo>
                <a:lnTo>
                  <a:pt x="877824" y="226771"/>
                </a:lnTo>
                <a:lnTo>
                  <a:pt x="877824" y="307238"/>
                </a:lnTo>
                <a:lnTo>
                  <a:pt x="1097280" y="153619"/>
                </a:lnTo>
                <a:lnTo>
                  <a:pt x="877824" y="0"/>
                </a:lnTo>
                <a:lnTo>
                  <a:pt x="877824" y="80467"/>
                </a:lnTo>
                <a:lnTo>
                  <a:pt x="0" y="80467"/>
                </a:lnTo>
                <a:close/>
              </a:path>
            </a:pathLst>
          </a:custGeom>
          <a:solidFill>
            <a:srgbClr val="FFB400"/>
          </a:solidFill>
          <a:ln>
            <a:noFill/>
          </a:ln>
        </p:spPr>
        <p:txBody>
          <a:bodyPr rtlCol="0" anchor="ctr"/>
          <a:lstStyle/>
          <a:p>
            <a:pPr algn="ctr"/>
          </a:p>
        </p:txBody>
      </p:sp>
      <p:sp>
        <p:nvSpPr>
          <p:cNvPr id="36" name="Freeform 35"/>
          <p:cNvSpPr/>
          <p:nvPr/>
        </p:nvSpPr>
        <p:spPr>
          <a:xfrm>
            <a:off x="9592496" y="3108960"/>
            <a:ext cx="1187840" cy="1371600"/>
          </a:xfrm>
          <a:custGeom>
            <a:avLst/>
            <a:gdLst/>
            <a:ahLst/>
            <a:cxnLst/>
            <a:rect l="l" t="t" r="r" b="b"/>
            <a:pathLst>
              <a:path w="1187840" h="1371600">
                <a:moveTo>
                  <a:pt x="1187840" y="342900"/>
                </a:moveTo>
                <a:lnTo>
                  <a:pt x="1187840" y="1028700"/>
                </a:lnTo>
                <a:lnTo>
                  <a:pt x="593920" y="1371600"/>
                </a:lnTo>
                <a:lnTo>
                  <a:pt x="0" y="1028700"/>
                </a:lnTo>
                <a:lnTo>
                  <a:pt x="0" y="342900"/>
                </a:lnTo>
                <a:lnTo>
                  <a:pt x="593920" y="0"/>
                </a:lnTo>
                <a:close/>
              </a:path>
            </a:pathLst>
          </a:custGeom>
          <a:solidFill>
            <a:srgbClr val="FFB400"/>
          </a:solidFill>
          <a:ln>
            <a:noFill/>
          </a:ln>
        </p:spPr>
        <p:txBody>
          <a:bodyPr rtlCol="0" anchor="ctr"/>
          <a:lstStyle/>
          <a:p>
            <a:pPr algn="ctr"/>
          </a:p>
        </p:txBody>
      </p:sp>
      <p:sp>
        <p:nvSpPr>
          <p:cNvPr id="37" name="TextBox 36"/>
          <p:cNvSpPr txBox="1"/>
          <p:nvPr/>
        </p:nvSpPr>
        <p:spPr>
          <a:xfrm>
            <a:off x="9546336" y="3575304"/>
            <a:ext cx="1280160" cy="457200"/>
          </a:xfrm>
          <a:prstGeom prst="rect">
            <a:avLst/>
          </a:prstGeom>
          <a:noFill/>
        </p:spPr>
        <p:txBody>
          <a:bodyPr wrap="square" anchor="t" lIns="0" rIns="0" tIns="0" bIns="0">
            <a:noAutofit/>
          </a:bodyPr>
          <a:lstStyle/>
          <a:p>
            <a:pPr algn="ctr">
              <a:lnSpc>
                <a:spcPct val="100000"/>
              </a:lnSpc>
              <a:spcBef>
                <a:spcPts val="0"/>
              </a:spcBef>
              <a:spcAft>
                <a:spcPts val="0"/>
              </a:spcAft>
            </a:pPr>
            <a:r>
              <a:rPr sz="1600" b="1" i="0">
                <a:solidFill>
                  <a:srgbClr val="12161C"/>
                </a:solidFill>
                <a:latin typeface="Arial"/>
              </a:rPr>
              <a:t>BELT</a:t>
            </a:r>
          </a:p>
        </p:txBody>
      </p:sp>
      <p:sp>
        <p:nvSpPr>
          <p:cNvPr id="38" name="TextBox 37"/>
          <p:cNvSpPr txBox="1"/>
          <p:nvPr/>
        </p:nvSpPr>
        <p:spPr>
          <a:xfrm>
            <a:off x="6483096" y="4709160"/>
            <a:ext cx="4572000" cy="457200"/>
          </a:xfrm>
          <a:prstGeom prst="rect">
            <a:avLst/>
          </a:prstGeom>
          <a:noFill/>
        </p:spPr>
        <p:txBody>
          <a:bodyPr wrap="square" anchor="t" lIns="0" rIns="0" tIns="0" bIns="0">
            <a:noAutofit/>
          </a:bodyPr>
          <a:lstStyle/>
          <a:p>
            <a:pPr algn="l">
              <a:lnSpc>
                <a:spcPct val="100000"/>
              </a:lnSpc>
              <a:spcBef>
                <a:spcPts val="0"/>
              </a:spcBef>
              <a:spcAft>
                <a:spcPts val="0"/>
              </a:spcAft>
            </a:pPr>
            <a:r>
              <a:rPr sz="1500" b="1" i="0" spc="100">
                <a:solidFill>
                  <a:srgbClr val="56606E"/>
                </a:solidFill>
                <a:latin typeface="Arial Narrow"/>
              </a:rPr>
              <a:t>OBJECT A  →  ENERGY  →  OBJECT B</a:t>
            </a:r>
          </a:p>
        </p:txBody>
      </p:sp>
      <p:sp>
        <p:nvSpPr>
          <p:cNvPr id="39" name="Rounded Rectangle 38"/>
          <p:cNvSpPr/>
          <p:nvPr/>
        </p:nvSpPr>
        <p:spPr>
          <a:xfrm>
            <a:off x="685800" y="5852160"/>
            <a:ext cx="3412585" cy="274320"/>
          </a:xfrm>
          <a:prstGeom prst="roundRect">
            <a:avLst>
              <a:gd name="adj" fmla="val 50000"/>
            </a:avLst>
          </a:prstGeom>
          <a:noFill/>
          <a:ln w="19050">
            <a:solidFill>
              <a:srgbClr val="0B6A96"/>
            </a:solidFill>
          </a:ln>
        </p:spPr>
        <p:txBody>
          <a:bodyPr rtlCol="0" anchor="ctr" wrap="square" lIns="0" rIns="0" tIns="0" bIns="0">
            <a:noAutofit/>
          </a:bodyPr>
          <a:lstStyle/>
          <a:p>
            <a:pPr algn="ctr">
              <a:lnSpc>
                <a:spcPct val="100000"/>
              </a:lnSpc>
              <a:spcBef>
                <a:spcPts val="0"/>
              </a:spcBef>
              <a:spcAft>
                <a:spcPts val="0"/>
              </a:spcAft>
            </a:pPr>
            <a:r>
              <a:rPr sz="1300" b="1" i="0" spc="200">
                <a:solidFill>
                  <a:srgbClr val="0B6A96"/>
                </a:solidFill>
                <a:latin typeface="Arial Narrow"/>
              </a:rPr>
              <a:t>TEXTBOOK · TASK 4 · ITEMS C &amp; B</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A9B3C0"/>
                </a:solidFill>
                <a:latin typeface="Arial Narrow"/>
              </a:rPr>
              <a:t>ACT 2 · VOCABULARY</a:t>
            </a:r>
          </a:p>
        </p:txBody>
      </p:sp>
      <p:sp>
        <p:nvSpPr>
          <p:cNvPr id="4" name="TextBox 3"/>
          <p:cNvSpPr txBox="1"/>
          <p:nvPr/>
        </p:nvSpPr>
        <p:spPr>
          <a:xfrm>
            <a:off x="7315200" y="310896"/>
            <a:ext cx="4187952" cy="274320"/>
          </a:xfrm>
          <a:prstGeom prst="rect">
            <a:avLst/>
          </a:prstGeom>
          <a:noFill/>
        </p:spPr>
        <p:txBody>
          <a:bodyPr wrap="square" anchor="t" lIns="0" rIns="0" tIns="0" bIns="0">
            <a:noAutofit/>
          </a:bodyPr>
          <a:lstStyle/>
          <a:p>
            <a:pPr algn="r">
              <a:lnSpc>
                <a:spcPct val="100000"/>
              </a:lnSpc>
              <a:spcBef>
                <a:spcPts val="0"/>
              </a:spcBef>
              <a:spcAft>
                <a:spcPts val="0"/>
              </a:spcAft>
            </a:pPr>
            <a:r>
              <a:rPr sz="1300" b="1" i="0" spc="220">
                <a:solidFill>
                  <a:srgbClr val="6F7A89"/>
                </a:solidFill>
                <a:latin typeface="Arial Narrow"/>
              </a:rPr>
              <a:t>RESEARCH ENGINEER</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6F7A89"/>
                </a:solidFill>
                <a:latin typeface="Arial Narrow"/>
              </a:rPr>
              <a:t>ENERGY LAB  ·  CRASH TEST #05</a:t>
            </a:r>
          </a:p>
        </p:txBody>
      </p:sp>
      <p:sp>
        <p:nvSpPr>
          <p:cNvPr id="6" name="Rectangle 5"/>
          <p:cNvSpPr/>
          <p:nvPr/>
        </p:nvSpPr>
        <p:spPr>
          <a:xfrm>
            <a:off x="4526280" y="6510528"/>
            <a:ext cx="127363" cy="54864"/>
          </a:xfrm>
          <a:prstGeom prst="rect">
            <a:avLst/>
          </a:prstGeom>
          <a:solidFill>
            <a:srgbClr val="8A6A1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8A6A1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8A6A1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FFB400"/>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2A3240"/>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2A3240"/>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2A3240"/>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2A3240"/>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2A3240"/>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2A3240"/>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2A3240"/>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2A3240"/>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2A3240"/>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2A3240"/>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6F7A89"/>
                </a:solidFill>
                <a:latin typeface="Arial Narrow"/>
              </a:rPr>
              <a:t>30</a:t>
            </a:fld>
          </a:p>
        </p:txBody>
      </p:sp>
      <p:sp>
        <p:nvSpPr>
          <p:cNvPr id="21" name="TextBox 20"/>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A9B3C0"/>
                </a:solidFill>
                <a:latin typeface="Arial Narrow"/>
              </a:rPr>
              <a:t>VOCABULARY · TASK 4 · ITEM D</a:t>
            </a:r>
          </a:p>
        </p:txBody>
      </p:sp>
      <p:sp>
        <p:nvSpPr>
          <p:cNvPr id="22" name="TextBox 21"/>
          <p:cNvSpPr txBox="1"/>
          <p:nvPr/>
        </p:nvSpPr>
        <p:spPr>
          <a:xfrm>
            <a:off x="685800" y="1234440"/>
            <a:ext cx="10789920" cy="1005840"/>
          </a:xfrm>
          <a:prstGeom prst="rect">
            <a:avLst/>
          </a:prstGeom>
          <a:noFill/>
        </p:spPr>
        <p:txBody>
          <a:bodyPr wrap="square" anchor="t" lIns="0" rIns="0" tIns="0" bIns="0">
            <a:noAutofit/>
          </a:bodyPr>
          <a:lstStyle/>
          <a:p>
            <a:pPr algn="l">
              <a:lnSpc>
                <a:spcPct val="100000"/>
              </a:lnSpc>
              <a:spcBef>
                <a:spcPts val="0"/>
              </a:spcBef>
              <a:spcAft>
                <a:spcPts val="0"/>
              </a:spcAft>
            </a:pPr>
            <a:r>
              <a:rPr sz="4000" b="0" i="0">
                <a:solidFill>
                  <a:srgbClr val="F4F6F8"/>
                </a:solidFill>
                <a:latin typeface="Arial Black"/>
              </a:rPr>
              <a:t>THE WORK-ENERGY PRINCIPLE</a:t>
            </a:r>
          </a:p>
        </p:txBody>
      </p:sp>
      <p:sp>
        <p:nvSpPr>
          <p:cNvPr id="23" name="Rectangle 22"/>
          <p:cNvSpPr/>
          <p:nvPr/>
        </p:nvSpPr>
        <p:spPr>
          <a:xfrm>
            <a:off x="685800" y="2286000"/>
            <a:ext cx="64008" cy="1005840"/>
          </a:xfrm>
          <a:prstGeom prst="rect">
            <a:avLst/>
          </a:prstGeom>
          <a:solidFill>
            <a:srgbClr val="FFB400"/>
          </a:solidFill>
          <a:ln>
            <a:noFill/>
          </a:ln>
        </p:spPr>
        <p:txBody>
          <a:bodyPr rtlCol="0" anchor="ctr"/>
          <a:lstStyle/>
          <a:p>
            <a:pPr algn="ctr"/>
          </a:p>
        </p:txBody>
      </p:sp>
      <p:sp>
        <p:nvSpPr>
          <p:cNvPr id="24" name="TextBox 23"/>
          <p:cNvSpPr txBox="1"/>
          <p:nvPr/>
        </p:nvSpPr>
        <p:spPr>
          <a:xfrm>
            <a:off x="941832" y="2286000"/>
            <a:ext cx="9802368" cy="1005840"/>
          </a:xfrm>
          <a:prstGeom prst="rect">
            <a:avLst/>
          </a:prstGeom>
          <a:noFill/>
        </p:spPr>
        <p:txBody>
          <a:bodyPr wrap="square" anchor="ctr" lIns="0" rIns="0" tIns="0" bIns="0">
            <a:noAutofit/>
          </a:bodyPr>
          <a:lstStyle/>
          <a:p>
            <a:pPr algn="l">
              <a:lnSpc>
                <a:spcPct val="100000"/>
              </a:lnSpc>
              <a:spcBef>
                <a:spcPts val="0"/>
              </a:spcBef>
              <a:spcAft>
                <a:spcPts val="0"/>
              </a:spcAft>
            </a:pPr>
            <a:r>
              <a:rPr sz="2700" b="0" i="0">
                <a:solidFill>
                  <a:srgbClr val="F4F6F8"/>
                </a:solidFill>
                <a:latin typeface="Arial"/>
              </a:rPr>
              <a:t>“the idea that a moving object’s </a:t>
            </a:r>
            <a:r>
              <a:rPr sz="2700" b="1" i="0">
                <a:solidFill>
                  <a:srgbClr val="FFB400"/>
                </a:solidFill>
                <a:latin typeface="Arial"/>
              </a:rPr>
              <a:t>energy</a:t>
            </a:r>
            <a:r>
              <a:rPr sz="2700" b="0" i="0">
                <a:solidFill>
                  <a:srgbClr val="F4F6F8"/>
                </a:solidFill>
                <a:latin typeface="Arial"/>
              </a:rPr>
              <a:t> equals the </a:t>
            </a:r>
            <a:r>
              <a:rPr sz="2700" b="1" i="0">
                <a:solidFill>
                  <a:srgbClr val="FFB400"/>
                </a:solidFill>
                <a:latin typeface="Arial"/>
              </a:rPr>
              <a:t>distance</a:t>
            </a:r>
            <a:r>
              <a:rPr sz="2700" b="0" i="0">
                <a:solidFill>
                  <a:srgbClr val="F4F6F8"/>
                </a:solidFill>
                <a:latin typeface="Arial"/>
              </a:rPr>
              <a:t> it moves”</a:t>
            </a:r>
          </a:p>
        </p:txBody>
      </p:sp>
      <p:sp>
        <p:nvSpPr>
          <p:cNvPr id="25" name="Rounded Rectangle 24"/>
          <p:cNvSpPr/>
          <p:nvPr/>
        </p:nvSpPr>
        <p:spPr>
          <a:xfrm>
            <a:off x="685800" y="3611880"/>
            <a:ext cx="10360152" cy="1965960"/>
          </a:xfrm>
          <a:prstGeom prst="roundRect">
            <a:avLst>
              <a:gd name="adj" fmla="val 6511"/>
            </a:avLst>
          </a:prstGeom>
          <a:solidFill>
            <a:srgbClr val="232B36"/>
          </a:solidFill>
          <a:ln w="19050">
            <a:solidFill>
              <a:srgbClr val="323C4A"/>
            </a:solidFill>
          </a:ln>
        </p:spPr>
        <p:txBody>
          <a:bodyPr rtlCol="0" anchor="ctr"/>
          <a:lstStyle/>
          <a:p>
            <a:pPr algn="ctr"/>
          </a:p>
        </p:txBody>
      </p:sp>
      <p:sp>
        <p:nvSpPr>
          <p:cNvPr id="26" name="TextBox 25"/>
          <p:cNvSpPr txBox="1"/>
          <p:nvPr/>
        </p:nvSpPr>
        <p:spPr>
          <a:xfrm>
            <a:off x="914400" y="3749040"/>
            <a:ext cx="9875520" cy="457200"/>
          </a:xfrm>
          <a:prstGeom prst="rect">
            <a:avLst/>
          </a:prstGeom>
          <a:noFill/>
        </p:spPr>
        <p:txBody>
          <a:bodyPr wrap="square" anchor="t" lIns="0" rIns="0" tIns="0" bIns="0">
            <a:noAutofit/>
          </a:bodyPr>
          <a:lstStyle/>
          <a:p>
            <a:pPr algn="l">
              <a:lnSpc>
                <a:spcPct val="100000"/>
              </a:lnSpc>
              <a:spcBef>
                <a:spcPts val="0"/>
              </a:spcBef>
              <a:spcAft>
                <a:spcPts val="0"/>
              </a:spcAft>
            </a:pPr>
            <a:r>
              <a:rPr sz="1700" b="1" i="0" spc="200">
                <a:solidFill>
                  <a:srgbClr val="FFB400"/>
                </a:solidFill>
                <a:latin typeface="Arial Narrow"/>
              </a:rPr>
              <a:t>APPLIED TO THE SEATBELT TEST:</a:t>
            </a:r>
          </a:p>
        </p:txBody>
      </p:sp>
      <p:sp>
        <p:nvSpPr>
          <p:cNvPr id="27" name="TextBox 26"/>
          <p:cNvSpPr txBox="1"/>
          <p:nvPr/>
        </p:nvSpPr>
        <p:spPr>
          <a:xfrm>
            <a:off x="914400" y="4224528"/>
            <a:ext cx="9875520" cy="1234440"/>
          </a:xfrm>
          <a:prstGeom prst="rect">
            <a:avLst/>
          </a:prstGeom>
          <a:noFill/>
        </p:spPr>
        <p:txBody>
          <a:bodyPr wrap="square" anchor="t" lIns="0" rIns="0" tIns="0" bIns="0">
            <a:noAutofit/>
          </a:bodyPr>
          <a:lstStyle/>
          <a:p>
            <a:pPr algn="l">
              <a:lnSpc>
                <a:spcPct val="100000"/>
              </a:lnSpc>
              <a:spcBef>
                <a:spcPts val="0"/>
              </a:spcBef>
              <a:spcAft>
                <a:spcPts val="0"/>
              </a:spcAft>
            </a:pPr>
            <a:r>
              <a:rPr sz="2600" b="1" i="0">
                <a:solidFill>
                  <a:srgbClr val="FFB400"/>
                </a:solidFill>
                <a:latin typeface="Arial"/>
              </a:rPr>
              <a:t>greater stopping distance</a:t>
            </a:r>
            <a:r>
              <a:rPr sz="2600" b="0" i="0">
                <a:solidFill>
                  <a:srgbClr val="F4F6F8"/>
                </a:solidFill>
                <a:latin typeface="Arial"/>
              </a:rPr>
              <a:t>   →   </a:t>
            </a:r>
            <a:r>
              <a:rPr sz="2600" b="1" i="0">
                <a:solidFill>
                  <a:srgbClr val="FFB400"/>
                </a:solidFill>
                <a:latin typeface="Arial"/>
              </a:rPr>
              <a:t>less force</a:t>
            </a:r>
            <a:r>
              <a:rPr sz="2600" b="0" i="0">
                <a:solidFill>
                  <a:srgbClr val="F4F6F8"/>
                </a:solidFill>
                <a:latin typeface="Arial"/>
              </a:rPr>
              <a:t> on the passenger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cxnSp>
        <p:nvCxnSpPr>
          <p:cNvPr id="2" name="Connector 1"/>
          <p:cNvCxnSpPr/>
          <p:nvPr/>
        </p:nvCxnSpPr>
        <p:spPr>
          <a:xfrm>
            <a:off x="914400" y="0"/>
            <a:ext cx="0" cy="6858000"/>
          </a:xfrm>
          <a:prstGeom prst="line">
            <a:avLst/>
          </a:prstGeom>
          <a:ln w="9525">
            <a:solidFill>
              <a:srgbClr val="151A22"/>
            </a:solidFill>
          </a:ln>
        </p:spPr>
      </p:cxnSp>
      <p:cxnSp>
        <p:nvCxnSpPr>
          <p:cNvPr id="3" name="Connector 2"/>
          <p:cNvCxnSpPr/>
          <p:nvPr/>
        </p:nvCxnSpPr>
        <p:spPr>
          <a:xfrm>
            <a:off x="1828800" y="0"/>
            <a:ext cx="0" cy="6858000"/>
          </a:xfrm>
          <a:prstGeom prst="line">
            <a:avLst/>
          </a:prstGeom>
          <a:ln w="9525">
            <a:solidFill>
              <a:srgbClr val="151A22"/>
            </a:solidFill>
          </a:ln>
        </p:spPr>
      </p:cxnSp>
      <p:cxnSp>
        <p:nvCxnSpPr>
          <p:cNvPr id="4" name="Connector 3"/>
          <p:cNvCxnSpPr/>
          <p:nvPr/>
        </p:nvCxnSpPr>
        <p:spPr>
          <a:xfrm>
            <a:off x="2743200" y="0"/>
            <a:ext cx="0" cy="6858000"/>
          </a:xfrm>
          <a:prstGeom prst="line">
            <a:avLst/>
          </a:prstGeom>
          <a:ln w="9525">
            <a:solidFill>
              <a:srgbClr val="151A22"/>
            </a:solidFill>
          </a:ln>
        </p:spPr>
      </p:cxnSp>
      <p:cxnSp>
        <p:nvCxnSpPr>
          <p:cNvPr id="5" name="Connector 4"/>
          <p:cNvCxnSpPr/>
          <p:nvPr/>
        </p:nvCxnSpPr>
        <p:spPr>
          <a:xfrm>
            <a:off x="3657600" y="0"/>
            <a:ext cx="0" cy="6858000"/>
          </a:xfrm>
          <a:prstGeom prst="line">
            <a:avLst/>
          </a:prstGeom>
          <a:ln w="9525">
            <a:solidFill>
              <a:srgbClr val="151A22"/>
            </a:solidFill>
          </a:ln>
        </p:spPr>
      </p:cxnSp>
      <p:cxnSp>
        <p:nvCxnSpPr>
          <p:cNvPr id="6" name="Connector 5"/>
          <p:cNvCxnSpPr/>
          <p:nvPr/>
        </p:nvCxnSpPr>
        <p:spPr>
          <a:xfrm>
            <a:off x="4572000" y="0"/>
            <a:ext cx="0" cy="6858000"/>
          </a:xfrm>
          <a:prstGeom prst="line">
            <a:avLst/>
          </a:prstGeom>
          <a:ln w="9525">
            <a:solidFill>
              <a:srgbClr val="151A22"/>
            </a:solidFill>
          </a:ln>
        </p:spPr>
      </p:cxnSp>
      <p:cxnSp>
        <p:nvCxnSpPr>
          <p:cNvPr id="7" name="Connector 6"/>
          <p:cNvCxnSpPr/>
          <p:nvPr/>
        </p:nvCxnSpPr>
        <p:spPr>
          <a:xfrm>
            <a:off x="5486400" y="0"/>
            <a:ext cx="0" cy="6858000"/>
          </a:xfrm>
          <a:prstGeom prst="line">
            <a:avLst/>
          </a:prstGeom>
          <a:ln w="9525">
            <a:solidFill>
              <a:srgbClr val="151A22"/>
            </a:solidFill>
          </a:ln>
        </p:spPr>
      </p:cxnSp>
      <p:cxnSp>
        <p:nvCxnSpPr>
          <p:cNvPr id="8" name="Connector 7"/>
          <p:cNvCxnSpPr/>
          <p:nvPr/>
        </p:nvCxnSpPr>
        <p:spPr>
          <a:xfrm>
            <a:off x="6400800" y="0"/>
            <a:ext cx="0" cy="6858000"/>
          </a:xfrm>
          <a:prstGeom prst="line">
            <a:avLst/>
          </a:prstGeom>
          <a:ln w="9525">
            <a:solidFill>
              <a:srgbClr val="151A22"/>
            </a:solidFill>
          </a:ln>
        </p:spPr>
      </p:cxnSp>
      <p:cxnSp>
        <p:nvCxnSpPr>
          <p:cNvPr id="9" name="Connector 8"/>
          <p:cNvCxnSpPr/>
          <p:nvPr/>
        </p:nvCxnSpPr>
        <p:spPr>
          <a:xfrm>
            <a:off x="7315200" y="0"/>
            <a:ext cx="0" cy="6858000"/>
          </a:xfrm>
          <a:prstGeom prst="line">
            <a:avLst/>
          </a:prstGeom>
          <a:ln w="9525">
            <a:solidFill>
              <a:srgbClr val="151A22"/>
            </a:solidFill>
          </a:ln>
        </p:spPr>
      </p:cxnSp>
      <p:cxnSp>
        <p:nvCxnSpPr>
          <p:cNvPr id="10" name="Connector 9"/>
          <p:cNvCxnSpPr/>
          <p:nvPr/>
        </p:nvCxnSpPr>
        <p:spPr>
          <a:xfrm>
            <a:off x="8229600" y="0"/>
            <a:ext cx="0" cy="6858000"/>
          </a:xfrm>
          <a:prstGeom prst="line">
            <a:avLst/>
          </a:prstGeom>
          <a:ln w="9525">
            <a:solidFill>
              <a:srgbClr val="151A22"/>
            </a:solidFill>
          </a:ln>
        </p:spPr>
      </p:cxnSp>
      <p:cxnSp>
        <p:nvCxnSpPr>
          <p:cNvPr id="11" name="Connector 10"/>
          <p:cNvCxnSpPr/>
          <p:nvPr/>
        </p:nvCxnSpPr>
        <p:spPr>
          <a:xfrm>
            <a:off x="9144000" y="0"/>
            <a:ext cx="0" cy="6858000"/>
          </a:xfrm>
          <a:prstGeom prst="line">
            <a:avLst/>
          </a:prstGeom>
          <a:ln w="9525">
            <a:solidFill>
              <a:srgbClr val="151A22"/>
            </a:solidFill>
          </a:ln>
        </p:spPr>
      </p:cxnSp>
      <p:cxnSp>
        <p:nvCxnSpPr>
          <p:cNvPr id="12" name="Connector 11"/>
          <p:cNvCxnSpPr/>
          <p:nvPr/>
        </p:nvCxnSpPr>
        <p:spPr>
          <a:xfrm>
            <a:off x="10058400" y="0"/>
            <a:ext cx="0" cy="6858000"/>
          </a:xfrm>
          <a:prstGeom prst="line">
            <a:avLst/>
          </a:prstGeom>
          <a:ln w="9525">
            <a:solidFill>
              <a:srgbClr val="151A22"/>
            </a:solidFill>
          </a:ln>
        </p:spPr>
      </p:cxnSp>
      <p:cxnSp>
        <p:nvCxnSpPr>
          <p:cNvPr id="13" name="Connector 12"/>
          <p:cNvCxnSpPr/>
          <p:nvPr/>
        </p:nvCxnSpPr>
        <p:spPr>
          <a:xfrm>
            <a:off x="10972800" y="0"/>
            <a:ext cx="0" cy="6858000"/>
          </a:xfrm>
          <a:prstGeom prst="line">
            <a:avLst/>
          </a:prstGeom>
          <a:ln w="9525">
            <a:solidFill>
              <a:srgbClr val="151A22"/>
            </a:solidFill>
          </a:ln>
        </p:spPr>
      </p:cxnSp>
      <p:cxnSp>
        <p:nvCxnSpPr>
          <p:cNvPr id="14" name="Connector 13"/>
          <p:cNvCxnSpPr/>
          <p:nvPr/>
        </p:nvCxnSpPr>
        <p:spPr>
          <a:xfrm>
            <a:off x="11887200" y="0"/>
            <a:ext cx="0" cy="6858000"/>
          </a:xfrm>
          <a:prstGeom prst="line">
            <a:avLst/>
          </a:prstGeom>
          <a:ln w="9525">
            <a:solidFill>
              <a:srgbClr val="151A22"/>
            </a:solidFill>
          </a:ln>
        </p:spPr>
      </p:cxnSp>
      <p:cxnSp>
        <p:nvCxnSpPr>
          <p:cNvPr id="15" name="Connector 14"/>
          <p:cNvCxnSpPr/>
          <p:nvPr/>
        </p:nvCxnSpPr>
        <p:spPr>
          <a:xfrm>
            <a:off x="0" y="914400"/>
            <a:ext cx="12192000" cy="0"/>
          </a:xfrm>
          <a:prstGeom prst="line">
            <a:avLst/>
          </a:prstGeom>
          <a:ln w="9525">
            <a:solidFill>
              <a:srgbClr val="151A22"/>
            </a:solidFill>
          </a:ln>
        </p:spPr>
      </p:cxnSp>
      <p:cxnSp>
        <p:nvCxnSpPr>
          <p:cNvPr id="16" name="Connector 15"/>
          <p:cNvCxnSpPr/>
          <p:nvPr/>
        </p:nvCxnSpPr>
        <p:spPr>
          <a:xfrm>
            <a:off x="0" y="1828800"/>
            <a:ext cx="12192000" cy="0"/>
          </a:xfrm>
          <a:prstGeom prst="line">
            <a:avLst/>
          </a:prstGeom>
          <a:ln w="9525">
            <a:solidFill>
              <a:srgbClr val="151A22"/>
            </a:solidFill>
          </a:ln>
        </p:spPr>
      </p:cxnSp>
      <p:cxnSp>
        <p:nvCxnSpPr>
          <p:cNvPr id="17" name="Connector 16"/>
          <p:cNvCxnSpPr/>
          <p:nvPr/>
        </p:nvCxnSpPr>
        <p:spPr>
          <a:xfrm>
            <a:off x="0" y="2743200"/>
            <a:ext cx="12192000" cy="0"/>
          </a:xfrm>
          <a:prstGeom prst="line">
            <a:avLst/>
          </a:prstGeom>
          <a:ln w="9525">
            <a:solidFill>
              <a:srgbClr val="151A22"/>
            </a:solidFill>
          </a:ln>
        </p:spPr>
      </p:cxnSp>
      <p:cxnSp>
        <p:nvCxnSpPr>
          <p:cNvPr id="18" name="Connector 17"/>
          <p:cNvCxnSpPr/>
          <p:nvPr/>
        </p:nvCxnSpPr>
        <p:spPr>
          <a:xfrm>
            <a:off x="0" y="3657600"/>
            <a:ext cx="12192000" cy="0"/>
          </a:xfrm>
          <a:prstGeom prst="line">
            <a:avLst/>
          </a:prstGeom>
          <a:ln w="9525">
            <a:solidFill>
              <a:srgbClr val="151A22"/>
            </a:solidFill>
          </a:ln>
        </p:spPr>
      </p:cxnSp>
      <p:cxnSp>
        <p:nvCxnSpPr>
          <p:cNvPr id="19" name="Connector 18"/>
          <p:cNvCxnSpPr/>
          <p:nvPr/>
        </p:nvCxnSpPr>
        <p:spPr>
          <a:xfrm>
            <a:off x="0" y="4572000"/>
            <a:ext cx="12192000" cy="0"/>
          </a:xfrm>
          <a:prstGeom prst="line">
            <a:avLst/>
          </a:prstGeom>
          <a:ln w="9525">
            <a:solidFill>
              <a:srgbClr val="151A22"/>
            </a:solidFill>
          </a:ln>
        </p:spPr>
      </p:cxnSp>
      <p:cxnSp>
        <p:nvCxnSpPr>
          <p:cNvPr id="20" name="Connector 19"/>
          <p:cNvCxnSpPr/>
          <p:nvPr/>
        </p:nvCxnSpPr>
        <p:spPr>
          <a:xfrm>
            <a:off x="0" y="5486400"/>
            <a:ext cx="12192000" cy="0"/>
          </a:xfrm>
          <a:prstGeom prst="line">
            <a:avLst/>
          </a:prstGeom>
          <a:ln w="9525">
            <a:solidFill>
              <a:srgbClr val="151A22"/>
            </a:solidFill>
          </a:ln>
        </p:spPr>
      </p:cxnSp>
      <p:cxnSp>
        <p:nvCxnSpPr>
          <p:cNvPr id="21" name="Connector 20"/>
          <p:cNvCxnSpPr/>
          <p:nvPr/>
        </p:nvCxnSpPr>
        <p:spPr>
          <a:xfrm>
            <a:off x="0" y="6400800"/>
            <a:ext cx="12192000" cy="0"/>
          </a:xfrm>
          <a:prstGeom prst="line">
            <a:avLst/>
          </a:prstGeom>
          <a:ln w="9525">
            <a:solidFill>
              <a:srgbClr val="151A22"/>
            </a:solidFill>
          </a:ln>
        </p:spPr>
      </p:cxnSp>
      <p:sp>
        <p:nvSpPr>
          <p:cNvPr id="22" name="Rectangle 2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23" name="TextBox 2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A9B3C0"/>
                </a:solidFill>
                <a:latin typeface="Arial Narrow"/>
              </a:rPr>
              <a:t>ACT 2 · VOCABULARY</a:t>
            </a:r>
          </a:p>
        </p:txBody>
      </p:sp>
      <p:sp>
        <p:nvSpPr>
          <p:cNvPr id="24" name="Rounded Rectangle 23"/>
          <p:cNvSpPr/>
          <p:nvPr/>
        </p:nvSpPr>
        <p:spPr>
          <a:xfrm>
            <a:off x="10058400" y="274320"/>
            <a:ext cx="1444752" cy="329184"/>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1500" b="1" i="0" spc="60">
                <a:solidFill>
                  <a:srgbClr val="12161C"/>
                </a:solidFill>
                <a:latin typeface="Arial"/>
              </a:rPr>
              <a:t>+100 EP</a:t>
            </a:r>
          </a:p>
        </p:txBody>
      </p:sp>
      <p:sp>
        <p:nvSpPr>
          <p:cNvPr id="25" name="TextBox 2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6F7A89"/>
                </a:solidFill>
                <a:latin typeface="Arial Narrow"/>
              </a:rPr>
              <a:t>ENERGY LAB  ·  CRASH TEST #05</a:t>
            </a:r>
          </a:p>
        </p:txBody>
      </p:sp>
      <p:sp>
        <p:nvSpPr>
          <p:cNvPr id="26" name="Rectangle 25"/>
          <p:cNvSpPr/>
          <p:nvPr/>
        </p:nvSpPr>
        <p:spPr>
          <a:xfrm>
            <a:off x="4526280" y="6510528"/>
            <a:ext cx="127363" cy="54864"/>
          </a:xfrm>
          <a:prstGeom prst="rect">
            <a:avLst/>
          </a:prstGeom>
          <a:solidFill>
            <a:srgbClr val="8A6A1A"/>
          </a:solidFill>
          <a:ln>
            <a:noFill/>
          </a:ln>
        </p:spPr>
        <p:txBody>
          <a:bodyPr rtlCol="0" anchor="ctr"/>
          <a:lstStyle/>
          <a:p>
            <a:pPr algn="ctr"/>
          </a:p>
        </p:txBody>
      </p:sp>
      <p:sp>
        <p:nvSpPr>
          <p:cNvPr id="27" name="Rectangle 26"/>
          <p:cNvSpPr/>
          <p:nvPr/>
        </p:nvSpPr>
        <p:spPr>
          <a:xfrm>
            <a:off x="4676503" y="6510528"/>
            <a:ext cx="187452" cy="54864"/>
          </a:xfrm>
          <a:prstGeom prst="rect">
            <a:avLst/>
          </a:prstGeom>
          <a:solidFill>
            <a:srgbClr val="8A6A1A"/>
          </a:solidFill>
          <a:ln>
            <a:noFill/>
          </a:ln>
        </p:spPr>
        <p:txBody>
          <a:bodyPr rtlCol="0" anchor="ctr"/>
          <a:lstStyle/>
          <a:p>
            <a:pPr algn="ctr"/>
          </a:p>
        </p:txBody>
      </p:sp>
      <p:sp>
        <p:nvSpPr>
          <p:cNvPr id="28" name="Rectangle 27"/>
          <p:cNvSpPr/>
          <p:nvPr/>
        </p:nvSpPr>
        <p:spPr>
          <a:xfrm>
            <a:off x="4886815" y="6510528"/>
            <a:ext cx="157407" cy="54864"/>
          </a:xfrm>
          <a:prstGeom prst="rect">
            <a:avLst/>
          </a:prstGeom>
          <a:solidFill>
            <a:srgbClr val="8A6A1A"/>
          </a:solidFill>
          <a:ln>
            <a:noFill/>
          </a:ln>
        </p:spPr>
        <p:txBody>
          <a:bodyPr rtlCol="0" anchor="ctr"/>
          <a:lstStyle/>
          <a:p>
            <a:pPr algn="ctr"/>
          </a:p>
        </p:txBody>
      </p:sp>
      <p:sp>
        <p:nvSpPr>
          <p:cNvPr id="29" name="Rectangle 28"/>
          <p:cNvSpPr/>
          <p:nvPr/>
        </p:nvSpPr>
        <p:spPr>
          <a:xfrm>
            <a:off x="5067082" y="6510528"/>
            <a:ext cx="337675" cy="54864"/>
          </a:xfrm>
          <a:prstGeom prst="rect">
            <a:avLst/>
          </a:prstGeom>
          <a:solidFill>
            <a:srgbClr val="8A6A1A"/>
          </a:solidFill>
          <a:ln>
            <a:noFill/>
          </a:ln>
        </p:spPr>
        <p:txBody>
          <a:bodyPr rtlCol="0" anchor="ctr"/>
          <a:lstStyle/>
          <a:p>
            <a:pPr algn="ctr"/>
          </a:p>
        </p:txBody>
      </p:sp>
      <p:sp>
        <p:nvSpPr>
          <p:cNvPr id="30" name="Rectangle 29"/>
          <p:cNvSpPr/>
          <p:nvPr/>
        </p:nvSpPr>
        <p:spPr>
          <a:xfrm>
            <a:off x="5427617" y="6510528"/>
            <a:ext cx="247541" cy="54864"/>
          </a:xfrm>
          <a:prstGeom prst="rect">
            <a:avLst/>
          </a:prstGeom>
          <a:solidFill>
            <a:srgbClr val="FFB400"/>
          </a:solidFill>
          <a:ln>
            <a:noFill/>
          </a:ln>
        </p:spPr>
        <p:txBody>
          <a:bodyPr rtlCol="0" anchor="ctr"/>
          <a:lstStyle/>
          <a:p>
            <a:pPr algn="ctr"/>
          </a:p>
        </p:txBody>
      </p:sp>
      <p:sp>
        <p:nvSpPr>
          <p:cNvPr id="31" name="Rectangle 30"/>
          <p:cNvSpPr/>
          <p:nvPr/>
        </p:nvSpPr>
        <p:spPr>
          <a:xfrm>
            <a:off x="5698018" y="6510528"/>
            <a:ext cx="67274" cy="54864"/>
          </a:xfrm>
          <a:prstGeom prst="rect">
            <a:avLst/>
          </a:prstGeom>
          <a:solidFill>
            <a:srgbClr val="2A3240"/>
          </a:solidFill>
          <a:ln>
            <a:noFill/>
          </a:ln>
        </p:spPr>
        <p:txBody>
          <a:bodyPr rtlCol="0" anchor="ctr"/>
          <a:lstStyle/>
          <a:p>
            <a:pPr algn="ctr"/>
          </a:p>
        </p:txBody>
      </p:sp>
      <p:sp>
        <p:nvSpPr>
          <p:cNvPr id="32" name="Rectangle 31"/>
          <p:cNvSpPr/>
          <p:nvPr/>
        </p:nvSpPr>
        <p:spPr>
          <a:xfrm>
            <a:off x="5788152" y="6510528"/>
            <a:ext cx="397764" cy="54864"/>
          </a:xfrm>
          <a:prstGeom prst="rect">
            <a:avLst/>
          </a:prstGeom>
          <a:solidFill>
            <a:srgbClr val="2A3240"/>
          </a:solidFill>
          <a:ln>
            <a:noFill/>
          </a:ln>
        </p:spPr>
        <p:txBody>
          <a:bodyPr rtlCol="0" anchor="ctr"/>
          <a:lstStyle/>
          <a:p>
            <a:pPr algn="ctr"/>
          </a:p>
        </p:txBody>
      </p:sp>
      <p:sp>
        <p:nvSpPr>
          <p:cNvPr id="33" name="Rectangle 32"/>
          <p:cNvSpPr/>
          <p:nvPr/>
        </p:nvSpPr>
        <p:spPr>
          <a:xfrm>
            <a:off x="6208776" y="6510528"/>
            <a:ext cx="187452" cy="54864"/>
          </a:xfrm>
          <a:prstGeom prst="rect">
            <a:avLst/>
          </a:prstGeom>
          <a:solidFill>
            <a:srgbClr val="2A3240"/>
          </a:solidFill>
          <a:ln>
            <a:noFill/>
          </a:ln>
        </p:spPr>
        <p:txBody>
          <a:bodyPr rtlCol="0" anchor="ctr"/>
          <a:lstStyle/>
          <a:p>
            <a:pPr algn="ctr"/>
          </a:p>
        </p:txBody>
      </p:sp>
      <p:sp>
        <p:nvSpPr>
          <p:cNvPr id="34" name="Rectangle 33"/>
          <p:cNvSpPr/>
          <p:nvPr/>
        </p:nvSpPr>
        <p:spPr>
          <a:xfrm>
            <a:off x="6419088" y="6510528"/>
            <a:ext cx="367719" cy="54864"/>
          </a:xfrm>
          <a:prstGeom prst="rect">
            <a:avLst/>
          </a:prstGeom>
          <a:solidFill>
            <a:srgbClr val="2A3240"/>
          </a:solidFill>
          <a:ln>
            <a:noFill/>
          </a:ln>
        </p:spPr>
        <p:txBody>
          <a:bodyPr rtlCol="0" anchor="ctr"/>
          <a:lstStyle/>
          <a:p>
            <a:pPr algn="ctr"/>
          </a:p>
        </p:txBody>
      </p:sp>
      <p:sp>
        <p:nvSpPr>
          <p:cNvPr id="35" name="Rectangle 34"/>
          <p:cNvSpPr/>
          <p:nvPr/>
        </p:nvSpPr>
        <p:spPr>
          <a:xfrm>
            <a:off x="6809667" y="6510528"/>
            <a:ext cx="157407" cy="54864"/>
          </a:xfrm>
          <a:prstGeom prst="rect">
            <a:avLst/>
          </a:prstGeom>
          <a:solidFill>
            <a:srgbClr val="2A3240"/>
          </a:solidFill>
          <a:ln>
            <a:noFill/>
          </a:ln>
        </p:spPr>
        <p:txBody>
          <a:bodyPr rtlCol="0" anchor="ctr"/>
          <a:lstStyle/>
          <a:p>
            <a:pPr algn="ctr"/>
          </a:p>
        </p:txBody>
      </p:sp>
      <p:sp>
        <p:nvSpPr>
          <p:cNvPr id="36" name="Rectangle 35"/>
          <p:cNvSpPr/>
          <p:nvPr/>
        </p:nvSpPr>
        <p:spPr>
          <a:xfrm>
            <a:off x="6989935" y="6510528"/>
            <a:ext cx="217497" cy="54864"/>
          </a:xfrm>
          <a:prstGeom prst="rect">
            <a:avLst/>
          </a:prstGeom>
          <a:solidFill>
            <a:srgbClr val="2A3240"/>
          </a:solidFill>
          <a:ln>
            <a:noFill/>
          </a:ln>
        </p:spPr>
        <p:txBody>
          <a:bodyPr rtlCol="0" anchor="ctr"/>
          <a:lstStyle/>
          <a:p>
            <a:pPr algn="ctr"/>
          </a:p>
        </p:txBody>
      </p:sp>
      <p:sp>
        <p:nvSpPr>
          <p:cNvPr id="37" name="Rectangle 36"/>
          <p:cNvSpPr/>
          <p:nvPr/>
        </p:nvSpPr>
        <p:spPr>
          <a:xfrm>
            <a:off x="7230291" y="6510528"/>
            <a:ext cx="217497" cy="54864"/>
          </a:xfrm>
          <a:prstGeom prst="rect">
            <a:avLst/>
          </a:prstGeom>
          <a:solidFill>
            <a:srgbClr val="2A3240"/>
          </a:solidFill>
          <a:ln>
            <a:noFill/>
          </a:ln>
        </p:spPr>
        <p:txBody>
          <a:bodyPr rtlCol="0" anchor="ctr"/>
          <a:lstStyle/>
          <a:p>
            <a:pPr algn="ctr"/>
          </a:p>
        </p:txBody>
      </p:sp>
      <p:sp>
        <p:nvSpPr>
          <p:cNvPr id="38" name="Rectangle 37"/>
          <p:cNvSpPr/>
          <p:nvPr/>
        </p:nvSpPr>
        <p:spPr>
          <a:xfrm>
            <a:off x="7470648" y="6510528"/>
            <a:ext cx="97318" cy="54864"/>
          </a:xfrm>
          <a:prstGeom prst="rect">
            <a:avLst/>
          </a:prstGeom>
          <a:solidFill>
            <a:srgbClr val="2A3240"/>
          </a:solidFill>
          <a:ln>
            <a:noFill/>
          </a:ln>
        </p:spPr>
        <p:txBody>
          <a:bodyPr rtlCol="0" anchor="ctr"/>
          <a:lstStyle/>
          <a:p>
            <a:pPr algn="ctr"/>
          </a:p>
        </p:txBody>
      </p:sp>
      <p:sp>
        <p:nvSpPr>
          <p:cNvPr id="39" name="Rectangle 38"/>
          <p:cNvSpPr/>
          <p:nvPr/>
        </p:nvSpPr>
        <p:spPr>
          <a:xfrm>
            <a:off x="7590826" y="6510528"/>
            <a:ext cx="67274" cy="54864"/>
          </a:xfrm>
          <a:prstGeom prst="rect">
            <a:avLst/>
          </a:prstGeom>
          <a:solidFill>
            <a:srgbClr val="2A3240"/>
          </a:solidFill>
          <a:ln>
            <a:noFill/>
          </a:ln>
        </p:spPr>
        <p:txBody>
          <a:bodyPr rtlCol="0" anchor="ctr"/>
          <a:lstStyle/>
          <a:p>
            <a:pPr algn="ctr"/>
          </a:p>
        </p:txBody>
      </p:sp>
      <p:sp>
        <p:nvSpPr>
          <p:cNvPr id="40" name="TextBox 3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6F7A89"/>
                </a:solidFill>
                <a:latin typeface="Arial Narrow"/>
              </a:rPr>
              <a:t>31</a:t>
            </a:fld>
          </a:p>
        </p:txBody>
      </p:sp>
      <p:sp>
        <p:nvSpPr>
          <p:cNvPr id="41" name="TextBox 40"/>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A9B3C0"/>
                </a:solidFill>
                <a:latin typeface="Arial Narrow"/>
              </a:rPr>
              <a:t>GAME 2 · ONLINE VOCABULARY BATTLE</a:t>
            </a:r>
          </a:p>
        </p:txBody>
      </p:sp>
      <p:sp>
        <p:nvSpPr>
          <p:cNvPr id="42" name="TextBox 41"/>
          <p:cNvSpPr txBox="1"/>
          <p:nvPr/>
        </p:nvSpPr>
        <p:spPr>
          <a:xfrm>
            <a:off x="685800" y="1188720"/>
            <a:ext cx="10789920" cy="1005840"/>
          </a:xfrm>
          <a:prstGeom prst="rect">
            <a:avLst/>
          </a:prstGeom>
          <a:noFill/>
        </p:spPr>
        <p:txBody>
          <a:bodyPr wrap="square" anchor="t" lIns="0" rIns="0" tIns="0" bIns="0">
            <a:noAutofit/>
          </a:bodyPr>
          <a:lstStyle/>
          <a:p>
            <a:pPr algn="l">
              <a:lnSpc>
                <a:spcPct val="100000"/>
              </a:lnSpc>
              <a:spcBef>
                <a:spcPts val="0"/>
              </a:spcBef>
              <a:spcAft>
                <a:spcPts val="0"/>
              </a:spcAft>
            </a:pPr>
            <a:r>
              <a:rPr sz="4600" b="0" i="0">
                <a:solidFill>
                  <a:srgbClr val="F4F6F8"/>
                </a:solidFill>
                <a:latin typeface="Arial Black"/>
              </a:rPr>
              <a:t>TEN WORDS. ONE BATTLE.</a:t>
            </a:r>
          </a:p>
        </p:txBody>
      </p:sp>
      <p:sp>
        <p:nvSpPr>
          <p:cNvPr id="43" name="Rounded Rectangle 42"/>
          <p:cNvSpPr/>
          <p:nvPr/>
        </p:nvSpPr>
        <p:spPr>
          <a:xfrm>
            <a:off x="685800" y="2286000"/>
            <a:ext cx="3456432" cy="2331720"/>
          </a:xfrm>
          <a:prstGeom prst="roundRect">
            <a:avLst>
              <a:gd name="adj" fmla="val 5490"/>
            </a:avLst>
          </a:prstGeom>
          <a:solidFill>
            <a:srgbClr val="1A2029"/>
          </a:solidFill>
          <a:ln w="19050">
            <a:solidFill>
              <a:srgbClr val="323C4A"/>
            </a:solidFill>
          </a:ln>
        </p:spPr>
        <p:txBody>
          <a:bodyPr rtlCol="0" anchor="ctr"/>
          <a:lstStyle/>
          <a:p>
            <a:pPr algn="ctr"/>
          </a:p>
        </p:txBody>
      </p:sp>
      <p:sp>
        <p:nvSpPr>
          <p:cNvPr id="44" name="Rounded Rectangle 43"/>
          <p:cNvSpPr/>
          <p:nvPr/>
        </p:nvSpPr>
        <p:spPr>
          <a:xfrm>
            <a:off x="960120" y="2560320"/>
            <a:ext cx="731520" cy="731520"/>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2800" b="1" i="0">
                <a:solidFill>
                  <a:srgbClr val="12161C"/>
                </a:solidFill>
                <a:latin typeface="Arial Black"/>
              </a:rPr>
              <a:t>1</a:t>
            </a:r>
          </a:p>
        </p:txBody>
      </p:sp>
      <p:sp>
        <p:nvSpPr>
          <p:cNvPr id="45" name="TextBox 44"/>
          <p:cNvSpPr txBox="1"/>
          <p:nvPr/>
        </p:nvSpPr>
        <p:spPr>
          <a:xfrm>
            <a:off x="960120" y="3429000"/>
            <a:ext cx="2926080" cy="457200"/>
          </a:xfrm>
          <a:prstGeom prst="rect">
            <a:avLst/>
          </a:prstGeom>
          <a:noFill/>
        </p:spPr>
        <p:txBody>
          <a:bodyPr wrap="square" anchor="t" lIns="0" rIns="0" tIns="0" bIns="0">
            <a:noAutofit/>
          </a:bodyPr>
          <a:lstStyle/>
          <a:p>
            <a:pPr algn="l">
              <a:lnSpc>
                <a:spcPct val="100000"/>
              </a:lnSpc>
              <a:spcBef>
                <a:spcPts val="0"/>
              </a:spcBef>
              <a:spcAft>
                <a:spcPts val="0"/>
              </a:spcAft>
            </a:pPr>
            <a:r>
              <a:rPr sz="2200" b="0" i="0">
                <a:solidFill>
                  <a:srgbClr val="F4F6F8"/>
                </a:solidFill>
                <a:latin typeface="Arial Black"/>
              </a:rPr>
              <a:t>SCAN</a:t>
            </a:r>
          </a:p>
        </p:txBody>
      </p:sp>
      <p:sp>
        <p:nvSpPr>
          <p:cNvPr id="46" name="TextBox 45"/>
          <p:cNvSpPr txBox="1"/>
          <p:nvPr/>
        </p:nvSpPr>
        <p:spPr>
          <a:xfrm>
            <a:off x="960120" y="3886200"/>
            <a:ext cx="2926080" cy="640080"/>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A9B3C0"/>
                </a:solidFill>
                <a:latin typeface="Arial"/>
              </a:rPr>
              <a:t>Point your phone camera at the QR code.</a:t>
            </a:r>
          </a:p>
        </p:txBody>
      </p:sp>
      <p:sp>
        <p:nvSpPr>
          <p:cNvPr id="47" name="Rounded Rectangle 46"/>
          <p:cNvSpPr/>
          <p:nvPr/>
        </p:nvSpPr>
        <p:spPr>
          <a:xfrm>
            <a:off x="4370832" y="2286000"/>
            <a:ext cx="3456432" cy="2331720"/>
          </a:xfrm>
          <a:prstGeom prst="roundRect">
            <a:avLst>
              <a:gd name="adj" fmla="val 5490"/>
            </a:avLst>
          </a:prstGeom>
          <a:solidFill>
            <a:srgbClr val="1A2029"/>
          </a:solidFill>
          <a:ln w="19050">
            <a:solidFill>
              <a:srgbClr val="323C4A"/>
            </a:solidFill>
          </a:ln>
        </p:spPr>
        <p:txBody>
          <a:bodyPr rtlCol="0" anchor="ctr"/>
          <a:lstStyle/>
          <a:p>
            <a:pPr algn="ctr"/>
          </a:p>
        </p:txBody>
      </p:sp>
      <p:sp>
        <p:nvSpPr>
          <p:cNvPr id="48" name="Rounded Rectangle 47"/>
          <p:cNvSpPr/>
          <p:nvPr/>
        </p:nvSpPr>
        <p:spPr>
          <a:xfrm>
            <a:off x="4645152" y="2560320"/>
            <a:ext cx="731520" cy="731520"/>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2800" b="1" i="0">
                <a:solidFill>
                  <a:srgbClr val="12161C"/>
                </a:solidFill>
                <a:latin typeface="Arial Black"/>
              </a:rPr>
              <a:t>2</a:t>
            </a:r>
          </a:p>
        </p:txBody>
      </p:sp>
      <p:sp>
        <p:nvSpPr>
          <p:cNvPr id="49" name="TextBox 48"/>
          <p:cNvSpPr txBox="1"/>
          <p:nvPr/>
        </p:nvSpPr>
        <p:spPr>
          <a:xfrm>
            <a:off x="4645152" y="3429000"/>
            <a:ext cx="2926080" cy="457200"/>
          </a:xfrm>
          <a:prstGeom prst="rect">
            <a:avLst/>
          </a:prstGeom>
          <a:noFill/>
        </p:spPr>
        <p:txBody>
          <a:bodyPr wrap="square" anchor="t" lIns="0" rIns="0" tIns="0" bIns="0">
            <a:noAutofit/>
          </a:bodyPr>
          <a:lstStyle/>
          <a:p>
            <a:pPr algn="l">
              <a:lnSpc>
                <a:spcPct val="100000"/>
              </a:lnSpc>
              <a:spcBef>
                <a:spcPts val="0"/>
              </a:spcBef>
              <a:spcAft>
                <a:spcPts val="0"/>
              </a:spcAft>
            </a:pPr>
            <a:r>
              <a:rPr sz="2200" b="0" i="0">
                <a:solidFill>
                  <a:srgbClr val="F4F6F8"/>
                </a:solidFill>
                <a:latin typeface="Arial Black"/>
              </a:rPr>
              <a:t>JOIN</a:t>
            </a:r>
          </a:p>
        </p:txBody>
      </p:sp>
      <p:sp>
        <p:nvSpPr>
          <p:cNvPr id="50" name="TextBox 49"/>
          <p:cNvSpPr txBox="1"/>
          <p:nvPr/>
        </p:nvSpPr>
        <p:spPr>
          <a:xfrm>
            <a:off x="4645152" y="3886200"/>
            <a:ext cx="2926080" cy="640080"/>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A9B3C0"/>
                </a:solidFill>
                <a:latin typeface="Arial"/>
              </a:rPr>
              <a:t>Enter the game PIN shown on screen.</a:t>
            </a:r>
          </a:p>
        </p:txBody>
      </p:sp>
      <p:sp>
        <p:nvSpPr>
          <p:cNvPr id="51" name="Rounded Rectangle 50"/>
          <p:cNvSpPr/>
          <p:nvPr/>
        </p:nvSpPr>
        <p:spPr>
          <a:xfrm>
            <a:off x="8055864" y="2286000"/>
            <a:ext cx="3456432" cy="2331720"/>
          </a:xfrm>
          <a:prstGeom prst="roundRect">
            <a:avLst>
              <a:gd name="adj" fmla="val 5490"/>
            </a:avLst>
          </a:prstGeom>
          <a:solidFill>
            <a:srgbClr val="1A2029"/>
          </a:solidFill>
          <a:ln w="19050">
            <a:solidFill>
              <a:srgbClr val="323C4A"/>
            </a:solidFill>
          </a:ln>
        </p:spPr>
        <p:txBody>
          <a:bodyPr rtlCol="0" anchor="ctr"/>
          <a:lstStyle/>
          <a:p>
            <a:pPr algn="ctr"/>
          </a:p>
        </p:txBody>
      </p:sp>
      <p:sp>
        <p:nvSpPr>
          <p:cNvPr id="52" name="Rounded Rectangle 51"/>
          <p:cNvSpPr/>
          <p:nvPr/>
        </p:nvSpPr>
        <p:spPr>
          <a:xfrm>
            <a:off x="8330184" y="2560320"/>
            <a:ext cx="731520" cy="731520"/>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2800" b="1" i="0">
                <a:solidFill>
                  <a:srgbClr val="12161C"/>
                </a:solidFill>
                <a:latin typeface="Arial Black"/>
              </a:rPr>
              <a:t>3</a:t>
            </a:r>
          </a:p>
        </p:txBody>
      </p:sp>
      <p:sp>
        <p:nvSpPr>
          <p:cNvPr id="53" name="TextBox 52"/>
          <p:cNvSpPr txBox="1"/>
          <p:nvPr/>
        </p:nvSpPr>
        <p:spPr>
          <a:xfrm>
            <a:off x="8330184" y="3429000"/>
            <a:ext cx="2926080" cy="457200"/>
          </a:xfrm>
          <a:prstGeom prst="rect">
            <a:avLst/>
          </a:prstGeom>
          <a:noFill/>
        </p:spPr>
        <p:txBody>
          <a:bodyPr wrap="square" anchor="t" lIns="0" rIns="0" tIns="0" bIns="0">
            <a:noAutofit/>
          </a:bodyPr>
          <a:lstStyle/>
          <a:p>
            <a:pPr algn="l">
              <a:lnSpc>
                <a:spcPct val="100000"/>
              </a:lnSpc>
              <a:spcBef>
                <a:spcPts val="0"/>
              </a:spcBef>
              <a:spcAft>
                <a:spcPts val="0"/>
              </a:spcAft>
            </a:pPr>
            <a:r>
              <a:rPr sz="2200" b="0" i="0">
                <a:solidFill>
                  <a:srgbClr val="F4F6F8"/>
                </a:solidFill>
                <a:latin typeface="Arial Black"/>
              </a:rPr>
              <a:t>ANSWER FAST</a:t>
            </a:r>
          </a:p>
        </p:txBody>
      </p:sp>
      <p:sp>
        <p:nvSpPr>
          <p:cNvPr id="54" name="TextBox 53"/>
          <p:cNvSpPr txBox="1"/>
          <p:nvPr/>
        </p:nvSpPr>
        <p:spPr>
          <a:xfrm>
            <a:off x="8330184" y="3886200"/>
            <a:ext cx="2926080" cy="640080"/>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A9B3C0"/>
                </a:solidFill>
                <a:latin typeface="Arial"/>
              </a:rPr>
              <a:t>Speed adds bonus points on top of your team's EP.</a:t>
            </a:r>
          </a:p>
        </p:txBody>
      </p:sp>
      <p:sp>
        <p:nvSpPr>
          <p:cNvPr id="55" name="TextBox 54"/>
          <p:cNvSpPr txBox="1"/>
          <p:nvPr/>
        </p:nvSpPr>
        <p:spPr>
          <a:xfrm>
            <a:off x="685800" y="4892040"/>
            <a:ext cx="10817352" cy="822960"/>
          </a:xfrm>
          <a:prstGeom prst="rect">
            <a:avLst/>
          </a:prstGeom>
          <a:noFill/>
        </p:spPr>
        <p:txBody>
          <a:bodyPr wrap="square" anchor="t" lIns="0" rIns="0" tIns="0" bIns="0">
            <a:noAutofit/>
          </a:bodyPr>
          <a:lstStyle/>
          <a:p>
            <a:pPr algn="l">
              <a:lnSpc>
                <a:spcPct val="100000"/>
              </a:lnSpc>
              <a:spcBef>
                <a:spcPts val="0"/>
              </a:spcBef>
              <a:spcAft>
                <a:spcPts val="0"/>
              </a:spcAft>
            </a:pPr>
            <a:r>
              <a:rPr sz="1800" b="0" i="1">
                <a:solidFill>
                  <a:srgbClr val="A9B3C0"/>
                </a:solidFill>
                <a:latin typeface="Arial"/>
              </a:rPr>
              <a:t>8 questions · decelerate · stopping distance · kinetic/potential energy · force · work · transfer · abstract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A9B3C0"/>
                </a:solidFill>
                <a:latin typeface="Arial Narrow"/>
              </a:rPr>
              <a:t>ACT 2 · VOCABULARY</a:t>
            </a:r>
          </a:p>
        </p:txBody>
      </p:sp>
      <p:sp>
        <p:nvSpPr>
          <p:cNvPr id="4" name="Rounded Rectangle 3"/>
          <p:cNvSpPr/>
          <p:nvPr/>
        </p:nvSpPr>
        <p:spPr>
          <a:xfrm>
            <a:off x="10058400" y="274320"/>
            <a:ext cx="1444752" cy="329184"/>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1500" b="1" i="0" spc="60">
                <a:solidFill>
                  <a:srgbClr val="12161C"/>
                </a:solidFill>
                <a:latin typeface="Arial"/>
              </a:rPr>
              <a:t>+100 EP</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6F7A89"/>
                </a:solidFill>
                <a:latin typeface="Arial Narrow"/>
              </a:rPr>
              <a:t>ENERGY LAB  ·  CRASH TEST #05</a:t>
            </a:r>
          </a:p>
        </p:txBody>
      </p:sp>
      <p:sp>
        <p:nvSpPr>
          <p:cNvPr id="6" name="Rectangle 5"/>
          <p:cNvSpPr/>
          <p:nvPr/>
        </p:nvSpPr>
        <p:spPr>
          <a:xfrm>
            <a:off x="4526280" y="6510528"/>
            <a:ext cx="127363" cy="54864"/>
          </a:xfrm>
          <a:prstGeom prst="rect">
            <a:avLst/>
          </a:prstGeom>
          <a:solidFill>
            <a:srgbClr val="8A6A1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8A6A1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8A6A1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8A6A1A"/>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FFB400"/>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2A3240"/>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2A3240"/>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2A3240"/>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2A3240"/>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2A3240"/>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2A3240"/>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2A3240"/>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2A3240"/>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2A3240"/>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6F7A89"/>
                </a:solidFill>
                <a:latin typeface="Arial Narrow"/>
              </a:rPr>
              <a:t>32</a:t>
            </a:fld>
          </a:p>
        </p:txBody>
      </p:sp>
      <p:sp>
        <p:nvSpPr>
          <p:cNvPr id="21" name="TextBox 20"/>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A9B3C0"/>
                </a:solidFill>
                <a:latin typeface="Arial Narrow"/>
              </a:rPr>
              <a:t>GAME 2 · LIVE NOW</a:t>
            </a:r>
          </a:p>
        </p:txBody>
      </p:sp>
      <p:sp>
        <p:nvSpPr>
          <p:cNvPr id="22" name="Rounded Rectangle 21"/>
          <p:cNvSpPr/>
          <p:nvPr/>
        </p:nvSpPr>
        <p:spPr>
          <a:xfrm>
            <a:off x="685800" y="1417320"/>
            <a:ext cx="5120640" cy="4709160"/>
          </a:xfrm>
          <a:prstGeom prst="roundRect">
            <a:avLst>
              <a:gd name="adj" fmla="val 3106"/>
            </a:avLst>
          </a:prstGeom>
          <a:solidFill>
            <a:srgbClr val="1A2029"/>
          </a:solidFill>
          <a:ln w="25400">
            <a:solidFill>
              <a:srgbClr val="FFB400"/>
            </a:solidFill>
          </a:ln>
        </p:spPr>
        <p:txBody>
          <a:bodyPr rtlCol="0" anchor="ctr"/>
          <a:lstStyle/>
          <a:p>
            <a:pPr algn="ctr"/>
          </a:p>
        </p:txBody>
      </p:sp>
      <p:sp>
        <p:nvSpPr>
          <p:cNvPr id="23" name="Rounded Rectangle 22"/>
          <p:cNvSpPr/>
          <p:nvPr/>
        </p:nvSpPr>
        <p:spPr>
          <a:xfrm>
            <a:off x="1234440" y="1965960"/>
            <a:ext cx="4023360" cy="4023360"/>
          </a:xfrm>
          <a:prstGeom prst="roundRect">
            <a:avLst>
              <a:gd name="adj" fmla="val 2272"/>
            </a:avLst>
          </a:prstGeom>
          <a:solidFill>
            <a:srgbClr val="FFFFFF"/>
          </a:solidFill>
          <a:ln>
            <a:noFill/>
          </a:ln>
        </p:spPr>
        <p:txBody>
          <a:bodyPr rtlCol="0" anchor="ctr"/>
          <a:lstStyle/>
          <a:p>
            <a:pPr algn="ctr"/>
          </a:p>
        </p:txBody>
      </p:sp>
      <p:sp>
        <p:nvSpPr>
          <p:cNvPr id="24" name="Rectangle 23"/>
          <p:cNvSpPr/>
          <p:nvPr/>
        </p:nvSpPr>
        <p:spPr>
          <a:xfrm>
            <a:off x="1554480" y="2286000"/>
            <a:ext cx="457200" cy="457200"/>
          </a:xfrm>
          <a:prstGeom prst="rect">
            <a:avLst/>
          </a:prstGeom>
          <a:solidFill>
            <a:srgbClr val="0E1116"/>
          </a:solidFill>
          <a:ln>
            <a:noFill/>
          </a:ln>
        </p:spPr>
        <p:txBody>
          <a:bodyPr rtlCol="0" anchor="ctr"/>
          <a:lstStyle/>
          <a:p>
            <a:pPr algn="ctr"/>
          </a:p>
        </p:txBody>
      </p:sp>
      <p:sp>
        <p:nvSpPr>
          <p:cNvPr id="25" name="Rectangle 24"/>
          <p:cNvSpPr/>
          <p:nvPr/>
        </p:nvSpPr>
        <p:spPr>
          <a:xfrm>
            <a:off x="1554480" y="5029200"/>
            <a:ext cx="457200" cy="457200"/>
          </a:xfrm>
          <a:prstGeom prst="rect">
            <a:avLst/>
          </a:prstGeom>
          <a:solidFill>
            <a:srgbClr val="0E1116"/>
          </a:solidFill>
          <a:ln>
            <a:noFill/>
          </a:ln>
        </p:spPr>
        <p:txBody>
          <a:bodyPr rtlCol="0" anchor="ctr"/>
          <a:lstStyle/>
          <a:p>
            <a:pPr algn="ctr"/>
          </a:p>
        </p:txBody>
      </p:sp>
      <p:sp>
        <p:nvSpPr>
          <p:cNvPr id="26" name="Rectangle 25"/>
          <p:cNvSpPr/>
          <p:nvPr/>
        </p:nvSpPr>
        <p:spPr>
          <a:xfrm>
            <a:off x="2103120" y="5029200"/>
            <a:ext cx="457200" cy="457200"/>
          </a:xfrm>
          <a:prstGeom prst="rect">
            <a:avLst/>
          </a:prstGeom>
          <a:solidFill>
            <a:srgbClr val="0E1116"/>
          </a:solidFill>
          <a:ln>
            <a:noFill/>
          </a:ln>
        </p:spPr>
        <p:txBody>
          <a:bodyPr rtlCol="0" anchor="ctr"/>
          <a:lstStyle/>
          <a:p>
            <a:pPr algn="ctr"/>
          </a:p>
        </p:txBody>
      </p:sp>
      <p:sp>
        <p:nvSpPr>
          <p:cNvPr id="27" name="Rectangle 26"/>
          <p:cNvSpPr/>
          <p:nvPr/>
        </p:nvSpPr>
        <p:spPr>
          <a:xfrm>
            <a:off x="3749040" y="5029200"/>
            <a:ext cx="457200" cy="457200"/>
          </a:xfrm>
          <a:prstGeom prst="rect">
            <a:avLst/>
          </a:prstGeom>
          <a:solidFill>
            <a:srgbClr val="0E1116"/>
          </a:solidFill>
          <a:ln>
            <a:noFill/>
          </a:ln>
        </p:spPr>
        <p:txBody>
          <a:bodyPr rtlCol="0" anchor="ctr"/>
          <a:lstStyle/>
          <a:p>
            <a:pPr algn="ctr"/>
          </a:p>
        </p:txBody>
      </p:sp>
      <p:sp>
        <p:nvSpPr>
          <p:cNvPr id="28" name="Rectangle 27"/>
          <p:cNvSpPr/>
          <p:nvPr/>
        </p:nvSpPr>
        <p:spPr>
          <a:xfrm>
            <a:off x="4297680" y="2286000"/>
            <a:ext cx="457200" cy="457200"/>
          </a:xfrm>
          <a:prstGeom prst="rect">
            <a:avLst/>
          </a:prstGeom>
          <a:solidFill>
            <a:srgbClr val="0E1116"/>
          </a:solidFill>
          <a:ln>
            <a:noFill/>
          </a:ln>
        </p:spPr>
        <p:txBody>
          <a:bodyPr rtlCol="0" anchor="ctr"/>
          <a:lstStyle/>
          <a:p>
            <a:pPr algn="ctr"/>
          </a:p>
        </p:txBody>
      </p:sp>
      <p:sp>
        <p:nvSpPr>
          <p:cNvPr id="29" name="Rectangle 28"/>
          <p:cNvSpPr/>
          <p:nvPr/>
        </p:nvSpPr>
        <p:spPr>
          <a:xfrm>
            <a:off x="4297680" y="2834640"/>
            <a:ext cx="457200" cy="457200"/>
          </a:xfrm>
          <a:prstGeom prst="rect">
            <a:avLst/>
          </a:prstGeom>
          <a:solidFill>
            <a:srgbClr val="0E1116"/>
          </a:solidFill>
          <a:ln>
            <a:noFill/>
          </a:ln>
        </p:spPr>
        <p:txBody>
          <a:bodyPr rtlCol="0" anchor="ctr"/>
          <a:lstStyle/>
          <a:p>
            <a:pPr algn="ctr"/>
          </a:p>
        </p:txBody>
      </p:sp>
      <p:sp>
        <p:nvSpPr>
          <p:cNvPr id="30" name="Rectangle 29"/>
          <p:cNvSpPr/>
          <p:nvPr/>
        </p:nvSpPr>
        <p:spPr>
          <a:xfrm>
            <a:off x="4297680" y="4480560"/>
            <a:ext cx="457200" cy="457200"/>
          </a:xfrm>
          <a:prstGeom prst="rect">
            <a:avLst/>
          </a:prstGeom>
          <a:solidFill>
            <a:srgbClr val="0E1116"/>
          </a:solidFill>
          <a:ln>
            <a:noFill/>
          </a:ln>
        </p:spPr>
        <p:txBody>
          <a:bodyPr rtlCol="0" anchor="ctr"/>
          <a:lstStyle/>
          <a:p>
            <a:pPr algn="ctr"/>
          </a:p>
        </p:txBody>
      </p:sp>
      <p:sp>
        <p:nvSpPr>
          <p:cNvPr id="31" name="Rectangle 30"/>
          <p:cNvSpPr/>
          <p:nvPr/>
        </p:nvSpPr>
        <p:spPr>
          <a:xfrm>
            <a:off x="2880360" y="3611880"/>
            <a:ext cx="731520" cy="731520"/>
          </a:xfrm>
          <a:prstGeom prst="rect">
            <a:avLst/>
          </a:prstGeom>
          <a:solidFill>
            <a:srgbClr val="0E1116"/>
          </a:solidFill>
          <a:ln>
            <a:noFill/>
          </a:ln>
        </p:spPr>
        <p:txBody>
          <a:bodyPr rtlCol="0" anchor="ctr"/>
          <a:lstStyle/>
          <a:p>
            <a:pPr algn="ctr"/>
          </a:p>
        </p:txBody>
      </p:sp>
      <p:sp>
        <p:nvSpPr>
          <p:cNvPr id="32" name="TextBox 31"/>
          <p:cNvSpPr txBox="1"/>
          <p:nvPr/>
        </p:nvSpPr>
        <p:spPr>
          <a:xfrm>
            <a:off x="1234440" y="5623560"/>
            <a:ext cx="4023360" cy="365760"/>
          </a:xfrm>
          <a:prstGeom prst="rect">
            <a:avLst/>
          </a:prstGeom>
          <a:noFill/>
        </p:spPr>
        <p:txBody>
          <a:bodyPr wrap="square" anchor="t" lIns="0" rIns="0" tIns="0" bIns="0">
            <a:noAutofit/>
          </a:bodyPr>
          <a:lstStyle/>
          <a:p>
            <a:pPr algn="ctr">
              <a:lnSpc>
                <a:spcPct val="100000"/>
              </a:lnSpc>
              <a:spcBef>
                <a:spcPts val="0"/>
              </a:spcBef>
              <a:spcAft>
                <a:spcPts val="0"/>
              </a:spcAft>
            </a:pPr>
            <a:r>
              <a:rPr sz="1500" b="1" i="0" spc="100">
                <a:solidFill>
                  <a:srgbClr val="FFB400"/>
                </a:solidFill>
                <a:latin typeface="Arial Narrow"/>
              </a:rPr>
              <a:t>[ INSERT LIVE QUIZ QR CODE HERE ]</a:t>
            </a:r>
          </a:p>
        </p:txBody>
      </p:sp>
      <p:sp>
        <p:nvSpPr>
          <p:cNvPr id="33" name="Rounded Rectangle 32"/>
          <p:cNvSpPr/>
          <p:nvPr/>
        </p:nvSpPr>
        <p:spPr>
          <a:xfrm>
            <a:off x="6035040" y="1417320"/>
            <a:ext cx="5010912" cy="4709160"/>
          </a:xfrm>
          <a:prstGeom prst="roundRect">
            <a:avLst>
              <a:gd name="adj" fmla="val 2718"/>
            </a:avLst>
          </a:prstGeom>
          <a:solidFill>
            <a:srgbClr val="232B36"/>
          </a:solidFill>
          <a:ln w="19050">
            <a:solidFill>
              <a:srgbClr val="323C4A"/>
            </a:solidFill>
          </a:ln>
        </p:spPr>
        <p:txBody>
          <a:bodyPr rtlCol="0" anchor="ctr"/>
          <a:lstStyle/>
          <a:p>
            <a:pPr algn="ctr"/>
          </a:p>
        </p:txBody>
      </p:sp>
      <p:sp>
        <p:nvSpPr>
          <p:cNvPr id="34" name="TextBox 33"/>
          <p:cNvSpPr txBox="1"/>
          <p:nvPr/>
        </p:nvSpPr>
        <p:spPr>
          <a:xfrm>
            <a:off x="6309360" y="1645920"/>
            <a:ext cx="4572000" cy="365760"/>
          </a:xfrm>
          <a:prstGeom prst="rect">
            <a:avLst/>
          </a:prstGeom>
          <a:noFill/>
        </p:spPr>
        <p:txBody>
          <a:bodyPr wrap="square" anchor="t" lIns="0" rIns="0" tIns="0" bIns="0">
            <a:noAutofit/>
          </a:bodyPr>
          <a:lstStyle/>
          <a:p>
            <a:pPr algn="l">
              <a:lnSpc>
                <a:spcPct val="100000"/>
              </a:lnSpc>
              <a:spcBef>
                <a:spcPts val="0"/>
              </a:spcBef>
              <a:spcAft>
                <a:spcPts val="0"/>
              </a:spcAft>
            </a:pPr>
            <a:r>
              <a:rPr sz="1600" b="1" i="0" spc="200">
                <a:solidFill>
                  <a:srgbClr val="A9B3C0"/>
                </a:solidFill>
                <a:latin typeface="Arial Narrow"/>
              </a:rPr>
              <a:t>GAME PIN</a:t>
            </a:r>
          </a:p>
        </p:txBody>
      </p:sp>
      <p:sp>
        <p:nvSpPr>
          <p:cNvPr id="35" name="Rounded Rectangle 34"/>
          <p:cNvSpPr/>
          <p:nvPr/>
        </p:nvSpPr>
        <p:spPr>
          <a:xfrm>
            <a:off x="6309360" y="2057400"/>
            <a:ext cx="4480560" cy="1005840"/>
          </a:xfrm>
          <a:prstGeom prst="roundRect">
            <a:avLst>
              <a:gd name="adj" fmla="val 10909"/>
            </a:avLst>
          </a:prstGeom>
          <a:solidFill>
            <a:srgbClr val="0E1116"/>
          </a:solidFill>
          <a:ln>
            <a:noFill/>
          </a:ln>
        </p:spPr>
        <p:txBody>
          <a:bodyPr rtlCol="0" anchor="ctr" wrap="square" lIns="0" rIns="0" tIns="0" bIns="0">
            <a:noAutofit/>
          </a:bodyPr>
          <a:lstStyle/>
          <a:p>
            <a:pPr algn="ctr">
              <a:lnSpc>
                <a:spcPct val="100000"/>
              </a:lnSpc>
              <a:spcBef>
                <a:spcPts val="0"/>
              </a:spcBef>
              <a:spcAft>
                <a:spcPts val="0"/>
              </a:spcAft>
            </a:pPr>
            <a:r>
              <a:rPr sz="4000" b="1" i="0">
                <a:solidFill>
                  <a:srgbClr val="FFB400"/>
                </a:solidFill>
                <a:latin typeface="Arial Black"/>
              </a:rPr>
              <a:t>· · · · · ·</a:t>
            </a:r>
          </a:p>
        </p:txBody>
      </p:sp>
      <p:sp>
        <p:nvSpPr>
          <p:cNvPr id="36" name="TextBox 35"/>
          <p:cNvSpPr txBox="1"/>
          <p:nvPr/>
        </p:nvSpPr>
        <p:spPr>
          <a:xfrm>
            <a:off x="6309360" y="3291840"/>
            <a:ext cx="4480560" cy="2651760"/>
          </a:xfrm>
          <a:prstGeom prst="rect">
            <a:avLst/>
          </a:prstGeom>
          <a:noFill/>
        </p:spPr>
        <p:txBody>
          <a:bodyPr wrap="square" anchor="t" lIns="0" rIns="0" tIns="0" bIns="0">
            <a:noAutofit/>
          </a:bodyPr>
          <a:lstStyle/>
          <a:p>
            <a:pPr algn="l">
              <a:lnSpc>
                <a:spcPct val="125000"/>
              </a:lnSpc>
              <a:spcBef>
                <a:spcPts val="0"/>
              </a:spcBef>
              <a:spcAft>
                <a:spcPts val="1000"/>
              </a:spcAft>
            </a:pPr>
            <a:r>
              <a:rPr sz="1900" b="0" i="0">
                <a:solidFill>
                  <a:srgbClr val="F4F6F8"/>
                </a:solidFill>
                <a:latin typeface="Arial"/>
              </a:rPr>
              <a:t>go to </a:t>
            </a:r>
            <a:r>
              <a:rPr sz="1900" b="1" i="0">
                <a:solidFill>
                  <a:srgbClr val="FFB400"/>
                </a:solidFill>
                <a:latin typeface="Arial"/>
              </a:rPr>
              <a:t>your platform's join page</a:t>
            </a:r>
            <a:r>
              <a:rPr sz="1900" b="0" i="0">
                <a:solidFill>
                  <a:srgbClr val="F4F6F8"/>
                </a:solidFill>
                <a:latin typeface="Arial"/>
              </a:rPr>
              <a:t> and enter the PIN above.</a:t>
            </a:r>
          </a:p>
          <a:p>
            <a:pPr algn="l">
              <a:lnSpc>
                <a:spcPct val="125000"/>
              </a:lnSpc>
              <a:spcBef>
                <a:spcPts val="0"/>
              </a:spcBef>
              <a:spcAft>
                <a:spcPts val="1000"/>
              </a:spcAft>
            </a:pPr>
            <a:r>
              <a:rPr sz="1900" b="0" i="0">
                <a:solidFill>
                  <a:srgbClr val="F4F6F8"/>
                </a:solidFill>
                <a:latin typeface="Arial"/>
              </a:rPr>
              <a:t>This screen is a </a:t>
            </a:r>
            <a:r>
              <a:rPr sz="1900" b="1" i="0">
                <a:solidFill>
                  <a:srgbClr val="FFB400"/>
                </a:solidFill>
                <a:latin typeface="Arial"/>
              </a:rPr>
              <a:t>placeholder</a:t>
            </a:r>
            <a:r>
              <a:rPr sz="1900" b="0" i="0">
                <a:solidFill>
                  <a:srgbClr val="F4F6F8"/>
                </a:solidFill>
                <a:latin typeface="Arial"/>
              </a:rPr>
              <a:t> — replace the QR image and PIN once the quiz is created in Wayground / Quizizz / Kahoot.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200B0C"/>
          </a:solidFill>
          <a:ln>
            <a:noFill/>
          </a:ln>
        </p:spPr>
        <p:txBody>
          <a:bodyPr rtlCol="0" anchor="ctr"/>
          <a:lstStyle/>
          <a:p>
            <a:pPr algn="ctr"/>
          </a:p>
        </p:txBody>
      </p:sp>
      <p:sp>
        <p:nvSpPr>
          <p:cNvPr id="3" name="Rectangle 2"/>
          <p:cNvSpPr/>
          <p:nvPr/>
        </p:nvSpPr>
        <p:spPr>
          <a:xfrm>
            <a:off x="685800" y="640080"/>
            <a:ext cx="118872" cy="118872"/>
          </a:xfrm>
          <a:prstGeom prst="rect">
            <a:avLst/>
          </a:prstGeom>
          <a:solidFill>
            <a:srgbClr val="F0525A"/>
          </a:solidFill>
          <a:ln>
            <a:noFill/>
          </a:ln>
        </p:spPr>
        <p:txBody>
          <a:bodyPr rtlCol="0" anchor="ctr"/>
          <a:lstStyle/>
          <a:p>
            <a:pPr algn="ctr"/>
          </a:p>
        </p:txBody>
      </p:sp>
      <p:sp>
        <p:nvSpPr>
          <p:cNvPr id="4" name="TextBox 3"/>
          <p:cNvSpPr txBox="1"/>
          <p:nvPr/>
        </p:nvSpPr>
        <p:spPr>
          <a:xfrm>
            <a:off x="932688" y="566928"/>
            <a:ext cx="5486400" cy="274320"/>
          </a:xfrm>
          <a:prstGeom prst="rect">
            <a:avLst/>
          </a:prstGeom>
          <a:noFill/>
        </p:spPr>
        <p:txBody>
          <a:bodyPr wrap="square" anchor="t" lIns="0" rIns="0" tIns="0" bIns="0">
            <a:noAutofit/>
          </a:bodyPr>
          <a:lstStyle/>
          <a:p>
            <a:pPr algn="l">
              <a:lnSpc>
                <a:spcPct val="100000"/>
              </a:lnSpc>
              <a:spcBef>
                <a:spcPts val="0"/>
              </a:spcBef>
              <a:spcAft>
                <a:spcPts val="0"/>
              </a:spcAft>
            </a:pPr>
            <a:r>
              <a:rPr sz="1500" b="1" i="0" spc="400">
                <a:solidFill>
                  <a:srgbClr val="F0525A"/>
                </a:solidFill>
                <a:latin typeface="Arial Narrow"/>
              </a:rPr>
              <a:t>ALERT</a:t>
            </a:r>
          </a:p>
        </p:txBody>
      </p:sp>
      <p:sp>
        <p:nvSpPr>
          <p:cNvPr id="5" name="TextBox 4"/>
          <p:cNvSpPr txBox="1"/>
          <p:nvPr/>
        </p:nvSpPr>
        <p:spPr>
          <a:xfrm>
            <a:off x="685800" y="1965960"/>
            <a:ext cx="10789920" cy="1280160"/>
          </a:xfrm>
          <a:prstGeom prst="rect">
            <a:avLst/>
          </a:prstGeom>
          <a:noFill/>
        </p:spPr>
        <p:txBody>
          <a:bodyPr wrap="square" anchor="t" lIns="0" rIns="0" tIns="0" bIns="0">
            <a:noAutofit/>
          </a:bodyPr>
          <a:lstStyle/>
          <a:p>
            <a:pPr algn="l">
              <a:lnSpc>
                <a:spcPct val="100000"/>
              </a:lnSpc>
              <a:spcBef>
                <a:spcPts val="0"/>
              </a:spcBef>
              <a:spcAft>
                <a:spcPts val="0"/>
              </a:spcAft>
            </a:pPr>
            <a:r>
              <a:rPr sz="7200" b="0" i="0">
                <a:solidFill>
                  <a:srgbClr val="FFFFFF"/>
                </a:solidFill>
                <a:latin typeface="Arial Black"/>
              </a:rPr>
              <a:t>CRASH DETECTED</a:t>
            </a:r>
          </a:p>
        </p:txBody>
      </p:sp>
      <p:sp>
        <p:nvSpPr>
          <p:cNvPr id="6" name="TextBox 5"/>
          <p:cNvSpPr txBox="1"/>
          <p:nvPr/>
        </p:nvSpPr>
        <p:spPr>
          <a:xfrm>
            <a:off x="713232" y="3246120"/>
            <a:ext cx="10515600" cy="548640"/>
          </a:xfrm>
          <a:prstGeom prst="rect">
            <a:avLst/>
          </a:prstGeom>
          <a:noFill/>
        </p:spPr>
        <p:txBody>
          <a:bodyPr wrap="square" anchor="t" lIns="0" rIns="0" tIns="0" bIns="0">
            <a:noAutofit/>
          </a:bodyPr>
          <a:lstStyle/>
          <a:p>
            <a:pPr algn="l">
              <a:lnSpc>
                <a:spcPct val="100000"/>
              </a:lnSpc>
              <a:spcBef>
                <a:spcPts val="0"/>
              </a:spcBef>
              <a:spcAft>
                <a:spcPts val="0"/>
              </a:spcAft>
            </a:pPr>
            <a:r>
              <a:rPr sz="2200" b="1" i="0" spc="200">
                <a:solidFill>
                  <a:srgbClr val="E7A9AC"/>
                </a:solidFill>
                <a:latin typeface="Arial Narrow"/>
              </a:rPr>
              <a:t>PASSENGER SAFETY SYSTEM  ·  UNDER INVESTIGATION</a:t>
            </a:r>
          </a:p>
        </p:txBody>
      </p:sp>
      <p:sp>
        <p:nvSpPr>
          <p:cNvPr id="7" name="Oval 6"/>
          <p:cNvSpPr/>
          <p:nvPr/>
        </p:nvSpPr>
        <p:spPr>
          <a:xfrm>
            <a:off x="9784080" y="182880"/>
            <a:ext cx="1645920" cy="1645920"/>
          </a:xfrm>
          <a:prstGeom prst="ellipse">
            <a:avLst/>
          </a:prstGeom>
          <a:noFill/>
          <a:ln w="25400">
            <a:solidFill>
              <a:srgbClr val="F0525A"/>
            </a:solidFill>
          </a:ln>
        </p:spPr>
        <p:txBody>
          <a:bodyPr rtlCol="0" anchor="ctr"/>
          <a:lstStyle/>
          <a:p>
            <a:pPr algn="ctr"/>
          </a:p>
        </p:txBody>
      </p:sp>
      <p:sp>
        <p:nvSpPr>
          <p:cNvPr id="8" name="Oval 7"/>
          <p:cNvSpPr/>
          <p:nvPr/>
        </p:nvSpPr>
        <p:spPr>
          <a:xfrm>
            <a:off x="10021824" y="457200"/>
            <a:ext cx="1133856" cy="1133856"/>
          </a:xfrm>
          <a:prstGeom prst="ellipse">
            <a:avLst/>
          </a:prstGeom>
          <a:noFill/>
          <a:ln w="25400">
            <a:solidFill>
              <a:srgbClr val="F0525A"/>
            </a:solidFill>
          </a:ln>
        </p:spPr>
        <p:txBody>
          <a:bodyPr rtlCol="0" anchor="ctr"/>
          <a:lstStyle/>
          <a:p>
            <a:pPr algn="ctr"/>
          </a:p>
        </p:txBody>
      </p:sp>
      <p:sp>
        <p:nvSpPr>
          <p:cNvPr id="9" name="Oval 8"/>
          <p:cNvSpPr/>
          <p:nvPr/>
        </p:nvSpPr>
        <p:spPr>
          <a:xfrm>
            <a:off x="10259568" y="731520"/>
            <a:ext cx="621792" cy="621792"/>
          </a:xfrm>
          <a:prstGeom prst="ellipse">
            <a:avLst/>
          </a:prstGeom>
          <a:noFill/>
          <a:ln w="25400">
            <a:solidFill>
              <a:srgbClr val="F0525A"/>
            </a:solidFill>
          </a:ln>
        </p:spPr>
        <p:txBody>
          <a:bodyPr rtlCol="0" anchor="ctr"/>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A9B3C0"/>
                </a:solidFill>
                <a:latin typeface="Arial Narrow"/>
              </a:rPr>
              <a:t>ACT 3 · CRASH INVESTIGATION</a:t>
            </a:r>
          </a:p>
        </p:txBody>
      </p:sp>
      <p:sp>
        <p:nvSpPr>
          <p:cNvPr id="4" name="TextBox 3"/>
          <p:cNvSpPr txBox="1"/>
          <p:nvPr/>
        </p:nvSpPr>
        <p:spPr>
          <a:xfrm>
            <a:off x="7315200" y="310896"/>
            <a:ext cx="4187952" cy="274320"/>
          </a:xfrm>
          <a:prstGeom prst="rect">
            <a:avLst/>
          </a:prstGeom>
          <a:noFill/>
        </p:spPr>
        <p:txBody>
          <a:bodyPr wrap="square" anchor="t" lIns="0" rIns="0" tIns="0" bIns="0">
            <a:noAutofit/>
          </a:bodyPr>
          <a:lstStyle/>
          <a:p>
            <a:pPr algn="r">
              <a:lnSpc>
                <a:spcPct val="100000"/>
              </a:lnSpc>
              <a:spcBef>
                <a:spcPts val="0"/>
              </a:spcBef>
              <a:spcAft>
                <a:spcPts val="0"/>
              </a:spcAft>
            </a:pPr>
            <a:r>
              <a:rPr sz="1300" b="1" i="0" spc="220">
                <a:solidFill>
                  <a:srgbClr val="6F7A89"/>
                </a:solidFill>
                <a:latin typeface="Arial Narrow"/>
              </a:rPr>
              <a:t>MISSION COMMANDER</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6F7A89"/>
                </a:solidFill>
                <a:latin typeface="Arial Narrow"/>
              </a:rPr>
              <a:t>ENERGY LAB  ·  CRASH TEST #05</a:t>
            </a:r>
          </a:p>
        </p:txBody>
      </p:sp>
      <p:sp>
        <p:nvSpPr>
          <p:cNvPr id="6" name="Rectangle 5"/>
          <p:cNvSpPr/>
          <p:nvPr/>
        </p:nvSpPr>
        <p:spPr>
          <a:xfrm>
            <a:off x="4526280" y="6510528"/>
            <a:ext cx="127363" cy="54864"/>
          </a:xfrm>
          <a:prstGeom prst="rect">
            <a:avLst/>
          </a:prstGeom>
          <a:solidFill>
            <a:srgbClr val="8A6A1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8A6A1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8A6A1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8A6A1A"/>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8A6A1A"/>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FFB400"/>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2A3240"/>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2A3240"/>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2A3240"/>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2A3240"/>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2A3240"/>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2A3240"/>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2A3240"/>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2A3240"/>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6F7A89"/>
                </a:solidFill>
                <a:latin typeface="Arial Narrow"/>
              </a:rPr>
              <a:t>34</a:t>
            </a:fld>
          </a:p>
        </p:txBody>
      </p:sp>
      <p:sp>
        <p:nvSpPr>
          <p:cNvPr id="21" name="TextBox 20"/>
          <p:cNvSpPr txBox="1"/>
          <p:nvPr/>
        </p:nvSpPr>
        <p:spPr>
          <a:xfrm>
            <a:off x="685800" y="100584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F0525A"/>
                </a:solidFill>
                <a:latin typeface="Arial Narrow"/>
              </a:rPr>
              <a:t>MISSION BRIEF</a:t>
            </a:r>
          </a:p>
        </p:txBody>
      </p:sp>
      <p:sp>
        <p:nvSpPr>
          <p:cNvPr id="22" name="TextBox 21"/>
          <p:cNvSpPr txBox="1"/>
          <p:nvPr/>
        </p:nvSpPr>
        <p:spPr>
          <a:xfrm>
            <a:off x="685800" y="1371600"/>
            <a:ext cx="10515600" cy="1005840"/>
          </a:xfrm>
          <a:prstGeom prst="rect">
            <a:avLst/>
          </a:prstGeom>
          <a:noFill/>
        </p:spPr>
        <p:txBody>
          <a:bodyPr wrap="square" anchor="t" lIns="0" rIns="0" tIns="0" bIns="0">
            <a:noAutofit/>
          </a:bodyPr>
          <a:lstStyle/>
          <a:p>
            <a:pPr algn="l">
              <a:lnSpc>
                <a:spcPct val="100000"/>
              </a:lnSpc>
              <a:spcBef>
                <a:spcPts val="0"/>
              </a:spcBef>
              <a:spcAft>
                <a:spcPts val="0"/>
              </a:spcAft>
            </a:pPr>
            <a:r>
              <a:rPr sz="4400" b="0" i="0">
                <a:solidFill>
                  <a:srgbClr val="F4F6F8"/>
                </a:solidFill>
                <a:latin typeface="Arial Black"/>
              </a:rPr>
              <a:t>A NEW STRETCHING SEATBELT</a:t>
            </a:r>
          </a:p>
        </p:txBody>
      </p:sp>
      <p:sp>
        <p:nvSpPr>
          <p:cNvPr id="23" name="TextBox 22"/>
          <p:cNvSpPr txBox="1"/>
          <p:nvPr/>
        </p:nvSpPr>
        <p:spPr>
          <a:xfrm>
            <a:off x="713232" y="2331720"/>
            <a:ext cx="10058400" cy="548640"/>
          </a:xfrm>
          <a:prstGeom prst="rect">
            <a:avLst/>
          </a:prstGeom>
          <a:noFill/>
        </p:spPr>
        <p:txBody>
          <a:bodyPr wrap="square" anchor="t" lIns="0" rIns="0" tIns="0" bIns="0">
            <a:noAutofit/>
          </a:bodyPr>
          <a:lstStyle/>
          <a:p>
            <a:pPr algn="l">
              <a:lnSpc>
                <a:spcPct val="100000"/>
              </a:lnSpc>
              <a:spcBef>
                <a:spcPts val="0"/>
              </a:spcBef>
              <a:spcAft>
                <a:spcPts val="0"/>
              </a:spcAft>
            </a:pPr>
            <a:r>
              <a:rPr sz="3000" b="1" i="0" spc="150">
                <a:solidFill>
                  <a:srgbClr val="FFB400"/>
                </a:solidFill>
                <a:latin typeface="Arial Narrow"/>
              </a:rPr>
              <a:t>CLAIMS TO REDUCE INJURIES.</a:t>
            </a:r>
          </a:p>
        </p:txBody>
      </p:sp>
      <p:sp>
        <p:nvSpPr>
          <p:cNvPr id="24" name="Rounded Rectangle 23"/>
          <p:cNvSpPr/>
          <p:nvPr/>
        </p:nvSpPr>
        <p:spPr>
          <a:xfrm>
            <a:off x="685800" y="3200400"/>
            <a:ext cx="10360152" cy="2514600"/>
          </a:xfrm>
          <a:prstGeom prst="roundRect">
            <a:avLst>
              <a:gd name="adj" fmla="val 5090"/>
            </a:avLst>
          </a:prstGeom>
          <a:solidFill>
            <a:srgbClr val="1A2029"/>
          </a:solidFill>
          <a:ln w="19050">
            <a:solidFill>
              <a:srgbClr val="323C4A"/>
            </a:solidFill>
          </a:ln>
        </p:spPr>
        <p:txBody>
          <a:bodyPr rtlCol="0" anchor="ctr"/>
          <a:lstStyle/>
          <a:p>
            <a:pPr algn="ctr"/>
          </a:p>
        </p:txBody>
      </p:sp>
      <p:sp>
        <p:nvSpPr>
          <p:cNvPr id="25" name="TextBox 24"/>
          <p:cNvSpPr txBox="1"/>
          <p:nvPr/>
        </p:nvSpPr>
        <p:spPr>
          <a:xfrm>
            <a:off x="960120" y="3401568"/>
            <a:ext cx="9784080" cy="457200"/>
          </a:xfrm>
          <a:prstGeom prst="rect">
            <a:avLst/>
          </a:prstGeom>
          <a:noFill/>
        </p:spPr>
        <p:txBody>
          <a:bodyPr wrap="square" anchor="t" lIns="0" rIns="0" tIns="0" bIns="0">
            <a:noAutofit/>
          </a:bodyPr>
          <a:lstStyle/>
          <a:p>
            <a:pPr algn="l">
              <a:lnSpc>
                <a:spcPct val="100000"/>
              </a:lnSpc>
              <a:spcBef>
                <a:spcPts val="0"/>
              </a:spcBef>
              <a:spcAft>
                <a:spcPts val="0"/>
              </a:spcAft>
            </a:pPr>
            <a:r>
              <a:rPr sz="1800" b="1" i="0" spc="300">
                <a:solidFill>
                  <a:srgbClr val="A9B3C0"/>
                </a:solidFill>
                <a:latin typeface="Arial Narrow"/>
              </a:rPr>
              <a:t>YOUR JOB:</a:t>
            </a:r>
          </a:p>
        </p:txBody>
      </p:sp>
      <p:sp>
        <p:nvSpPr>
          <p:cNvPr id="26" name="TextBox 25"/>
          <p:cNvSpPr txBox="1"/>
          <p:nvPr/>
        </p:nvSpPr>
        <p:spPr>
          <a:xfrm>
            <a:off x="914400" y="3840480"/>
            <a:ext cx="9966960" cy="1737360"/>
          </a:xfrm>
          <a:prstGeom prst="rect">
            <a:avLst/>
          </a:prstGeom>
          <a:noFill/>
        </p:spPr>
        <p:txBody>
          <a:bodyPr wrap="square" anchor="t" lIns="0" rIns="0" tIns="0" bIns="0">
            <a:noAutofit/>
          </a:bodyPr>
          <a:lstStyle/>
          <a:p>
            <a:pPr algn="l">
              <a:lnSpc>
                <a:spcPct val="100000"/>
              </a:lnSpc>
              <a:spcBef>
                <a:spcPts val="0"/>
              </a:spcBef>
              <a:spcAft>
                <a:spcPts val="400"/>
              </a:spcAft>
            </a:pPr>
            <a:r>
              <a:rPr sz="4600" b="0" i="0">
                <a:solidFill>
                  <a:srgbClr val="F4F6F8"/>
                </a:solidFill>
                <a:latin typeface="Arial Black"/>
              </a:rPr>
              <a:t>DOES IT WORK?</a:t>
            </a:r>
          </a:p>
          <a:p>
            <a:pPr algn="l">
              <a:lnSpc>
                <a:spcPct val="100000"/>
              </a:lnSpc>
              <a:spcBef>
                <a:spcPts val="0"/>
              </a:spcBef>
              <a:spcAft>
                <a:spcPts val="400"/>
              </a:spcAft>
            </a:pPr>
            <a:r>
              <a:rPr sz="4600" b="0" i="0">
                <a:solidFill>
                  <a:srgbClr val="F4F6F8"/>
                </a:solidFill>
                <a:latin typeface="Arial Black"/>
              </a:rPr>
              <a:t>WHY?</a:t>
            </a:r>
          </a:p>
        </p:txBody>
      </p:sp>
      <p:sp>
        <p:nvSpPr>
          <p:cNvPr id="27" name="Rounded Rectangle 26"/>
          <p:cNvSpPr/>
          <p:nvPr/>
        </p:nvSpPr>
        <p:spPr>
          <a:xfrm>
            <a:off x="7818120" y="960120"/>
            <a:ext cx="3557405" cy="274320"/>
          </a:xfrm>
          <a:prstGeom prst="roundRect">
            <a:avLst>
              <a:gd name="adj" fmla="val 50000"/>
            </a:avLst>
          </a:prstGeom>
          <a:noFill/>
          <a:ln w="19050">
            <a:solidFill>
              <a:srgbClr val="FFB400"/>
            </a:solidFill>
          </a:ln>
        </p:spPr>
        <p:txBody>
          <a:bodyPr rtlCol="0" anchor="ctr" wrap="square" lIns="0" rIns="0" tIns="0" bIns="0">
            <a:noAutofit/>
          </a:bodyPr>
          <a:lstStyle/>
          <a:p>
            <a:pPr algn="ctr">
              <a:lnSpc>
                <a:spcPct val="100000"/>
              </a:lnSpc>
              <a:spcBef>
                <a:spcPts val="0"/>
              </a:spcBef>
              <a:spcAft>
                <a:spcPts val="0"/>
              </a:spcAft>
            </a:pPr>
            <a:r>
              <a:rPr sz="1300" b="1" i="0" spc="200">
                <a:solidFill>
                  <a:srgbClr val="FFB400"/>
                </a:solidFill>
                <a:latin typeface="Arial Narrow"/>
              </a:rPr>
              <a:t>← GET READY Q2, ANSWERED HERE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A9B3C0"/>
                </a:solidFill>
                <a:latin typeface="Arial Narrow"/>
              </a:rPr>
              <a:t>ACT 3 · CRASH INVESTIGATION</a:t>
            </a:r>
          </a:p>
        </p:txBody>
      </p:sp>
      <p:sp>
        <p:nvSpPr>
          <p:cNvPr id="4" name="TextBox 3"/>
          <p:cNvSpPr txBox="1"/>
          <p:nvPr/>
        </p:nvSpPr>
        <p:spPr>
          <a:xfrm>
            <a:off x="7315200" y="310896"/>
            <a:ext cx="4187952" cy="274320"/>
          </a:xfrm>
          <a:prstGeom prst="rect">
            <a:avLst/>
          </a:prstGeom>
          <a:noFill/>
        </p:spPr>
        <p:txBody>
          <a:bodyPr wrap="square" anchor="t" lIns="0" rIns="0" tIns="0" bIns="0">
            <a:noAutofit/>
          </a:bodyPr>
          <a:lstStyle/>
          <a:p>
            <a:pPr algn="r">
              <a:lnSpc>
                <a:spcPct val="100000"/>
              </a:lnSpc>
              <a:spcBef>
                <a:spcPts val="0"/>
              </a:spcBef>
              <a:spcAft>
                <a:spcPts val="0"/>
              </a:spcAft>
            </a:pPr>
            <a:r>
              <a:rPr sz="1300" b="1" i="0" spc="220">
                <a:solidFill>
                  <a:srgbClr val="6F7A89"/>
                </a:solidFill>
                <a:latin typeface="Arial Narrow"/>
              </a:rPr>
              <a:t>CRASH INVESTIGATOR</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6F7A89"/>
                </a:solidFill>
                <a:latin typeface="Arial Narrow"/>
              </a:rPr>
              <a:t>ENERGY LAB  ·  CRASH TEST #05</a:t>
            </a:r>
          </a:p>
        </p:txBody>
      </p:sp>
      <p:sp>
        <p:nvSpPr>
          <p:cNvPr id="6" name="Rectangle 5"/>
          <p:cNvSpPr/>
          <p:nvPr/>
        </p:nvSpPr>
        <p:spPr>
          <a:xfrm>
            <a:off x="4526280" y="6510528"/>
            <a:ext cx="127363" cy="54864"/>
          </a:xfrm>
          <a:prstGeom prst="rect">
            <a:avLst/>
          </a:prstGeom>
          <a:solidFill>
            <a:srgbClr val="8A6A1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8A6A1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8A6A1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8A6A1A"/>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8A6A1A"/>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8A6A1A"/>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FFB400"/>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2A3240"/>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2A3240"/>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2A3240"/>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2A3240"/>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2A3240"/>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2A3240"/>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2A3240"/>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6F7A89"/>
                </a:solidFill>
                <a:latin typeface="Arial Narrow"/>
              </a:rPr>
              <a:t>35</a:t>
            </a:fld>
          </a:p>
        </p:txBody>
      </p:sp>
      <p:sp>
        <p:nvSpPr>
          <p:cNvPr id="21" name="TextBox 20"/>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A9B3C0"/>
                </a:solidFill>
                <a:latin typeface="Arial Narrow"/>
              </a:rPr>
              <a:t>CRASH INVESTIGATOR TAKES OVER</a:t>
            </a:r>
          </a:p>
        </p:txBody>
      </p:sp>
      <p:sp>
        <p:nvSpPr>
          <p:cNvPr id="22" name="TextBox 21"/>
          <p:cNvSpPr txBox="1"/>
          <p:nvPr/>
        </p:nvSpPr>
        <p:spPr>
          <a:xfrm>
            <a:off x="685800" y="1188720"/>
            <a:ext cx="10789920" cy="1005840"/>
          </a:xfrm>
          <a:prstGeom prst="rect">
            <a:avLst/>
          </a:prstGeom>
          <a:noFill/>
        </p:spPr>
        <p:txBody>
          <a:bodyPr wrap="square" anchor="t" lIns="0" rIns="0" tIns="0" bIns="0">
            <a:noAutofit/>
          </a:bodyPr>
          <a:lstStyle/>
          <a:p>
            <a:pPr algn="l">
              <a:lnSpc>
                <a:spcPct val="100000"/>
              </a:lnSpc>
              <a:spcBef>
                <a:spcPts val="0"/>
              </a:spcBef>
              <a:spcAft>
                <a:spcPts val="0"/>
              </a:spcAft>
            </a:pPr>
            <a:r>
              <a:rPr sz="4400" b="0" i="0">
                <a:solidFill>
                  <a:srgbClr val="F4F6F8"/>
                </a:solidFill>
                <a:latin typeface="Arial Black"/>
              </a:rPr>
              <a:t>FIND SIX ANSWERS.</a:t>
            </a:r>
          </a:p>
        </p:txBody>
      </p:sp>
      <p:sp>
        <p:nvSpPr>
          <p:cNvPr id="23" name="Rounded Rectangle 22"/>
          <p:cNvSpPr/>
          <p:nvPr/>
        </p:nvSpPr>
        <p:spPr>
          <a:xfrm>
            <a:off x="685800" y="2148840"/>
            <a:ext cx="5120640" cy="1133856"/>
          </a:xfrm>
          <a:prstGeom prst="roundRect">
            <a:avLst>
              <a:gd name="adj" fmla="val 11290"/>
            </a:avLst>
          </a:prstGeom>
          <a:solidFill>
            <a:srgbClr val="1A2029"/>
          </a:solidFill>
          <a:ln w="19050">
            <a:solidFill>
              <a:srgbClr val="323C4A"/>
            </a:solidFill>
          </a:ln>
        </p:spPr>
        <p:txBody>
          <a:bodyPr rtlCol="0" anchor="ctr"/>
          <a:lstStyle/>
          <a:p>
            <a:pPr algn="ctr"/>
          </a:p>
        </p:txBody>
      </p:sp>
      <p:sp>
        <p:nvSpPr>
          <p:cNvPr id="24" name="Rounded Rectangle 23"/>
          <p:cNvSpPr/>
          <p:nvPr/>
        </p:nvSpPr>
        <p:spPr>
          <a:xfrm>
            <a:off x="886968" y="2350008"/>
            <a:ext cx="566928" cy="566928"/>
          </a:xfrm>
          <a:prstGeom prst="roundRect">
            <a:avLst>
              <a:gd name="adj" fmla="val 2258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2200" b="1" i="0">
                <a:solidFill>
                  <a:srgbClr val="12161C"/>
                </a:solidFill>
                <a:latin typeface="Arial Black"/>
              </a:rPr>
              <a:t>1</a:t>
            </a:r>
          </a:p>
        </p:txBody>
      </p:sp>
      <p:sp>
        <p:nvSpPr>
          <p:cNvPr id="25" name="TextBox 24"/>
          <p:cNvSpPr txBox="1"/>
          <p:nvPr/>
        </p:nvSpPr>
        <p:spPr>
          <a:xfrm>
            <a:off x="1600200" y="2276856"/>
            <a:ext cx="4023360" cy="896112"/>
          </a:xfrm>
          <a:prstGeom prst="rect">
            <a:avLst/>
          </a:prstGeom>
          <a:noFill/>
        </p:spPr>
        <p:txBody>
          <a:bodyPr wrap="square" anchor="ctr" lIns="0" rIns="0" tIns="0" bIns="0">
            <a:noAutofit/>
          </a:bodyPr>
          <a:lstStyle/>
          <a:p>
            <a:pPr algn="l">
              <a:lnSpc>
                <a:spcPct val="105000"/>
              </a:lnSpc>
              <a:spcBef>
                <a:spcPts val="0"/>
              </a:spcBef>
              <a:spcAft>
                <a:spcPts val="0"/>
              </a:spcAft>
            </a:pPr>
            <a:r>
              <a:rPr sz="1700" b="1" i="0">
                <a:solidFill>
                  <a:srgbClr val="F4F6F8"/>
                </a:solidFill>
                <a:latin typeface="Arial"/>
              </a:rPr>
              <a:t>What happens when the car decelerates?</a:t>
            </a:r>
          </a:p>
        </p:txBody>
      </p:sp>
      <p:sp>
        <p:nvSpPr>
          <p:cNvPr id="26" name="Rounded Rectangle 25"/>
          <p:cNvSpPr/>
          <p:nvPr/>
        </p:nvSpPr>
        <p:spPr>
          <a:xfrm>
            <a:off x="6208776" y="2148840"/>
            <a:ext cx="5120640" cy="1133856"/>
          </a:xfrm>
          <a:prstGeom prst="roundRect">
            <a:avLst>
              <a:gd name="adj" fmla="val 11290"/>
            </a:avLst>
          </a:prstGeom>
          <a:solidFill>
            <a:srgbClr val="1A2029"/>
          </a:solidFill>
          <a:ln w="19050">
            <a:solidFill>
              <a:srgbClr val="323C4A"/>
            </a:solidFill>
          </a:ln>
        </p:spPr>
        <p:txBody>
          <a:bodyPr rtlCol="0" anchor="ctr"/>
          <a:lstStyle/>
          <a:p>
            <a:pPr algn="ctr"/>
          </a:p>
        </p:txBody>
      </p:sp>
      <p:sp>
        <p:nvSpPr>
          <p:cNvPr id="27" name="Rounded Rectangle 26"/>
          <p:cNvSpPr/>
          <p:nvPr/>
        </p:nvSpPr>
        <p:spPr>
          <a:xfrm>
            <a:off x="6409944" y="2350008"/>
            <a:ext cx="566928" cy="566928"/>
          </a:xfrm>
          <a:prstGeom prst="roundRect">
            <a:avLst>
              <a:gd name="adj" fmla="val 2258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2200" b="1" i="0">
                <a:solidFill>
                  <a:srgbClr val="12161C"/>
                </a:solidFill>
                <a:latin typeface="Arial Black"/>
              </a:rPr>
              <a:t>2</a:t>
            </a:r>
          </a:p>
        </p:txBody>
      </p:sp>
      <p:sp>
        <p:nvSpPr>
          <p:cNvPr id="28" name="TextBox 27"/>
          <p:cNvSpPr txBox="1"/>
          <p:nvPr/>
        </p:nvSpPr>
        <p:spPr>
          <a:xfrm>
            <a:off x="7123176" y="2276856"/>
            <a:ext cx="4023360" cy="896112"/>
          </a:xfrm>
          <a:prstGeom prst="rect">
            <a:avLst/>
          </a:prstGeom>
          <a:noFill/>
        </p:spPr>
        <p:txBody>
          <a:bodyPr wrap="square" anchor="ctr" lIns="0" rIns="0" tIns="0" bIns="0">
            <a:noAutofit/>
          </a:bodyPr>
          <a:lstStyle/>
          <a:p>
            <a:pPr algn="l">
              <a:lnSpc>
                <a:spcPct val="105000"/>
              </a:lnSpc>
              <a:spcBef>
                <a:spcPts val="0"/>
              </a:spcBef>
              <a:spcAft>
                <a:spcPts val="0"/>
              </a:spcAft>
            </a:pPr>
            <a:r>
              <a:rPr sz="1700" b="1" i="0">
                <a:solidFill>
                  <a:srgbClr val="F4F6F8"/>
                </a:solidFill>
                <a:latin typeface="Arial"/>
              </a:rPr>
              <a:t>What happens to the passenger?</a:t>
            </a:r>
          </a:p>
        </p:txBody>
      </p:sp>
      <p:sp>
        <p:nvSpPr>
          <p:cNvPr id="29" name="Rounded Rectangle 28"/>
          <p:cNvSpPr/>
          <p:nvPr/>
        </p:nvSpPr>
        <p:spPr>
          <a:xfrm>
            <a:off x="685800" y="3447288"/>
            <a:ext cx="5120640" cy="1133856"/>
          </a:xfrm>
          <a:prstGeom prst="roundRect">
            <a:avLst>
              <a:gd name="adj" fmla="val 11290"/>
            </a:avLst>
          </a:prstGeom>
          <a:solidFill>
            <a:srgbClr val="1A2029"/>
          </a:solidFill>
          <a:ln w="19050">
            <a:solidFill>
              <a:srgbClr val="323C4A"/>
            </a:solidFill>
          </a:ln>
        </p:spPr>
        <p:txBody>
          <a:bodyPr rtlCol="0" anchor="ctr"/>
          <a:lstStyle/>
          <a:p>
            <a:pPr algn="ctr"/>
          </a:p>
        </p:txBody>
      </p:sp>
      <p:sp>
        <p:nvSpPr>
          <p:cNvPr id="30" name="Rounded Rectangle 29"/>
          <p:cNvSpPr/>
          <p:nvPr/>
        </p:nvSpPr>
        <p:spPr>
          <a:xfrm>
            <a:off x="886968" y="3648456"/>
            <a:ext cx="566928" cy="566928"/>
          </a:xfrm>
          <a:prstGeom prst="roundRect">
            <a:avLst>
              <a:gd name="adj" fmla="val 2258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2200" b="1" i="0">
                <a:solidFill>
                  <a:srgbClr val="12161C"/>
                </a:solidFill>
                <a:latin typeface="Arial Black"/>
              </a:rPr>
              <a:t>3</a:t>
            </a:r>
          </a:p>
        </p:txBody>
      </p:sp>
      <p:sp>
        <p:nvSpPr>
          <p:cNvPr id="31" name="TextBox 30"/>
          <p:cNvSpPr txBox="1"/>
          <p:nvPr/>
        </p:nvSpPr>
        <p:spPr>
          <a:xfrm>
            <a:off x="1600200" y="3575304"/>
            <a:ext cx="4023360" cy="896112"/>
          </a:xfrm>
          <a:prstGeom prst="rect">
            <a:avLst/>
          </a:prstGeom>
          <a:noFill/>
        </p:spPr>
        <p:txBody>
          <a:bodyPr wrap="square" anchor="ctr" lIns="0" rIns="0" tIns="0" bIns="0">
            <a:noAutofit/>
          </a:bodyPr>
          <a:lstStyle/>
          <a:p>
            <a:pPr algn="l">
              <a:lnSpc>
                <a:spcPct val="105000"/>
              </a:lnSpc>
              <a:spcBef>
                <a:spcPts val="0"/>
              </a:spcBef>
              <a:spcAft>
                <a:spcPts val="0"/>
              </a:spcAft>
            </a:pPr>
            <a:r>
              <a:rPr sz="1700" b="1" i="0">
                <a:solidFill>
                  <a:srgbClr val="F4F6F8"/>
                </a:solidFill>
                <a:latin typeface="Arial"/>
              </a:rPr>
              <a:t>What does the new seatbelt do?</a:t>
            </a:r>
          </a:p>
        </p:txBody>
      </p:sp>
      <p:sp>
        <p:nvSpPr>
          <p:cNvPr id="32" name="Rounded Rectangle 31"/>
          <p:cNvSpPr/>
          <p:nvPr/>
        </p:nvSpPr>
        <p:spPr>
          <a:xfrm>
            <a:off x="6208776" y="3447288"/>
            <a:ext cx="5120640" cy="1133856"/>
          </a:xfrm>
          <a:prstGeom prst="roundRect">
            <a:avLst>
              <a:gd name="adj" fmla="val 11290"/>
            </a:avLst>
          </a:prstGeom>
          <a:solidFill>
            <a:srgbClr val="1A2029"/>
          </a:solidFill>
          <a:ln w="19050">
            <a:solidFill>
              <a:srgbClr val="323C4A"/>
            </a:solidFill>
          </a:ln>
        </p:spPr>
        <p:txBody>
          <a:bodyPr rtlCol="0" anchor="ctr"/>
          <a:lstStyle/>
          <a:p>
            <a:pPr algn="ctr"/>
          </a:p>
        </p:txBody>
      </p:sp>
      <p:sp>
        <p:nvSpPr>
          <p:cNvPr id="33" name="Rounded Rectangle 32"/>
          <p:cNvSpPr/>
          <p:nvPr/>
        </p:nvSpPr>
        <p:spPr>
          <a:xfrm>
            <a:off x="6409944" y="3648456"/>
            <a:ext cx="566928" cy="566928"/>
          </a:xfrm>
          <a:prstGeom prst="roundRect">
            <a:avLst>
              <a:gd name="adj" fmla="val 2258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2200" b="1" i="0">
                <a:solidFill>
                  <a:srgbClr val="12161C"/>
                </a:solidFill>
                <a:latin typeface="Arial Black"/>
              </a:rPr>
              <a:t>4</a:t>
            </a:r>
          </a:p>
        </p:txBody>
      </p:sp>
      <p:sp>
        <p:nvSpPr>
          <p:cNvPr id="34" name="TextBox 33"/>
          <p:cNvSpPr txBox="1"/>
          <p:nvPr/>
        </p:nvSpPr>
        <p:spPr>
          <a:xfrm>
            <a:off x="7123176" y="3575304"/>
            <a:ext cx="4023360" cy="896112"/>
          </a:xfrm>
          <a:prstGeom prst="rect">
            <a:avLst/>
          </a:prstGeom>
          <a:noFill/>
        </p:spPr>
        <p:txBody>
          <a:bodyPr wrap="square" anchor="ctr" lIns="0" rIns="0" tIns="0" bIns="0">
            <a:noAutofit/>
          </a:bodyPr>
          <a:lstStyle/>
          <a:p>
            <a:pPr algn="l">
              <a:lnSpc>
                <a:spcPct val="105000"/>
              </a:lnSpc>
              <a:spcBef>
                <a:spcPts val="0"/>
              </a:spcBef>
              <a:spcAft>
                <a:spcPts val="0"/>
              </a:spcAft>
            </a:pPr>
            <a:r>
              <a:rPr sz="1700" b="1" i="0">
                <a:solidFill>
                  <a:srgbClr val="F4F6F8"/>
                </a:solidFill>
                <a:latin typeface="Arial"/>
              </a:rPr>
              <a:t>What happens to stopping distance?</a:t>
            </a:r>
          </a:p>
        </p:txBody>
      </p:sp>
      <p:sp>
        <p:nvSpPr>
          <p:cNvPr id="35" name="Rounded Rectangle 34"/>
          <p:cNvSpPr/>
          <p:nvPr/>
        </p:nvSpPr>
        <p:spPr>
          <a:xfrm>
            <a:off x="685800" y="4745736"/>
            <a:ext cx="5120640" cy="1133856"/>
          </a:xfrm>
          <a:prstGeom prst="roundRect">
            <a:avLst>
              <a:gd name="adj" fmla="val 11290"/>
            </a:avLst>
          </a:prstGeom>
          <a:solidFill>
            <a:srgbClr val="1A2029"/>
          </a:solidFill>
          <a:ln w="19050">
            <a:solidFill>
              <a:srgbClr val="323C4A"/>
            </a:solidFill>
          </a:ln>
        </p:spPr>
        <p:txBody>
          <a:bodyPr rtlCol="0" anchor="ctr"/>
          <a:lstStyle/>
          <a:p>
            <a:pPr algn="ctr"/>
          </a:p>
        </p:txBody>
      </p:sp>
      <p:sp>
        <p:nvSpPr>
          <p:cNvPr id="36" name="Rounded Rectangle 35"/>
          <p:cNvSpPr/>
          <p:nvPr/>
        </p:nvSpPr>
        <p:spPr>
          <a:xfrm>
            <a:off x="886968" y="4946904"/>
            <a:ext cx="566928" cy="566928"/>
          </a:xfrm>
          <a:prstGeom prst="roundRect">
            <a:avLst>
              <a:gd name="adj" fmla="val 2258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2200" b="1" i="0">
                <a:solidFill>
                  <a:srgbClr val="12161C"/>
                </a:solidFill>
                <a:latin typeface="Arial Black"/>
              </a:rPr>
              <a:t>5</a:t>
            </a:r>
          </a:p>
        </p:txBody>
      </p:sp>
      <p:sp>
        <p:nvSpPr>
          <p:cNvPr id="37" name="TextBox 36"/>
          <p:cNvSpPr txBox="1"/>
          <p:nvPr/>
        </p:nvSpPr>
        <p:spPr>
          <a:xfrm>
            <a:off x="1600200" y="4873752"/>
            <a:ext cx="4023360" cy="896112"/>
          </a:xfrm>
          <a:prstGeom prst="rect">
            <a:avLst/>
          </a:prstGeom>
          <a:noFill/>
        </p:spPr>
        <p:txBody>
          <a:bodyPr wrap="square" anchor="ctr" lIns="0" rIns="0" tIns="0" bIns="0">
            <a:noAutofit/>
          </a:bodyPr>
          <a:lstStyle/>
          <a:p>
            <a:pPr algn="l">
              <a:lnSpc>
                <a:spcPct val="105000"/>
              </a:lnSpc>
              <a:spcBef>
                <a:spcPts val="0"/>
              </a:spcBef>
              <a:spcAft>
                <a:spcPts val="0"/>
              </a:spcAft>
            </a:pPr>
            <a:r>
              <a:rPr sz="1700" b="1" i="0">
                <a:solidFill>
                  <a:srgbClr val="F4F6F8"/>
                </a:solidFill>
                <a:latin typeface="Arial"/>
              </a:rPr>
              <a:t>What happens to force / Gs?</a:t>
            </a:r>
          </a:p>
        </p:txBody>
      </p:sp>
      <p:sp>
        <p:nvSpPr>
          <p:cNvPr id="38" name="Rounded Rectangle 37"/>
          <p:cNvSpPr/>
          <p:nvPr/>
        </p:nvSpPr>
        <p:spPr>
          <a:xfrm>
            <a:off x="6208776" y="4745736"/>
            <a:ext cx="5120640" cy="1133856"/>
          </a:xfrm>
          <a:prstGeom prst="roundRect">
            <a:avLst>
              <a:gd name="adj" fmla="val 11290"/>
            </a:avLst>
          </a:prstGeom>
          <a:solidFill>
            <a:srgbClr val="1A2029"/>
          </a:solidFill>
          <a:ln w="19050">
            <a:solidFill>
              <a:srgbClr val="323C4A"/>
            </a:solidFill>
          </a:ln>
        </p:spPr>
        <p:txBody>
          <a:bodyPr rtlCol="0" anchor="ctr"/>
          <a:lstStyle/>
          <a:p>
            <a:pPr algn="ctr"/>
          </a:p>
        </p:txBody>
      </p:sp>
      <p:sp>
        <p:nvSpPr>
          <p:cNvPr id="39" name="Rounded Rectangle 38"/>
          <p:cNvSpPr/>
          <p:nvPr/>
        </p:nvSpPr>
        <p:spPr>
          <a:xfrm>
            <a:off x="6409944" y="4946904"/>
            <a:ext cx="566928" cy="566928"/>
          </a:xfrm>
          <a:prstGeom prst="roundRect">
            <a:avLst>
              <a:gd name="adj" fmla="val 2258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2200" b="1" i="0">
                <a:solidFill>
                  <a:srgbClr val="12161C"/>
                </a:solidFill>
                <a:latin typeface="Arial Black"/>
              </a:rPr>
              <a:t>6</a:t>
            </a:r>
          </a:p>
        </p:txBody>
      </p:sp>
      <p:sp>
        <p:nvSpPr>
          <p:cNvPr id="40" name="TextBox 39"/>
          <p:cNvSpPr txBox="1"/>
          <p:nvPr/>
        </p:nvSpPr>
        <p:spPr>
          <a:xfrm>
            <a:off x="7123176" y="4873752"/>
            <a:ext cx="4023360" cy="896112"/>
          </a:xfrm>
          <a:prstGeom prst="rect">
            <a:avLst/>
          </a:prstGeom>
          <a:noFill/>
        </p:spPr>
        <p:txBody>
          <a:bodyPr wrap="square" anchor="ctr" lIns="0" rIns="0" tIns="0" bIns="0">
            <a:noAutofit/>
          </a:bodyPr>
          <a:lstStyle/>
          <a:p>
            <a:pPr algn="l">
              <a:lnSpc>
                <a:spcPct val="105000"/>
              </a:lnSpc>
              <a:spcBef>
                <a:spcPts val="0"/>
              </a:spcBef>
              <a:spcAft>
                <a:spcPts val="0"/>
              </a:spcAft>
            </a:pPr>
            <a:r>
              <a:rPr sz="1700" b="1" i="0">
                <a:solidFill>
                  <a:srgbClr val="F4F6F8"/>
                </a:solidFill>
                <a:latin typeface="Arial"/>
              </a:rPr>
              <a:t>What happens to injuries?</a:t>
            </a:r>
          </a:p>
        </p:txBody>
      </p:sp>
      <p:sp>
        <p:nvSpPr>
          <p:cNvPr id="41" name="Rounded Rectangle 40"/>
          <p:cNvSpPr/>
          <p:nvPr/>
        </p:nvSpPr>
        <p:spPr>
          <a:xfrm>
            <a:off x="2423160" y="5806440"/>
            <a:ext cx="7315200" cy="594360"/>
          </a:xfrm>
          <a:prstGeom prst="roundRect">
            <a:avLst>
              <a:gd name="adj" fmla="val 38461"/>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1800" b="1" i="0">
                <a:solidFill>
                  <a:srgbClr val="12161C"/>
                </a:solidFill>
                <a:latin typeface="Arial"/>
              </a:rPr>
              <a:t>3 MINUTES · DON'T TRANSLATE EVERY WORD</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12161C"/>
                </a:solidFill>
                <a:latin typeface="Arial Narrow"/>
              </a:rPr>
              <a:t>ACT 3 · CRASH INVESTIGATION</a:t>
            </a:r>
          </a:p>
        </p:txBody>
      </p:sp>
      <p:sp>
        <p:nvSpPr>
          <p:cNvPr id="4" name="TextBox 3"/>
          <p:cNvSpPr txBox="1"/>
          <p:nvPr/>
        </p:nvSpPr>
        <p:spPr>
          <a:xfrm>
            <a:off x="7315200" y="310896"/>
            <a:ext cx="4187952" cy="274320"/>
          </a:xfrm>
          <a:prstGeom prst="rect">
            <a:avLst/>
          </a:prstGeom>
          <a:noFill/>
        </p:spPr>
        <p:txBody>
          <a:bodyPr wrap="square" anchor="t" lIns="0" rIns="0" tIns="0" bIns="0">
            <a:noAutofit/>
          </a:bodyPr>
          <a:lstStyle/>
          <a:p>
            <a:pPr algn="r">
              <a:lnSpc>
                <a:spcPct val="100000"/>
              </a:lnSpc>
              <a:spcBef>
                <a:spcPts val="0"/>
              </a:spcBef>
              <a:spcAft>
                <a:spcPts val="0"/>
              </a:spcAft>
            </a:pPr>
            <a:r>
              <a:rPr sz="1300" b="1" i="0" spc="220">
                <a:solidFill>
                  <a:srgbClr val="8A93A0"/>
                </a:solidFill>
                <a:latin typeface="Arial Narrow"/>
              </a:rPr>
              <a:t>CRASH INVESTIGATOR</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8A93A0"/>
                </a:solidFill>
                <a:latin typeface="Arial Narrow"/>
              </a:rPr>
              <a:t>ENERGY LAB  ·  CRASH TEST #05</a:t>
            </a:r>
          </a:p>
        </p:txBody>
      </p:sp>
      <p:sp>
        <p:nvSpPr>
          <p:cNvPr id="6" name="Rectangle 5"/>
          <p:cNvSpPr/>
          <p:nvPr/>
        </p:nvSpPr>
        <p:spPr>
          <a:xfrm>
            <a:off x="4526280" y="6510528"/>
            <a:ext cx="127363" cy="54864"/>
          </a:xfrm>
          <a:prstGeom prst="rect">
            <a:avLst/>
          </a:prstGeom>
          <a:solidFill>
            <a:srgbClr val="D9B55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D9B55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D9B55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D9B55A"/>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D9B55A"/>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D9B55A"/>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FFB400"/>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D5D0C4"/>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D5D0C4"/>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D5D0C4"/>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D5D0C4"/>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D5D0C4"/>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D5D0C4"/>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D5D0C4"/>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8A93A0"/>
                </a:solidFill>
                <a:latin typeface="Arial Narrow"/>
              </a:rPr>
              <a:t>36</a:t>
            </a:fld>
          </a:p>
        </p:txBody>
      </p:sp>
      <p:sp>
        <p:nvSpPr>
          <p:cNvPr id="21" name="TextBox 20"/>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56606E"/>
                </a:solidFill>
                <a:latin typeface="Arial Narrow"/>
              </a:rPr>
              <a:t>HOW A RESEARCH ABSTRACT IS BUILT</a:t>
            </a:r>
          </a:p>
        </p:txBody>
      </p:sp>
      <p:sp>
        <p:nvSpPr>
          <p:cNvPr id="22" name="TextBox 21"/>
          <p:cNvSpPr txBox="1"/>
          <p:nvPr/>
        </p:nvSpPr>
        <p:spPr>
          <a:xfrm>
            <a:off x="685800" y="1188720"/>
            <a:ext cx="10789920" cy="1005840"/>
          </a:xfrm>
          <a:prstGeom prst="rect">
            <a:avLst/>
          </a:prstGeom>
          <a:noFill/>
        </p:spPr>
        <p:txBody>
          <a:bodyPr wrap="square" anchor="t" lIns="0" rIns="0" tIns="0" bIns="0">
            <a:noAutofit/>
          </a:bodyPr>
          <a:lstStyle/>
          <a:p>
            <a:pPr algn="l">
              <a:lnSpc>
                <a:spcPct val="100000"/>
              </a:lnSpc>
              <a:spcBef>
                <a:spcPts val="0"/>
              </a:spcBef>
              <a:spcAft>
                <a:spcPts val="0"/>
              </a:spcAft>
            </a:pPr>
            <a:r>
              <a:rPr sz="3400" b="0" i="0">
                <a:solidFill>
                  <a:srgbClr val="12161C"/>
                </a:solidFill>
                <a:latin typeface="Arial Black"/>
              </a:rPr>
              <a:t>BACKGROUND · RESULTS · CONCLUSIONS</a:t>
            </a:r>
          </a:p>
        </p:txBody>
      </p:sp>
      <p:sp>
        <p:nvSpPr>
          <p:cNvPr id="23" name="Rounded Rectangle 22"/>
          <p:cNvSpPr/>
          <p:nvPr/>
        </p:nvSpPr>
        <p:spPr>
          <a:xfrm>
            <a:off x="685800" y="2331720"/>
            <a:ext cx="3456432" cy="2331720"/>
          </a:xfrm>
          <a:prstGeom prst="roundRect">
            <a:avLst>
              <a:gd name="adj" fmla="val 5490"/>
            </a:avLst>
          </a:prstGeom>
          <a:solidFill>
            <a:srgbClr val="FFFFFF"/>
          </a:solidFill>
          <a:ln w="19050">
            <a:solidFill>
              <a:srgbClr val="CFC9BC"/>
            </a:solidFill>
          </a:ln>
        </p:spPr>
        <p:txBody>
          <a:bodyPr rtlCol="0" anchor="ctr"/>
          <a:lstStyle/>
          <a:p>
            <a:pPr algn="ctr"/>
          </a:p>
        </p:txBody>
      </p:sp>
      <p:sp>
        <p:nvSpPr>
          <p:cNvPr id="24" name="Rounded Rectangle 23"/>
          <p:cNvSpPr/>
          <p:nvPr/>
        </p:nvSpPr>
        <p:spPr>
          <a:xfrm>
            <a:off x="914400" y="2560320"/>
            <a:ext cx="640080" cy="640080"/>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2600" b="1" i="0">
                <a:solidFill>
                  <a:srgbClr val="12161C"/>
                </a:solidFill>
                <a:latin typeface="Arial Black"/>
              </a:rPr>
              <a:t>A</a:t>
            </a:r>
          </a:p>
        </p:txBody>
      </p:sp>
      <p:sp>
        <p:nvSpPr>
          <p:cNvPr id="25" name="TextBox 24"/>
          <p:cNvSpPr txBox="1"/>
          <p:nvPr/>
        </p:nvSpPr>
        <p:spPr>
          <a:xfrm>
            <a:off x="914400" y="3337560"/>
            <a:ext cx="3017520" cy="457200"/>
          </a:xfrm>
          <a:prstGeom prst="rect">
            <a:avLst/>
          </a:prstGeom>
          <a:noFill/>
        </p:spPr>
        <p:txBody>
          <a:bodyPr wrap="square" anchor="t" lIns="0" rIns="0" tIns="0" bIns="0">
            <a:noAutofit/>
          </a:bodyPr>
          <a:lstStyle/>
          <a:p>
            <a:pPr algn="l">
              <a:lnSpc>
                <a:spcPct val="100000"/>
              </a:lnSpc>
              <a:spcBef>
                <a:spcPts val="0"/>
              </a:spcBef>
              <a:spcAft>
                <a:spcPts val="0"/>
              </a:spcAft>
            </a:pPr>
            <a:r>
              <a:rPr sz="2200" b="0" i="0">
                <a:solidFill>
                  <a:srgbClr val="12161C"/>
                </a:solidFill>
                <a:latin typeface="Arial Black"/>
              </a:rPr>
              <a:t>BACKGROUND</a:t>
            </a:r>
          </a:p>
        </p:txBody>
      </p:sp>
      <p:sp>
        <p:nvSpPr>
          <p:cNvPr id="26" name="TextBox 25"/>
          <p:cNvSpPr txBox="1"/>
          <p:nvPr/>
        </p:nvSpPr>
        <p:spPr>
          <a:xfrm>
            <a:off x="914400" y="3794760"/>
            <a:ext cx="3017520" cy="731520"/>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6606E"/>
                </a:solidFill>
                <a:latin typeface="Arial"/>
              </a:rPr>
              <a:t>Why did we test this?</a:t>
            </a:r>
          </a:p>
        </p:txBody>
      </p:sp>
      <p:sp>
        <p:nvSpPr>
          <p:cNvPr id="27" name="Freeform 26"/>
          <p:cNvSpPr/>
          <p:nvPr/>
        </p:nvSpPr>
        <p:spPr>
          <a:xfrm>
            <a:off x="4187952" y="3291840"/>
            <a:ext cx="365760" cy="365760"/>
          </a:xfrm>
          <a:custGeom>
            <a:avLst/>
            <a:gdLst/>
            <a:ahLst/>
            <a:cxnLst/>
            <a:rect l="l" t="t" r="r" b="b"/>
            <a:pathLst>
              <a:path w="365760" h="365760">
                <a:moveTo>
                  <a:pt x="0" y="106070"/>
                </a:moveTo>
                <a:lnTo>
                  <a:pt x="201168" y="106070"/>
                </a:lnTo>
                <a:lnTo>
                  <a:pt x="201168" y="0"/>
                </a:lnTo>
                <a:lnTo>
                  <a:pt x="365760" y="182880"/>
                </a:lnTo>
                <a:lnTo>
                  <a:pt x="201168" y="365760"/>
                </a:lnTo>
                <a:lnTo>
                  <a:pt x="201168" y="259690"/>
                </a:lnTo>
                <a:lnTo>
                  <a:pt x="0" y="259690"/>
                </a:lnTo>
                <a:close/>
              </a:path>
            </a:pathLst>
          </a:custGeom>
          <a:solidFill>
            <a:srgbClr val="FFB400"/>
          </a:solidFill>
          <a:ln>
            <a:noFill/>
          </a:ln>
        </p:spPr>
        <p:txBody>
          <a:bodyPr rtlCol="0" anchor="ctr"/>
          <a:lstStyle/>
          <a:p>
            <a:pPr algn="ctr"/>
          </a:p>
        </p:txBody>
      </p:sp>
      <p:sp>
        <p:nvSpPr>
          <p:cNvPr id="28" name="Rounded Rectangle 27"/>
          <p:cNvSpPr/>
          <p:nvPr/>
        </p:nvSpPr>
        <p:spPr>
          <a:xfrm>
            <a:off x="4370832" y="2331720"/>
            <a:ext cx="3456432" cy="2331720"/>
          </a:xfrm>
          <a:prstGeom prst="roundRect">
            <a:avLst>
              <a:gd name="adj" fmla="val 5490"/>
            </a:avLst>
          </a:prstGeom>
          <a:solidFill>
            <a:srgbClr val="FFFFFF"/>
          </a:solidFill>
          <a:ln w="19050">
            <a:solidFill>
              <a:srgbClr val="CFC9BC"/>
            </a:solidFill>
          </a:ln>
        </p:spPr>
        <p:txBody>
          <a:bodyPr rtlCol="0" anchor="ctr"/>
          <a:lstStyle/>
          <a:p>
            <a:pPr algn="ctr"/>
          </a:p>
        </p:txBody>
      </p:sp>
      <p:sp>
        <p:nvSpPr>
          <p:cNvPr id="29" name="Rounded Rectangle 28"/>
          <p:cNvSpPr/>
          <p:nvPr/>
        </p:nvSpPr>
        <p:spPr>
          <a:xfrm>
            <a:off x="4599432" y="2560320"/>
            <a:ext cx="640080" cy="640080"/>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2600" b="1" i="0">
                <a:solidFill>
                  <a:srgbClr val="12161C"/>
                </a:solidFill>
                <a:latin typeface="Arial Black"/>
              </a:rPr>
              <a:t>B</a:t>
            </a:r>
          </a:p>
        </p:txBody>
      </p:sp>
      <p:sp>
        <p:nvSpPr>
          <p:cNvPr id="30" name="TextBox 29"/>
          <p:cNvSpPr txBox="1"/>
          <p:nvPr/>
        </p:nvSpPr>
        <p:spPr>
          <a:xfrm>
            <a:off x="4599432" y="3337560"/>
            <a:ext cx="3017520" cy="457200"/>
          </a:xfrm>
          <a:prstGeom prst="rect">
            <a:avLst/>
          </a:prstGeom>
          <a:noFill/>
        </p:spPr>
        <p:txBody>
          <a:bodyPr wrap="square" anchor="t" lIns="0" rIns="0" tIns="0" bIns="0">
            <a:noAutofit/>
          </a:bodyPr>
          <a:lstStyle/>
          <a:p>
            <a:pPr algn="l">
              <a:lnSpc>
                <a:spcPct val="100000"/>
              </a:lnSpc>
              <a:spcBef>
                <a:spcPts val="0"/>
              </a:spcBef>
              <a:spcAft>
                <a:spcPts val="0"/>
              </a:spcAft>
            </a:pPr>
            <a:r>
              <a:rPr sz="2200" b="0" i="0">
                <a:solidFill>
                  <a:srgbClr val="12161C"/>
                </a:solidFill>
                <a:latin typeface="Arial Black"/>
              </a:rPr>
              <a:t>RESULTS</a:t>
            </a:r>
          </a:p>
        </p:txBody>
      </p:sp>
      <p:sp>
        <p:nvSpPr>
          <p:cNvPr id="31" name="TextBox 30"/>
          <p:cNvSpPr txBox="1"/>
          <p:nvPr/>
        </p:nvSpPr>
        <p:spPr>
          <a:xfrm>
            <a:off x="4599432" y="3794760"/>
            <a:ext cx="3017520" cy="731520"/>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6606E"/>
                </a:solidFill>
                <a:latin typeface="Arial"/>
              </a:rPr>
              <a:t>What did we measure?</a:t>
            </a:r>
          </a:p>
        </p:txBody>
      </p:sp>
      <p:sp>
        <p:nvSpPr>
          <p:cNvPr id="32" name="Freeform 31"/>
          <p:cNvSpPr/>
          <p:nvPr/>
        </p:nvSpPr>
        <p:spPr>
          <a:xfrm>
            <a:off x="7872984" y="3291840"/>
            <a:ext cx="365760" cy="365760"/>
          </a:xfrm>
          <a:custGeom>
            <a:avLst/>
            <a:gdLst/>
            <a:ahLst/>
            <a:cxnLst/>
            <a:rect l="l" t="t" r="r" b="b"/>
            <a:pathLst>
              <a:path w="365760" h="365760">
                <a:moveTo>
                  <a:pt x="0" y="106070"/>
                </a:moveTo>
                <a:lnTo>
                  <a:pt x="201168" y="106070"/>
                </a:lnTo>
                <a:lnTo>
                  <a:pt x="201168" y="0"/>
                </a:lnTo>
                <a:lnTo>
                  <a:pt x="365760" y="182880"/>
                </a:lnTo>
                <a:lnTo>
                  <a:pt x="201168" y="365760"/>
                </a:lnTo>
                <a:lnTo>
                  <a:pt x="201168" y="259690"/>
                </a:lnTo>
                <a:lnTo>
                  <a:pt x="0" y="259690"/>
                </a:lnTo>
                <a:close/>
              </a:path>
            </a:pathLst>
          </a:custGeom>
          <a:solidFill>
            <a:srgbClr val="FFB400"/>
          </a:solidFill>
          <a:ln>
            <a:noFill/>
          </a:ln>
        </p:spPr>
        <p:txBody>
          <a:bodyPr rtlCol="0" anchor="ctr"/>
          <a:lstStyle/>
          <a:p>
            <a:pPr algn="ctr"/>
          </a:p>
        </p:txBody>
      </p:sp>
      <p:sp>
        <p:nvSpPr>
          <p:cNvPr id="33" name="Rounded Rectangle 32"/>
          <p:cNvSpPr/>
          <p:nvPr/>
        </p:nvSpPr>
        <p:spPr>
          <a:xfrm>
            <a:off x="8055864" y="2331720"/>
            <a:ext cx="3456432" cy="2331720"/>
          </a:xfrm>
          <a:prstGeom prst="roundRect">
            <a:avLst>
              <a:gd name="adj" fmla="val 5490"/>
            </a:avLst>
          </a:prstGeom>
          <a:solidFill>
            <a:srgbClr val="FFFFFF"/>
          </a:solidFill>
          <a:ln w="19050">
            <a:solidFill>
              <a:srgbClr val="CFC9BC"/>
            </a:solidFill>
          </a:ln>
        </p:spPr>
        <p:txBody>
          <a:bodyPr rtlCol="0" anchor="ctr"/>
          <a:lstStyle/>
          <a:p>
            <a:pPr algn="ctr"/>
          </a:p>
        </p:txBody>
      </p:sp>
      <p:sp>
        <p:nvSpPr>
          <p:cNvPr id="34" name="Rounded Rectangle 33"/>
          <p:cNvSpPr/>
          <p:nvPr/>
        </p:nvSpPr>
        <p:spPr>
          <a:xfrm>
            <a:off x="8284464" y="2560320"/>
            <a:ext cx="640080" cy="640080"/>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2600" b="1" i="0">
                <a:solidFill>
                  <a:srgbClr val="12161C"/>
                </a:solidFill>
                <a:latin typeface="Arial Black"/>
              </a:rPr>
              <a:t>C</a:t>
            </a:r>
          </a:p>
        </p:txBody>
      </p:sp>
      <p:sp>
        <p:nvSpPr>
          <p:cNvPr id="35" name="TextBox 34"/>
          <p:cNvSpPr txBox="1"/>
          <p:nvPr/>
        </p:nvSpPr>
        <p:spPr>
          <a:xfrm>
            <a:off x="8284464" y="3337560"/>
            <a:ext cx="3017520" cy="457200"/>
          </a:xfrm>
          <a:prstGeom prst="rect">
            <a:avLst/>
          </a:prstGeom>
          <a:noFill/>
        </p:spPr>
        <p:txBody>
          <a:bodyPr wrap="square" anchor="t" lIns="0" rIns="0" tIns="0" bIns="0">
            <a:noAutofit/>
          </a:bodyPr>
          <a:lstStyle/>
          <a:p>
            <a:pPr algn="l">
              <a:lnSpc>
                <a:spcPct val="100000"/>
              </a:lnSpc>
              <a:spcBef>
                <a:spcPts val="0"/>
              </a:spcBef>
              <a:spcAft>
                <a:spcPts val="0"/>
              </a:spcAft>
            </a:pPr>
            <a:r>
              <a:rPr sz="2200" b="0" i="0">
                <a:solidFill>
                  <a:srgbClr val="12161C"/>
                </a:solidFill>
                <a:latin typeface="Arial Black"/>
              </a:rPr>
              <a:t>CONCLUSIONS</a:t>
            </a:r>
          </a:p>
        </p:txBody>
      </p:sp>
      <p:sp>
        <p:nvSpPr>
          <p:cNvPr id="36" name="TextBox 35"/>
          <p:cNvSpPr txBox="1"/>
          <p:nvPr/>
        </p:nvSpPr>
        <p:spPr>
          <a:xfrm>
            <a:off x="8284464" y="3794760"/>
            <a:ext cx="3017520" cy="731520"/>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6606E"/>
                </a:solidFill>
                <a:latin typeface="Arial"/>
              </a:rPr>
              <a:t>What does it mean?</a:t>
            </a:r>
          </a:p>
        </p:txBody>
      </p:sp>
      <p:sp>
        <p:nvSpPr>
          <p:cNvPr id="37" name="TextBox 36"/>
          <p:cNvSpPr txBox="1"/>
          <p:nvPr/>
        </p:nvSpPr>
        <p:spPr>
          <a:xfrm>
            <a:off x="685800" y="5029200"/>
            <a:ext cx="10817352" cy="502920"/>
          </a:xfrm>
          <a:prstGeom prst="rect">
            <a:avLst/>
          </a:prstGeom>
          <a:noFill/>
        </p:spPr>
        <p:txBody>
          <a:bodyPr wrap="square" anchor="t" lIns="0" rIns="0" tIns="0" bIns="0">
            <a:noAutofit/>
          </a:bodyPr>
          <a:lstStyle/>
          <a:p>
            <a:pPr algn="l">
              <a:lnSpc>
                <a:spcPct val="100000"/>
              </a:lnSpc>
              <a:spcBef>
                <a:spcPts val="0"/>
              </a:spcBef>
              <a:spcAft>
                <a:spcPts val="0"/>
              </a:spcAft>
            </a:pPr>
            <a:r>
              <a:rPr sz="1800" b="0" i="1">
                <a:solidFill>
                  <a:srgbClr val="56606E"/>
                </a:solidFill>
                <a:latin typeface="Arial"/>
              </a:rPr>
              <a:t>Scientists ALWAYS use this order — so any reader can find the claim, the evidence, and the meaning in seconds.</a:t>
            </a:r>
          </a:p>
        </p:txBody>
      </p:sp>
      <p:sp>
        <p:nvSpPr>
          <p:cNvPr id="38" name="Rounded Rectangle 37"/>
          <p:cNvSpPr/>
          <p:nvPr/>
        </p:nvSpPr>
        <p:spPr>
          <a:xfrm>
            <a:off x="685800" y="5715000"/>
            <a:ext cx="5101606" cy="274320"/>
          </a:xfrm>
          <a:prstGeom prst="roundRect">
            <a:avLst>
              <a:gd name="adj" fmla="val 50000"/>
            </a:avLst>
          </a:prstGeom>
          <a:noFill/>
          <a:ln w="19050">
            <a:solidFill>
              <a:srgbClr val="0B6A96"/>
            </a:solidFill>
          </a:ln>
        </p:spPr>
        <p:txBody>
          <a:bodyPr rtlCol="0" anchor="ctr" wrap="square" lIns="0" rIns="0" tIns="0" bIns="0">
            <a:noAutofit/>
          </a:bodyPr>
          <a:lstStyle/>
          <a:p>
            <a:pPr algn="ctr">
              <a:lnSpc>
                <a:spcPct val="100000"/>
              </a:lnSpc>
              <a:spcBef>
                <a:spcPts val="0"/>
              </a:spcBef>
              <a:spcAft>
                <a:spcPts val="0"/>
              </a:spcAft>
            </a:pPr>
            <a:r>
              <a:rPr sz="1300" b="1" i="0" spc="200">
                <a:solidFill>
                  <a:srgbClr val="0B6A96"/>
                </a:solidFill>
                <a:latin typeface="Arial Narrow"/>
              </a:rPr>
              <a:t>TEXTBOOK · TASK 5 · LISTEN &amp; READ THE ABSTRACT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12161C"/>
                </a:solidFill>
                <a:latin typeface="Arial Narrow"/>
              </a:rPr>
              <a:t>ACT 3 · CRASH INVESTIGATION</a:t>
            </a:r>
          </a:p>
        </p:txBody>
      </p:sp>
      <p:sp>
        <p:nvSpPr>
          <p:cNvPr id="4" name="TextBox 3"/>
          <p:cNvSpPr txBox="1"/>
          <p:nvPr/>
        </p:nvSpPr>
        <p:spPr>
          <a:xfrm>
            <a:off x="7315200" y="310896"/>
            <a:ext cx="4187952" cy="274320"/>
          </a:xfrm>
          <a:prstGeom prst="rect">
            <a:avLst/>
          </a:prstGeom>
          <a:noFill/>
        </p:spPr>
        <p:txBody>
          <a:bodyPr wrap="square" anchor="t" lIns="0" rIns="0" tIns="0" bIns="0">
            <a:noAutofit/>
          </a:bodyPr>
          <a:lstStyle/>
          <a:p>
            <a:pPr algn="r">
              <a:lnSpc>
                <a:spcPct val="100000"/>
              </a:lnSpc>
              <a:spcBef>
                <a:spcPts val="0"/>
              </a:spcBef>
              <a:spcAft>
                <a:spcPts val="0"/>
              </a:spcAft>
            </a:pPr>
            <a:r>
              <a:rPr sz="1300" b="1" i="0" spc="220">
                <a:solidFill>
                  <a:srgbClr val="8A93A0"/>
                </a:solidFill>
                <a:latin typeface="Arial Narrow"/>
              </a:rPr>
              <a:t>CRASH INVESTIGATOR</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8A93A0"/>
                </a:solidFill>
                <a:latin typeface="Arial Narrow"/>
              </a:rPr>
              <a:t>ENERGY LAB  ·  CRASH TEST #05</a:t>
            </a:r>
          </a:p>
        </p:txBody>
      </p:sp>
      <p:sp>
        <p:nvSpPr>
          <p:cNvPr id="6" name="Rectangle 5"/>
          <p:cNvSpPr/>
          <p:nvPr/>
        </p:nvSpPr>
        <p:spPr>
          <a:xfrm>
            <a:off x="4526280" y="6510528"/>
            <a:ext cx="127363" cy="54864"/>
          </a:xfrm>
          <a:prstGeom prst="rect">
            <a:avLst/>
          </a:prstGeom>
          <a:solidFill>
            <a:srgbClr val="D9B55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D9B55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D9B55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D9B55A"/>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D9B55A"/>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D9B55A"/>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FFB400"/>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D5D0C4"/>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D5D0C4"/>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D5D0C4"/>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D5D0C4"/>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D5D0C4"/>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D5D0C4"/>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D5D0C4"/>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8A93A0"/>
                </a:solidFill>
                <a:latin typeface="Arial Narrow"/>
              </a:rPr>
              <a:t>37</a:t>
            </a:fld>
          </a:p>
        </p:txBody>
      </p:sp>
      <p:sp>
        <p:nvSpPr>
          <p:cNvPr id="21" name="Rounded Rectangle 20"/>
          <p:cNvSpPr/>
          <p:nvPr/>
        </p:nvSpPr>
        <p:spPr>
          <a:xfrm>
            <a:off x="9052560" y="914400"/>
            <a:ext cx="3872405" cy="274320"/>
          </a:xfrm>
          <a:prstGeom prst="roundRect">
            <a:avLst>
              <a:gd name="adj" fmla="val 50000"/>
            </a:avLst>
          </a:prstGeom>
          <a:noFill/>
          <a:ln w="19050">
            <a:solidFill>
              <a:srgbClr val="0B6A96"/>
            </a:solidFill>
          </a:ln>
        </p:spPr>
        <p:txBody>
          <a:bodyPr rtlCol="0" anchor="ctr" wrap="square" lIns="0" rIns="0" tIns="0" bIns="0">
            <a:noAutofit/>
          </a:bodyPr>
          <a:lstStyle/>
          <a:p>
            <a:pPr algn="ctr">
              <a:lnSpc>
                <a:spcPct val="100000"/>
              </a:lnSpc>
              <a:spcBef>
                <a:spcPts val="0"/>
              </a:spcBef>
              <a:spcAft>
                <a:spcPts val="0"/>
              </a:spcAft>
            </a:pPr>
            <a:r>
              <a:rPr sz="1300" b="1" i="0" spc="200">
                <a:solidFill>
                  <a:srgbClr val="0B6A96"/>
                </a:solidFill>
                <a:latin typeface="Arial Narrow"/>
              </a:rPr>
              <a:t>TEXTBOOK · ABSTRACT · BACKGROUND</a:t>
            </a:r>
          </a:p>
        </p:txBody>
      </p:sp>
      <p:sp>
        <p:nvSpPr>
          <p:cNvPr id="22" name="TextBox 21"/>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56606E"/>
                </a:solidFill>
                <a:latin typeface="Arial Narrow"/>
              </a:rPr>
              <a:t>ABSTRACT · PART A</a:t>
            </a:r>
          </a:p>
        </p:txBody>
      </p:sp>
      <p:sp>
        <p:nvSpPr>
          <p:cNvPr id="23" name="TextBox 22"/>
          <p:cNvSpPr txBox="1"/>
          <p:nvPr/>
        </p:nvSpPr>
        <p:spPr>
          <a:xfrm>
            <a:off x="685800" y="1188720"/>
            <a:ext cx="10789920" cy="1005840"/>
          </a:xfrm>
          <a:prstGeom prst="rect">
            <a:avLst/>
          </a:prstGeom>
          <a:noFill/>
        </p:spPr>
        <p:txBody>
          <a:bodyPr wrap="square" anchor="t" lIns="0" rIns="0" tIns="0" bIns="0">
            <a:noAutofit/>
          </a:bodyPr>
          <a:lstStyle/>
          <a:p>
            <a:pPr algn="l">
              <a:lnSpc>
                <a:spcPct val="100000"/>
              </a:lnSpc>
              <a:spcBef>
                <a:spcPts val="0"/>
              </a:spcBef>
              <a:spcAft>
                <a:spcPts val="0"/>
              </a:spcAft>
            </a:pPr>
            <a:r>
              <a:rPr sz="4400" b="0" i="0">
                <a:solidFill>
                  <a:srgbClr val="12161C"/>
                </a:solidFill>
                <a:latin typeface="Arial Black"/>
              </a:rPr>
              <a:t>BACKGROUND</a:t>
            </a:r>
          </a:p>
        </p:txBody>
      </p:sp>
      <p:cxnSp>
        <p:nvCxnSpPr>
          <p:cNvPr id="24" name="Connector 23"/>
          <p:cNvCxnSpPr/>
          <p:nvPr/>
        </p:nvCxnSpPr>
        <p:spPr>
          <a:xfrm>
            <a:off x="782726" y="5215738"/>
            <a:ext cx="4700931" cy="0"/>
          </a:xfrm>
          <a:prstGeom prst="line">
            <a:avLst/>
          </a:prstGeom>
          <a:ln w="44450" cap="rnd">
            <a:solidFill>
              <a:srgbClr val="8A93A0"/>
            </a:solidFill>
            <a:round/>
          </a:ln>
        </p:spPr>
      </p:cxnSp>
      <p:sp>
        <p:nvSpPr>
          <p:cNvPr id="25" name="Freeform 24"/>
          <p:cNvSpPr/>
          <p:nvPr/>
        </p:nvSpPr>
        <p:spPr>
          <a:xfrm>
            <a:off x="1066721" y="3923709"/>
            <a:ext cx="2884529" cy="931462"/>
          </a:xfrm>
          <a:custGeom>
            <a:avLst/>
            <a:gdLst/>
            <a:ahLst/>
            <a:cxnLst/>
            <a:rect l="l" t="t" r="r" b="b"/>
            <a:pathLst>
              <a:path w="2884529" h="931462">
                <a:moveTo>
                  <a:pt x="0" y="931462"/>
                </a:moveTo>
                <a:lnTo>
                  <a:pt x="0" y="570896"/>
                </a:lnTo>
                <a:lnTo>
                  <a:pt x="120188" y="420660"/>
                </a:lnTo>
                <a:lnTo>
                  <a:pt x="630991" y="360566"/>
                </a:lnTo>
                <a:lnTo>
                  <a:pt x="931462" y="0"/>
                </a:lnTo>
                <a:lnTo>
                  <a:pt x="1772784" y="0"/>
                </a:lnTo>
                <a:lnTo>
                  <a:pt x="2193444" y="390613"/>
                </a:lnTo>
                <a:lnTo>
                  <a:pt x="2734293" y="510802"/>
                </a:lnTo>
                <a:lnTo>
                  <a:pt x="2884529" y="721132"/>
                </a:lnTo>
                <a:lnTo>
                  <a:pt x="2884529" y="931462"/>
                </a:lnTo>
                <a:close/>
              </a:path>
            </a:pathLst>
          </a:custGeom>
          <a:solidFill>
            <a:srgbClr val="3A4657"/>
          </a:solidFill>
          <a:ln>
            <a:noFill/>
          </a:ln>
        </p:spPr>
        <p:txBody>
          <a:bodyPr rtlCol="0" anchor="ctr"/>
          <a:lstStyle/>
          <a:p>
            <a:pPr algn="ctr"/>
          </a:p>
        </p:txBody>
      </p:sp>
      <p:sp>
        <p:nvSpPr>
          <p:cNvPr id="26" name="Freeform 25"/>
          <p:cNvSpPr/>
          <p:nvPr/>
        </p:nvSpPr>
        <p:spPr>
          <a:xfrm>
            <a:off x="1847948" y="4013850"/>
            <a:ext cx="1186863" cy="270425"/>
          </a:xfrm>
          <a:custGeom>
            <a:avLst/>
            <a:gdLst/>
            <a:ahLst/>
            <a:cxnLst/>
            <a:rect l="l" t="t" r="r" b="b"/>
            <a:pathLst>
              <a:path w="1186863" h="270425">
                <a:moveTo>
                  <a:pt x="0" y="270425"/>
                </a:moveTo>
                <a:lnTo>
                  <a:pt x="225353" y="0"/>
                </a:lnTo>
                <a:lnTo>
                  <a:pt x="931462" y="0"/>
                </a:lnTo>
                <a:lnTo>
                  <a:pt x="1186863" y="270425"/>
                </a:lnTo>
                <a:close/>
              </a:path>
            </a:pathLst>
          </a:custGeom>
          <a:solidFill>
            <a:srgbClr val="9FD8F2"/>
          </a:solidFill>
          <a:ln>
            <a:noFill/>
          </a:ln>
        </p:spPr>
        <p:txBody>
          <a:bodyPr rtlCol="0" anchor="ctr"/>
          <a:lstStyle/>
          <a:p>
            <a:pPr algn="ctr"/>
          </a:p>
        </p:txBody>
      </p:sp>
      <p:cxnSp>
        <p:nvCxnSpPr>
          <p:cNvPr id="27" name="Connector 26"/>
          <p:cNvCxnSpPr/>
          <p:nvPr/>
        </p:nvCxnSpPr>
        <p:spPr>
          <a:xfrm>
            <a:off x="2433868" y="4013850"/>
            <a:ext cx="0" cy="270425"/>
          </a:xfrm>
          <a:prstGeom prst="line">
            <a:avLst/>
          </a:prstGeom>
          <a:ln w="38100">
            <a:solidFill>
              <a:srgbClr val="3A4657"/>
            </a:solidFill>
          </a:ln>
        </p:spPr>
      </p:cxnSp>
      <p:sp>
        <p:nvSpPr>
          <p:cNvPr id="28" name="Oval 27"/>
          <p:cNvSpPr/>
          <p:nvPr/>
        </p:nvSpPr>
        <p:spPr>
          <a:xfrm>
            <a:off x="1403249" y="4680898"/>
            <a:ext cx="468736" cy="468736"/>
          </a:xfrm>
          <a:prstGeom prst="ellipse">
            <a:avLst/>
          </a:prstGeom>
          <a:solidFill>
            <a:srgbClr val="0B0E12"/>
          </a:solidFill>
          <a:ln w="25400">
            <a:solidFill>
              <a:srgbClr val="F5F3EE"/>
            </a:solidFill>
          </a:ln>
        </p:spPr>
        <p:txBody>
          <a:bodyPr rtlCol="0" anchor="ctr"/>
          <a:lstStyle/>
          <a:p>
            <a:pPr algn="ctr"/>
          </a:p>
        </p:txBody>
      </p:sp>
      <p:sp>
        <p:nvSpPr>
          <p:cNvPr id="29" name="Oval 28"/>
          <p:cNvSpPr/>
          <p:nvPr/>
        </p:nvSpPr>
        <p:spPr>
          <a:xfrm>
            <a:off x="1529447" y="4807096"/>
            <a:ext cx="216340" cy="216340"/>
          </a:xfrm>
          <a:prstGeom prst="ellipse">
            <a:avLst/>
          </a:prstGeom>
          <a:solidFill>
            <a:srgbClr val="B7C0CC"/>
          </a:solidFill>
          <a:ln>
            <a:noFill/>
          </a:ln>
        </p:spPr>
        <p:txBody>
          <a:bodyPr rtlCol="0" anchor="ctr"/>
          <a:lstStyle/>
          <a:p>
            <a:pPr algn="ctr"/>
          </a:p>
        </p:txBody>
      </p:sp>
      <p:sp>
        <p:nvSpPr>
          <p:cNvPr id="30" name="Oval 29"/>
          <p:cNvSpPr/>
          <p:nvPr/>
        </p:nvSpPr>
        <p:spPr>
          <a:xfrm>
            <a:off x="3085892" y="4680898"/>
            <a:ext cx="468736" cy="468736"/>
          </a:xfrm>
          <a:prstGeom prst="ellipse">
            <a:avLst/>
          </a:prstGeom>
          <a:solidFill>
            <a:srgbClr val="0B0E12"/>
          </a:solidFill>
          <a:ln w="25400">
            <a:solidFill>
              <a:srgbClr val="F5F3EE"/>
            </a:solidFill>
          </a:ln>
        </p:spPr>
        <p:txBody>
          <a:bodyPr rtlCol="0" anchor="ctr"/>
          <a:lstStyle/>
          <a:p>
            <a:pPr algn="ctr"/>
          </a:p>
        </p:txBody>
      </p:sp>
      <p:sp>
        <p:nvSpPr>
          <p:cNvPr id="31" name="Oval 30"/>
          <p:cNvSpPr/>
          <p:nvPr/>
        </p:nvSpPr>
        <p:spPr>
          <a:xfrm>
            <a:off x="3212090" y="4807096"/>
            <a:ext cx="216340" cy="216340"/>
          </a:xfrm>
          <a:prstGeom prst="ellipse">
            <a:avLst/>
          </a:prstGeom>
          <a:solidFill>
            <a:srgbClr val="B7C0CC"/>
          </a:solidFill>
          <a:ln>
            <a:noFill/>
          </a:ln>
        </p:spPr>
        <p:txBody>
          <a:bodyPr rtlCol="0" anchor="ctr"/>
          <a:lstStyle/>
          <a:p>
            <a:pPr algn="ctr"/>
          </a:p>
        </p:txBody>
      </p:sp>
      <p:sp>
        <p:nvSpPr>
          <p:cNvPr id="32" name="Rounded Rectangle 31"/>
          <p:cNvSpPr/>
          <p:nvPr/>
        </p:nvSpPr>
        <p:spPr>
          <a:xfrm>
            <a:off x="1844893" y="4908572"/>
            <a:ext cx="1474013" cy="442204"/>
          </a:xfrm>
          <a:prstGeom prst="roundRect">
            <a:avLst>
              <a:gd name="adj" fmla="val 24813"/>
            </a:avLst>
          </a:prstGeom>
          <a:solidFill>
            <a:srgbClr val="56606E"/>
          </a:solidFill>
          <a:ln w="25400">
            <a:solidFill>
              <a:srgbClr val="12161C"/>
            </a:solidFill>
          </a:ln>
        </p:spPr>
        <p:txBody>
          <a:bodyPr rtlCol="0" anchor="ctr"/>
          <a:lstStyle/>
          <a:p>
            <a:pPr algn="ctr"/>
          </a:p>
        </p:txBody>
      </p:sp>
      <p:sp>
        <p:nvSpPr>
          <p:cNvPr id="33" name="Rounded Rectangle 32"/>
          <p:cNvSpPr/>
          <p:nvPr/>
        </p:nvSpPr>
        <p:spPr>
          <a:xfrm>
            <a:off x="1682752" y="3449300"/>
            <a:ext cx="913888" cy="1768815"/>
          </a:xfrm>
          <a:prstGeom prst="roundRect">
            <a:avLst>
              <a:gd name="adj" fmla="val 35483"/>
            </a:avLst>
          </a:prstGeom>
          <a:solidFill>
            <a:srgbClr val="56606E"/>
          </a:solidFill>
          <a:ln w="25400">
            <a:solidFill>
              <a:srgbClr val="12161C"/>
            </a:solidFill>
          </a:ln>
        </p:spPr>
        <p:txBody>
          <a:bodyPr rtlCol="0" anchor="ctr"/>
          <a:lstStyle/>
          <a:p>
            <a:pPr algn="ctr"/>
          </a:p>
        </p:txBody>
      </p:sp>
      <p:sp>
        <p:nvSpPr>
          <p:cNvPr id="34" name="Oval 33"/>
          <p:cNvSpPr/>
          <p:nvPr/>
        </p:nvSpPr>
        <p:spPr>
          <a:xfrm>
            <a:off x="1785933" y="2564892"/>
            <a:ext cx="795967" cy="795967"/>
          </a:xfrm>
          <a:prstGeom prst="ellipse">
            <a:avLst/>
          </a:prstGeom>
          <a:solidFill>
            <a:srgbClr val="56606E"/>
          </a:solidFill>
          <a:ln w="25400">
            <a:solidFill>
              <a:srgbClr val="12161C"/>
            </a:solidFill>
          </a:ln>
        </p:spPr>
        <p:txBody>
          <a:bodyPr rtlCol="0" anchor="ctr"/>
          <a:lstStyle/>
          <a:p>
            <a:pPr algn="ctr"/>
          </a:p>
        </p:txBody>
      </p:sp>
      <p:cxnSp>
        <p:nvCxnSpPr>
          <p:cNvPr id="35" name="Connector 34"/>
          <p:cNvCxnSpPr/>
          <p:nvPr/>
        </p:nvCxnSpPr>
        <p:spPr>
          <a:xfrm>
            <a:off x="152059" y="3957706"/>
            <a:ext cx="630667" cy="0"/>
          </a:xfrm>
          <a:prstGeom prst="line">
            <a:avLst/>
          </a:prstGeom>
          <a:ln w="38100" cap="rnd">
            <a:solidFill>
              <a:srgbClr val="FFB400"/>
            </a:solidFill>
            <a:round/>
          </a:ln>
        </p:spPr>
      </p:cxnSp>
      <p:cxnSp>
        <p:nvCxnSpPr>
          <p:cNvPr id="36" name="Connector 35"/>
          <p:cNvCxnSpPr/>
          <p:nvPr/>
        </p:nvCxnSpPr>
        <p:spPr>
          <a:xfrm>
            <a:off x="7315" y="4314322"/>
            <a:ext cx="775411" cy="0"/>
          </a:xfrm>
          <a:prstGeom prst="line">
            <a:avLst/>
          </a:prstGeom>
          <a:ln w="38100" cap="rnd">
            <a:solidFill>
              <a:srgbClr val="FFB400"/>
            </a:solidFill>
            <a:round/>
          </a:ln>
        </p:spPr>
      </p:cxnSp>
      <p:cxnSp>
        <p:nvCxnSpPr>
          <p:cNvPr id="37" name="Connector 36"/>
          <p:cNvCxnSpPr/>
          <p:nvPr/>
        </p:nvCxnSpPr>
        <p:spPr>
          <a:xfrm>
            <a:off x="152059" y="4670938"/>
            <a:ext cx="630667" cy="0"/>
          </a:xfrm>
          <a:prstGeom prst="line">
            <a:avLst/>
          </a:prstGeom>
          <a:ln w="38100" cap="rnd">
            <a:solidFill>
              <a:srgbClr val="FFB400"/>
            </a:solidFill>
            <a:round/>
          </a:ln>
        </p:spPr>
      </p:cxnSp>
      <p:sp>
        <p:nvSpPr>
          <p:cNvPr id="38" name="TextBox 37"/>
          <p:cNvSpPr txBox="1"/>
          <p:nvPr/>
        </p:nvSpPr>
        <p:spPr>
          <a:xfrm>
            <a:off x="5806440" y="2194560"/>
            <a:ext cx="5669280" cy="3749040"/>
          </a:xfrm>
          <a:prstGeom prst="rect">
            <a:avLst/>
          </a:prstGeom>
          <a:noFill/>
        </p:spPr>
        <p:txBody>
          <a:bodyPr wrap="square" anchor="t" lIns="0" rIns="0" tIns="0" bIns="0">
            <a:noAutofit/>
          </a:bodyPr>
          <a:lstStyle/>
          <a:p>
            <a:pPr algn="l">
              <a:lnSpc>
                <a:spcPct val="122000"/>
              </a:lnSpc>
              <a:spcBef>
                <a:spcPts val="0"/>
              </a:spcBef>
              <a:spcAft>
                <a:spcPts val="800"/>
              </a:spcAft>
            </a:pPr>
            <a:r>
              <a:rPr sz="2100" b="0" i="0">
                <a:solidFill>
                  <a:srgbClr val="12161C"/>
                </a:solidFill>
                <a:latin typeface="Arial"/>
              </a:rPr>
              <a:t>Passengers have </a:t>
            </a:r>
            <a:r>
              <a:rPr sz="2100" b="1" i="0">
                <a:solidFill>
                  <a:srgbClr val="9C5A00"/>
                </a:solidFill>
                <a:latin typeface="Arial"/>
              </a:rPr>
              <a:t>potential energy</a:t>
            </a:r>
            <a:r>
              <a:rPr sz="2100" b="0" i="0">
                <a:solidFill>
                  <a:srgbClr val="12161C"/>
                </a:solidFill>
                <a:latin typeface="Arial"/>
              </a:rPr>
              <a:t>.</a:t>
            </a:r>
          </a:p>
          <a:p>
            <a:pPr algn="l">
              <a:lnSpc>
                <a:spcPct val="122000"/>
              </a:lnSpc>
              <a:spcBef>
                <a:spcPts val="0"/>
              </a:spcBef>
              <a:spcAft>
                <a:spcPts val="800"/>
              </a:spcAft>
            </a:pPr>
            <a:r>
              <a:rPr sz="2100" b="0" i="0">
                <a:solidFill>
                  <a:srgbClr val="12161C"/>
                </a:solidFill>
                <a:latin typeface="Arial"/>
              </a:rPr>
              <a:t>A crash: the car </a:t>
            </a:r>
            <a:r>
              <a:rPr sz="2100" b="1" i="0">
                <a:solidFill>
                  <a:srgbClr val="9C5A00"/>
                </a:solidFill>
                <a:latin typeface="Arial"/>
              </a:rPr>
              <a:t>decelerates</a:t>
            </a:r>
            <a:r>
              <a:rPr sz="2100" b="0" i="0">
                <a:solidFill>
                  <a:srgbClr val="12161C"/>
                </a:solidFill>
                <a:latin typeface="Arial"/>
              </a:rPr>
              <a:t> quickly.</a:t>
            </a:r>
          </a:p>
          <a:p>
            <a:pPr algn="l">
              <a:lnSpc>
                <a:spcPct val="122000"/>
              </a:lnSpc>
              <a:spcBef>
                <a:spcPts val="0"/>
              </a:spcBef>
              <a:spcAft>
                <a:spcPts val="800"/>
              </a:spcAft>
            </a:pPr>
            <a:r>
              <a:rPr sz="2100" b="0" i="0">
                <a:solidFill>
                  <a:srgbClr val="12161C"/>
                </a:solidFill>
                <a:latin typeface="Arial"/>
              </a:rPr>
              <a:t>Potential energy becomes </a:t>
            </a:r>
            <a:r>
              <a:rPr sz="2100" b="1" i="0">
                <a:solidFill>
                  <a:srgbClr val="9C5A00"/>
                </a:solidFill>
                <a:latin typeface="Arial"/>
              </a:rPr>
              <a:t>kinetic energy</a:t>
            </a:r>
            <a:r>
              <a:rPr sz="2100" b="0" i="0">
                <a:solidFill>
                  <a:srgbClr val="12161C"/>
                </a:solidFill>
                <a:latin typeface="Arial"/>
              </a:rPr>
              <a:t>.</a:t>
            </a:r>
          </a:p>
          <a:p>
            <a:pPr algn="l">
              <a:lnSpc>
                <a:spcPct val="122000"/>
              </a:lnSpc>
              <a:spcBef>
                <a:spcPts val="0"/>
              </a:spcBef>
              <a:spcAft>
                <a:spcPts val="800"/>
              </a:spcAft>
            </a:pPr>
            <a:r>
              <a:rPr sz="2100" b="0" i="0">
                <a:solidFill>
                  <a:srgbClr val="12161C"/>
                </a:solidFill>
                <a:latin typeface="Arial"/>
              </a:rPr>
              <a:t>Non-stretching belt → </a:t>
            </a:r>
            <a:r>
              <a:rPr sz="2100" b="1" i="0">
                <a:solidFill>
                  <a:srgbClr val="9C5A00"/>
                </a:solidFill>
                <a:latin typeface="Arial"/>
              </a:rPr>
              <a:t>short stopping distance</a:t>
            </a:r>
            <a:r>
              <a:rPr sz="2100" b="0" i="0">
                <a:solidFill>
                  <a:srgbClr val="12161C"/>
                </a:solidFill>
                <a:latin typeface="Arial"/>
              </a:rPr>
              <a:t>.</a:t>
            </a:r>
          </a:p>
          <a:p>
            <a:pPr algn="l">
              <a:lnSpc>
                <a:spcPct val="122000"/>
              </a:lnSpc>
              <a:spcBef>
                <a:spcPts val="0"/>
              </a:spcBef>
              <a:spcAft>
                <a:spcPts val="800"/>
              </a:spcAft>
            </a:pPr>
            <a:r>
              <a:rPr sz="2100" b="0" i="0">
                <a:solidFill>
                  <a:srgbClr val="12161C"/>
                </a:solidFill>
                <a:latin typeface="Arial"/>
              </a:rPr>
              <a:t>Stretching belt → </a:t>
            </a:r>
            <a:r>
              <a:rPr sz="2100" b="1" i="0">
                <a:solidFill>
                  <a:srgbClr val="9C5A00"/>
                </a:solidFill>
                <a:latin typeface="Arial"/>
              </a:rPr>
              <a:t>increases</a:t>
            </a:r>
            <a:r>
              <a:rPr sz="2100" b="0" i="0">
                <a:solidFill>
                  <a:srgbClr val="12161C"/>
                </a:solidFill>
                <a:latin typeface="Arial"/>
              </a:rPr>
              <a:t> this distance.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12161C"/>
                </a:solidFill>
                <a:latin typeface="Arial Narrow"/>
              </a:rPr>
              <a:t>ACT 3 · CRASH INVESTIGATION</a:t>
            </a:r>
          </a:p>
        </p:txBody>
      </p:sp>
      <p:sp>
        <p:nvSpPr>
          <p:cNvPr id="4" name="TextBox 3"/>
          <p:cNvSpPr txBox="1"/>
          <p:nvPr/>
        </p:nvSpPr>
        <p:spPr>
          <a:xfrm>
            <a:off x="7315200" y="310896"/>
            <a:ext cx="4187952" cy="274320"/>
          </a:xfrm>
          <a:prstGeom prst="rect">
            <a:avLst/>
          </a:prstGeom>
          <a:noFill/>
        </p:spPr>
        <p:txBody>
          <a:bodyPr wrap="square" anchor="t" lIns="0" rIns="0" tIns="0" bIns="0">
            <a:noAutofit/>
          </a:bodyPr>
          <a:lstStyle/>
          <a:p>
            <a:pPr algn="r">
              <a:lnSpc>
                <a:spcPct val="100000"/>
              </a:lnSpc>
              <a:spcBef>
                <a:spcPts val="0"/>
              </a:spcBef>
              <a:spcAft>
                <a:spcPts val="0"/>
              </a:spcAft>
            </a:pPr>
            <a:r>
              <a:rPr sz="1300" b="1" i="0" spc="220">
                <a:solidFill>
                  <a:srgbClr val="8A93A0"/>
                </a:solidFill>
                <a:latin typeface="Arial Narrow"/>
              </a:rPr>
              <a:t>CRASH INVESTIGATOR</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8A93A0"/>
                </a:solidFill>
                <a:latin typeface="Arial Narrow"/>
              </a:rPr>
              <a:t>ENERGY LAB  ·  CRASH TEST #05</a:t>
            </a:r>
          </a:p>
        </p:txBody>
      </p:sp>
      <p:sp>
        <p:nvSpPr>
          <p:cNvPr id="6" name="Rectangle 5"/>
          <p:cNvSpPr/>
          <p:nvPr/>
        </p:nvSpPr>
        <p:spPr>
          <a:xfrm>
            <a:off x="4526280" y="6510528"/>
            <a:ext cx="127363" cy="54864"/>
          </a:xfrm>
          <a:prstGeom prst="rect">
            <a:avLst/>
          </a:prstGeom>
          <a:solidFill>
            <a:srgbClr val="D9B55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D9B55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D9B55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D9B55A"/>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D9B55A"/>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D9B55A"/>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FFB400"/>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D5D0C4"/>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D5D0C4"/>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D5D0C4"/>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D5D0C4"/>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D5D0C4"/>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D5D0C4"/>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D5D0C4"/>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8A93A0"/>
                </a:solidFill>
                <a:latin typeface="Arial Narrow"/>
              </a:rPr>
              <a:t>38</a:t>
            </a:fld>
          </a:p>
        </p:txBody>
      </p:sp>
      <p:sp>
        <p:nvSpPr>
          <p:cNvPr id="21" name="Rounded Rectangle 20"/>
          <p:cNvSpPr/>
          <p:nvPr/>
        </p:nvSpPr>
        <p:spPr>
          <a:xfrm>
            <a:off x="9052560" y="914400"/>
            <a:ext cx="3434096" cy="274320"/>
          </a:xfrm>
          <a:prstGeom prst="roundRect">
            <a:avLst>
              <a:gd name="adj" fmla="val 50000"/>
            </a:avLst>
          </a:prstGeom>
          <a:noFill/>
          <a:ln w="19050">
            <a:solidFill>
              <a:srgbClr val="0B6A96"/>
            </a:solidFill>
          </a:ln>
        </p:spPr>
        <p:txBody>
          <a:bodyPr rtlCol="0" anchor="ctr" wrap="square" lIns="0" rIns="0" tIns="0" bIns="0">
            <a:noAutofit/>
          </a:bodyPr>
          <a:lstStyle/>
          <a:p>
            <a:pPr algn="ctr">
              <a:lnSpc>
                <a:spcPct val="100000"/>
              </a:lnSpc>
              <a:spcBef>
                <a:spcPts val="0"/>
              </a:spcBef>
              <a:spcAft>
                <a:spcPts val="0"/>
              </a:spcAft>
            </a:pPr>
            <a:r>
              <a:rPr sz="1300" b="1" i="0" spc="200">
                <a:solidFill>
                  <a:srgbClr val="0B6A96"/>
                </a:solidFill>
                <a:latin typeface="Arial Narrow"/>
              </a:rPr>
              <a:t>TEXTBOOK · ABSTRACT · RESULTS</a:t>
            </a:r>
          </a:p>
        </p:txBody>
      </p:sp>
      <p:sp>
        <p:nvSpPr>
          <p:cNvPr id="22" name="TextBox 21"/>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56606E"/>
                </a:solidFill>
                <a:latin typeface="Arial Narrow"/>
              </a:rPr>
              <a:t>ABSTRACT · PART B</a:t>
            </a:r>
          </a:p>
        </p:txBody>
      </p:sp>
      <p:sp>
        <p:nvSpPr>
          <p:cNvPr id="23" name="TextBox 22"/>
          <p:cNvSpPr txBox="1"/>
          <p:nvPr/>
        </p:nvSpPr>
        <p:spPr>
          <a:xfrm>
            <a:off x="685800" y="1188720"/>
            <a:ext cx="10789920" cy="1005840"/>
          </a:xfrm>
          <a:prstGeom prst="rect">
            <a:avLst/>
          </a:prstGeom>
          <a:noFill/>
        </p:spPr>
        <p:txBody>
          <a:bodyPr wrap="square" anchor="t" lIns="0" rIns="0" tIns="0" bIns="0">
            <a:noAutofit/>
          </a:bodyPr>
          <a:lstStyle/>
          <a:p>
            <a:pPr algn="l">
              <a:lnSpc>
                <a:spcPct val="100000"/>
              </a:lnSpc>
              <a:spcBef>
                <a:spcPts val="0"/>
              </a:spcBef>
              <a:spcAft>
                <a:spcPts val="0"/>
              </a:spcAft>
            </a:pPr>
            <a:r>
              <a:rPr sz="4400" b="0" i="0">
                <a:solidFill>
                  <a:srgbClr val="12161C"/>
                </a:solidFill>
                <a:latin typeface="Arial Black"/>
              </a:rPr>
              <a:t>RESULTS</a:t>
            </a:r>
          </a:p>
        </p:txBody>
      </p:sp>
      <p:sp>
        <p:nvSpPr>
          <p:cNvPr id="24" name="Rectangle 23"/>
          <p:cNvSpPr/>
          <p:nvPr/>
        </p:nvSpPr>
        <p:spPr>
          <a:xfrm>
            <a:off x="685800" y="2286000"/>
            <a:ext cx="64008" cy="1188720"/>
          </a:xfrm>
          <a:prstGeom prst="rect">
            <a:avLst/>
          </a:prstGeom>
          <a:solidFill>
            <a:srgbClr val="FFB400"/>
          </a:solidFill>
          <a:ln>
            <a:noFill/>
          </a:ln>
        </p:spPr>
        <p:txBody>
          <a:bodyPr rtlCol="0" anchor="ctr"/>
          <a:lstStyle/>
          <a:p>
            <a:pPr algn="ctr"/>
          </a:p>
        </p:txBody>
      </p:sp>
      <p:sp>
        <p:nvSpPr>
          <p:cNvPr id="25" name="TextBox 24"/>
          <p:cNvSpPr txBox="1"/>
          <p:nvPr/>
        </p:nvSpPr>
        <p:spPr>
          <a:xfrm>
            <a:off x="941832" y="2286000"/>
            <a:ext cx="9802368" cy="1188720"/>
          </a:xfrm>
          <a:prstGeom prst="rect">
            <a:avLst/>
          </a:prstGeom>
          <a:noFill/>
        </p:spPr>
        <p:txBody>
          <a:bodyPr wrap="square" anchor="ctr" lIns="0" rIns="0" tIns="0" bIns="0">
            <a:noAutofit/>
          </a:bodyPr>
          <a:lstStyle/>
          <a:p>
            <a:pPr algn="l">
              <a:lnSpc>
                <a:spcPct val="100000"/>
              </a:lnSpc>
              <a:spcBef>
                <a:spcPts val="0"/>
              </a:spcBef>
              <a:spcAft>
                <a:spcPts val="0"/>
              </a:spcAft>
            </a:pPr>
            <a:r>
              <a:rPr sz="2800" b="0" i="0">
                <a:solidFill>
                  <a:srgbClr val="12161C"/>
                </a:solidFill>
                <a:latin typeface="Arial"/>
              </a:rPr>
              <a:t>Tests show that stretching seatbelts reduce the </a:t>
            </a:r>
            <a:r>
              <a:rPr sz="2800" b="1" i="0">
                <a:solidFill>
                  <a:srgbClr val="9C5A00"/>
                </a:solidFill>
                <a:latin typeface="Arial"/>
              </a:rPr>
              <a:t>force</a:t>
            </a:r>
            <a:r>
              <a:rPr sz="2800" b="0" i="0">
                <a:solidFill>
                  <a:srgbClr val="12161C"/>
                </a:solidFill>
                <a:latin typeface="Arial"/>
              </a:rPr>
              <a:t> and </a:t>
            </a:r>
            <a:r>
              <a:rPr sz="2800" b="1" i="0">
                <a:solidFill>
                  <a:srgbClr val="9C5A00"/>
                </a:solidFill>
                <a:latin typeface="Arial"/>
              </a:rPr>
              <a:t>Gs</a:t>
            </a:r>
            <a:r>
              <a:rPr sz="2800" b="0" i="0">
                <a:solidFill>
                  <a:srgbClr val="12161C"/>
                </a:solidFill>
                <a:latin typeface="Arial"/>
              </a:rPr>
              <a:t> that passengers feel.</a:t>
            </a:r>
          </a:p>
        </p:txBody>
      </p:sp>
      <p:sp>
        <p:nvSpPr>
          <p:cNvPr id="26" name="Rounded Rectangle 25"/>
          <p:cNvSpPr/>
          <p:nvPr/>
        </p:nvSpPr>
        <p:spPr>
          <a:xfrm>
            <a:off x="685800" y="3794760"/>
            <a:ext cx="5120640" cy="1965960"/>
          </a:xfrm>
          <a:prstGeom prst="roundRect">
            <a:avLst>
              <a:gd name="adj" fmla="val 6511"/>
            </a:avLst>
          </a:prstGeom>
          <a:solidFill>
            <a:srgbClr val="E9E5DC"/>
          </a:solidFill>
          <a:ln w="19050">
            <a:solidFill>
              <a:srgbClr val="CFC9BC"/>
            </a:solidFill>
          </a:ln>
        </p:spPr>
        <p:txBody>
          <a:bodyPr rtlCol="0" anchor="ctr"/>
          <a:lstStyle/>
          <a:p>
            <a:pPr algn="ctr"/>
          </a:p>
        </p:txBody>
      </p:sp>
      <p:sp>
        <p:nvSpPr>
          <p:cNvPr id="27" name="TextBox 26"/>
          <p:cNvSpPr txBox="1"/>
          <p:nvPr/>
        </p:nvSpPr>
        <p:spPr>
          <a:xfrm>
            <a:off x="1051560" y="3977640"/>
            <a:ext cx="3200400" cy="548640"/>
          </a:xfrm>
          <a:prstGeom prst="rect">
            <a:avLst/>
          </a:prstGeom>
          <a:noFill/>
        </p:spPr>
        <p:txBody>
          <a:bodyPr wrap="square" anchor="t" lIns="0" rIns="0" tIns="0" bIns="0">
            <a:noAutofit/>
          </a:bodyPr>
          <a:lstStyle/>
          <a:p>
            <a:pPr algn="l">
              <a:lnSpc>
                <a:spcPct val="100000"/>
              </a:lnSpc>
              <a:spcBef>
                <a:spcPts val="0"/>
              </a:spcBef>
              <a:spcAft>
                <a:spcPts val="0"/>
              </a:spcAft>
            </a:pPr>
            <a:r>
              <a:rPr sz="2600" b="0" i="0">
                <a:solidFill>
                  <a:srgbClr val="12161C"/>
                </a:solidFill>
                <a:latin typeface="Arial Black"/>
              </a:rPr>
              <a:t>FORCE</a:t>
            </a:r>
          </a:p>
        </p:txBody>
      </p:sp>
      <p:sp>
        <p:nvSpPr>
          <p:cNvPr id="28" name="Freeform 27"/>
          <p:cNvSpPr/>
          <p:nvPr/>
        </p:nvSpPr>
        <p:spPr>
          <a:xfrm>
            <a:off x="4517136" y="4343400"/>
            <a:ext cx="749808" cy="914400"/>
          </a:xfrm>
          <a:custGeom>
            <a:avLst/>
            <a:gdLst/>
            <a:ahLst/>
            <a:cxnLst/>
            <a:rect l="l" t="t" r="r" b="b"/>
            <a:pathLst>
              <a:path w="749808" h="914400">
                <a:moveTo>
                  <a:pt x="219456" y="0"/>
                </a:moveTo>
                <a:lnTo>
                  <a:pt x="219456" y="457200"/>
                </a:lnTo>
                <a:lnTo>
                  <a:pt x="0" y="457200"/>
                </a:lnTo>
                <a:lnTo>
                  <a:pt x="374904" y="914400"/>
                </a:lnTo>
                <a:lnTo>
                  <a:pt x="749808" y="457200"/>
                </a:lnTo>
                <a:lnTo>
                  <a:pt x="530352" y="457200"/>
                </a:lnTo>
                <a:lnTo>
                  <a:pt x="530352" y="0"/>
                </a:lnTo>
                <a:close/>
              </a:path>
            </a:pathLst>
          </a:custGeom>
          <a:solidFill>
            <a:srgbClr val="C8323A"/>
          </a:solidFill>
          <a:ln>
            <a:noFill/>
          </a:ln>
        </p:spPr>
        <p:txBody>
          <a:bodyPr rtlCol="0" anchor="ctr"/>
          <a:lstStyle/>
          <a:p>
            <a:pPr algn="ctr"/>
          </a:p>
        </p:txBody>
      </p:sp>
      <p:sp>
        <p:nvSpPr>
          <p:cNvPr id="29" name="TextBox 28"/>
          <p:cNvSpPr txBox="1"/>
          <p:nvPr/>
        </p:nvSpPr>
        <p:spPr>
          <a:xfrm>
            <a:off x="1051560" y="5074920"/>
            <a:ext cx="4206240" cy="457200"/>
          </a:xfrm>
          <a:prstGeom prst="rect">
            <a:avLst/>
          </a:prstGeom>
          <a:noFill/>
        </p:spPr>
        <p:txBody>
          <a:bodyPr wrap="square" anchor="t" lIns="0" rIns="0" tIns="0" bIns="0">
            <a:noAutofit/>
          </a:bodyPr>
          <a:lstStyle/>
          <a:p>
            <a:pPr algn="l">
              <a:lnSpc>
                <a:spcPct val="100000"/>
              </a:lnSpc>
              <a:spcBef>
                <a:spcPts val="0"/>
              </a:spcBef>
              <a:spcAft>
                <a:spcPts val="0"/>
              </a:spcAft>
            </a:pPr>
            <a:r>
              <a:rPr sz="1500" b="1" i="0" spc="150">
                <a:solidFill>
                  <a:srgbClr val="9C5A00"/>
                </a:solidFill>
                <a:latin typeface="Arial Narrow"/>
              </a:rPr>
              <a:t>REDUCED BY STRETCHING</a:t>
            </a:r>
          </a:p>
        </p:txBody>
      </p:sp>
      <p:sp>
        <p:nvSpPr>
          <p:cNvPr id="30" name="Rounded Rectangle 29"/>
          <p:cNvSpPr/>
          <p:nvPr/>
        </p:nvSpPr>
        <p:spPr>
          <a:xfrm>
            <a:off x="6208776" y="3794760"/>
            <a:ext cx="5120640" cy="1965960"/>
          </a:xfrm>
          <a:prstGeom prst="roundRect">
            <a:avLst>
              <a:gd name="adj" fmla="val 6511"/>
            </a:avLst>
          </a:prstGeom>
          <a:solidFill>
            <a:srgbClr val="E9E5DC"/>
          </a:solidFill>
          <a:ln w="19050">
            <a:solidFill>
              <a:srgbClr val="CFC9BC"/>
            </a:solidFill>
          </a:ln>
        </p:spPr>
        <p:txBody>
          <a:bodyPr rtlCol="0" anchor="ctr"/>
          <a:lstStyle/>
          <a:p>
            <a:pPr algn="ctr"/>
          </a:p>
        </p:txBody>
      </p:sp>
      <p:sp>
        <p:nvSpPr>
          <p:cNvPr id="31" name="TextBox 30"/>
          <p:cNvSpPr txBox="1"/>
          <p:nvPr/>
        </p:nvSpPr>
        <p:spPr>
          <a:xfrm>
            <a:off x="6574536" y="3977640"/>
            <a:ext cx="3200400" cy="548640"/>
          </a:xfrm>
          <a:prstGeom prst="rect">
            <a:avLst/>
          </a:prstGeom>
          <a:noFill/>
        </p:spPr>
        <p:txBody>
          <a:bodyPr wrap="square" anchor="t" lIns="0" rIns="0" tIns="0" bIns="0">
            <a:noAutofit/>
          </a:bodyPr>
          <a:lstStyle/>
          <a:p>
            <a:pPr algn="l">
              <a:lnSpc>
                <a:spcPct val="100000"/>
              </a:lnSpc>
              <a:spcBef>
                <a:spcPts val="0"/>
              </a:spcBef>
              <a:spcAft>
                <a:spcPts val="0"/>
              </a:spcAft>
            </a:pPr>
            <a:r>
              <a:rPr sz="2600" b="0" i="0">
                <a:solidFill>
                  <a:srgbClr val="12161C"/>
                </a:solidFill>
                <a:latin typeface="Arial Black"/>
              </a:rPr>
              <a:t>Gs</a:t>
            </a:r>
          </a:p>
        </p:txBody>
      </p:sp>
      <p:sp>
        <p:nvSpPr>
          <p:cNvPr id="32" name="Freeform 31"/>
          <p:cNvSpPr/>
          <p:nvPr/>
        </p:nvSpPr>
        <p:spPr>
          <a:xfrm>
            <a:off x="10040112" y="4343400"/>
            <a:ext cx="749808" cy="914400"/>
          </a:xfrm>
          <a:custGeom>
            <a:avLst/>
            <a:gdLst/>
            <a:ahLst/>
            <a:cxnLst/>
            <a:rect l="l" t="t" r="r" b="b"/>
            <a:pathLst>
              <a:path w="749808" h="914400">
                <a:moveTo>
                  <a:pt x="219456" y="0"/>
                </a:moveTo>
                <a:lnTo>
                  <a:pt x="219456" y="457200"/>
                </a:lnTo>
                <a:lnTo>
                  <a:pt x="0" y="457200"/>
                </a:lnTo>
                <a:lnTo>
                  <a:pt x="374904" y="914400"/>
                </a:lnTo>
                <a:lnTo>
                  <a:pt x="749808" y="457200"/>
                </a:lnTo>
                <a:lnTo>
                  <a:pt x="530352" y="457200"/>
                </a:lnTo>
                <a:lnTo>
                  <a:pt x="530352" y="0"/>
                </a:lnTo>
                <a:close/>
              </a:path>
            </a:pathLst>
          </a:custGeom>
          <a:solidFill>
            <a:srgbClr val="C8323A"/>
          </a:solidFill>
          <a:ln>
            <a:noFill/>
          </a:ln>
        </p:spPr>
        <p:txBody>
          <a:bodyPr rtlCol="0" anchor="ctr"/>
          <a:lstStyle/>
          <a:p>
            <a:pPr algn="ctr"/>
          </a:p>
        </p:txBody>
      </p:sp>
      <p:sp>
        <p:nvSpPr>
          <p:cNvPr id="33" name="TextBox 32"/>
          <p:cNvSpPr txBox="1"/>
          <p:nvPr/>
        </p:nvSpPr>
        <p:spPr>
          <a:xfrm>
            <a:off x="6574536" y="5074920"/>
            <a:ext cx="4206240" cy="457200"/>
          </a:xfrm>
          <a:prstGeom prst="rect">
            <a:avLst/>
          </a:prstGeom>
          <a:noFill/>
        </p:spPr>
        <p:txBody>
          <a:bodyPr wrap="square" anchor="t" lIns="0" rIns="0" tIns="0" bIns="0">
            <a:noAutofit/>
          </a:bodyPr>
          <a:lstStyle/>
          <a:p>
            <a:pPr algn="l">
              <a:lnSpc>
                <a:spcPct val="100000"/>
              </a:lnSpc>
              <a:spcBef>
                <a:spcPts val="0"/>
              </a:spcBef>
              <a:spcAft>
                <a:spcPts val="0"/>
              </a:spcAft>
            </a:pPr>
            <a:r>
              <a:rPr sz="1500" b="1" i="0" spc="150">
                <a:solidFill>
                  <a:srgbClr val="9C5A00"/>
                </a:solidFill>
                <a:latin typeface="Arial Narrow"/>
              </a:rPr>
              <a:t>REDUCED BY STRETCHING</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12161C"/>
                </a:solidFill>
                <a:latin typeface="Arial Narrow"/>
              </a:rPr>
              <a:t>ACT 3 · CRASH INVESTIGATION</a:t>
            </a:r>
          </a:p>
        </p:txBody>
      </p:sp>
      <p:sp>
        <p:nvSpPr>
          <p:cNvPr id="4" name="TextBox 3"/>
          <p:cNvSpPr txBox="1"/>
          <p:nvPr/>
        </p:nvSpPr>
        <p:spPr>
          <a:xfrm>
            <a:off x="7315200" y="310896"/>
            <a:ext cx="4187952" cy="274320"/>
          </a:xfrm>
          <a:prstGeom prst="rect">
            <a:avLst/>
          </a:prstGeom>
          <a:noFill/>
        </p:spPr>
        <p:txBody>
          <a:bodyPr wrap="square" anchor="t" lIns="0" rIns="0" tIns="0" bIns="0">
            <a:noAutofit/>
          </a:bodyPr>
          <a:lstStyle/>
          <a:p>
            <a:pPr algn="r">
              <a:lnSpc>
                <a:spcPct val="100000"/>
              </a:lnSpc>
              <a:spcBef>
                <a:spcPts val="0"/>
              </a:spcBef>
              <a:spcAft>
                <a:spcPts val="0"/>
              </a:spcAft>
            </a:pPr>
            <a:r>
              <a:rPr sz="1300" b="1" i="0" spc="220">
                <a:solidFill>
                  <a:srgbClr val="8A93A0"/>
                </a:solidFill>
                <a:latin typeface="Arial Narrow"/>
              </a:rPr>
              <a:t>CRASH INVESTIGATOR</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8A93A0"/>
                </a:solidFill>
                <a:latin typeface="Arial Narrow"/>
              </a:rPr>
              <a:t>ENERGY LAB  ·  CRASH TEST #05</a:t>
            </a:r>
          </a:p>
        </p:txBody>
      </p:sp>
      <p:sp>
        <p:nvSpPr>
          <p:cNvPr id="6" name="Rectangle 5"/>
          <p:cNvSpPr/>
          <p:nvPr/>
        </p:nvSpPr>
        <p:spPr>
          <a:xfrm>
            <a:off x="4526280" y="6510528"/>
            <a:ext cx="127363" cy="54864"/>
          </a:xfrm>
          <a:prstGeom prst="rect">
            <a:avLst/>
          </a:prstGeom>
          <a:solidFill>
            <a:srgbClr val="D9B55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D9B55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D9B55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D9B55A"/>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D9B55A"/>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D9B55A"/>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FFB400"/>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D5D0C4"/>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D5D0C4"/>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D5D0C4"/>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D5D0C4"/>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D5D0C4"/>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D5D0C4"/>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D5D0C4"/>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8A93A0"/>
                </a:solidFill>
                <a:latin typeface="Arial Narrow"/>
              </a:rPr>
              <a:t>39</a:t>
            </a:fld>
          </a:p>
        </p:txBody>
      </p:sp>
      <p:sp>
        <p:nvSpPr>
          <p:cNvPr id="21" name="Rounded Rectangle 20"/>
          <p:cNvSpPr/>
          <p:nvPr/>
        </p:nvSpPr>
        <p:spPr>
          <a:xfrm>
            <a:off x="9052560" y="914400"/>
            <a:ext cx="3905425" cy="274320"/>
          </a:xfrm>
          <a:prstGeom prst="roundRect">
            <a:avLst>
              <a:gd name="adj" fmla="val 50000"/>
            </a:avLst>
          </a:prstGeom>
          <a:noFill/>
          <a:ln w="19050">
            <a:solidFill>
              <a:srgbClr val="0B6A96"/>
            </a:solidFill>
          </a:ln>
        </p:spPr>
        <p:txBody>
          <a:bodyPr rtlCol="0" anchor="ctr" wrap="square" lIns="0" rIns="0" tIns="0" bIns="0">
            <a:noAutofit/>
          </a:bodyPr>
          <a:lstStyle/>
          <a:p>
            <a:pPr algn="ctr">
              <a:lnSpc>
                <a:spcPct val="100000"/>
              </a:lnSpc>
              <a:spcBef>
                <a:spcPts val="0"/>
              </a:spcBef>
              <a:spcAft>
                <a:spcPts val="0"/>
              </a:spcAft>
            </a:pPr>
            <a:r>
              <a:rPr sz="1300" b="1" i="0" spc="200">
                <a:solidFill>
                  <a:srgbClr val="0B6A96"/>
                </a:solidFill>
                <a:latin typeface="Arial Narrow"/>
              </a:rPr>
              <a:t>TEXTBOOK · ABSTRACT · CONCLUSIONS</a:t>
            </a:r>
          </a:p>
        </p:txBody>
      </p:sp>
      <p:sp>
        <p:nvSpPr>
          <p:cNvPr id="22" name="TextBox 21"/>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56606E"/>
                </a:solidFill>
                <a:latin typeface="Arial Narrow"/>
              </a:rPr>
              <a:t>ABSTRACT · PART C</a:t>
            </a:r>
          </a:p>
        </p:txBody>
      </p:sp>
      <p:sp>
        <p:nvSpPr>
          <p:cNvPr id="23" name="TextBox 22"/>
          <p:cNvSpPr txBox="1"/>
          <p:nvPr/>
        </p:nvSpPr>
        <p:spPr>
          <a:xfrm>
            <a:off x="685800" y="1188720"/>
            <a:ext cx="10789920" cy="1005840"/>
          </a:xfrm>
          <a:prstGeom prst="rect">
            <a:avLst/>
          </a:prstGeom>
          <a:noFill/>
        </p:spPr>
        <p:txBody>
          <a:bodyPr wrap="square" anchor="t" lIns="0" rIns="0" tIns="0" bIns="0">
            <a:noAutofit/>
          </a:bodyPr>
          <a:lstStyle/>
          <a:p>
            <a:pPr algn="l">
              <a:lnSpc>
                <a:spcPct val="100000"/>
              </a:lnSpc>
              <a:spcBef>
                <a:spcPts val="0"/>
              </a:spcBef>
              <a:spcAft>
                <a:spcPts val="0"/>
              </a:spcAft>
            </a:pPr>
            <a:r>
              <a:rPr sz="4000" b="0" i="0">
                <a:solidFill>
                  <a:srgbClr val="12161C"/>
                </a:solidFill>
                <a:latin typeface="Arial Black"/>
              </a:rPr>
              <a:t>CONCLUSIONS</a:t>
            </a:r>
          </a:p>
        </p:txBody>
      </p:sp>
      <p:sp>
        <p:nvSpPr>
          <p:cNvPr id="24" name="Rounded Rectangle 23"/>
          <p:cNvSpPr/>
          <p:nvPr/>
        </p:nvSpPr>
        <p:spPr>
          <a:xfrm>
            <a:off x="685800" y="2286000"/>
            <a:ext cx="10360152" cy="960120"/>
          </a:xfrm>
          <a:prstGeom prst="roundRect">
            <a:avLst>
              <a:gd name="adj" fmla="val 13333"/>
            </a:avLst>
          </a:prstGeom>
          <a:solidFill>
            <a:srgbClr val="FFB400"/>
          </a:solidFill>
          <a:ln>
            <a:noFill/>
          </a:ln>
        </p:spPr>
        <p:txBody>
          <a:bodyPr rtlCol="0" anchor="ctr"/>
          <a:lstStyle/>
          <a:p>
            <a:pPr algn="ctr"/>
          </a:p>
        </p:txBody>
      </p:sp>
      <p:sp>
        <p:nvSpPr>
          <p:cNvPr id="25" name="TextBox 24"/>
          <p:cNvSpPr txBox="1"/>
          <p:nvPr/>
        </p:nvSpPr>
        <p:spPr>
          <a:xfrm>
            <a:off x="960120" y="2286000"/>
            <a:ext cx="9875520" cy="960120"/>
          </a:xfrm>
          <a:prstGeom prst="rect">
            <a:avLst/>
          </a:prstGeom>
          <a:noFill/>
        </p:spPr>
        <p:txBody>
          <a:bodyPr wrap="square" anchor="ctr" lIns="0" rIns="0" tIns="0" bIns="0">
            <a:noAutofit/>
          </a:bodyPr>
          <a:lstStyle/>
          <a:p>
            <a:pPr algn="l">
              <a:lnSpc>
                <a:spcPct val="100000"/>
              </a:lnSpc>
              <a:spcBef>
                <a:spcPts val="0"/>
              </a:spcBef>
              <a:spcAft>
                <a:spcPts val="0"/>
              </a:spcAft>
            </a:pPr>
            <a:r>
              <a:rPr sz="3000" b="0" i="0">
                <a:solidFill>
                  <a:srgbClr val="12161C"/>
                </a:solidFill>
                <a:latin typeface="Arial Black"/>
              </a:rPr>
              <a:t>THE NEW SEATBELTS REDUCE INJURIES.</a:t>
            </a:r>
          </a:p>
        </p:txBody>
      </p:sp>
      <p:sp>
        <p:nvSpPr>
          <p:cNvPr id="26" name="TextBox 25"/>
          <p:cNvSpPr txBox="1"/>
          <p:nvPr/>
        </p:nvSpPr>
        <p:spPr>
          <a:xfrm>
            <a:off x="713232" y="3520440"/>
            <a:ext cx="10058400" cy="365760"/>
          </a:xfrm>
          <a:prstGeom prst="rect">
            <a:avLst/>
          </a:prstGeom>
          <a:noFill/>
        </p:spPr>
        <p:txBody>
          <a:bodyPr wrap="square" anchor="t" lIns="0" rIns="0" tIns="0" bIns="0">
            <a:noAutofit/>
          </a:bodyPr>
          <a:lstStyle/>
          <a:p>
            <a:pPr algn="l">
              <a:lnSpc>
                <a:spcPct val="100000"/>
              </a:lnSpc>
              <a:spcBef>
                <a:spcPts val="0"/>
              </a:spcBef>
              <a:spcAft>
                <a:spcPts val="0"/>
              </a:spcAft>
            </a:pPr>
            <a:r>
              <a:rPr sz="2000" b="1" i="0" spc="300">
                <a:solidFill>
                  <a:srgbClr val="56606E"/>
                </a:solidFill>
                <a:latin typeface="Arial Narrow"/>
              </a:rPr>
              <a:t>WHY?</a:t>
            </a:r>
          </a:p>
        </p:txBody>
      </p:sp>
      <p:sp>
        <p:nvSpPr>
          <p:cNvPr id="27" name="Freeform 26"/>
          <p:cNvSpPr/>
          <p:nvPr/>
        </p:nvSpPr>
        <p:spPr>
          <a:xfrm>
            <a:off x="822960" y="3977640"/>
            <a:ext cx="1371600" cy="1737360"/>
          </a:xfrm>
          <a:custGeom>
            <a:avLst/>
            <a:gdLst/>
            <a:ahLst/>
            <a:cxnLst/>
            <a:rect l="l" t="t" r="r" b="b"/>
            <a:pathLst>
              <a:path w="1371600" h="1737360">
                <a:moveTo>
                  <a:pt x="0" y="0"/>
                </a:moveTo>
                <a:lnTo>
                  <a:pt x="1115568" y="0"/>
                </a:lnTo>
                <a:lnTo>
                  <a:pt x="1371600" y="256032"/>
                </a:lnTo>
                <a:lnTo>
                  <a:pt x="1371600" y="1737360"/>
                </a:lnTo>
                <a:lnTo>
                  <a:pt x="0" y="1737360"/>
                </a:lnTo>
                <a:close/>
              </a:path>
            </a:pathLst>
          </a:custGeom>
          <a:solidFill>
            <a:srgbClr val="E9E5DC"/>
          </a:solidFill>
          <a:ln w="31750">
            <a:solidFill>
              <a:srgbClr val="CFC9BC"/>
            </a:solidFill>
          </a:ln>
        </p:spPr>
        <p:txBody>
          <a:bodyPr rtlCol="0" anchor="ctr"/>
          <a:lstStyle/>
          <a:p>
            <a:pPr algn="ctr"/>
          </a:p>
        </p:txBody>
      </p:sp>
      <p:sp>
        <p:nvSpPr>
          <p:cNvPr id="28" name="Freeform 27"/>
          <p:cNvSpPr/>
          <p:nvPr/>
        </p:nvSpPr>
        <p:spPr>
          <a:xfrm>
            <a:off x="1938528" y="3977640"/>
            <a:ext cx="256032" cy="256032"/>
          </a:xfrm>
          <a:custGeom>
            <a:avLst/>
            <a:gdLst/>
            <a:ahLst/>
            <a:cxnLst/>
            <a:rect l="l" t="t" r="r" b="b"/>
            <a:pathLst>
              <a:path w="256032" h="256032">
                <a:moveTo>
                  <a:pt x="0" y="0"/>
                </a:moveTo>
                <a:lnTo>
                  <a:pt x="0" y="256032"/>
                </a:lnTo>
                <a:lnTo>
                  <a:pt x="256032" y="256032"/>
                </a:lnTo>
                <a:close/>
              </a:path>
            </a:pathLst>
          </a:custGeom>
          <a:solidFill>
            <a:srgbClr val="CFC9BC"/>
          </a:solidFill>
          <a:ln>
            <a:noFill/>
          </a:ln>
        </p:spPr>
        <p:txBody>
          <a:bodyPr rtlCol="0" anchor="ctr"/>
          <a:lstStyle/>
          <a:p>
            <a:pPr algn="ctr"/>
          </a:p>
        </p:txBody>
      </p:sp>
      <p:cxnSp>
        <p:nvCxnSpPr>
          <p:cNvPr id="29" name="Connector 28"/>
          <p:cNvCxnSpPr/>
          <p:nvPr/>
        </p:nvCxnSpPr>
        <p:spPr>
          <a:xfrm>
            <a:off x="1005840" y="4379976"/>
            <a:ext cx="1005840" cy="0"/>
          </a:xfrm>
          <a:prstGeom prst="line">
            <a:avLst/>
          </a:prstGeom>
          <a:ln w="28575" cap="rnd">
            <a:solidFill>
              <a:srgbClr val="56606E"/>
            </a:solidFill>
            <a:round/>
          </a:ln>
        </p:spPr>
      </p:cxnSp>
      <p:cxnSp>
        <p:nvCxnSpPr>
          <p:cNvPr id="30" name="Connector 29"/>
          <p:cNvCxnSpPr/>
          <p:nvPr/>
        </p:nvCxnSpPr>
        <p:spPr>
          <a:xfrm>
            <a:off x="1005840" y="4621378"/>
            <a:ext cx="1005840" cy="0"/>
          </a:xfrm>
          <a:prstGeom prst="line">
            <a:avLst/>
          </a:prstGeom>
          <a:ln w="28575" cap="rnd">
            <a:solidFill>
              <a:srgbClr val="56606E"/>
            </a:solidFill>
            <a:round/>
          </a:ln>
        </p:spPr>
      </p:cxnSp>
      <p:cxnSp>
        <p:nvCxnSpPr>
          <p:cNvPr id="31" name="Connector 30"/>
          <p:cNvCxnSpPr/>
          <p:nvPr/>
        </p:nvCxnSpPr>
        <p:spPr>
          <a:xfrm>
            <a:off x="1005840" y="4862779"/>
            <a:ext cx="685800" cy="0"/>
          </a:xfrm>
          <a:prstGeom prst="line">
            <a:avLst/>
          </a:prstGeom>
          <a:ln w="28575" cap="rnd">
            <a:solidFill>
              <a:srgbClr val="56606E"/>
            </a:solidFill>
            <a:round/>
          </a:ln>
        </p:spPr>
      </p:cxnSp>
      <p:cxnSp>
        <p:nvCxnSpPr>
          <p:cNvPr id="32" name="Connector 31"/>
          <p:cNvCxnSpPr/>
          <p:nvPr/>
        </p:nvCxnSpPr>
        <p:spPr>
          <a:xfrm>
            <a:off x="1005840" y="5104181"/>
            <a:ext cx="1005840" cy="0"/>
          </a:xfrm>
          <a:prstGeom prst="line">
            <a:avLst/>
          </a:prstGeom>
          <a:ln w="28575" cap="rnd">
            <a:solidFill>
              <a:srgbClr val="56606E"/>
            </a:solidFill>
            <a:round/>
          </a:ln>
        </p:spPr>
      </p:cxnSp>
      <p:cxnSp>
        <p:nvCxnSpPr>
          <p:cNvPr id="33" name="Connector 32"/>
          <p:cNvCxnSpPr/>
          <p:nvPr/>
        </p:nvCxnSpPr>
        <p:spPr>
          <a:xfrm>
            <a:off x="1005840" y="5345582"/>
            <a:ext cx="1005840" cy="0"/>
          </a:xfrm>
          <a:prstGeom prst="line">
            <a:avLst/>
          </a:prstGeom>
          <a:ln w="28575" cap="rnd">
            <a:solidFill>
              <a:srgbClr val="56606E"/>
            </a:solidFill>
            <a:round/>
          </a:ln>
        </p:spPr>
      </p:cxnSp>
      <p:sp>
        <p:nvSpPr>
          <p:cNvPr id="34" name="TextBox 33"/>
          <p:cNvSpPr txBox="1"/>
          <p:nvPr/>
        </p:nvSpPr>
        <p:spPr>
          <a:xfrm>
            <a:off x="822960" y="4023360"/>
            <a:ext cx="1371600" cy="320040"/>
          </a:xfrm>
          <a:prstGeom prst="rect">
            <a:avLst/>
          </a:prstGeom>
          <a:noFill/>
        </p:spPr>
        <p:txBody>
          <a:bodyPr wrap="square" anchor="t" lIns="0" rIns="0" tIns="0" bIns="0">
            <a:noAutofit/>
          </a:bodyPr>
          <a:lstStyle/>
          <a:p>
            <a:pPr algn="l">
              <a:lnSpc>
                <a:spcPct val="100000"/>
              </a:lnSpc>
              <a:spcBef>
                <a:spcPts val="0"/>
              </a:spcBef>
              <a:spcAft>
                <a:spcPts val="0"/>
              </a:spcAft>
            </a:pPr>
            <a:r>
              <a:rPr sz="100" b="0" i="0">
                <a:solidFill>
                  <a:srgbClr val="12161C"/>
                </a:solidFill>
                <a:latin typeface="Arial"/>
              </a:rPr>
              <a:t/>
            </a:r>
          </a:p>
        </p:txBody>
      </p:sp>
      <p:sp>
        <p:nvSpPr>
          <p:cNvPr id="35" name="TextBox 34"/>
          <p:cNvSpPr txBox="1"/>
          <p:nvPr/>
        </p:nvSpPr>
        <p:spPr>
          <a:xfrm>
            <a:off x="2423160" y="3977640"/>
            <a:ext cx="2331720" cy="1737360"/>
          </a:xfrm>
          <a:prstGeom prst="rect">
            <a:avLst/>
          </a:prstGeom>
          <a:noFill/>
        </p:spPr>
        <p:txBody>
          <a:bodyPr wrap="square" anchor="ctr" lIns="0" rIns="0" tIns="0" bIns="0">
            <a:noAutofit/>
          </a:bodyPr>
          <a:lstStyle/>
          <a:p>
            <a:pPr algn="l">
              <a:lnSpc>
                <a:spcPct val="115000"/>
              </a:lnSpc>
              <a:spcBef>
                <a:spcPts val="0"/>
              </a:spcBef>
              <a:spcAft>
                <a:spcPts val="0"/>
              </a:spcAft>
            </a:pPr>
            <a:r>
              <a:rPr sz="2200" b="0" i="0">
                <a:solidFill>
                  <a:srgbClr val="12161C"/>
                </a:solidFill>
                <a:latin typeface="Arial"/>
              </a:rPr>
              <a:t>less </a:t>
            </a:r>
            <a:r>
              <a:rPr sz="2200" b="1" i="0">
                <a:solidFill>
                  <a:srgbClr val="9C5A00"/>
                </a:solidFill>
                <a:latin typeface="Arial"/>
              </a:rPr>
              <a:t>work</a:t>
            </a:r>
            <a:r>
              <a:rPr sz="2200" b="0" i="0">
                <a:solidFill>
                  <a:srgbClr val="12161C"/>
                </a:solidFill>
                <a:latin typeface="Arial"/>
              </a:rPr>
              <a:t> is done on</a:t>
            </a:r>
          </a:p>
          <a:p>
            <a:pPr algn="l">
              <a:lnSpc>
                <a:spcPct val="115000"/>
              </a:lnSpc>
              <a:spcBef>
                <a:spcPts val="0"/>
              </a:spcBef>
              <a:spcAft>
                <a:spcPts val="0"/>
              </a:spcAft>
            </a:pPr>
            <a:r>
              <a:rPr sz="2200" b="0" i="0">
                <a:solidFill>
                  <a:srgbClr val="12161C"/>
                </a:solidFill>
                <a:latin typeface="Arial"/>
              </a:rPr>
              <a:t>passengers</a:t>
            </a:r>
          </a:p>
        </p:txBody>
      </p:sp>
      <p:sp>
        <p:nvSpPr>
          <p:cNvPr id="36" name="Freeform 35"/>
          <p:cNvSpPr/>
          <p:nvPr/>
        </p:nvSpPr>
        <p:spPr>
          <a:xfrm>
            <a:off x="4892040" y="4692701"/>
            <a:ext cx="731520" cy="307238"/>
          </a:xfrm>
          <a:custGeom>
            <a:avLst/>
            <a:gdLst/>
            <a:ahLst/>
            <a:cxnLst/>
            <a:rect l="l" t="t" r="r" b="b"/>
            <a:pathLst>
              <a:path w="731520" h="307238">
                <a:moveTo>
                  <a:pt x="0" y="226771"/>
                </a:moveTo>
                <a:lnTo>
                  <a:pt x="512064" y="226771"/>
                </a:lnTo>
                <a:lnTo>
                  <a:pt x="512064" y="307238"/>
                </a:lnTo>
                <a:lnTo>
                  <a:pt x="731520" y="153619"/>
                </a:lnTo>
                <a:lnTo>
                  <a:pt x="512064" y="0"/>
                </a:lnTo>
                <a:lnTo>
                  <a:pt x="512064" y="80467"/>
                </a:lnTo>
                <a:lnTo>
                  <a:pt x="0" y="80467"/>
                </a:lnTo>
                <a:close/>
              </a:path>
            </a:pathLst>
          </a:custGeom>
          <a:solidFill>
            <a:srgbClr val="FFB400"/>
          </a:solidFill>
          <a:ln>
            <a:noFill/>
          </a:ln>
        </p:spPr>
        <p:txBody>
          <a:bodyPr rtlCol="0" anchor="ctr"/>
          <a:lstStyle/>
          <a:p>
            <a:pPr algn="ctr"/>
          </a:p>
        </p:txBody>
      </p:sp>
      <p:sp>
        <p:nvSpPr>
          <p:cNvPr id="37" name="Freeform 36"/>
          <p:cNvSpPr/>
          <p:nvPr/>
        </p:nvSpPr>
        <p:spPr>
          <a:xfrm>
            <a:off x="6230610" y="4069080"/>
            <a:ext cx="1346220" cy="1554480"/>
          </a:xfrm>
          <a:custGeom>
            <a:avLst/>
            <a:gdLst/>
            <a:ahLst/>
            <a:cxnLst/>
            <a:rect l="l" t="t" r="r" b="b"/>
            <a:pathLst>
              <a:path w="1346220" h="1554480">
                <a:moveTo>
                  <a:pt x="1346220" y="388620"/>
                </a:moveTo>
                <a:lnTo>
                  <a:pt x="1346220" y="1165860"/>
                </a:lnTo>
                <a:lnTo>
                  <a:pt x="673110" y="1554480"/>
                </a:lnTo>
                <a:lnTo>
                  <a:pt x="0" y="1165860"/>
                </a:lnTo>
                <a:lnTo>
                  <a:pt x="0" y="388620"/>
                </a:lnTo>
                <a:lnTo>
                  <a:pt x="673110" y="0"/>
                </a:lnTo>
                <a:close/>
              </a:path>
            </a:pathLst>
          </a:custGeom>
          <a:solidFill>
            <a:srgbClr val="FFB400"/>
          </a:solidFill>
          <a:ln>
            <a:noFill/>
          </a:ln>
        </p:spPr>
        <p:txBody>
          <a:bodyPr rtlCol="0" anchor="ctr"/>
          <a:lstStyle/>
          <a:p>
            <a:pPr algn="ctr"/>
          </a:p>
        </p:txBody>
      </p:sp>
      <p:sp>
        <p:nvSpPr>
          <p:cNvPr id="38" name="TextBox 37"/>
          <p:cNvSpPr txBox="1"/>
          <p:nvPr/>
        </p:nvSpPr>
        <p:spPr>
          <a:xfrm>
            <a:off x="6263640" y="4626864"/>
            <a:ext cx="1280160" cy="457200"/>
          </a:xfrm>
          <a:prstGeom prst="rect">
            <a:avLst/>
          </a:prstGeom>
          <a:noFill/>
        </p:spPr>
        <p:txBody>
          <a:bodyPr wrap="square" anchor="t" lIns="0" rIns="0" tIns="0" bIns="0">
            <a:noAutofit/>
          </a:bodyPr>
          <a:lstStyle/>
          <a:p>
            <a:pPr algn="ctr">
              <a:lnSpc>
                <a:spcPct val="100000"/>
              </a:lnSpc>
              <a:spcBef>
                <a:spcPts val="0"/>
              </a:spcBef>
              <a:spcAft>
                <a:spcPts val="0"/>
              </a:spcAft>
            </a:pPr>
            <a:r>
              <a:rPr sz="1600" b="1" i="0">
                <a:solidFill>
                  <a:srgbClr val="12161C"/>
                </a:solidFill>
                <a:latin typeface="Arial"/>
              </a:rPr>
              <a:t>BELT</a:t>
            </a:r>
          </a:p>
        </p:txBody>
      </p:sp>
      <p:sp>
        <p:nvSpPr>
          <p:cNvPr id="39" name="TextBox 38"/>
          <p:cNvSpPr txBox="1"/>
          <p:nvPr/>
        </p:nvSpPr>
        <p:spPr>
          <a:xfrm>
            <a:off x="7863840" y="3977640"/>
            <a:ext cx="3200400" cy="1737360"/>
          </a:xfrm>
          <a:prstGeom prst="rect">
            <a:avLst/>
          </a:prstGeom>
          <a:noFill/>
        </p:spPr>
        <p:txBody>
          <a:bodyPr wrap="square" anchor="ctr" lIns="0" rIns="0" tIns="0" bIns="0">
            <a:noAutofit/>
          </a:bodyPr>
          <a:lstStyle/>
          <a:p>
            <a:pPr algn="l">
              <a:lnSpc>
                <a:spcPct val="115000"/>
              </a:lnSpc>
              <a:spcBef>
                <a:spcPts val="0"/>
              </a:spcBef>
              <a:spcAft>
                <a:spcPts val="0"/>
              </a:spcAft>
            </a:pPr>
            <a:r>
              <a:rPr sz="2200" b="0" i="0">
                <a:solidFill>
                  <a:srgbClr val="12161C"/>
                </a:solidFill>
                <a:latin typeface="Arial"/>
              </a:rPr>
              <a:t>most </a:t>
            </a:r>
            <a:r>
              <a:rPr sz="2200" b="1" i="0">
                <a:solidFill>
                  <a:srgbClr val="9C5A00"/>
                </a:solidFill>
                <a:latin typeface="Arial"/>
              </a:rPr>
              <a:t>kinetic energy</a:t>
            </a:r>
            <a:r>
              <a:rPr sz="2200" b="0" i="0">
                <a:solidFill>
                  <a:srgbClr val="12161C"/>
                </a:solidFill>
                <a:latin typeface="Arial"/>
              </a:rPr>
              <a:t> transfers</a:t>
            </a:r>
          </a:p>
          <a:p>
            <a:pPr algn="l">
              <a:lnSpc>
                <a:spcPct val="115000"/>
              </a:lnSpc>
              <a:spcBef>
                <a:spcPts val="0"/>
              </a:spcBef>
              <a:spcAft>
                <a:spcPts val="0"/>
              </a:spcAft>
            </a:pPr>
            <a:r>
              <a:rPr sz="2200" b="0" i="0">
                <a:solidFill>
                  <a:srgbClr val="12161C"/>
                </a:solidFill>
                <a:latin typeface="Arial"/>
              </a:rPr>
              <a:t>to the belt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A9B3C0"/>
                </a:solidFill>
                <a:latin typeface="Arial Narrow"/>
              </a:rPr>
              <a:t>ACT 3 · CRASH INVESTIGATION</a:t>
            </a:r>
          </a:p>
        </p:txBody>
      </p:sp>
      <p:sp>
        <p:nvSpPr>
          <p:cNvPr id="4" name="TextBox 3"/>
          <p:cNvSpPr txBox="1"/>
          <p:nvPr/>
        </p:nvSpPr>
        <p:spPr>
          <a:xfrm>
            <a:off x="7315200" y="310896"/>
            <a:ext cx="4187952" cy="274320"/>
          </a:xfrm>
          <a:prstGeom prst="rect">
            <a:avLst/>
          </a:prstGeom>
          <a:noFill/>
        </p:spPr>
        <p:txBody>
          <a:bodyPr wrap="square" anchor="t" lIns="0" rIns="0" tIns="0" bIns="0">
            <a:noAutofit/>
          </a:bodyPr>
          <a:lstStyle/>
          <a:p>
            <a:pPr algn="r">
              <a:lnSpc>
                <a:spcPct val="100000"/>
              </a:lnSpc>
              <a:spcBef>
                <a:spcPts val="0"/>
              </a:spcBef>
              <a:spcAft>
                <a:spcPts val="0"/>
              </a:spcAft>
            </a:pPr>
            <a:r>
              <a:rPr sz="1300" b="1" i="0" spc="220">
                <a:solidFill>
                  <a:srgbClr val="6F7A89"/>
                </a:solidFill>
                <a:latin typeface="Arial Narrow"/>
              </a:rPr>
              <a:t>CRASH INVESTIGATOR</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6F7A89"/>
                </a:solidFill>
                <a:latin typeface="Arial Narrow"/>
              </a:rPr>
              <a:t>ENERGY LAB  ·  CRASH TEST #05</a:t>
            </a:r>
          </a:p>
        </p:txBody>
      </p:sp>
      <p:sp>
        <p:nvSpPr>
          <p:cNvPr id="6" name="Rectangle 5"/>
          <p:cNvSpPr/>
          <p:nvPr/>
        </p:nvSpPr>
        <p:spPr>
          <a:xfrm>
            <a:off x="4526280" y="6510528"/>
            <a:ext cx="127363" cy="54864"/>
          </a:xfrm>
          <a:prstGeom prst="rect">
            <a:avLst/>
          </a:prstGeom>
          <a:solidFill>
            <a:srgbClr val="8A6A1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8A6A1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8A6A1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8A6A1A"/>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8A6A1A"/>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8A6A1A"/>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FFB400"/>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2A3240"/>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2A3240"/>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2A3240"/>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2A3240"/>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2A3240"/>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2A3240"/>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2A3240"/>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6F7A89"/>
                </a:solidFill>
                <a:latin typeface="Arial Narrow"/>
              </a:rPr>
              <a:t>40</a:t>
            </a:fld>
          </a:p>
        </p:txBody>
      </p:sp>
      <p:sp>
        <p:nvSpPr>
          <p:cNvPr id="21" name="TextBox 20"/>
          <p:cNvSpPr txBox="1"/>
          <p:nvPr/>
        </p:nvSpPr>
        <p:spPr>
          <a:xfrm>
            <a:off x="685800" y="749808"/>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A9B3C0"/>
                </a:solidFill>
                <a:latin typeface="Arial Narrow"/>
              </a:rPr>
              <a:t>THE WHOLE DISCOVERY IN ONE DIAGRAM</a:t>
            </a:r>
          </a:p>
        </p:txBody>
      </p:sp>
      <p:sp>
        <p:nvSpPr>
          <p:cNvPr id="22" name="TextBox 21"/>
          <p:cNvSpPr txBox="1"/>
          <p:nvPr/>
        </p:nvSpPr>
        <p:spPr>
          <a:xfrm>
            <a:off x="685800" y="987552"/>
            <a:ext cx="10789920" cy="548640"/>
          </a:xfrm>
          <a:prstGeom prst="rect">
            <a:avLst/>
          </a:prstGeom>
          <a:noFill/>
        </p:spPr>
        <p:txBody>
          <a:bodyPr wrap="square" anchor="t" lIns="0" rIns="0" tIns="0" bIns="0">
            <a:noAutofit/>
          </a:bodyPr>
          <a:lstStyle/>
          <a:p>
            <a:pPr algn="l">
              <a:lnSpc>
                <a:spcPct val="100000"/>
              </a:lnSpc>
              <a:spcBef>
                <a:spcPts val="0"/>
              </a:spcBef>
              <a:spcAft>
                <a:spcPts val="0"/>
              </a:spcAft>
            </a:pPr>
            <a:r>
              <a:rPr sz="2900" b="0" i="0">
                <a:solidFill>
                  <a:srgbClr val="F4F6F8"/>
                </a:solidFill>
                <a:latin typeface="Arial Black"/>
              </a:rPr>
              <a:t>HOW A STRETCHING SEATBELT SAVES LIVES</a:t>
            </a:r>
          </a:p>
        </p:txBody>
      </p:sp>
      <p:sp>
        <p:nvSpPr>
          <p:cNvPr id="23" name="Rounded Rectangle 22"/>
          <p:cNvSpPr/>
          <p:nvPr/>
        </p:nvSpPr>
        <p:spPr>
          <a:xfrm>
            <a:off x="685800" y="2103120"/>
            <a:ext cx="10817352" cy="530352"/>
          </a:xfrm>
          <a:prstGeom prst="roundRect">
            <a:avLst>
              <a:gd name="adj" fmla="val 20689"/>
            </a:avLst>
          </a:prstGeom>
          <a:solidFill>
            <a:srgbClr val="232B36"/>
          </a:solidFill>
          <a:ln w="19050">
            <a:solidFill>
              <a:srgbClr val="323C4A"/>
            </a:solidFill>
          </a:ln>
        </p:spPr>
        <p:txBody>
          <a:bodyPr rtlCol="0" anchor="ctr"/>
          <a:lstStyle/>
          <a:p>
            <a:pPr algn="ctr"/>
          </a:p>
        </p:txBody>
      </p:sp>
      <p:sp>
        <p:nvSpPr>
          <p:cNvPr id="24" name="TextBox 23"/>
          <p:cNvSpPr txBox="1"/>
          <p:nvPr/>
        </p:nvSpPr>
        <p:spPr>
          <a:xfrm>
            <a:off x="1005840" y="2103120"/>
            <a:ext cx="9262872" cy="530352"/>
          </a:xfrm>
          <a:prstGeom prst="rect">
            <a:avLst/>
          </a:prstGeom>
          <a:noFill/>
        </p:spPr>
        <p:txBody>
          <a:bodyPr wrap="square" anchor="ctr" lIns="0" rIns="0" tIns="0" bIns="0">
            <a:noAutofit/>
          </a:bodyPr>
          <a:lstStyle/>
          <a:p>
            <a:pPr algn="l">
              <a:lnSpc>
                <a:spcPct val="100000"/>
              </a:lnSpc>
              <a:spcBef>
                <a:spcPts val="0"/>
              </a:spcBef>
              <a:spcAft>
                <a:spcPts val="0"/>
              </a:spcAft>
            </a:pPr>
            <a:r>
              <a:rPr sz="2200" b="1" i="0" spc="150">
                <a:solidFill>
                  <a:srgbClr val="F4F6F8"/>
                </a:solidFill>
                <a:latin typeface="Arial Narrow"/>
              </a:rPr>
              <a:t>CAR DECELERATES</a:t>
            </a:r>
          </a:p>
        </p:txBody>
      </p:sp>
      <p:sp>
        <p:nvSpPr>
          <p:cNvPr id="25" name="Freeform 24"/>
          <p:cNvSpPr/>
          <p:nvPr/>
        </p:nvSpPr>
        <p:spPr>
          <a:xfrm>
            <a:off x="5948172" y="2651760"/>
            <a:ext cx="292608" cy="109728"/>
          </a:xfrm>
          <a:custGeom>
            <a:avLst/>
            <a:gdLst/>
            <a:ahLst/>
            <a:cxnLst/>
            <a:rect l="l" t="t" r="r" b="b"/>
            <a:pathLst>
              <a:path w="292608" h="109728">
                <a:moveTo>
                  <a:pt x="84856" y="0"/>
                </a:moveTo>
                <a:lnTo>
                  <a:pt x="207752" y="0"/>
                </a:lnTo>
                <a:lnTo>
                  <a:pt x="207752" y="60350"/>
                </a:lnTo>
                <a:lnTo>
                  <a:pt x="292608" y="60350"/>
                </a:lnTo>
                <a:lnTo>
                  <a:pt x="146304" y="109728"/>
                </a:lnTo>
                <a:lnTo>
                  <a:pt x="0" y="60350"/>
                </a:lnTo>
                <a:lnTo>
                  <a:pt x="84856" y="60350"/>
                </a:lnTo>
                <a:close/>
              </a:path>
            </a:pathLst>
          </a:custGeom>
          <a:solidFill>
            <a:srgbClr val="FFB400"/>
          </a:solidFill>
          <a:ln>
            <a:noFill/>
          </a:ln>
        </p:spPr>
        <p:txBody>
          <a:bodyPr rtlCol="0" anchor="ctr"/>
          <a:lstStyle/>
          <a:p>
            <a:pPr algn="ctr"/>
          </a:p>
        </p:txBody>
      </p:sp>
      <p:sp>
        <p:nvSpPr>
          <p:cNvPr id="26" name="Rounded Rectangle 25"/>
          <p:cNvSpPr/>
          <p:nvPr/>
        </p:nvSpPr>
        <p:spPr>
          <a:xfrm>
            <a:off x="685800" y="2779776"/>
            <a:ext cx="10817352" cy="530352"/>
          </a:xfrm>
          <a:prstGeom prst="roundRect">
            <a:avLst>
              <a:gd name="adj" fmla="val 20689"/>
            </a:avLst>
          </a:prstGeom>
          <a:solidFill>
            <a:srgbClr val="232B36"/>
          </a:solidFill>
          <a:ln w="19050">
            <a:solidFill>
              <a:srgbClr val="323C4A"/>
            </a:solidFill>
          </a:ln>
        </p:spPr>
        <p:txBody>
          <a:bodyPr rtlCol="0" anchor="ctr"/>
          <a:lstStyle/>
          <a:p>
            <a:pPr algn="ctr"/>
          </a:p>
        </p:txBody>
      </p:sp>
      <p:sp>
        <p:nvSpPr>
          <p:cNvPr id="27" name="TextBox 26"/>
          <p:cNvSpPr txBox="1"/>
          <p:nvPr/>
        </p:nvSpPr>
        <p:spPr>
          <a:xfrm>
            <a:off x="1005840" y="2779776"/>
            <a:ext cx="9262872" cy="530352"/>
          </a:xfrm>
          <a:prstGeom prst="rect">
            <a:avLst/>
          </a:prstGeom>
          <a:noFill/>
        </p:spPr>
        <p:txBody>
          <a:bodyPr wrap="square" anchor="ctr" lIns="0" rIns="0" tIns="0" bIns="0">
            <a:noAutofit/>
          </a:bodyPr>
          <a:lstStyle/>
          <a:p>
            <a:pPr algn="l">
              <a:lnSpc>
                <a:spcPct val="100000"/>
              </a:lnSpc>
              <a:spcBef>
                <a:spcPts val="0"/>
              </a:spcBef>
              <a:spcAft>
                <a:spcPts val="0"/>
              </a:spcAft>
            </a:pPr>
            <a:r>
              <a:rPr sz="2200" b="1" i="0" spc="150">
                <a:solidFill>
                  <a:srgbClr val="F4F6F8"/>
                </a:solidFill>
                <a:latin typeface="Arial Narrow"/>
              </a:rPr>
              <a:t>PASSENGER CONTINUES MOVING</a:t>
            </a:r>
          </a:p>
        </p:txBody>
      </p:sp>
      <p:sp>
        <p:nvSpPr>
          <p:cNvPr id="28" name="Freeform 27"/>
          <p:cNvSpPr/>
          <p:nvPr/>
        </p:nvSpPr>
        <p:spPr>
          <a:xfrm>
            <a:off x="5948172" y="3328416"/>
            <a:ext cx="292608" cy="109728"/>
          </a:xfrm>
          <a:custGeom>
            <a:avLst/>
            <a:gdLst/>
            <a:ahLst/>
            <a:cxnLst/>
            <a:rect l="l" t="t" r="r" b="b"/>
            <a:pathLst>
              <a:path w="292608" h="109728">
                <a:moveTo>
                  <a:pt x="84856" y="0"/>
                </a:moveTo>
                <a:lnTo>
                  <a:pt x="207752" y="0"/>
                </a:lnTo>
                <a:lnTo>
                  <a:pt x="207752" y="60350"/>
                </a:lnTo>
                <a:lnTo>
                  <a:pt x="292608" y="60350"/>
                </a:lnTo>
                <a:lnTo>
                  <a:pt x="146304" y="109728"/>
                </a:lnTo>
                <a:lnTo>
                  <a:pt x="0" y="60350"/>
                </a:lnTo>
                <a:lnTo>
                  <a:pt x="84856" y="60350"/>
                </a:lnTo>
                <a:close/>
              </a:path>
            </a:pathLst>
          </a:custGeom>
          <a:solidFill>
            <a:srgbClr val="FFB400"/>
          </a:solidFill>
          <a:ln>
            <a:noFill/>
          </a:ln>
        </p:spPr>
        <p:txBody>
          <a:bodyPr rtlCol="0" anchor="ctr"/>
          <a:lstStyle/>
          <a:p>
            <a:pPr algn="ctr"/>
          </a:p>
        </p:txBody>
      </p:sp>
      <p:sp>
        <p:nvSpPr>
          <p:cNvPr id="29" name="Rounded Rectangle 28"/>
          <p:cNvSpPr/>
          <p:nvPr/>
        </p:nvSpPr>
        <p:spPr>
          <a:xfrm>
            <a:off x="685800" y="3456432"/>
            <a:ext cx="10817352" cy="530352"/>
          </a:xfrm>
          <a:prstGeom prst="roundRect">
            <a:avLst>
              <a:gd name="adj" fmla="val 20689"/>
            </a:avLst>
          </a:prstGeom>
          <a:solidFill>
            <a:srgbClr val="FFB400"/>
          </a:solidFill>
          <a:ln w="19050">
            <a:solidFill>
              <a:srgbClr val="323C4A"/>
            </a:solidFill>
          </a:ln>
        </p:spPr>
        <p:txBody>
          <a:bodyPr rtlCol="0" anchor="ctr"/>
          <a:lstStyle/>
          <a:p>
            <a:pPr algn="ctr"/>
          </a:p>
        </p:txBody>
      </p:sp>
      <p:sp>
        <p:nvSpPr>
          <p:cNvPr id="30" name="TextBox 29"/>
          <p:cNvSpPr txBox="1"/>
          <p:nvPr/>
        </p:nvSpPr>
        <p:spPr>
          <a:xfrm>
            <a:off x="1005840" y="3456432"/>
            <a:ext cx="9262872" cy="530352"/>
          </a:xfrm>
          <a:prstGeom prst="rect">
            <a:avLst/>
          </a:prstGeom>
          <a:noFill/>
        </p:spPr>
        <p:txBody>
          <a:bodyPr wrap="square" anchor="ctr" lIns="0" rIns="0" tIns="0" bIns="0">
            <a:noAutofit/>
          </a:bodyPr>
          <a:lstStyle/>
          <a:p>
            <a:pPr algn="l">
              <a:lnSpc>
                <a:spcPct val="100000"/>
              </a:lnSpc>
              <a:spcBef>
                <a:spcPts val="0"/>
              </a:spcBef>
              <a:spcAft>
                <a:spcPts val="0"/>
              </a:spcAft>
            </a:pPr>
            <a:r>
              <a:rPr sz="2200" b="1" i="0" spc="150">
                <a:solidFill>
                  <a:srgbClr val="12161C"/>
                </a:solidFill>
                <a:latin typeface="Arial Narrow"/>
              </a:rPr>
              <a:t>SEATBELT STRETCHES</a:t>
            </a:r>
          </a:p>
        </p:txBody>
      </p:sp>
      <p:sp>
        <p:nvSpPr>
          <p:cNvPr id="31" name="Freeform 30"/>
          <p:cNvSpPr/>
          <p:nvPr/>
        </p:nvSpPr>
        <p:spPr>
          <a:xfrm>
            <a:off x="5948172" y="4005072"/>
            <a:ext cx="292608" cy="109728"/>
          </a:xfrm>
          <a:custGeom>
            <a:avLst/>
            <a:gdLst/>
            <a:ahLst/>
            <a:cxnLst/>
            <a:rect l="l" t="t" r="r" b="b"/>
            <a:pathLst>
              <a:path w="292608" h="109728">
                <a:moveTo>
                  <a:pt x="84856" y="0"/>
                </a:moveTo>
                <a:lnTo>
                  <a:pt x="207752" y="0"/>
                </a:lnTo>
                <a:lnTo>
                  <a:pt x="207752" y="60350"/>
                </a:lnTo>
                <a:lnTo>
                  <a:pt x="292608" y="60350"/>
                </a:lnTo>
                <a:lnTo>
                  <a:pt x="146304" y="109728"/>
                </a:lnTo>
                <a:lnTo>
                  <a:pt x="0" y="60350"/>
                </a:lnTo>
                <a:lnTo>
                  <a:pt x="84856" y="60350"/>
                </a:lnTo>
                <a:close/>
              </a:path>
            </a:pathLst>
          </a:custGeom>
          <a:solidFill>
            <a:srgbClr val="FFB400"/>
          </a:solidFill>
          <a:ln>
            <a:noFill/>
          </a:ln>
        </p:spPr>
        <p:txBody>
          <a:bodyPr rtlCol="0" anchor="ctr"/>
          <a:lstStyle/>
          <a:p>
            <a:pPr algn="ctr"/>
          </a:p>
        </p:txBody>
      </p:sp>
      <p:sp>
        <p:nvSpPr>
          <p:cNvPr id="32" name="Rounded Rectangle 31"/>
          <p:cNvSpPr/>
          <p:nvPr/>
        </p:nvSpPr>
        <p:spPr>
          <a:xfrm>
            <a:off x="685800" y="4133088"/>
            <a:ext cx="10817352" cy="530352"/>
          </a:xfrm>
          <a:prstGeom prst="roundRect">
            <a:avLst>
              <a:gd name="adj" fmla="val 20689"/>
            </a:avLst>
          </a:prstGeom>
          <a:solidFill>
            <a:srgbClr val="232B36"/>
          </a:solidFill>
          <a:ln w="19050">
            <a:solidFill>
              <a:srgbClr val="323C4A"/>
            </a:solidFill>
          </a:ln>
        </p:spPr>
        <p:txBody>
          <a:bodyPr rtlCol="0" anchor="ctr"/>
          <a:lstStyle/>
          <a:p>
            <a:pPr algn="ctr"/>
          </a:p>
        </p:txBody>
      </p:sp>
      <p:sp>
        <p:nvSpPr>
          <p:cNvPr id="33" name="TextBox 32"/>
          <p:cNvSpPr txBox="1"/>
          <p:nvPr/>
        </p:nvSpPr>
        <p:spPr>
          <a:xfrm>
            <a:off x="1005840" y="4133088"/>
            <a:ext cx="9262872" cy="530352"/>
          </a:xfrm>
          <a:prstGeom prst="rect">
            <a:avLst/>
          </a:prstGeom>
          <a:noFill/>
        </p:spPr>
        <p:txBody>
          <a:bodyPr wrap="square" anchor="ctr" lIns="0" rIns="0" tIns="0" bIns="0">
            <a:noAutofit/>
          </a:bodyPr>
          <a:lstStyle/>
          <a:p>
            <a:pPr algn="l">
              <a:lnSpc>
                <a:spcPct val="100000"/>
              </a:lnSpc>
              <a:spcBef>
                <a:spcPts val="0"/>
              </a:spcBef>
              <a:spcAft>
                <a:spcPts val="0"/>
              </a:spcAft>
            </a:pPr>
            <a:r>
              <a:rPr sz="2200" b="1" i="0" spc="150">
                <a:solidFill>
                  <a:srgbClr val="F4F6F8"/>
                </a:solidFill>
                <a:latin typeface="Arial Narrow"/>
              </a:rPr>
              <a:t>STOPPING DISTANCE</a:t>
            </a:r>
          </a:p>
        </p:txBody>
      </p:sp>
      <p:sp>
        <p:nvSpPr>
          <p:cNvPr id="34" name="Freeform 33"/>
          <p:cNvSpPr/>
          <p:nvPr/>
        </p:nvSpPr>
        <p:spPr>
          <a:xfrm>
            <a:off x="10808757" y="4242816"/>
            <a:ext cx="254934" cy="310896"/>
          </a:xfrm>
          <a:custGeom>
            <a:avLst/>
            <a:gdLst/>
            <a:ahLst/>
            <a:cxnLst/>
            <a:rect l="l" t="t" r="r" b="b"/>
            <a:pathLst>
              <a:path w="254934" h="310896">
                <a:moveTo>
                  <a:pt x="180319" y="310896"/>
                </a:moveTo>
                <a:lnTo>
                  <a:pt x="180319" y="155448"/>
                </a:lnTo>
                <a:lnTo>
                  <a:pt x="254934" y="155448"/>
                </a:lnTo>
                <a:lnTo>
                  <a:pt x="127467" y="0"/>
                </a:lnTo>
                <a:lnTo>
                  <a:pt x="0" y="155448"/>
                </a:lnTo>
                <a:lnTo>
                  <a:pt x="74615" y="155448"/>
                </a:lnTo>
                <a:lnTo>
                  <a:pt x="74615" y="310896"/>
                </a:lnTo>
                <a:close/>
              </a:path>
            </a:pathLst>
          </a:custGeom>
          <a:solidFill>
            <a:srgbClr val="FFB400"/>
          </a:solidFill>
          <a:ln>
            <a:noFill/>
          </a:ln>
        </p:spPr>
        <p:txBody>
          <a:bodyPr rtlCol="0" anchor="ctr"/>
          <a:lstStyle/>
          <a:p>
            <a:pPr algn="ctr"/>
          </a:p>
        </p:txBody>
      </p:sp>
      <p:sp>
        <p:nvSpPr>
          <p:cNvPr id="35" name="Freeform 34"/>
          <p:cNvSpPr/>
          <p:nvPr/>
        </p:nvSpPr>
        <p:spPr>
          <a:xfrm>
            <a:off x="5948172" y="4681728"/>
            <a:ext cx="292608" cy="109728"/>
          </a:xfrm>
          <a:custGeom>
            <a:avLst/>
            <a:gdLst/>
            <a:ahLst/>
            <a:cxnLst/>
            <a:rect l="l" t="t" r="r" b="b"/>
            <a:pathLst>
              <a:path w="292608" h="109728">
                <a:moveTo>
                  <a:pt x="84856" y="0"/>
                </a:moveTo>
                <a:lnTo>
                  <a:pt x="207752" y="0"/>
                </a:lnTo>
                <a:lnTo>
                  <a:pt x="207752" y="60350"/>
                </a:lnTo>
                <a:lnTo>
                  <a:pt x="292608" y="60350"/>
                </a:lnTo>
                <a:lnTo>
                  <a:pt x="146304" y="109728"/>
                </a:lnTo>
                <a:lnTo>
                  <a:pt x="0" y="60350"/>
                </a:lnTo>
                <a:lnTo>
                  <a:pt x="84856" y="60350"/>
                </a:lnTo>
                <a:close/>
              </a:path>
            </a:pathLst>
          </a:custGeom>
          <a:solidFill>
            <a:srgbClr val="FFB400"/>
          </a:solidFill>
          <a:ln>
            <a:noFill/>
          </a:ln>
        </p:spPr>
        <p:txBody>
          <a:bodyPr rtlCol="0" anchor="ctr"/>
          <a:lstStyle/>
          <a:p>
            <a:pPr algn="ctr"/>
          </a:p>
        </p:txBody>
      </p:sp>
      <p:sp>
        <p:nvSpPr>
          <p:cNvPr id="36" name="Rounded Rectangle 35"/>
          <p:cNvSpPr/>
          <p:nvPr/>
        </p:nvSpPr>
        <p:spPr>
          <a:xfrm>
            <a:off x="685800" y="4809744"/>
            <a:ext cx="10817352" cy="530352"/>
          </a:xfrm>
          <a:prstGeom prst="roundRect">
            <a:avLst>
              <a:gd name="adj" fmla="val 20689"/>
            </a:avLst>
          </a:prstGeom>
          <a:solidFill>
            <a:srgbClr val="232B36"/>
          </a:solidFill>
          <a:ln w="19050">
            <a:solidFill>
              <a:srgbClr val="323C4A"/>
            </a:solidFill>
          </a:ln>
        </p:spPr>
        <p:txBody>
          <a:bodyPr rtlCol="0" anchor="ctr"/>
          <a:lstStyle/>
          <a:p>
            <a:pPr algn="ctr"/>
          </a:p>
        </p:txBody>
      </p:sp>
      <p:sp>
        <p:nvSpPr>
          <p:cNvPr id="37" name="TextBox 36"/>
          <p:cNvSpPr txBox="1"/>
          <p:nvPr/>
        </p:nvSpPr>
        <p:spPr>
          <a:xfrm>
            <a:off x="1005840" y="4809744"/>
            <a:ext cx="9262872" cy="530352"/>
          </a:xfrm>
          <a:prstGeom prst="rect">
            <a:avLst/>
          </a:prstGeom>
          <a:noFill/>
        </p:spPr>
        <p:txBody>
          <a:bodyPr wrap="square" anchor="ctr" lIns="0" rIns="0" tIns="0" bIns="0">
            <a:noAutofit/>
          </a:bodyPr>
          <a:lstStyle/>
          <a:p>
            <a:pPr algn="l">
              <a:lnSpc>
                <a:spcPct val="100000"/>
              </a:lnSpc>
              <a:spcBef>
                <a:spcPts val="0"/>
              </a:spcBef>
              <a:spcAft>
                <a:spcPts val="0"/>
              </a:spcAft>
            </a:pPr>
            <a:r>
              <a:rPr sz="2200" b="1" i="0" spc="150">
                <a:solidFill>
                  <a:srgbClr val="F4F6F8"/>
                </a:solidFill>
                <a:latin typeface="Arial Narrow"/>
              </a:rPr>
              <a:t>FORCE / Gs</a:t>
            </a:r>
          </a:p>
        </p:txBody>
      </p:sp>
      <p:sp>
        <p:nvSpPr>
          <p:cNvPr id="38" name="Freeform 37"/>
          <p:cNvSpPr/>
          <p:nvPr/>
        </p:nvSpPr>
        <p:spPr>
          <a:xfrm>
            <a:off x="10808757" y="4919472"/>
            <a:ext cx="254934" cy="310896"/>
          </a:xfrm>
          <a:custGeom>
            <a:avLst/>
            <a:gdLst/>
            <a:ahLst/>
            <a:cxnLst/>
            <a:rect l="l" t="t" r="r" b="b"/>
            <a:pathLst>
              <a:path w="254934" h="310896">
                <a:moveTo>
                  <a:pt x="74615" y="0"/>
                </a:moveTo>
                <a:lnTo>
                  <a:pt x="74615" y="155448"/>
                </a:lnTo>
                <a:lnTo>
                  <a:pt x="0" y="155448"/>
                </a:lnTo>
                <a:lnTo>
                  <a:pt x="127467" y="310896"/>
                </a:lnTo>
                <a:lnTo>
                  <a:pt x="254934" y="155448"/>
                </a:lnTo>
                <a:lnTo>
                  <a:pt x="180319" y="155448"/>
                </a:lnTo>
                <a:lnTo>
                  <a:pt x="180319" y="0"/>
                </a:lnTo>
                <a:close/>
              </a:path>
            </a:pathLst>
          </a:custGeom>
          <a:solidFill>
            <a:srgbClr val="F0525A"/>
          </a:solidFill>
          <a:ln>
            <a:noFill/>
          </a:ln>
        </p:spPr>
        <p:txBody>
          <a:bodyPr rtlCol="0" anchor="ctr"/>
          <a:lstStyle/>
          <a:p>
            <a:pPr algn="ctr"/>
          </a:p>
        </p:txBody>
      </p:sp>
      <p:sp>
        <p:nvSpPr>
          <p:cNvPr id="39" name="Freeform 38"/>
          <p:cNvSpPr/>
          <p:nvPr/>
        </p:nvSpPr>
        <p:spPr>
          <a:xfrm>
            <a:off x="5948172" y="5358384"/>
            <a:ext cx="292608" cy="109728"/>
          </a:xfrm>
          <a:custGeom>
            <a:avLst/>
            <a:gdLst/>
            <a:ahLst/>
            <a:cxnLst/>
            <a:rect l="l" t="t" r="r" b="b"/>
            <a:pathLst>
              <a:path w="292608" h="109728">
                <a:moveTo>
                  <a:pt x="84856" y="0"/>
                </a:moveTo>
                <a:lnTo>
                  <a:pt x="207752" y="0"/>
                </a:lnTo>
                <a:lnTo>
                  <a:pt x="207752" y="60350"/>
                </a:lnTo>
                <a:lnTo>
                  <a:pt x="292608" y="60350"/>
                </a:lnTo>
                <a:lnTo>
                  <a:pt x="146304" y="109728"/>
                </a:lnTo>
                <a:lnTo>
                  <a:pt x="0" y="60350"/>
                </a:lnTo>
                <a:lnTo>
                  <a:pt x="84856" y="60350"/>
                </a:lnTo>
                <a:close/>
              </a:path>
            </a:pathLst>
          </a:custGeom>
          <a:solidFill>
            <a:srgbClr val="FFB400"/>
          </a:solidFill>
          <a:ln>
            <a:noFill/>
          </a:ln>
        </p:spPr>
        <p:txBody>
          <a:bodyPr rtlCol="0" anchor="ctr"/>
          <a:lstStyle/>
          <a:p>
            <a:pPr algn="ctr"/>
          </a:p>
        </p:txBody>
      </p:sp>
      <p:sp>
        <p:nvSpPr>
          <p:cNvPr id="40" name="Rounded Rectangle 39"/>
          <p:cNvSpPr/>
          <p:nvPr/>
        </p:nvSpPr>
        <p:spPr>
          <a:xfrm>
            <a:off x="685800" y="5486400"/>
            <a:ext cx="10817352" cy="530352"/>
          </a:xfrm>
          <a:prstGeom prst="roundRect">
            <a:avLst>
              <a:gd name="adj" fmla="val 20689"/>
            </a:avLst>
          </a:prstGeom>
          <a:solidFill>
            <a:srgbClr val="232B36"/>
          </a:solidFill>
          <a:ln w="19050">
            <a:solidFill>
              <a:srgbClr val="323C4A"/>
            </a:solidFill>
          </a:ln>
        </p:spPr>
        <p:txBody>
          <a:bodyPr rtlCol="0" anchor="ctr"/>
          <a:lstStyle/>
          <a:p>
            <a:pPr algn="ctr"/>
          </a:p>
        </p:txBody>
      </p:sp>
      <p:sp>
        <p:nvSpPr>
          <p:cNvPr id="41" name="TextBox 40"/>
          <p:cNvSpPr txBox="1"/>
          <p:nvPr/>
        </p:nvSpPr>
        <p:spPr>
          <a:xfrm>
            <a:off x="1005840" y="5486400"/>
            <a:ext cx="9262872" cy="530352"/>
          </a:xfrm>
          <a:prstGeom prst="rect">
            <a:avLst/>
          </a:prstGeom>
          <a:noFill/>
        </p:spPr>
        <p:txBody>
          <a:bodyPr wrap="square" anchor="ctr" lIns="0" rIns="0" tIns="0" bIns="0">
            <a:noAutofit/>
          </a:bodyPr>
          <a:lstStyle/>
          <a:p>
            <a:pPr algn="l">
              <a:lnSpc>
                <a:spcPct val="100000"/>
              </a:lnSpc>
              <a:spcBef>
                <a:spcPts val="0"/>
              </a:spcBef>
              <a:spcAft>
                <a:spcPts val="0"/>
              </a:spcAft>
            </a:pPr>
            <a:r>
              <a:rPr sz="2200" b="1" i="0" spc="150">
                <a:solidFill>
                  <a:srgbClr val="F4F6F8"/>
                </a:solidFill>
                <a:latin typeface="Arial Narrow"/>
              </a:rPr>
              <a:t>INJURIES</a:t>
            </a:r>
          </a:p>
        </p:txBody>
      </p:sp>
      <p:sp>
        <p:nvSpPr>
          <p:cNvPr id="42" name="Freeform 41"/>
          <p:cNvSpPr/>
          <p:nvPr/>
        </p:nvSpPr>
        <p:spPr>
          <a:xfrm>
            <a:off x="10808757" y="5596128"/>
            <a:ext cx="254934" cy="310896"/>
          </a:xfrm>
          <a:custGeom>
            <a:avLst/>
            <a:gdLst/>
            <a:ahLst/>
            <a:cxnLst/>
            <a:rect l="l" t="t" r="r" b="b"/>
            <a:pathLst>
              <a:path w="254934" h="310896">
                <a:moveTo>
                  <a:pt x="74615" y="0"/>
                </a:moveTo>
                <a:lnTo>
                  <a:pt x="74615" y="155448"/>
                </a:lnTo>
                <a:lnTo>
                  <a:pt x="0" y="155448"/>
                </a:lnTo>
                <a:lnTo>
                  <a:pt x="127467" y="310896"/>
                </a:lnTo>
                <a:lnTo>
                  <a:pt x="254934" y="155448"/>
                </a:lnTo>
                <a:lnTo>
                  <a:pt x="180319" y="155448"/>
                </a:lnTo>
                <a:lnTo>
                  <a:pt x="180319" y="0"/>
                </a:lnTo>
                <a:close/>
              </a:path>
            </a:pathLst>
          </a:custGeom>
          <a:solidFill>
            <a:srgbClr val="F0525A"/>
          </a:solidFill>
          <a:ln>
            <a:noFill/>
          </a:ln>
        </p:spPr>
        <p:txBody>
          <a:bodyPr rtlCol="0" anchor="ctr"/>
          <a:lstStyle/>
          <a:p>
            <a:pPr algn="ct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cxnSp>
        <p:nvCxnSpPr>
          <p:cNvPr id="2" name="Connector 1"/>
          <p:cNvCxnSpPr/>
          <p:nvPr/>
        </p:nvCxnSpPr>
        <p:spPr>
          <a:xfrm>
            <a:off x="914400" y="0"/>
            <a:ext cx="0" cy="6858000"/>
          </a:xfrm>
          <a:prstGeom prst="line">
            <a:avLst/>
          </a:prstGeom>
          <a:ln w="9525">
            <a:solidFill>
              <a:srgbClr val="151A22"/>
            </a:solidFill>
          </a:ln>
        </p:spPr>
      </p:cxnSp>
      <p:cxnSp>
        <p:nvCxnSpPr>
          <p:cNvPr id="3" name="Connector 2"/>
          <p:cNvCxnSpPr/>
          <p:nvPr/>
        </p:nvCxnSpPr>
        <p:spPr>
          <a:xfrm>
            <a:off x="1828800" y="0"/>
            <a:ext cx="0" cy="6858000"/>
          </a:xfrm>
          <a:prstGeom prst="line">
            <a:avLst/>
          </a:prstGeom>
          <a:ln w="9525">
            <a:solidFill>
              <a:srgbClr val="151A22"/>
            </a:solidFill>
          </a:ln>
        </p:spPr>
      </p:cxnSp>
      <p:cxnSp>
        <p:nvCxnSpPr>
          <p:cNvPr id="4" name="Connector 3"/>
          <p:cNvCxnSpPr/>
          <p:nvPr/>
        </p:nvCxnSpPr>
        <p:spPr>
          <a:xfrm>
            <a:off x="2743200" y="0"/>
            <a:ext cx="0" cy="6858000"/>
          </a:xfrm>
          <a:prstGeom prst="line">
            <a:avLst/>
          </a:prstGeom>
          <a:ln w="9525">
            <a:solidFill>
              <a:srgbClr val="151A22"/>
            </a:solidFill>
          </a:ln>
        </p:spPr>
      </p:cxnSp>
      <p:cxnSp>
        <p:nvCxnSpPr>
          <p:cNvPr id="5" name="Connector 4"/>
          <p:cNvCxnSpPr/>
          <p:nvPr/>
        </p:nvCxnSpPr>
        <p:spPr>
          <a:xfrm>
            <a:off x="3657600" y="0"/>
            <a:ext cx="0" cy="6858000"/>
          </a:xfrm>
          <a:prstGeom prst="line">
            <a:avLst/>
          </a:prstGeom>
          <a:ln w="9525">
            <a:solidFill>
              <a:srgbClr val="151A22"/>
            </a:solidFill>
          </a:ln>
        </p:spPr>
      </p:cxnSp>
      <p:cxnSp>
        <p:nvCxnSpPr>
          <p:cNvPr id="6" name="Connector 5"/>
          <p:cNvCxnSpPr/>
          <p:nvPr/>
        </p:nvCxnSpPr>
        <p:spPr>
          <a:xfrm>
            <a:off x="4572000" y="0"/>
            <a:ext cx="0" cy="6858000"/>
          </a:xfrm>
          <a:prstGeom prst="line">
            <a:avLst/>
          </a:prstGeom>
          <a:ln w="9525">
            <a:solidFill>
              <a:srgbClr val="151A22"/>
            </a:solidFill>
          </a:ln>
        </p:spPr>
      </p:cxnSp>
      <p:cxnSp>
        <p:nvCxnSpPr>
          <p:cNvPr id="7" name="Connector 6"/>
          <p:cNvCxnSpPr/>
          <p:nvPr/>
        </p:nvCxnSpPr>
        <p:spPr>
          <a:xfrm>
            <a:off x="5486400" y="0"/>
            <a:ext cx="0" cy="6858000"/>
          </a:xfrm>
          <a:prstGeom prst="line">
            <a:avLst/>
          </a:prstGeom>
          <a:ln w="9525">
            <a:solidFill>
              <a:srgbClr val="151A22"/>
            </a:solidFill>
          </a:ln>
        </p:spPr>
      </p:cxnSp>
      <p:cxnSp>
        <p:nvCxnSpPr>
          <p:cNvPr id="8" name="Connector 7"/>
          <p:cNvCxnSpPr/>
          <p:nvPr/>
        </p:nvCxnSpPr>
        <p:spPr>
          <a:xfrm>
            <a:off x="6400800" y="0"/>
            <a:ext cx="0" cy="6858000"/>
          </a:xfrm>
          <a:prstGeom prst="line">
            <a:avLst/>
          </a:prstGeom>
          <a:ln w="9525">
            <a:solidFill>
              <a:srgbClr val="151A22"/>
            </a:solidFill>
          </a:ln>
        </p:spPr>
      </p:cxnSp>
      <p:cxnSp>
        <p:nvCxnSpPr>
          <p:cNvPr id="9" name="Connector 8"/>
          <p:cNvCxnSpPr/>
          <p:nvPr/>
        </p:nvCxnSpPr>
        <p:spPr>
          <a:xfrm>
            <a:off x="7315200" y="0"/>
            <a:ext cx="0" cy="6858000"/>
          </a:xfrm>
          <a:prstGeom prst="line">
            <a:avLst/>
          </a:prstGeom>
          <a:ln w="9525">
            <a:solidFill>
              <a:srgbClr val="151A22"/>
            </a:solidFill>
          </a:ln>
        </p:spPr>
      </p:cxnSp>
      <p:cxnSp>
        <p:nvCxnSpPr>
          <p:cNvPr id="10" name="Connector 9"/>
          <p:cNvCxnSpPr/>
          <p:nvPr/>
        </p:nvCxnSpPr>
        <p:spPr>
          <a:xfrm>
            <a:off x="8229600" y="0"/>
            <a:ext cx="0" cy="6858000"/>
          </a:xfrm>
          <a:prstGeom prst="line">
            <a:avLst/>
          </a:prstGeom>
          <a:ln w="9525">
            <a:solidFill>
              <a:srgbClr val="151A22"/>
            </a:solidFill>
          </a:ln>
        </p:spPr>
      </p:cxnSp>
      <p:cxnSp>
        <p:nvCxnSpPr>
          <p:cNvPr id="11" name="Connector 10"/>
          <p:cNvCxnSpPr/>
          <p:nvPr/>
        </p:nvCxnSpPr>
        <p:spPr>
          <a:xfrm>
            <a:off x="9144000" y="0"/>
            <a:ext cx="0" cy="6858000"/>
          </a:xfrm>
          <a:prstGeom prst="line">
            <a:avLst/>
          </a:prstGeom>
          <a:ln w="9525">
            <a:solidFill>
              <a:srgbClr val="151A22"/>
            </a:solidFill>
          </a:ln>
        </p:spPr>
      </p:cxnSp>
      <p:cxnSp>
        <p:nvCxnSpPr>
          <p:cNvPr id="12" name="Connector 11"/>
          <p:cNvCxnSpPr/>
          <p:nvPr/>
        </p:nvCxnSpPr>
        <p:spPr>
          <a:xfrm>
            <a:off x="10058400" y="0"/>
            <a:ext cx="0" cy="6858000"/>
          </a:xfrm>
          <a:prstGeom prst="line">
            <a:avLst/>
          </a:prstGeom>
          <a:ln w="9525">
            <a:solidFill>
              <a:srgbClr val="151A22"/>
            </a:solidFill>
          </a:ln>
        </p:spPr>
      </p:cxnSp>
      <p:cxnSp>
        <p:nvCxnSpPr>
          <p:cNvPr id="13" name="Connector 12"/>
          <p:cNvCxnSpPr/>
          <p:nvPr/>
        </p:nvCxnSpPr>
        <p:spPr>
          <a:xfrm>
            <a:off x="10972800" y="0"/>
            <a:ext cx="0" cy="6858000"/>
          </a:xfrm>
          <a:prstGeom prst="line">
            <a:avLst/>
          </a:prstGeom>
          <a:ln w="9525">
            <a:solidFill>
              <a:srgbClr val="151A22"/>
            </a:solidFill>
          </a:ln>
        </p:spPr>
      </p:cxnSp>
      <p:cxnSp>
        <p:nvCxnSpPr>
          <p:cNvPr id="14" name="Connector 13"/>
          <p:cNvCxnSpPr/>
          <p:nvPr/>
        </p:nvCxnSpPr>
        <p:spPr>
          <a:xfrm>
            <a:off x="11887200" y="0"/>
            <a:ext cx="0" cy="6858000"/>
          </a:xfrm>
          <a:prstGeom prst="line">
            <a:avLst/>
          </a:prstGeom>
          <a:ln w="9525">
            <a:solidFill>
              <a:srgbClr val="151A22"/>
            </a:solidFill>
          </a:ln>
        </p:spPr>
      </p:cxnSp>
      <p:cxnSp>
        <p:nvCxnSpPr>
          <p:cNvPr id="15" name="Connector 14"/>
          <p:cNvCxnSpPr/>
          <p:nvPr/>
        </p:nvCxnSpPr>
        <p:spPr>
          <a:xfrm>
            <a:off x="0" y="914400"/>
            <a:ext cx="12192000" cy="0"/>
          </a:xfrm>
          <a:prstGeom prst="line">
            <a:avLst/>
          </a:prstGeom>
          <a:ln w="9525">
            <a:solidFill>
              <a:srgbClr val="151A22"/>
            </a:solidFill>
          </a:ln>
        </p:spPr>
      </p:cxnSp>
      <p:cxnSp>
        <p:nvCxnSpPr>
          <p:cNvPr id="16" name="Connector 15"/>
          <p:cNvCxnSpPr/>
          <p:nvPr/>
        </p:nvCxnSpPr>
        <p:spPr>
          <a:xfrm>
            <a:off x="0" y="1828800"/>
            <a:ext cx="12192000" cy="0"/>
          </a:xfrm>
          <a:prstGeom prst="line">
            <a:avLst/>
          </a:prstGeom>
          <a:ln w="9525">
            <a:solidFill>
              <a:srgbClr val="151A22"/>
            </a:solidFill>
          </a:ln>
        </p:spPr>
      </p:cxnSp>
      <p:cxnSp>
        <p:nvCxnSpPr>
          <p:cNvPr id="17" name="Connector 16"/>
          <p:cNvCxnSpPr/>
          <p:nvPr/>
        </p:nvCxnSpPr>
        <p:spPr>
          <a:xfrm>
            <a:off x="0" y="2743200"/>
            <a:ext cx="12192000" cy="0"/>
          </a:xfrm>
          <a:prstGeom prst="line">
            <a:avLst/>
          </a:prstGeom>
          <a:ln w="9525">
            <a:solidFill>
              <a:srgbClr val="151A22"/>
            </a:solidFill>
          </a:ln>
        </p:spPr>
      </p:cxnSp>
      <p:cxnSp>
        <p:nvCxnSpPr>
          <p:cNvPr id="18" name="Connector 17"/>
          <p:cNvCxnSpPr/>
          <p:nvPr/>
        </p:nvCxnSpPr>
        <p:spPr>
          <a:xfrm>
            <a:off x="0" y="3657600"/>
            <a:ext cx="12192000" cy="0"/>
          </a:xfrm>
          <a:prstGeom prst="line">
            <a:avLst/>
          </a:prstGeom>
          <a:ln w="9525">
            <a:solidFill>
              <a:srgbClr val="151A22"/>
            </a:solidFill>
          </a:ln>
        </p:spPr>
      </p:cxnSp>
      <p:cxnSp>
        <p:nvCxnSpPr>
          <p:cNvPr id="19" name="Connector 18"/>
          <p:cNvCxnSpPr/>
          <p:nvPr/>
        </p:nvCxnSpPr>
        <p:spPr>
          <a:xfrm>
            <a:off x="0" y="4572000"/>
            <a:ext cx="12192000" cy="0"/>
          </a:xfrm>
          <a:prstGeom prst="line">
            <a:avLst/>
          </a:prstGeom>
          <a:ln w="9525">
            <a:solidFill>
              <a:srgbClr val="151A22"/>
            </a:solidFill>
          </a:ln>
        </p:spPr>
      </p:cxnSp>
      <p:cxnSp>
        <p:nvCxnSpPr>
          <p:cNvPr id="20" name="Connector 19"/>
          <p:cNvCxnSpPr/>
          <p:nvPr/>
        </p:nvCxnSpPr>
        <p:spPr>
          <a:xfrm>
            <a:off x="0" y="5486400"/>
            <a:ext cx="12192000" cy="0"/>
          </a:xfrm>
          <a:prstGeom prst="line">
            <a:avLst/>
          </a:prstGeom>
          <a:ln w="9525">
            <a:solidFill>
              <a:srgbClr val="151A22"/>
            </a:solidFill>
          </a:ln>
        </p:spPr>
      </p:cxnSp>
      <p:cxnSp>
        <p:nvCxnSpPr>
          <p:cNvPr id="21" name="Connector 20"/>
          <p:cNvCxnSpPr/>
          <p:nvPr/>
        </p:nvCxnSpPr>
        <p:spPr>
          <a:xfrm>
            <a:off x="0" y="6400800"/>
            <a:ext cx="12192000" cy="0"/>
          </a:xfrm>
          <a:prstGeom prst="line">
            <a:avLst/>
          </a:prstGeom>
          <a:ln w="9525">
            <a:solidFill>
              <a:srgbClr val="151A22"/>
            </a:solidFill>
          </a:ln>
        </p:spPr>
      </p:cxnSp>
      <p:sp>
        <p:nvSpPr>
          <p:cNvPr id="22" name="Rectangle 2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23" name="TextBox 2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A9B3C0"/>
                </a:solidFill>
                <a:latin typeface="Arial Narrow"/>
              </a:rPr>
              <a:t>ACT 3 · CRASH INVESTIGATION</a:t>
            </a:r>
          </a:p>
        </p:txBody>
      </p:sp>
      <p:sp>
        <p:nvSpPr>
          <p:cNvPr id="24" name="Rounded Rectangle 23"/>
          <p:cNvSpPr/>
          <p:nvPr/>
        </p:nvSpPr>
        <p:spPr>
          <a:xfrm>
            <a:off x="10058400" y="274320"/>
            <a:ext cx="1444752" cy="329184"/>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1500" b="1" i="0" spc="60">
                <a:solidFill>
                  <a:srgbClr val="12161C"/>
                </a:solidFill>
                <a:latin typeface="Arial"/>
              </a:rPr>
              <a:t>+100 EP</a:t>
            </a:r>
          </a:p>
        </p:txBody>
      </p:sp>
      <p:sp>
        <p:nvSpPr>
          <p:cNvPr id="25" name="TextBox 2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6F7A89"/>
                </a:solidFill>
                <a:latin typeface="Arial Narrow"/>
              </a:rPr>
              <a:t>ENERGY LAB  ·  CRASH TEST #05</a:t>
            </a:r>
          </a:p>
        </p:txBody>
      </p:sp>
      <p:sp>
        <p:nvSpPr>
          <p:cNvPr id="26" name="Rectangle 25"/>
          <p:cNvSpPr/>
          <p:nvPr/>
        </p:nvSpPr>
        <p:spPr>
          <a:xfrm>
            <a:off x="4526280" y="6510528"/>
            <a:ext cx="127363" cy="54864"/>
          </a:xfrm>
          <a:prstGeom prst="rect">
            <a:avLst/>
          </a:prstGeom>
          <a:solidFill>
            <a:srgbClr val="8A6A1A"/>
          </a:solidFill>
          <a:ln>
            <a:noFill/>
          </a:ln>
        </p:spPr>
        <p:txBody>
          <a:bodyPr rtlCol="0" anchor="ctr"/>
          <a:lstStyle/>
          <a:p>
            <a:pPr algn="ctr"/>
          </a:p>
        </p:txBody>
      </p:sp>
      <p:sp>
        <p:nvSpPr>
          <p:cNvPr id="27" name="Rectangle 26"/>
          <p:cNvSpPr/>
          <p:nvPr/>
        </p:nvSpPr>
        <p:spPr>
          <a:xfrm>
            <a:off x="4676503" y="6510528"/>
            <a:ext cx="187452" cy="54864"/>
          </a:xfrm>
          <a:prstGeom prst="rect">
            <a:avLst/>
          </a:prstGeom>
          <a:solidFill>
            <a:srgbClr val="8A6A1A"/>
          </a:solidFill>
          <a:ln>
            <a:noFill/>
          </a:ln>
        </p:spPr>
        <p:txBody>
          <a:bodyPr rtlCol="0" anchor="ctr"/>
          <a:lstStyle/>
          <a:p>
            <a:pPr algn="ctr"/>
          </a:p>
        </p:txBody>
      </p:sp>
      <p:sp>
        <p:nvSpPr>
          <p:cNvPr id="28" name="Rectangle 27"/>
          <p:cNvSpPr/>
          <p:nvPr/>
        </p:nvSpPr>
        <p:spPr>
          <a:xfrm>
            <a:off x="4886815" y="6510528"/>
            <a:ext cx="157407" cy="54864"/>
          </a:xfrm>
          <a:prstGeom prst="rect">
            <a:avLst/>
          </a:prstGeom>
          <a:solidFill>
            <a:srgbClr val="8A6A1A"/>
          </a:solidFill>
          <a:ln>
            <a:noFill/>
          </a:ln>
        </p:spPr>
        <p:txBody>
          <a:bodyPr rtlCol="0" anchor="ctr"/>
          <a:lstStyle/>
          <a:p>
            <a:pPr algn="ctr"/>
          </a:p>
        </p:txBody>
      </p:sp>
      <p:sp>
        <p:nvSpPr>
          <p:cNvPr id="29" name="Rectangle 28"/>
          <p:cNvSpPr/>
          <p:nvPr/>
        </p:nvSpPr>
        <p:spPr>
          <a:xfrm>
            <a:off x="5067082" y="6510528"/>
            <a:ext cx="337675" cy="54864"/>
          </a:xfrm>
          <a:prstGeom prst="rect">
            <a:avLst/>
          </a:prstGeom>
          <a:solidFill>
            <a:srgbClr val="8A6A1A"/>
          </a:solidFill>
          <a:ln>
            <a:noFill/>
          </a:ln>
        </p:spPr>
        <p:txBody>
          <a:bodyPr rtlCol="0" anchor="ctr"/>
          <a:lstStyle/>
          <a:p>
            <a:pPr algn="ctr"/>
          </a:p>
        </p:txBody>
      </p:sp>
      <p:sp>
        <p:nvSpPr>
          <p:cNvPr id="30" name="Rectangle 29"/>
          <p:cNvSpPr/>
          <p:nvPr/>
        </p:nvSpPr>
        <p:spPr>
          <a:xfrm>
            <a:off x="5427617" y="6510528"/>
            <a:ext cx="247541" cy="54864"/>
          </a:xfrm>
          <a:prstGeom prst="rect">
            <a:avLst/>
          </a:prstGeom>
          <a:solidFill>
            <a:srgbClr val="8A6A1A"/>
          </a:solidFill>
          <a:ln>
            <a:noFill/>
          </a:ln>
        </p:spPr>
        <p:txBody>
          <a:bodyPr rtlCol="0" anchor="ctr"/>
          <a:lstStyle/>
          <a:p>
            <a:pPr algn="ctr"/>
          </a:p>
        </p:txBody>
      </p:sp>
      <p:sp>
        <p:nvSpPr>
          <p:cNvPr id="31" name="Rectangle 30"/>
          <p:cNvSpPr/>
          <p:nvPr/>
        </p:nvSpPr>
        <p:spPr>
          <a:xfrm>
            <a:off x="5698018" y="6510528"/>
            <a:ext cx="67274" cy="54864"/>
          </a:xfrm>
          <a:prstGeom prst="rect">
            <a:avLst/>
          </a:prstGeom>
          <a:solidFill>
            <a:srgbClr val="8A6A1A"/>
          </a:solidFill>
          <a:ln>
            <a:noFill/>
          </a:ln>
        </p:spPr>
        <p:txBody>
          <a:bodyPr rtlCol="0" anchor="ctr"/>
          <a:lstStyle/>
          <a:p>
            <a:pPr algn="ctr"/>
          </a:p>
        </p:txBody>
      </p:sp>
      <p:sp>
        <p:nvSpPr>
          <p:cNvPr id="32" name="Rectangle 31"/>
          <p:cNvSpPr/>
          <p:nvPr/>
        </p:nvSpPr>
        <p:spPr>
          <a:xfrm>
            <a:off x="5788152" y="6510528"/>
            <a:ext cx="397764" cy="54864"/>
          </a:xfrm>
          <a:prstGeom prst="rect">
            <a:avLst/>
          </a:prstGeom>
          <a:solidFill>
            <a:srgbClr val="8A6A1A"/>
          </a:solidFill>
          <a:ln>
            <a:noFill/>
          </a:ln>
        </p:spPr>
        <p:txBody>
          <a:bodyPr rtlCol="0" anchor="ctr"/>
          <a:lstStyle/>
          <a:p>
            <a:pPr algn="ctr"/>
          </a:p>
        </p:txBody>
      </p:sp>
      <p:sp>
        <p:nvSpPr>
          <p:cNvPr id="33" name="Rectangle 32"/>
          <p:cNvSpPr/>
          <p:nvPr/>
        </p:nvSpPr>
        <p:spPr>
          <a:xfrm>
            <a:off x="6208776" y="6510528"/>
            <a:ext cx="187452" cy="54864"/>
          </a:xfrm>
          <a:prstGeom prst="rect">
            <a:avLst/>
          </a:prstGeom>
          <a:solidFill>
            <a:srgbClr val="FFB400"/>
          </a:solidFill>
          <a:ln>
            <a:noFill/>
          </a:ln>
        </p:spPr>
        <p:txBody>
          <a:bodyPr rtlCol="0" anchor="ctr"/>
          <a:lstStyle/>
          <a:p>
            <a:pPr algn="ctr"/>
          </a:p>
        </p:txBody>
      </p:sp>
      <p:sp>
        <p:nvSpPr>
          <p:cNvPr id="34" name="Rectangle 33"/>
          <p:cNvSpPr/>
          <p:nvPr/>
        </p:nvSpPr>
        <p:spPr>
          <a:xfrm>
            <a:off x="6419088" y="6510528"/>
            <a:ext cx="367719" cy="54864"/>
          </a:xfrm>
          <a:prstGeom prst="rect">
            <a:avLst/>
          </a:prstGeom>
          <a:solidFill>
            <a:srgbClr val="2A3240"/>
          </a:solidFill>
          <a:ln>
            <a:noFill/>
          </a:ln>
        </p:spPr>
        <p:txBody>
          <a:bodyPr rtlCol="0" anchor="ctr"/>
          <a:lstStyle/>
          <a:p>
            <a:pPr algn="ctr"/>
          </a:p>
        </p:txBody>
      </p:sp>
      <p:sp>
        <p:nvSpPr>
          <p:cNvPr id="35" name="Rectangle 34"/>
          <p:cNvSpPr/>
          <p:nvPr/>
        </p:nvSpPr>
        <p:spPr>
          <a:xfrm>
            <a:off x="6809667" y="6510528"/>
            <a:ext cx="157407" cy="54864"/>
          </a:xfrm>
          <a:prstGeom prst="rect">
            <a:avLst/>
          </a:prstGeom>
          <a:solidFill>
            <a:srgbClr val="2A3240"/>
          </a:solidFill>
          <a:ln>
            <a:noFill/>
          </a:ln>
        </p:spPr>
        <p:txBody>
          <a:bodyPr rtlCol="0" anchor="ctr"/>
          <a:lstStyle/>
          <a:p>
            <a:pPr algn="ctr"/>
          </a:p>
        </p:txBody>
      </p:sp>
      <p:sp>
        <p:nvSpPr>
          <p:cNvPr id="36" name="Rectangle 35"/>
          <p:cNvSpPr/>
          <p:nvPr/>
        </p:nvSpPr>
        <p:spPr>
          <a:xfrm>
            <a:off x="6989935" y="6510528"/>
            <a:ext cx="217497" cy="54864"/>
          </a:xfrm>
          <a:prstGeom prst="rect">
            <a:avLst/>
          </a:prstGeom>
          <a:solidFill>
            <a:srgbClr val="2A3240"/>
          </a:solidFill>
          <a:ln>
            <a:noFill/>
          </a:ln>
        </p:spPr>
        <p:txBody>
          <a:bodyPr rtlCol="0" anchor="ctr"/>
          <a:lstStyle/>
          <a:p>
            <a:pPr algn="ctr"/>
          </a:p>
        </p:txBody>
      </p:sp>
      <p:sp>
        <p:nvSpPr>
          <p:cNvPr id="37" name="Rectangle 36"/>
          <p:cNvSpPr/>
          <p:nvPr/>
        </p:nvSpPr>
        <p:spPr>
          <a:xfrm>
            <a:off x="7230291" y="6510528"/>
            <a:ext cx="217497" cy="54864"/>
          </a:xfrm>
          <a:prstGeom prst="rect">
            <a:avLst/>
          </a:prstGeom>
          <a:solidFill>
            <a:srgbClr val="2A3240"/>
          </a:solidFill>
          <a:ln>
            <a:noFill/>
          </a:ln>
        </p:spPr>
        <p:txBody>
          <a:bodyPr rtlCol="0" anchor="ctr"/>
          <a:lstStyle/>
          <a:p>
            <a:pPr algn="ctr"/>
          </a:p>
        </p:txBody>
      </p:sp>
      <p:sp>
        <p:nvSpPr>
          <p:cNvPr id="38" name="Rectangle 37"/>
          <p:cNvSpPr/>
          <p:nvPr/>
        </p:nvSpPr>
        <p:spPr>
          <a:xfrm>
            <a:off x="7470648" y="6510528"/>
            <a:ext cx="97318" cy="54864"/>
          </a:xfrm>
          <a:prstGeom prst="rect">
            <a:avLst/>
          </a:prstGeom>
          <a:solidFill>
            <a:srgbClr val="2A3240"/>
          </a:solidFill>
          <a:ln>
            <a:noFill/>
          </a:ln>
        </p:spPr>
        <p:txBody>
          <a:bodyPr rtlCol="0" anchor="ctr"/>
          <a:lstStyle/>
          <a:p>
            <a:pPr algn="ctr"/>
          </a:p>
        </p:txBody>
      </p:sp>
      <p:sp>
        <p:nvSpPr>
          <p:cNvPr id="39" name="Rectangle 38"/>
          <p:cNvSpPr/>
          <p:nvPr/>
        </p:nvSpPr>
        <p:spPr>
          <a:xfrm>
            <a:off x="7590826" y="6510528"/>
            <a:ext cx="67274" cy="54864"/>
          </a:xfrm>
          <a:prstGeom prst="rect">
            <a:avLst/>
          </a:prstGeom>
          <a:solidFill>
            <a:srgbClr val="2A3240"/>
          </a:solidFill>
          <a:ln>
            <a:noFill/>
          </a:ln>
        </p:spPr>
        <p:txBody>
          <a:bodyPr rtlCol="0" anchor="ctr"/>
          <a:lstStyle/>
          <a:p>
            <a:pPr algn="ctr"/>
          </a:p>
        </p:txBody>
      </p:sp>
      <p:sp>
        <p:nvSpPr>
          <p:cNvPr id="40" name="TextBox 3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6F7A89"/>
                </a:solidFill>
                <a:latin typeface="Arial Narrow"/>
              </a:rPr>
              <a:t>41</a:t>
            </a:fld>
          </a:p>
        </p:txBody>
      </p:sp>
      <p:sp>
        <p:nvSpPr>
          <p:cNvPr id="41" name="TextBox 40"/>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A9B3C0"/>
                </a:solidFill>
                <a:latin typeface="Arial Narrow"/>
              </a:rPr>
              <a:t>GAME 3 · CRASH DETECTIVE</a:t>
            </a:r>
          </a:p>
        </p:txBody>
      </p:sp>
      <p:sp>
        <p:nvSpPr>
          <p:cNvPr id="42" name="TextBox 41"/>
          <p:cNvSpPr txBox="1"/>
          <p:nvPr/>
        </p:nvSpPr>
        <p:spPr>
          <a:xfrm>
            <a:off x="685800" y="1188720"/>
            <a:ext cx="10789920" cy="1005840"/>
          </a:xfrm>
          <a:prstGeom prst="rect">
            <a:avLst/>
          </a:prstGeom>
          <a:noFill/>
        </p:spPr>
        <p:txBody>
          <a:bodyPr wrap="square" anchor="t" lIns="0" rIns="0" tIns="0" bIns="0">
            <a:noAutofit/>
          </a:bodyPr>
          <a:lstStyle/>
          <a:p>
            <a:pPr algn="l">
              <a:lnSpc>
                <a:spcPct val="100000"/>
              </a:lnSpc>
              <a:spcBef>
                <a:spcPts val="0"/>
              </a:spcBef>
              <a:spcAft>
                <a:spcPts val="0"/>
              </a:spcAft>
            </a:pPr>
            <a:r>
              <a:rPr sz="5000" b="0" i="0">
                <a:solidFill>
                  <a:srgbClr val="F4F6F8"/>
                </a:solidFill>
                <a:latin typeface="Arial Black"/>
              </a:rPr>
              <a:t>TRUE OR FALSE?</a:t>
            </a:r>
          </a:p>
        </p:txBody>
      </p:sp>
      <p:sp>
        <p:nvSpPr>
          <p:cNvPr id="43" name="Rounded Rectangle 42"/>
          <p:cNvSpPr/>
          <p:nvPr/>
        </p:nvSpPr>
        <p:spPr>
          <a:xfrm>
            <a:off x="685800" y="2514600"/>
            <a:ext cx="5257800" cy="2651760"/>
          </a:xfrm>
          <a:prstGeom prst="roundRect">
            <a:avLst>
              <a:gd name="adj" fmla="val 4827"/>
            </a:avLst>
          </a:prstGeom>
          <a:solidFill>
            <a:srgbClr val="1A2029"/>
          </a:solidFill>
          <a:ln w="25400">
            <a:solidFill>
              <a:srgbClr val="FFB400"/>
            </a:solidFill>
          </a:ln>
        </p:spPr>
        <p:txBody>
          <a:bodyPr rtlCol="0" anchor="ctr"/>
          <a:lstStyle/>
          <a:p>
            <a:pPr algn="ctr"/>
          </a:p>
        </p:txBody>
      </p:sp>
      <p:sp>
        <p:nvSpPr>
          <p:cNvPr id="44" name="Rounded Rectangle 43"/>
          <p:cNvSpPr/>
          <p:nvPr/>
        </p:nvSpPr>
        <p:spPr>
          <a:xfrm>
            <a:off x="1569531" y="2892247"/>
            <a:ext cx="419710" cy="777240"/>
          </a:xfrm>
          <a:prstGeom prst="roundRect">
            <a:avLst>
              <a:gd name="adj" fmla="val 40740"/>
            </a:avLst>
          </a:prstGeom>
          <a:solidFill>
            <a:srgbClr val="F4F6F8"/>
          </a:solidFill>
          <a:ln w="31750">
            <a:solidFill>
              <a:srgbClr val="0E1116"/>
            </a:solidFill>
          </a:ln>
        </p:spPr>
        <p:txBody>
          <a:bodyPr rtlCol="0" anchor="ctr"/>
          <a:lstStyle/>
          <a:p>
            <a:pPr algn="ctr"/>
          </a:p>
        </p:txBody>
      </p:sp>
      <p:sp>
        <p:nvSpPr>
          <p:cNvPr id="45" name="Rounded Rectangle 44"/>
          <p:cNvSpPr/>
          <p:nvPr/>
        </p:nvSpPr>
        <p:spPr>
          <a:xfrm>
            <a:off x="1594714" y="3451860"/>
            <a:ext cx="932688" cy="777240"/>
          </a:xfrm>
          <a:prstGeom prst="roundRect">
            <a:avLst>
              <a:gd name="adj" fmla="val 30000"/>
            </a:avLst>
          </a:prstGeom>
          <a:solidFill>
            <a:srgbClr val="F4F6F8"/>
          </a:solidFill>
          <a:ln w="31750">
            <a:solidFill>
              <a:srgbClr val="0E1116"/>
            </a:solidFill>
          </a:ln>
        </p:spPr>
        <p:txBody>
          <a:bodyPr rtlCol="0" anchor="ctr"/>
          <a:lstStyle/>
          <a:p>
            <a:pPr algn="ctr"/>
          </a:p>
        </p:txBody>
      </p:sp>
      <p:sp>
        <p:nvSpPr>
          <p:cNvPr id="46" name="TextBox 45"/>
          <p:cNvSpPr txBox="1"/>
          <p:nvPr/>
        </p:nvSpPr>
        <p:spPr>
          <a:xfrm>
            <a:off x="3017520" y="3291840"/>
            <a:ext cx="2743200" cy="548640"/>
          </a:xfrm>
          <a:prstGeom prst="rect">
            <a:avLst/>
          </a:prstGeom>
          <a:noFill/>
        </p:spPr>
        <p:txBody>
          <a:bodyPr wrap="square" anchor="t" lIns="0" rIns="0" tIns="0" bIns="0">
            <a:noAutofit/>
          </a:bodyPr>
          <a:lstStyle/>
          <a:p>
            <a:pPr algn="l">
              <a:lnSpc>
                <a:spcPct val="100000"/>
              </a:lnSpc>
              <a:spcBef>
                <a:spcPts val="0"/>
              </a:spcBef>
              <a:spcAft>
                <a:spcPts val="0"/>
              </a:spcAft>
            </a:pPr>
            <a:r>
              <a:rPr sz="2200" b="0" i="0">
                <a:solidFill>
                  <a:srgbClr val="F4F6F8"/>
                </a:solidFill>
                <a:latin typeface="Arial Black"/>
              </a:rPr>
              <a:t>THUMBS UP</a:t>
            </a:r>
          </a:p>
        </p:txBody>
      </p:sp>
      <p:sp>
        <p:nvSpPr>
          <p:cNvPr id="47" name="TextBox 46"/>
          <p:cNvSpPr txBox="1"/>
          <p:nvPr/>
        </p:nvSpPr>
        <p:spPr>
          <a:xfrm>
            <a:off x="3017520" y="3931920"/>
            <a:ext cx="2743200" cy="548640"/>
          </a:xfrm>
          <a:prstGeom prst="rect">
            <a:avLst/>
          </a:prstGeom>
          <a:noFill/>
        </p:spPr>
        <p:txBody>
          <a:bodyPr wrap="square" anchor="t" lIns="0" rIns="0" tIns="0" bIns="0">
            <a:noAutofit/>
          </a:bodyPr>
          <a:lstStyle/>
          <a:p>
            <a:pPr algn="l">
              <a:lnSpc>
                <a:spcPct val="100000"/>
              </a:lnSpc>
              <a:spcBef>
                <a:spcPts val="0"/>
              </a:spcBef>
              <a:spcAft>
                <a:spcPts val="0"/>
              </a:spcAft>
            </a:pPr>
            <a:r>
              <a:rPr sz="2400" b="1" i="0">
                <a:solidFill>
                  <a:srgbClr val="FFB400"/>
                </a:solidFill>
                <a:latin typeface="Arial"/>
              </a:rPr>
              <a:t>= TRUE</a:t>
            </a:r>
          </a:p>
        </p:txBody>
      </p:sp>
      <p:sp>
        <p:nvSpPr>
          <p:cNvPr id="48" name="Rounded Rectangle 47"/>
          <p:cNvSpPr/>
          <p:nvPr/>
        </p:nvSpPr>
        <p:spPr>
          <a:xfrm>
            <a:off x="6217920" y="2514600"/>
            <a:ext cx="5257800" cy="2651760"/>
          </a:xfrm>
          <a:prstGeom prst="roundRect">
            <a:avLst>
              <a:gd name="adj" fmla="val 4827"/>
            </a:avLst>
          </a:prstGeom>
          <a:solidFill>
            <a:srgbClr val="1A2029"/>
          </a:solidFill>
          <a:ln w="25400">
            <a:solidFill>
              <a:srgbClr val="FFB400"/>
            </a:solidFill>
          </a:ln>
        </p:spPr>
        <p:txBody>
          <a:bodyPr rtlCol="0" anchor="ctr"/>
          <a:lstStyle/>
          <a:p>
            <a:pPr algn="ctr"/>
          </a:p>
        </p:txBody>
      </p:sp>
      <p:sp>
        <p:nvSpPr>
          <p:cNvPr id="49" name="Rounded Rectangle 48"/>
          <p:cNvSpPr/>
          <p:nvPr/>
        </p:nvSpPr>
        <p:spPr>
          <a:xfrm>
            <a:off x="7101651" y="4011473"/>
            <a:ext cx="419710" cy="777240"/>
          </a:xfrm>
          <a:prstGeom prst="roundRect">
            <a:avLst>
              <a:gd name="adj" fmla="val 40740"/>
            </a:avLst>
          </a:prstGeom>
          <a:solidFill>
            <a:srgbClr val="F4F6F8"/>
          </a:solidFill>
          <a:ln w="31750">
            <a:solidFill>
              <a:srgbClr val="0E1116"/>
            </a:solidFill>
          </a:ln>
        </p:spPr>
        <p:txBody>
          <a:bodyPr rtlCol="0" anchor="ctr"/>
          <a:lstStyle/>
          <a:p>
            <a:pPr algn="ctr"/>
          </a:p>
        </p:txBody>
      </p:sp>
      <p:sp>
        <p:nvSpPr>
          <p:cNvPr id="50" name="Rounded Rectangle 49"/>
          <p:cNvSpPr/>
          <p:nvPr/>
        </p:nvSpPr>
        <p:spPr>
          <a:xfrm>
            <a:off x="7126834" y="3451860"/>
            <a:ext cx="932688" cy="777240"/>
          </a:xfrm>
          <a:prstGeom prst="roundRect">
            <a:avLst>
              <a:gd name="adj" fmla="val 30000"/>
            </a:avLst>
          </a:prstGeom>
          <a:solidFill>
            <a:srgbClr val="F4F6F8"/>
          </a:solidFill>
          <a:ln w="31750">
            <a:solidFill>
              <a:srgbClr val="0E1116"/>
            </a:solidFill>
          </a:ln>
        </p:spPr>
        <p:txBody>
          <a:bodyPr rtlCol="0" anchor="ctr"/>
          <a:lstStyle/>
          <a:p>
            <a:pPr algn="ctr"/>
          </a:p>
        </p:txBody>
      </p:sp>
      <p:sp>
        <p:nvSpPr>
          <p:cNvPr id="51" name="TextBox 50"/>
          <p:cNvSpPr txBox="1"/>
          <p:nvPr/>
        </p:nvSpPr>
        <p:spPr>
          <a:xfrm>
            <a:off x="8549640" y="3291840"/>
            <a:ext cx="2743200" cy="548640"/>
          </a:xfrm>
          <a:prstGeom prst="rect">
            <a:avLst/>
          </a:prstGeom>
          <a:noFill/>
        </p:spPr>
        <p:txBody>
          <a:bodyPr wrap="square" anchor="t" lIns="0" rIns="0" tIns="0" bIns="0">
            <a:noAutofit/>
          </a:bodyPr>
          <a:lstStyle/>
          <a:p>
            <a:pPr algn="l">
              <a:lnSpc>
                <a:spcPct val="100000"/>
              </a:lnSpc>
              <a:spcBef>
                <a:spcPts val="0"/>
              </a:spcBef>
              <a:spcAft>
                <a:spcPts val="0"/>
              </a:spcAft>
            </a:pPr>
            <a:r>
              <a:rPr sz="2200" b="0" i="0">
                <a:solidFill>
                  <a:srgbClr val="F4F6F8"/>
                </a:solidFill>
                <a:latin typeface="Arial Black"/>
              </a:rPr>
              <a:t>THUMBS DOWN</a:t>
            </a:r>
          </a:p>
        </p:txBody>
      </p:sp>
      <p:sp>
        <p:nvSpPr>
          <p:cNvPr id="52" name="TextBox 51"/>
          <p:cNvSpPr txBox="1"/>
          <p:nvPr/>
        </p:nvSpPr>
        <p:spPr>
          <a:xfrm>
            <a:off x="8549640" y="3931920"/>
            <a:ext cx="2743200" cy="548640"/>
          </a:xfrm>
          <a:prstGeom prst="rect">
            <a:avLst/>
          </a:prstGeom>
          <a:noFill/>
        </p:spPr>
        <p:txBody>
          <a:bodyPr wrap="square" anchor="t" lIns="0" rIns="0" tIns="0" bIns="0">
            <a:noAutofit/>
          </a:bodyPr>
          <a:lstStyle/>
          <a:p>
            <a:pPr algn="l">
              <a:lnSpc>
                <a:spcPct val="100000"/>
              </a:lnSpc>
              <a:spcBef>
                <a:spcPts val="0"/>
              </a:spcBef>
              <a:spcAft>
                <a:spcPts val="0"/>
              </a:spcAft>
            </a:pPr>
            <a:r>
              <a:rPr sz="2400" b="1" i="0">
                <a:solidFill>
                  <a:srgbClr val="FFB400"/>
                </a:solidFill>
                <a:latin typeface="Arial"/>
              </a:rPr>
              <a:t>= FALSE</a:t>
            </a:r>
          </a:p>
        </p:txBody>
      </p:sp>
      <p:sp>
        <p:nvSpPr>
          <p:cNvPr id="53" name="TextBox 52"/>
          <p:cNvSpPr txBox="1"/>
          <p:nvPr/>
        </p:nvSpPr>
        <p:spPr>
          <a:xfrm>
            <a:off x="685800" y="5532120"/>
            <a:ext cx="10817352" cy="594360"/>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F4F6F8"/>
                </a:solidFill>
                <a:latin typeface="Arial"/>
              </a:rPr>
              <a:t>Statements from the reading. Mentors check each zone: +100 EP for teams that mostly agree AND are correct.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A9B3C0"/>
                </a:solidFill>
                <a:latin typeface="Arial Narrow"/>
              </a:rPr>
              <a:t>ACT 3 · CRASH INVESTIGATION</a:t>
            </a:r>
          </a:p>
        </p:txBody>
      </p:sp>
      <p:sp>
        <p:nvSpPr>
          <p:cNvPr id="4" name="Rounded Rectangle 3"/>
          <p:cNvSpPr/>
          <p:nvPr/>
        </p:nvSpPr>
        <p:spPr>
          <a:xfrm>
            <a:off x="10058400" y="274320"/>
            <a:ext cx="1444752" cy="329184"/>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1500" b="1" i="0" spc="60">
                <a:solidFill>
                  <a:srgbClr val="12161C"/>
                </a:solidFill>
                <a:latin typeface="Arial"/>
              </a:rPr>
              <a:t>+100 EP</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6F7A89"/>
                </a:solidFill>
                <a:latin typeface="Arial Narrow"/>
              </a:rPr>
              <a:t>ENERGY LAB  ·  CRASH TEST #05</a:t>
            </a:r>
          </a:p>
        </p:txBody>
      </p:sp>
      <p:sp>
        <p:nvSpPr>
          <p:cNvPr id="6" name="Rectangle 5"/>
          <p:cNvSpPr/>
          <p:nvPr/>
        </p:nvSpPr>
        <p:spPr>
          <a:xfrm>
            <a:off x="4526280" y="6510528"/>
            <a:ext cx="127363" cy="54864"/>
          </a:xfrm>
          <a:prstGeom prst="rect">
            <a:avLst/>
          </a:prstGeom>
          <a:solidFill>
            <a:srgbClr val="8A6A1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8A6A1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8A6A1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8A6A1A"/>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8A6A1A"/>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8A6A1A"/>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8A6A1A"/>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FFB400"/>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2A3240"/>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2A3240"/>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2A3240"/>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2A3240"/>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2A3240"/>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2A3240"/>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6F7A89"/>
                </a:solidFill>
                <a:latin typeface="Arial Narrow"/>
              </a:rPr>
              <a:t>42</a:t>
            </a:fld>
          </a:p>
        </p:txBody>
      </p:sp>
      <p:sp>
        <p:nvSpPr>
          <p:cNvPr id="21" name="TextBox 20"/>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A9B3C0"/>
                </a:solidFill>
                <a:latin typeface="Arial Narrow"/>
              </a:rPr>
              <a:t>STATEMENT 1 / 7   ·   TEXTBOOK</a:t>
            </a:r>
          </a:p>
        </p:txBody>
      </p:sp>
      <p:sp>
        <p:nvSpPr>
          <p:cNvPr id="22" name="TextBox 21"/>
          <p:cNvSpPr txBox="1"/>
          <p:nvPr/>
        </p:nvSpPr>
        <p:spPr>
          <a:xfrm>
            <a:off x="685800" y="1417320"/>
            <a:ext cx="10789920" cy="1828800"/>
          </a:xfrm>
          <a:prstGeom prst="rect">
            <a:avLst/>
          </a:prstGeom>
          <a:noFill/>
        </p:spPr>
        <p:txBody>
          <a:bodyPr wrap="square" anchor="t" lIns="0" rIns="0" tIns="0" bIns="0">
            <a:noAutofit/>
          </a:bodyPr>
          <a:lstStyle/>
          <a:p>
            <a:pPr algn="l">
              <a:lnSpc>
                <a:spcPct val="108000"/>
              </a:lnSpc>
              <a:spcBef>
                <a:spcPts val="0"/>
              </a:spcBef>
              <a:spcAft>
                <a:spcPts val="0"/>
              </a:spcAft>
            </a:pPr>
            <a:r>
              <a:rPr sz="4000" b="1" i="0">
                <a:solidFill>
                  <a:srgbClr val="F4F6F8"/>
                </a:solidFill>
                <a:latin typeface="Arial"/>
              </a:rPr>
              <a:t>“Kinetic energy becomes potential energy in a crash.”</a:t>
            </a:r>
          </a:p>
        </p:txBody>
      </p:sp>
      <p:sp>
        <p:nvSpPr>
          <p:cNvPr id="23" name="Rounded Rectangle 22"/>
          <p:cNvSpPr/>
          <p:nvPr/>
        </p:nvSpPr>
        <p:spPr>
          <a:xfrm>
            <a:off x="685800" y="3703320"/>
            <a:ext cx="5257800" cy="1417320"/>
          </a:xfrm>
          <a:prstGeom prst="roundRect">
            <a:avLst>
              <a:gd name="adj" fmla="val 9032"/>
            </a:avLst>
          </a:prstGeom>
          <a:solidFill>
            <a:srgbClr val="1A2029"/>
          </a:solidFill>
          <a:ln w="19050">
            <a:solidFill>
              <a:srgbClr val="323C4A"/>
            </a:solidFill>
          </a:ln>
        </p:spPr>
        <p:txBody>
          <a:bodyPr rtlCol="0" anchor="ctr"/>
          <a:lstStyle/>
          <a:p>
            <a:pPr algn="ctr"/>
          </a:p>
        </p:txBody>
      </p:sp>
      <p:sp>
        <p:nvSpPr>
          <p:cNvPr id="24" name="Rounded Rectangle 23"/>
          <p:cNvSpPr/>
          <p:nvPr/>
        </p:nvSpPr>
        <p:spPr>
          <a:xfrm>
            <a:off x="1393884" y="3793388"/>
            <a:ext cx="283921" cy="525780"/>
          </a:xfrm>
          <a:prstGeom prst="roundRect">
            <a:avLst>
              <a:gd name="adj" fmla="val 40740"/>
            </a:avLst>
          </a:prstGeom>
          <a:solidFill>
            <a:srgbClr val="F4F6F8"/>
          </a:solidFill>
          <a:ln w="31750">
            <a:solidFill>
              <a:srgbClr val="0E1116"/>
            </a:solidFill>
          </a:ln>
        </p:spPr>
        <p:txBody>
          <a:bodyPr rtlCol="0" anchor="ctr"/>
          <a:lstStyle/>
          <a:p>
            <a:pPr algn="ctr"/>
          </a:p>
        </p:txBody>
      </p:sp>
      <p:sp>
        <p:nvSpPr>
          <p:cNvPr id="25" name="Rounded Rectangle 24"/>
          <p:cNvSpPr/>
          <p:nvPr/>
        </p:nvSpPr>
        <p:spPr>
          <a:xfrm>
            <a:off x="1410919" y="4171950"/>
            <a:ext cx="630936" cy="525780"/>
          </a:xfrm>
          <a:prstGeom prst="roundRect">
            <a:avLst>
              <a:gd name="adj" fmla="val 30000"/>
            </a:avLst>
          </a:prstGeom>
          <a:solidFill>
            <a:srgbClr val="F4F6F8"/>
          </a:solidFill>
          <a:ln w="31750">
            <a:solidFill>
              <a:srgbClr val="0E1116"/>
            </a:solidFill>
          </a:ln>
        </p:spPr>
        <p:txBody>
          <a:bodyPr rtlCol="0" anchor="ctr"/>
          <a:lstStyle/>
          <a:p>
            <a:pPr algn="ctr"/>
          </a:p>
        </p:txBody>
      </p:sp>
      <p:sp>
        <p:nvSpPr>
          <p:cNvPr id="26" name="TextBox 25"/>
          <p:cNvSpPr txBox="1"/>
          <p:nvPr/>
        </p:nvSpPr>
        <p:spPr>
          <a:xfrm>
            <a:off x="2377440" y="3931920"/>
            <a:ext cx="3383280" cy="457200"/>
          </a:xfrm>
          <a:prstGeom prst="rect">
            <a:avLst/>
          </a:prstGeom>
          <a:noFill/>
        </p:spPr>
        <p:txBody>
          <a:bodyPr wrap="square" anchor="t" lIns="0" rIns="0" tIns="0" bIns="0">
            <a:noAutofit/>
          </a:bodyPr>
          <a:lstStyle/>
          <a:p>
            <a:pPr algn="l">
              <a:lnSpc>
                <a:spcPct val="100000"/>
              </a:lnSpc>
              <a:spcBef>
                <a:spcPts val="0"/>
              </a:spcBef>
              <a:spcAft>
                <a:spcPts val="0"/>
              </a:spcAft>
            </a:pPr>
            <a:r>
              <a:rPr sz="2200" b="0" i="0">
                <a:solidFill>
                  <a:srgbClr val="F4F6F8"/>
                </a:solidFill>
                <a:latin typeface="Arial Black"/>
              </a:rPr>
              <a:t>THUMBS UP</a:t>
            </a:r>
          </a:p>
        </p:txBody>
      </p:sp>
      <p:sp>
        <p:nvSpPr>
          <p:cNvPr id="27" name="TextBox 26"/>
          <p:cNvSpPr txBox="1"/>
          <p:nvPr/>
        </p:nvSpPr>
        <p:spPr>
          <a:xfrm>
            <a:off x="2377440" y="4343400"/>
            <a:ext cx="3383280" cy="457200"/>
          </a:xfrm>
          <a:prstGeom prst="rect">
            <a:avLst/>
          </a:prstGeom>
          <a:noFill/>
        </p:spPr>
        <p:txBody>
          <a:bodyPr wrap="square" anchor="t" lIns="0" rIns="0" tIns="0" bIns="0">
            <a:noAutofit/>
          </a:bodyPr>
          <a:lstStyle/>
          <a:p>
            <a:pPr algn="l">
              <a:lnSpc>
                <a:spcPct val="100000"/>
              </a:lnSpc>
              <a:spcBef>
                <a:spcPts val="0"/>
              </a:spcBef>
              <a:spcAft>
                <a:spcPts val="0"/>
              </a:spcAft>
            </a:pPr>
            <a:r>
              <a:rPr sz="2000" b="1" i="0">
                <a:solidFill>
                  <a:srgbClr val="FFB400"/>
                </a:solidFill>
                <a:latin typeface="Arial"/>
              </a:rPr>
              <a:t>= TRUE</a:t>
            </a:r>
          </a:p>
        </p:txBody>
      </p:sp>
      <p:sp>
        <p:nvSpPr>
          <p:cNvPr id="28" name="Rounded Rectangle 27"/>
          <p:cNvSpPr/>
          <p:nvPr/>
        </p:nvSpPr>
        <p:spPr>
          <a:xfrm>
            <a:off x="6217920" y="3703320"/>
            <a:ext cx="5257800" cy="1417320"/>
          </a:xfrm>
          <a:prstGeom prst="roundRect">
            <a:avLst>
              <a:gd name="adj" fmla="val 9032"/>
            </a:avLst>
          </a:prstGeom>
          <a:solidFill>
            <a:srgbClr val="1A2029"/>
          </a:solidFill>
          <a:ln w="19050">
            <a:solidFill>
              <a:srgbClr val="323C4A"/>
            </a:solidFill>
          </a:ln>
        </p:spPr>
        <p:txBody>
          <a:bodyPr rtlCol="0" anchor="ctr"/>
          <a:lstStyle/>
          <a:p>
            <a:pPr algn="ctr"/>
          </a:p>
        </p:txBody>
      </p:sp>
      <p:sp>
        <p:nvSpPr>
          <p:cNvPr id="29" name="Rounded Rectangle 28"/>
          <p:cNvSpPr/>
          <p:nvPr/>
        </p:nvSpPr>
        <p:spPr>
          <a:xfrm>
            <a:off x="6926004" y="4550512"/>
            <a:ext cx="283921" cy="525780"/>
          </a:xfrm>
          <a:prstGeom prst="roundRect">
            <a:avLst>
              <a:gd name="adj" fmla="val 40740"/>
            </a:avLst>
          </a:prstGeom>
          <a:solidFill>
            <a:srgbClr val="F4F6F8"/>
          </a:solidFill>
          <a:ln w="31750">
            <a:solidFill>
              <a:srgbClr val="0E1116"/>
            </a:solidFill>
          </a:ln>
        </p:spPr>
        <p:txBody>
          <a:bodyPr rtlCol="0" anchor="ctr"/>
          <a:lstStyle/>
          <a:p>
            <a:pPr algn="ctr"/>
          </a:p>
        </p:txBody>
      </p:sp>
      <p:sp>
        <p:nvSpPr>
          <p:cNvPr id="30" name="Rounded Rectangle 29"/>
          <p:cNvSpPr/>
          <p:nvPr/>
        </p:nvSpPr>
        <p:spPr>
          <a:xfrm>
            <a:off x="6943039" y="4171950"/>
            <a:ext cx="630936" cy="525780"/>
          </a:xfrm>
          <a:prstGeom prst="roundRect">
            <a:avLst>
              <a:gd name="adj" fmla="val 30000"/>
            </a:avLst>
          </a:prstGeom>
          <a:solidFill>
            <a:srgbClr val="F4F6F8"/>
          </a:solidFill>
          <a:ln w="31750">
            <a:solidFill>
              <a:srgbClr val="0E1116"/>
            </a:solidFill>
          </a:ln>
        </p:spPr>
        <p:txBody>
          <a:bodyPr rtlCol="0" anchor="ctr"/>
          <a:lstStyle/>
          <a:p>
            <a:pPr algn="ctr"/>
          </a:p>
        </p:txBody>
      </p:sp>
      <p:sp>
        <p:nvSpPr>
          <p:cNvPr id="31" name="TextBox 30"/>
          <p:cNvSpPr txBox="1"/>
          <p:nvPr/>
        </p:nvSpPr>
        <p:spPr>
          <a:xfrm>
            <a:off x="7909560" y="3931920"/>
            <a:ext cx="3383280" cy="457200"/>
          </a:xfrm>
          <a:prstGeom prst="rect">
            <a:avLst/>
          </a:prstGeom>
          <a:noFill/>
        </p:spPr>
        <p:txBody>
          <a:bodyPr wrap="square" anchor="t" lIns="0" rIns="0" tIns="0" bIns="0">
            <a:noAutofit/>
          </a:bodyPr>
          <a:lstStyle/>
          <a:p>
            <a:pPr algn="l">
              <a:lnSpc>
                <a:spcPct val="100000"/>
              </a:lnSpc>
              <a:spcBef>
                <a:spcPts val="0"/>
              </a:spcBef>
              <a:spcAft>
                <a:spcPts val="0"/>
              </a:spcAft>
            </a:pPr>
            <a:r>
              <a:rPr sz="2200" b="0" i="0">
                <a:solidFill>
                  <a:srgbClr val="F4F6F8"/>
                </a:solidFill>
                <a:latin typeface="Arial Black"/>
              </a:rPr>
              <a:t>THUMBS DOWN</a:t>
            </a:r>
          </a:p>
        </p:txBody>
      </p:sp>
      <p:sp>
        <p:nvSpPr>
          <p:cNvPr id="32" name="TextBox 31"/>
          <p:cNvSpPr txBox="1"/>
          <p:nvPr/>
        </p:nvSpPr>
        <p:spPr>
          <a:xfrm>
            <a:off x="7909560" y="4343400"/>
            <a:ext cx="3383280" cy="457200"/>
          </a:xfrm>
          <a:prstGeom prst="rect">
            <a:avLst/>
          </a:prstGeom>
          <a:noFill/>
        </p:spPr>
        <p:txBody>
          <a:bodyPr wrap="square" anchor="t" lIns="0" rIns="0" tIns="0" bIns="0">
            <a:noAutofit/>
          </a:bodyPr>
          <a:lstStyle/>
          <a:p>
            <a:pPr algn="l">
              <a:lnSpc>
                <a:spcPct val="100000"/>
              </a:lnSpc>
              <a:spcBef>
                <a:spcPts val="0"/>
              </a:spcBef>
              <a:spcAft>
                <a:spcPts val="0"/>
              </a:spcAft>
            </a:pPr>
            <a:r>
              <a:rPr sz="2000" b="1" i="0">
                <a:solidFill>
                  <a:srgbClr val="FFB400"/>
                </a:solidFill>
                <a:latin typeface="Arial"/>
              </a:rPr>
              <a:t>= FALSE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A9B3C0"/>
                </a:solidFill>
                <a:latin typeface="Arial Narrow"/>
              </a:rPr>
              <a:t>ACT 3 · CRASH INVESTIGATION</a:t>
            </a:r>
          </a:p>
        </p:txBody>
      </p:sp>
      <p:sp>
        <p:nvSpPr>
          <p:cNvPr id="4" name="Rounded Rectangle 3"/>
          <p:cNvSpPr/>
          <p:nvPr/>
        </p:nvSpPr>
        <p:spPr>
          <a:xfrm>
            <a:off x="10058400" y="274320"/>
            <a:ext cx="1444752" cy="329184"/>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1500" b="1" i="0" spc="60">
                <a:solidFill>
                  <a:srgbClr val="12161C"/>
                </a:solidFill>
                <a:latin typeface="Arial"/>
              </a:rPr>
              <a:t>+100 EP</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6F7A89"/>
                </a:solidFill>
                <a:latin typeface="Arial Narrow"/>
              </a:rPr>
              <a:t>ENERGY LAB  ·  CRASH TEST #05</a:t>
            </a:r>
          </a:p>
        </p:txBody>
      </p:sp>
      <p:sp>
        <p:nvSpPr>
          <p:cNvPr id="6" name="Rectangle 5"/>
          <p:cNvSpPr/>
          <p:nvPr/>
        </p:nvSpPr>
        <p:spPr>
          <a:xfrm>
            <a:off x="4526280" y="6510528"/>
            <a:ext cx="127363" cy="54864"/>
          </a:xfrm>
          <a:prstGeom prst="rect">
            <a:avLst/>
          </a:prstGeom>
          <a:solidFill>
            <a:srgbClr val="8A6A1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8A6A1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8A6A1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8A6A1A"/>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8A6A1A"/>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8A6A1A"/>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8A6A1A"/>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FFB400"/>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2A3240"/>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2A3240"/>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2A3240"/>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2A3240"/>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2A3240"/>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2A3240"/>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6F7A89"/>
                </a:solidFill>
                <a:latin typeface="Arial Narrow"/>
              </a:rPr>
              <a:t>43</a:t>
            </a:fld>
          </a:p>
        </p:txBody>
      </p:sp>
      <p:sp>
        <p:nvSpPr>
          <p:cNvPr id="21" name="TextBox 20"/>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A9B3C0"/>
                </a:solidFill>
                <a:latin typeface="Arial Narrow"/>
              </a:rPr>
              <a:t>STATEMENT 1 / 7   ·   TEXTBOOK</a:t>
            </a:r>
          </a:p>
        </p:txBody>
      </p:sp>
      <p:sp>
        <p:nvSpPr>
          <p:cNvPr id="22" name="TextBox 21"/>
          <p:cNvSpPr txBox="1"/>
          <p:nvPr/>
        </p:nvSpPr>
        <p:spPr>
          <a:xfrm>
            <a:off x="685800" y="1417320"/>
            <a:ext cx="10789920" cy="1828800"/>
          </a:xfrm>
          <a:prstGeom prst="rect">
            <a:avLst/>
          </a:prstGeom>
          <a:noFill/>
        </p:spPr>
        <p:txBody>
          <a:bodyPr wrap="square" anchor="t" lIns="0" rIns="0" tIns="0" bIns="0">
            <a:noAutofit/>
          </a:bodyPr>
          <a:lstStyle/>
          <a:p>
            <a:pPr algn="l">
              <a:lnSpc>
                <a:spcPct val="108000"/>
              </a:lnSpc>
              <a:spcBef>
                <a:spcPts val="0"/>
              </a:spcBef>
              <a:spcAft>
                <a:spcPts val="0"/>
              </a:spcAft>
            </a:pPr>
            <a:r>
              <a:rPr sz="4000" b="1" i="0">
                <a:solidFill>
                  <a:srgbClr val="F4F6F8"/>
                </a:solidFill>
                <a:latin typeface="Arial"/>
              </a:rPr>
              <a:t>“Kinetic energy becomes potential energy in a crash.”</a:t>
            </a:r>
          </a:p>
        </p:txBody>
      </p:sp>
      <p:sp>
        <p:nvSpPr>
          <p:cNvPr id="23" name="Rounded Rectangle 22"/>
          <p:cNvSpPr/>
          <p:nvPr/>
        </p:nvSpPr>
        <p:spPr>
          <a:xfrm>
            <a:off x="685800" y="3703320"/>
            <a:ext cx="10817352" cy="1691640"/>
          </a:xfrm>
          <a:prstGeom prst="roundRect">
            <a:avLst>
              <a:gd name="adj" fmla="val 7567"/>
            </a:avLst>
          </a:prstGeom>
          <a:solidFill>
            <a:srgbClr val="F0525A"/>
          </a:solidFill>
          <a:ln w="19050">
            <a:solidFill>
              <a:srgbClr val="323C4A"/>
            </a:solidFill>
          </a:ln>
        </p:spPr>
        <p:txBody>
          <a:bodyPr rtlCol="0" anchor="ctr"/>
          <a:lstStyle/>
          <a:p>
            <a:pPr algn="ctr"/>
          </a:p>
        </p:txBody>
      </p:sp>
      <p:sp>
        <p:nvSpPr>
          <p:cNvPr id="24" name="TextBox 23"/>
          <p:cNvSpPr txBox="1"/>
          <p:nvPr/>
        </p:nvSpPr>
        <p:spPr>
          <a:xfrm>
            <a:off x="960120" y="3703320"/>
            <a:ext cx="10241280" cy="1691640"/>
          </a:xfrm>
          <a:prstGeom prst="rect">
            <a:avLst/>
          </a:prstGeom>
          <a:noFill/>
        </p:spPr>
        <p:txBody>
          <a:bodyPr wrap="square" anchor="ctr" lIns="0" rIns="0" tIns="0" bIns="0">
            <a:noAutofit/>
          </a:bodyPr>
          <a:lstStyle/>
          <a:p>
            <a:pPr algn="l">
              <a:lnSpc>
                <a:spcPct val="100000"/>
              </a:lnSpc>
              <a:spcBef>
                <a:spcPts val="0"/>
              </a:spcBef>
              <a:spcAft>
                <a:spcPts val="600"/>
              </a:spcAft>
            </a:pPr>
            <a:r>
              <a:rPr sz="3400" b="0" i="0">
                <a:solidFill>
                  <a:srgbClr val="FFFFFF"/>
                </a:solidFill>
                <a:latin typeface="Arial Black"/>
              </a:rPr>
              <a:t>FALSE</a:t>
            </a:r>
          </a:p>
          <a:p>
            <a:pPr algn="l">
              <a:lnSpc>
                <a:spcPct val="100000"/>
              </a:lnSpc>
              <a:spcBef>
                <a:spcPts val="0"/>
              </a:spcBef>
              <a:spcAft>
                <a:spcPts val="600"/>
              </a:spcAft>
            </a:pPr>
            <a:r>
              <a:rPr sz="2000" b="0" i="0">
                <a:solidFill>
                  <a:srgbClr val="FFFFFF"/>
                </a:solidFill>
                <a:latin typeface="Arial"/>
              </a:rPr>
              <a:t>The abstract says the opposite: the passengers' POTENTIAL energy becomes KINETIC energy.</a:t>
            </a:r>
          </a:p>
        </p:txBody>
      </p:sp>
      <p:sp>
        <p:nvSpPr>
          <p:cNvPr id="25" name="Rounded Rectangle 24"/>
          <p:cNvSpPr/>
          <p:nvPr/>
        </p:nvSpPr>
        <p:spPr>
          <a:xfrm>
            <a:off x="685800" y="5532120"/>
            <a:ext cx="2278475" cy="274320"/>
          </a:xfrm>
          <a:prstGeom prst="roundRect">
            <a:avLst>
              <a:gd name="adj" fmla="val 50000"/>
            </a:avLst>
          </a:prstGeom>
          <a:noFill/>
          <a:ln w="19050">
            <a:solidFill>
              <a:srgbClr val="42C3F7"/>
            </a:solidFill>
          </a:ln>
        </p:spPr>
        <p:txBody>
          <a:bodyPr rtlCol="0" anchor="ctr" wrap="square" lIns="0" rIns="0" tIns="0" bIns="0">
            <a:noAutofit/>
          </a:bodyPr>
          <a:lstStyle/>
          <a:p>
            <a:pPr algn="ctr">
              <a:lnSpc>
                <a:spcPct val="100000"/>
              </a:lnSpc>
              <a:spcBef>
                <a:spcPts val="0"/>
              </a:spcBef>
              <a:spcAft>
                <a:spcPts val="0"/>
              </a:spcAft>
            </a:pPr>
            <a:r>
              <a:rPr sz="1300" b="1" i="0" spc="200">
                <a:solidFill>
                  <a:srgbClr val="42C3F7"/>
                </a:solidFill>
                <a:latin typeface="Arial Narrow"/>
              </a:rPr>
              <a:t>TASK 2.1 · TEXTBOOK</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A9B3C0"/>
                </a:solidFill>
                <a:latin typeface="Arial Narrow"/>
              </a:rPr>
              <a:t>ACT 3 · CRASH INVESTIGATION</a:t>
            </a:r>
          </a:p>
        </p:txBody>
      </p:sp>
      <p:sp>
        <p:nvSpPr>
          <p:cNvPr id="4" name="Rounded Rectangle 3"/>
          <p:cNvSpPr/>
          <p:nvPr/>
        </p:nvSpPr>
        <p:spPr>
          <a:xfrm>
            <a:off x="10058400" y="274320"/>
            <a:ext cx="1444752" cy="329184"/>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1500" b="1" i="0" spc="60">
                <a:solidFill>
                  <a:srgbClr val="12161C"/>
                </a:solidFill>
                <a:latin typeface="Arial"/>
              </a:rPr>
              <a:t>+100 EP</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6F7A89"/>
                </a:solidFill>
                <a:latin typeface="Arial Narrow"/>
              </a:rPr>
              <a:t>ENERGY LAB  ·  CRASH TEST #05</a:t>
            </a:r>
          </a:p>
        </p:txBody>
      </p:sp>
      <p:sp>
        <p:nvSpPr>
          <p:cNvPr id="6" name="Rectangle 5"/>
          <p:cNvSpPr/>
          <p:nvPr/>
        </p:nvSpPr>
        <p:spPr>
          <a:xfrm>
            <a:off x="4526280" y="6510528"/>
            <a:ext cx="127363" cy="54864"/>
          </a:xfrm>
          <a:prstGeom prst="rect">
            <a:avLst/>
          </a:prstGeom>
          <a:solidFill>
            <a:srgbClr val="8A6A1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8A6A1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8A6A1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8A6A1A"/>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8A6A1A"/>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8A6A1A"/>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8A6A1A"/>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FFB400"/>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2A3240"/>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2A3240"/>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2A3240"/>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2A3240"/>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2A3240"/>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2A3240"/>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6F7A89"/>
                </a:solidFill>
                <a:latin typeface="Arial Narrow"/>
              </a:rPr>
              <a:t>44</a:t>
            </a:fld>
          </a:p>
        </p:txBody>
      </p:sp>
      <p:sp>
        <p:nvSpPr>
          <p:cNvPr id="21" name="TextBox 20"/>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A9B3C0"/>
                </a:solidFill>
                <a:latin typeface="Arial Narrow"/>
              </a:rPr>
              <a:t>STATEMENT 2 / 7   ·   TEXTBOOK</a:t>
            </a:r>
          </a:p>
        </p:txBody>
      </p:sp>
      <p:sp>
        <p:nvSpPr>
          <p:cNvPr id="22" name="TextBox 21"/>
          <p:cNvSpPr txBox="1"/>
          <p:nvPr/>
        </p:nvSpPr>
        <p:spPr>
          <a:xfrm>
            <a:off x="685800" y="1417320"/>
            <a:ext cx="10789920" cy="1828800"/>
          </a:xfrm>
          <a:prstGeom prst="rect">
            <a:avLst/>
          </a:prstGeom>
          <a:noFill/>
        </p:spPr>
        <p:txBody>
          <a:bodyPr wrap="square" anchor="t" lIns="0" rIns="0" tIns="0" bIns="0">
            <a:noAutofit/>
          </a:bodyPr>
          <a:lstStyle/>
          <a:p>
            <a:pPr algn="l">
              <a:lnSpc>
                <a:spcPct val="108000"/>
              </a:lnSpc>
              <a:spcBef>
                <a:spcPts val="0"/>
              </a:spcBef>
              <a:spcAft>
                <a:spcPts val="0"/>
              </a:spcAft>
            </a:pPr>
            <a:r>
              <a:rPr sz="4000" b="1" i="0">
                <a:solidFill>
                  <a:srgbClr val="F4F6F8"/>
                </a:solidFill>
                <a:latin typeface="Arial"/>
              </a:rPr>
              <a:t>“Shorter stopping distances exert less force on people.”</a:t>
            </a:r>
          </a:p>
        </p:txBody>
      </p:sp>
      <p:sp>
        <p:nvSpPr>
          <p:cNvPr id="23" name="Rounded Rectangle 22"/>
          <p:cNvSpPr/>
          <p:nvPr/>
        </p:nvSpPr>
        <p:spPr>
          <a:xfrm>
            <a:off x="685800" y="3703320"/>
            <a:ext cx="5257800" cy="1417320"/>
          </a:xfrm>
          <a:prstGeom prst="roundRect">
            <a:avLst>
              <a:gd name="adj" fmla="val 9032"/>
            </a:avLst>
          </a:prstGeom>
          <a:solidFill>
            <a:srgbClr val="1A2029"/>
          </a:solidFill>
          <a:ln w="19050">
            <a:solidFill>
              <a:srgbClr val="323C4A"/>
            </a:solidFill>
          </a:ln>
        </p:spPr>
        <p:txBody>
          <a:bodyPr rtlCol="0" anchor="ctr"/>
          <a:lstStyle/>
          <a:p>
            <a:pPr algn="ctr"/>
          </a:p>
        </p:txBody>
      </p:sp>
      <p:sp>
        <p:nvSpPr>
          <p:cNvPr id="24" name="Rounded Rectangle 23"/>
          <p:cNvSpPr/>
          <p:nvPr/>
        </p:nvSpPr>
        <p:spPr>
          <a:xfrm>
            <a:off x="1393884" y="3793388"/>
            <a:ext cx="283921" cy="525780"/>
          </a:xfrm>
          <a:prstGeom prst="roundRect">
            <a:avLst>
              <a:gd name="adj" fmla="val 40740"/>
            </a:avLst>
          </a:prstGeom>
          <a:solidFill>
            <a:srgbClr val="F4F6F8"/>
          </a:solidFill>
          <a:ln w="31750">
            <a:solidFill>
              <a:srgbClr val="0E1116"/>
            </a:solidFill>
          </a:ln>
        </p:spPr>
        <p:txBody>
          <a:bodyPr rtlCol="0" anchor="ctr"/>
          <a:lstStyle/>
          <a:p>
            <a:pPr algn="ctr"/>
          </a:p>
        </p:txBody>
      </p:sp>
      <p:sp>
        <p:nvSpPr>
          <p:cNvPr id="25" name="Rounded Rectangle 24"/>
          <p:cNvSpPr/>
          <p:nvPr/>
        </p:nvSpPr>
        <p:spPr>
          <a:xfrm>
            <a:off x="1410919" y="4171950"/>
            <a:ext cx="630936" cy="525780"/>
          </a:xfrm>
          <a:prstGeom prst="roundRect">
            <a:avLst>
              <a:gd name="adj" fmla="val 30000"/>
            </a:avLst>
          </a:prstGeom>
          <a:solidFill>
            <a:srgbClr val="F4F6F8"/>
          </a:solidFill>
          <a:ln w="31750">
            <a:solidFill>
              <a:srgbClr val="0E1116"/>
            </a:solidFill>
          </a:ln>
        </p:spPr>
        <p:txBody>
          <a:bodyPr rtlCol="0" anchor="ctr"/>
          <a:lstStyle/>
          <a:p>
            <a:pPr algn="ctr"/>
          </a:p>
        </p:txBody>
      </p:sp>
      <p:sp>
        <p:nvSpPr>
          <p:cNvPr id="26" name="TextBox 25"/>
          <p:cNvSpPr txBox="1"/>
          <p:nvPr/>
        </p:nvSpPr>
        <p:spPr>
          <a:xfrm>
            <a:off x="2377440" y="3931920"/>
            <a:ext cx="3383280" cy="457200"/>
          </a:xfrm>
          <a:prstGeom prst="rect">
            <a:avLst/>
          </a:prstGeom>
          <a:noFill/>
        </p:spPr>
        <p:txBody>
          <a:bodyPr wrap="square" anchor="t" lIns="0" rIns="0" tIns="0" bIns="0">
            <a:noAutofit/>
          </a:bodyPr>
          <a:lstStyle/>
          <a:p>
            <a:pPr algn="l">
              <a:lnSpc>
                <a:spcPct val="100000"/>
              </a:lnSpc>
              <a:spcBef>
                <a:spcPts val="0"/>
              </a:spcBef>
              <a:spcAft>
                <a:spcPts val="0"/>
              </a:spcAft>
            </a:pPr>
            <a:r>
              <a:rPr sz="2200" b="0" i="0">
                <a:solidFill>
                  <a:srgbClr val="F4F6F8"/>
                </a:solidFill>
                <a:latin typeface="Arial Black"/>
              </a:rPr>
              <a:t>THUMBS UP</a:t>
            </a:r>
          </a:p>
        </p:txBody>
      </p:sp>
      <p:sp>
        <p:nvSpPr>
          <p:cNvPr id="27" name="TextBox 26"/>
          <p:cNvSpPr txBox="1"/>
          <p:nvPr/>
        </p:nvSpPr>
        <p:spPr>
          <a:xfrm>
            <a:off x="2377440" y="4343400"/>
            <a:ext cx="3383280" cy="457200"/>
          </a:xfrm>
          <a:prstGeom prst="rect">
            <a:avLst/>
          </a:prstGeom>
          <a:noFill/>
        </p:spPr>
        <p:txBody>
          <a:bodyPr wrap="square" anchor="t" lIns="0" rIns="0" tIns="0" bIns="0">
            <a:noAutofit/>
          </a:bodyPr>
          <a:lstStyle/>
          <a:p>
            <a:pPr algn="l">
              <a:lnSpc>
                <a:spcPct val="100000"/>
              </a:lnSpc>
              <a:spcBef>
                <a:spcPts val="0"/>
              </a:spcBef>
              <a:spcAft>
                <a:spcPts val="0"/>
              </a:spcAft>
            </a:pPr>
            <a:r>
              <a:rPr sz="2000" b="1" i="0">
                <a:solidFill>
                  <a:srgbClr val="FFB400"/>
                </a:solidFill>
                <a:latin typeface="Arial"/>
              </a:rPr>
              <a:t>= TRUE</a:t>
            </a:r>
          </a:p>
        </p:txBody>
      </p:sp>
      <p:sp>
        <p:nvSpPr>
          <p:cNvPr id="28" name="Rounded Rectangle 27"/>
          <p:cNvSpPr/>
          <p:nvPr/>
        </p:nvSpPr>
        <p:spPr>
          <a:xfrm>
            <a:off x="6217920" y="3703320"/>
            <a:ext cx="5257800" cy="1417320"/>
          </a:xfrm>
          <a:prstGeom prst="roundRect">
            <a:avLst>
              <a:gd name="adj" fmla="val 9032"/>
            </a:avLst>
          </a:prstGeom>
          <a:solidFill>
            <a:srgbClr val="1A2029"/>
          </a:solidFill>
          <a:ln w="19050">
            <a:solidFill>
              <a:srgbClr val="323C4A"/>
            </a:solidFill>
          </a:ln>
        </p:spPr>
        <p:txBody>
          <a:bodyPr rtlCol="0" anchor="ctr"/>
          <a:lstStyle/>
          <a:p>
            <a:pPr algn="ctr"/>
          </a:p>
        </p:txBody>
      </p:sp>
      <p:sp>
        <p:nvSpPr>
          <p:cNvPr id="29" name="Rounded Rectangle 28"/>
          <p:cNvSpPr/>
          <p:nvPr/>
        </p:nvSpPr>
        <p:spPr>
          <a:xfrm>
            <a:off x="6926004" y="4550512"/>
            <a:ext cx="283921" cy="525780"/>
          </a:xfrm>
          <a:prstGeom prst="roundRect">
            <a:avLst>
              <a:gd name="adj" fmla="val 40740"/>
            </a:avLst>
          </a:prstGeom>
          <a:solidFill>
            <a:srgbClr val="F4F6F8"/>
          </a:solidFill>
          <a:ln w="31750">
            <a:solidFill>
              <a:srgbClr val="0E1116"/>
            </a:solidFill>
          </a:ln>
        </p:spPr>
        <p:txBody>
          <a:bodyPr rtlCol="0" anchor="ctr"/>
          <a:lstStyle/>
          <a:p>
            <a:pPr algn="ctr"/>
          </a:p>
        </p:txBody>
      </p:sp>
      <p:sp>
        <p:nvSpPr>
          <p:cNvPr id="30" name="Rounded Rectangle 29"/>
          <p:cNvSpPr/>
          <p:nvPr/>
        </p:nvSpPr>
        <p:spPr>
          <a:xfrm>
            <a:off x="6943039" y="4171950"/>
            <a:ext cx="630936" cy="525780"/>
          </a:xfrm>
          <a:prstGeom prst="roundRect">
            <a:avLst>
              <a:gd name="adj" fmla="val 30000"/>
            </a:avLst>
          </a:prstGeom>
          <a:solidFill>
            <a:srgbClr val="F4F6F8"/>
          </a:solidFill>
          <a:ln w="31750">
            <a:solidFill>
              <a:srgbClr val="0E1116"/>
            </a:solidFill>
          </a:ln>
        </p:spPr>
        <p:txBody>
          <a:bodyPr rtlCol="0" anchor="ctr"/>
          <a:lstStyle/>
          <a:p>
            <a:pPr algn="ctr"/>
          </a:p>
        </p:txBody>
      </p:sp>
      <p:sp>
        <p:nvSpPr>
          <p:cNvPr id="31" name="TextBox 30"/>
          <p:cNvSpPr txBox="1"/>
          <p:nvPr/>
        </p:nvSpPr>
        <p:spPr>
          <a:xfrm>
            <a:off x="7909560" y="3931920"/>
            <a:ext cx="3383280" cy="457200"/>
          </a:xfrm>
          <a:prstGeom prst="rect">
            <a:avLst/>
          </a:prstGeom>
          <a:noFill/>
        </p:spPr>
        <p:txBody>
          <a:bodyPr wrap="square" anchor="t" lIns="0" rIns="0" tIns="0" bIns="0">
            <a:noAutofit/>
          </a:bodyPr>
          <a:lstStyle/>
          <a:p>
            <a:pPr algn="l">
              <a:lnSpc>
                <a:spcPct val="100000"/>
              </a:lnSpc>
              <a:spcBef>
                <a:spcPts val="0"/>
              </a:spcBef>
              <a:spcAft>
                <a:spcPts val="0"/>
              </a:spcAft>
            </a:pPr>
            <a:r>
              <a:rPr sz="2200" b="0" i="0">
                <a:solidFill>
                  <a:srgbClr val="F4F6F8"/>
                </a:solidFill>
                <a:latin typeface="Arial Black"/>
              </a:rPr>
              <a:t>THUMBS DOWN</a:t>
            </a:r>
          </a:p>
        </p:txBody>
      </p:sp>
      <p:sp>
        <p:nvSpPr>
          <p:cNvPr id="32" name="TextBox 31"/>
          <p:cNvSpPr txBox="1"/>
          <p:nvPr/>
        </p:nvSpPr>
        <p:spPr>
          <a:xfrm>
            <a:off x="7909560" y="4343400"/>
            <a:ext cx="3383280" cy="457200"/>
          </a:xfrm>
          <a:prstGeom prst="rect">
            <a:avLst/>
          </a:prstGeom>
          <a:noFill/>
        </p:spPr>
        <p:txBody>
          <a:bodyPr wrap="square" anchor="t" lIns="0" rIns="0" tIns="0" bIns="0">
            <a:noAutofit/>
          </a:bodyPr>
          <a:lstStyle/>
          <a:p>
            <a:pPr algn="l">
              <a:lnSpc>
                <a:spcPct val="100000"/>
              </a:lnSpc>
              <a:spcBef>
                <a:spcPts val="0"/>
              </a:spcBef>
              <a:spcAft>
                <a:spcPts val="0"/>
              </a:spcAft>
            </a:pPr>
            <a:r>
              <a:rPr sz="2000" b="1" i="0">
                <a:solidFill>
                  <a:srgbClr val="FFB400"/>
                </a:solidFill>
                <a:latin typeface="Arial"/>
              </a:rPr>
              <a:t>= FALSE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A9B3C0"/>
                </a:solidFill>
                <a:latin typeface="Arial Narrow"/>
              </a:rPr>
              <a:t>ACT 3 · CRASH INVESTIGATION</a:t>
            </a:r>
          </a:p>
        </p:txBody>
      </p:sp>
      <p:sp>
        <p:nvSpPr>
          <p:cNvPr id="4" name="Rounded Rectangle 3"/>
          <p:cNvSpPr/>
          <p:nvPr/>
        </p:nvSpPr>
        <p:spPr>
          <a:xfrm>
            <a:off x="10058400" y="274320"/>
            <a:ext cx="1444752" cy="329184"/>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1500" b="1" i="0" spc="60">
                <a:solidFill>
                  <a:srgbClr val="12161C"/>
                </a:solidFill>
                <a:latin typeface="Arial"/>
              </a:rPr>
              <a:t>+100 EP</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6F7A89"/>
                </a:solidFill>
                <a:latin typeface="Arial Narrow"/>
              </a:rPr>
              <a:t>ENERGY LAB  ·  CRASH TEST #05</a:t>
            </a:r>
          </a:p>
        </p:txBody>
      </p:sp>
      <p:sp>
        <p:nvSpPr>
          <p:cNvPr id="6" name="Rectangle 5"/>
          <p:cNvSpPr/>
          <p:nvPr/>
        </p:nvSpPr>
        <p:spPr>
          <a:xfrm>
            <a:off x="4526280" y="6510528"/>
            <a:ext cx="127363" cy="54864"/>
          </a:xfrm>
          <a:prstGeom prst="rect">
            <a:avLst/>
          </a:prstGeom>
          <a:solidFill>
            <a:srgbClr val="8A6A1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8A6A1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8A6A1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8A6A1A"/>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8A6A1A"/>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8A6A1A"/>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8A6A1A"/>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FFB400"/>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2A3240"/>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2A3240"/>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2A3240"/>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2A3240"/>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2A3240"/>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2A3240"/>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6F7A89"/>
                </a:solidFill>
                <a:latin typeface="Arial Narrow"/>
              </a:rPr>
              <a:t>45</a:t>
            </a:fld>
          </a:p>
        </p:txBody>
      </p:sp>
      <p:sp>
        <p:nvSpPr>
          <p:cNvPr id="21" name="TextBox 20"/>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A9B3C0"/>
                </a:solidFill>
                <a:latin typeface="Arial Narrow"/>
              </a:rPr>
              <a:t>STATEMENT 2 / 7   ·   TEXTBOOK</a:t>
            </a:r>
          </a:p>
        </p:txBody>
      </p:sp>
      <p:sp>
        <p:nvSpPr>
          <p:cNvPr id="22" name="TextBox 21"/>
          <p:cNvSpPr txBox="1"/>
          <p:nvPr/>
        </p:nvSpPr>
        <p:spPr>
          <a:xfrm>
            <a:off x="685800" y="1417320"/>
            <a:ext cx="10789920" cy="1828800"/>
          </a:xfrm>
          <a:prstGeom prst="rect">
            <a:avLst/>
          </a:prstGeom>
          <a:noFill/>
        </p:spPr>
        <p:txBody>
          <a:bodyPr wrap="square" anchor="t" lIns="0" rIns="0" tIns="0" bIns="0">
            <a:noAutofit/>
          </a:bodyPr>
          <a:lstStyle/>
          <a:p>
            <a:pPr algn="l">
              <a:lnSpc>
                <a:spcPct val="108000"/>
              </a:lnSpc>
              <a:spcBef>
                <a:spcPts val="0"/>
              </a:spcBef>
              <a:spcAft>
                <a:spcPts val="0"/>
              </a:spcAft>
            </a:pPr>
            <a:r>
              <a:rPr sz="4000" b="1" i="0">
                <a:solidFill>
                  <a:srgbClr val="F4F6F8"/>
                </a:solidFill>
                <a:latin typeface="Arial"/>
              </a:rPr>
              <a:t>“Shorter stopping distances exert less force on people.”</a:t>
            </a:r>
          </a:p>
        </p:txBody>
      </p:sp>
      <p:sp>
        <p:nvSpPr>
          <p:cNvPr id="23" name="Rounded Rectangle 22"/>
          <p:cNvSpPr/>
          <p:nvPr/>
        </p:nvSpPr>
        <p:spPr>
          <a:xfrm>
            <a:off x="685800" y="3703320"/>
            <a:ext cx="10817352" cy="1691640"/>
          </a:xfrm>
          <a:prstGeom prst="roundRect">
            <a:avLst>
              <a:gd name="adj" fmla="val 7567"/>
            </a:avLst>
          </a:prstGeom>
          <a:solidFill>
            <a:srgbClr val="F0525A"/>
          </a:solidFill>
          <a:ln w="19050">
            <a:solidFill>
              <a:srgbClr val="323C4A"/>
            </a:solidFill>
          </a:ln>
        </p:spPr>
        <p:txBody>
          <a:bodyPr rtlCol="0" anchor="ctr"/>
          <a:lstStyle/>
          <a:p>
            <a:pPr algn="ctr"/>
          </a:p>
        </p:txBody>
      </p:sp>
      <p:sp>
        <p:nvSpPr>
          <p:cNvPr id="24" name="TextBox 23"/>
          <p:cNvSpPr txBox="1"/>
          <p:nvPr/>
        </p:nvSpPr>
        <p:spPr>
          <a:xfrm>
            <a:off x="960120" y="3703320"/>
            <a:ext cx="10241280" cy="1691640"/>
          </a:xfrm>
          <a:prstGeom prst="rect">
            <a:avLst/>
          </a:prstGeom>
          <a:noFill/>
        </p:spPr>
        <p:txBody>
          <a:bodyPr wrap="square" anchor="ctr" lIns="0" rIns="0" tIns="0" bIns="0">
            <a:noAutofit/>
          </a:bodyPr>
          <a:lstStyle/>
          <a:p>
            <a:pPr algn="l">
              <a:lnSpc>
                <a:spcPct val="100000"/>
              </a:lnSpc>
              <a:spcBef>
                <a:spcPts val="0"/>
              </a:spcBef>
              <a:spcAft>
                <a:spcPts val="600"/>
              </a:spcAft>
            </a:pPr>
            <a:r>
              <a:rPr sz="3400" b="0" i="0">
                <a:solidFill>
                  <a:srgbClr val="FFFFFF"/>
                </a:solidFill>
                <a:latin typeface="Arial Black"/>
              </a:rPr>
              <a:t>FALSE</a:t>
            </a:r>
          </a:p>
          <a:p>
            <a:pPr algn="l">
              <a:lnSpc>
                <a:spcPct val="100000"/>
              </a:lnSpc>
              <a:spcBef>
                <a:spcPts val="0"/>
              </a:spcBef>
              <a:spcAft>
                <a:spcPts val="600"/>
              </a:spcAft>
            </a:pPr>
            <a:r>
              <a:rPr sz="2000" b="0" i="0">
                <a:solidFill>
                  <a:srgbClr val="FFFFFF"/>
                </a:solidFill>
                <a:latin typeface="Arial"/>
              </a:rPr>
              <a:t>A slightly GREATER stopping distance exerts LESS force. Shorter distance = more force.</a:t>
            </a:r>
          </a:p>
        </p:txBody>
      </p:sp>
      <p:sp>
        <p:nvSpPr>
          <p:cNvPr id="25" name="Rounded Rectangle 24"/>
          <p:cNvSpPr/>
          <p:nvPr/>
        </p:nvSpPr>
        <p:spPr>
          <a:xfrm>
            <a:off x="685800" y="5532120"/>
            <a:ext cx="2278475" cy="274320"/>
          </a:xfrm>
          <a:prstGeom prst="roundRect">
            <a:avLst>
              <a:gd name="adj" fmla="val 50000"/>
            </a:avLst>
          </a:prstGeom>
          <a:noFill/>
          <a:ln w="19050">
            <a:solidFill>
              <a:srgbClr val="42C3F7"/>
            </a:solidFill>
          </a:ln>
        </p:spPr>
        <p:txBody>
          <a:bodyPr rtlCol="0" anchor="ctr" wrap="square" lIns="0" rIns="0" tIns="0" bIns="0">
            <a:noAutofit/>
          </a:bodyPr>
          <a:lstStyle/>
          <a:p>
            <a:pPr algn="ctr">
              <a:lnSpc>
                <a:spcPct val="100000"/>
              </a:lnSpc>
              <a:spcBef>
                <a:spcPts val="0"/>
              </a:spcBef>
              <a:spcAft>
                <a:spcPts val="0"/>
              </a:spcAft>
            </a:pPr>
            <a:r>
              <a:rPr sz="1300" b="1" i="0" spc="200">
                <a:solidFill>
                  <a:srgbClr val="42C3F7"/>
                </a:solidFill>
                <a:latin typeface="Arial Narrow"/>
              </a:rPr>
              <a:t>TASK 2.2 · TEXTBOOK</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A9B3C0"/>
                </a:solidFill>
                <a:latin typeface="Arial Narrow"/>
              </a:rPr>
              <a:t>ACT 3 · CRASH INVESTIGATION</a:t>
            </a:r>
          </a:p>
        </p:txBody>
      </p:sp>
      <p:sp>
        <p:nvSpPr>
          <p:cNvPr id="4" name="Rounded Rectangle 3"/>
          <p:cNvSpPr/>
          <p:nvPr/>
        </p:nvSpPr>
        <p:spPr>
          <a:xfrm>
            <a:off x="10058400" y="274320"/>
            <a:ext cx="1444752" cy="329184"/>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1500" b="1" i="0" spc="60">
                <a:solidFill>
                  <a:srgbClr val="12161C"/>
                </a:solidFill>
                <a:latin typeface="Arial"/>
              </a:rPr>
              <a:t>+100 EP</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6F7A89"/>
                </a:solidFill>
                <a:latin typeface="Arial Narrow"/>
              </a:rPr>
              <a:t>ENERGY LAB  ·  CRASH TEST #05</a:t>
            </a:r>
          </a:p>
        </p:txBody>
      </p:sp>
      <p:sp>
        <p:nvSpPr>
          <p:cNvPr id="6" name="Rectangle 5"/>
          <p:cNvSpPr/>
          <p:nvPr/>
        </p:nvSpPr>
        <p:spPr>
          <a:xfrm>
            <a:off x="4526280" y="6510528"/>
            <a:ext cx="127363" cy="54864"/>
          </a:xfrm>
          <a:prstGeom prst="rect">
            <a:avLst/>
          </a:prstGeom>
          <a:solidFill>
            <a:srgbClr val="8A6A1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8A6A1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8A6A1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8A6A1A"/>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8A6A1A"/>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8A6A1A"/>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8A6A1A"/>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FFB400"/>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2A3240"/>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2A3240"/>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2A3240"/>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2A3240"/>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2A3240"/>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2A3240"/>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6F7A89"/>
                </a:solidFill>
                <a:latin typeface="Arial Narrow"/>
              </a:rPr>
              <a:t>46</a:t>
            </a:fld>
          </a:p>
        </p:txBody>
      </p:sp>
      <p:sp>
        <p:nvSpPr>
          <p:cNvPr id="21" name="TextBox 20"/>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A9B3C0"/>
                </a:solidFill>
                <a:latin typeface="Arial Narrow"/>
              </a:rPr>
              <a:t>STATEMENT 3 / 7   ·   TEXTBOOK</a:t>
            </a:r>
          </a:p>
        </p:txBody>
      </p:sp>
      <p:sp>
        <p:nvSpPr>
          <p:cNvPr id="22" name="TextBox 21"/>
          <p:cNvSpPr txBox="1"/>
          <p:nvPr/>
        </p:nvSpPr>
        <p:spPr>
          <a:xfrm>
            <a:off x="685800" y="1417320"/>
            <a:ext cx="10789920" cy="1828800"/>
          </a:xfrm>
          <a:prstGeom prst="rect">
            <a:avLst/>
          </a:prstGeom>
          <a:noFill/>
        </p:spPr>
        <p:txBody>
          <a:bodyPr wrap="square" anchor="t" lIns="0" rIns="0" tIns="0" bIns="0">
            <a:noAutofit/>
          </a:bodyPr>
          <a:lstStyle/>
          <a:p>
            <a:pPr algn="l">
              <a:lnSpc>
                <a:spcPct val="108000"/>
              </a:lnSpc>
              <a:spcBef>
                <a:spcPts val="0"/>
              </a:spcBef>
              <a:spcAft>
                <a:spcPts val="0"/>
              </a:spcAft>
            </a:pPr>
            <a:r>
              <a:rPr sz="4000" b="1" i="0">
                <a:solidFill>
                  <a:srgbClr val="F4F6F8"/>
                </a:solidFill>
                <a:latin typeface="Arial"/>
              </a:rPr>
              <a:t>“Stretching seatbelts cause less work to be done on people.”</a:t>
            </a:r>
          </a:p>
        </p:txBody>
      </p:sp>
      <p:sp>
        <p:nvSpPr>
          <p:cNvPr id="23" name="Rounded Rectangle 22"/>
          <p:cNvSpPr/>
          <p:nvPr/>
        </p:nvSpPr>
        <p:spPr>
          <a:xfrm>
            <a:off x="685800" y="3703320"/>
            <a:ext cx="5257800" cy="1417320"/>
          </a:xfrm>
          <a:prstGeom prst="roundRect">
            <a:avLst>
              <a:gd name="adj" fmla="val 9032"/>
            </a:avLst>
          </a:prstGeom>
          <a:solidFill>
            <a:srgbClr val="1A2029"/>
          </a:solidFill>
          <a:ln w="19050">
            <a:solidFill>
              <a:srgbClr val="323C4A"/>
            </a:solidFill>
          </a:ln>
        </p:spPr>
        <p:txBody>
          <a:bodyPr rtlCol="0" anchor="ctr"/>
          <a:lstStyle/>
          <a:p>
            <a:pPr algn="ctr"/>
          </a:p>
        </p:txBody>
      </p:sp>
      <p:sp>
        <p:nvSpPr>
          <p:cNvPr id="24" name="Rounded Rectangle 23"/>
          <p:cNvSpPr/>
          <p:nvPr/>
        </p:nvSpPr>
        <p:spPr>
          <a:xfrm>
            <a:off x="1393884" y="3793388"/>
            <a:ext cx="283921" cy="525780"/>
          </a:xfrm>
          <a:prstGeom prst="roundRect">
            <a:avLst>
              <a:gd name="adj" fmla="val 40740"/>
            </a:avLst>
          </a:prstGeom>
          <a:solidFill>
            <a:srgbClr val="F4F6F8"/>
          </a:solidFill>
          <a:ln w="31750">
            <a:solidFill>
              <a:srgbClr val="0E1116"/>
            </a:solidFill>
          </a:ln>
        </p:spPr>
        <p:txBody>
          <a:bodyPr rtlCol="0" anchor="ctr"/>
          <a:lstStyle/>
          <a:p>
            <a:pPr algn="ctr"/>
          </a:p>
        </p:txBody>
      </p:sp>
      <p:sp>
        <p:nvSpPr>
          <p:cNvPr id="25" name="Rounded Rectangle 24"/>
          <p:cNvSpPr/>
          <p:nvPr/>
        </p:nvSpPr>
        <p:spPr>
          <a:xfrm>
            <a:off x="1410919" y="4171950"/>
            <a:ext cx="630936" cy="525780"/>
          </a:xfrm>
          <a:prstGeom prst="roundRect">
            <a:avLst>
              <a:gd name="adj" fmla="val 30000"/>
            </a:avLst>
          </a:prstGeom>
          <a:solidFill>
            <a:srgbClr val="F4F6F8"/>
          </a:solidFill>
          <a:ln w="31750">
            <a:solidFill>
              <a:srgbClr val="0E1116"/>
            </a:solidFill>
          </a:ln>
        </p:spPr>
        <p:txBody>
          <a:bodyPr rtlCol="0" anchor="ctr"/>
          <a:lstStyle/>
          <a:p>
            <a:pPr algn="ctr"/>
          </a:p>
        </p:txBody>
      </p:sp>
      <p:sp>
        <p:nvSpPr>
          <p:cNvPr id="26" name="TextBox 25"/>
          <p:cNvSpPr txBox="1"/>
          <p:nvPr/>
        </p:nvSpPr>
        <p:spPr>
          <a:xfrm>
            <a:off x="2377440" y="3931920"/>
            <a:ext cx="3383280" cy="457200"/>
          </a:xfrm>
          <a:prstGeom prst="rect">
            <a:avLst/>
          </a:prstGeom>
          <a:noFill/>
        </p:spPr>
        <p:txBody>
          <a:bodyPr wrap="square" anchor="t" lIns="0" rIns="0" tIns="0" bIns="0">
            <a:noAutofit/>
          </a:bodyPr>
          <a:lstStyle/>
          <a:p>
            <a:pPr algn="l">
              <a:lnSpc>
                <a:spcPct val="100000"/>
              </a:lnSpc>
              <a:spcBef>
                <a:spcPts val="0"/>
              </a:spcBef>
              <a:spcAft>
                <a:spcPts val="0"/>
              </a:spcAft>
            </a:pPr>
            <a:r>
              <a:rPr sz="2200" b="0" i="0">
                <a:solidFill>
                  <a:srgbClr val="F4F6F8"/>
                </a:solidFill>
                <a:latin typeface="Arial Black"/>
              </a:rPr>
              <a:t>THUMBS UP</a:t>
            </a:r>
          </a:p>
        </p:txBody>
      </p:sp>
      <p:sp>
        <p:nvSpPr>
          <p:cNvPr id="27" name="TextBox 26"/>
          <p:cNvSpPr txBox="1"/>
          <p:nvPr/>
        </p:nvSpPr>
        <p:spPr>
          <a:xfrm>
            <a:off x="2377440" y="4343400"/>
            <a:ext cx="3383280" cy="457200"/>
          </a:xfrm>
          <a:prstGeom prst="rect">
            <a:avLst/>
          </a:prstGeom>
          <a:noFill/>
        </p:spPr>
        <p:txBody>
          <a:bodyPr wrap="square" anchor="t" lIns="0" rIns="0" tIns="0" bIns="0">
            <a:noAutofit/>
          </a:bodyPr>
          <a:lstStyle/>
          <a:p>
            <a:pPr algn="l">
              <a:lnSpc>
                <a:spcPct val="100000"/>
              </a:lnSpc>
              <a:spcBef>
                <a:spcPts val="0"/>
              </a:spcBef>
              <a:spcAft>
                <a:spcPts val="0"/>
              </a:spcAft>
            </a:pPr>
            <a:r>
              <a:rPr sz="2000" b="1" i="0">
                <a:solidFill>
                  <a:srgbClr val="FFB400"/>
                </a:solidFill>
                <a:latin typeface="Arial"/>
              </a:rPr>
              <a:t>= TRUE</a:t>
            </a:r>
          </a:p>
        </p:txBody>
      </p:sp>
      <p:sp>
        <p:nvSpPr>
          <p:cNvPr id="28" name="Rounded Rectangle 27"/>
          <p:cNvSpPr/>
          <p:nvPr/>
        </p:nvSpPr>
        <p:spPr>
          <a:xfrm>
            <a:off x="6217920" y="3703320"/>
            <a:ext cx="5257800" cy="1417320"/>
          </a:xfrm>
          <a:prstGeom prst="roundRect">
            <a:avLst>
              <a:gd name="adj" fmla="val 9032"/>
            </a:avLst>
          </a:prstGeom>
          <a:solidFill>
            <a:srgbClr val="1A2029"/>
          </a:solidFill>
          <a:ln w="19050">
            <a:solidFill>
              <a:srgbClr val="323C4A"/>
            </a:solidFill>
          </a:ln>
        </p:spPr>
        <p:txBody>
          <a:bodyPr rtlCol="0" anchor="ctr"/>
          <a:lstStyle/>
          <a:p>
            <a:pPr algn="ctr"/>
          </a:p>
        </p:txBody>
      </p:sp>
      <p:sp>
        <p:nvSpPr>
          <p:cNvPr id="29" name="Rounded Rectangle 28"/>
          <p:cNvSpPr/>
          <p:nvPr/>
        </p:nvSpPr>
        <p:spPr>
          <a:xfrm>
            <a:off x="6926004" y="4550512"/>
            <a:ext cx="283921" cy="525780"/>
          </a:xfrm>
          <a:prstGeom prst="roundRect">
            <a:avLst>
              <a:gd name="adj" fmla="val 40740"/>
            </a:avLst>
          </a:prstGeom>
          <a:solidFill>
            <a:srgbClr val="F4F6F8"/>
          </a:solidFill>
          <a:ln w="31750">
            <a:solidFill>
              <a:srgbClr val="0E1116"/>
            </a:solidFill>
          </a:ln>
        </p:spPr>
        <p:txBody>
          <a:bodyPr rtlCol="0" anchor="ctr"/>
          <a:lstStyle/>
          <a:p>
            <a:pPr algn="ctr"/>
          </a:p>
        </p:txBody>
      </p:sp>
      <p:sp>
        <p:nvSpPr>
          <p:cNvPr id="30" name="Rounded Rectangle 29"/>
          <p:cNvSpPr/>
          <p:nvPr/>
        </p:nvSpPr>
        <p:spPr>
          <a:xfrm>
            <a:off x="6943039" y="4171950"/>
            <a:ext cx="630936" cy="525780"/>
          </a:xfrm>
          <a:prstGeom prst="roundRect">
            <a:avLst>
              <a:gd name="adj" fmla="val 30000"/>
            </a:avLst>
          </a:prstGeom>
          <a:solidFill>
            <a:srgbClr val="F4F6F8"/>
          </a:solidFill>
          <a:ln w="31750">
            <a:solidFill>
              <a:srgbClr val="0E1116"/>
            </a:solidFill>
          </a:ln>
        </p:spPr>
        <p:txBody>
          <a:bodyPr rtlCol="0" anchor="ctr"/>
          <a:lstStyle/>
          <a:p>
            <a:pPr algn="ctr"/>
          </a:p>
        </p:txBody>
      </p:sp>
      <p:sp>
        <p:nvSpPr>
          <p:cNvPr id="31" name="TextBox 30"/>
          <p:cNvSpPr txBox="1"/>
          <p:nvPr/>
        </p:nvSpPr>
        <p:spPr>
          <a:xfrm>
            <a:off x="7909560" y="3931920"/>
            <a:ext cx="3383280" cy="457200"/>
          </a:xfrm>
          <a:prstGeom prst="rect">
            <a:avLst/>
          </a:prstGeom>
          <a:noFill/>
        </p:spPr>
        <p:txBody>
          <a:bodyPr wrap="square" anchor="t" lIns="0" rIns="0" tIns="0" bIns="0">
            <a:noAutofit/>
          </a:bodyPr>
          <a:lstStyle/>
          <a:p>
            <a:pPr algn="l">
              <a:lnSpc>
                <a:spcPct val="100000"/>
              </a:lnSpc>
              <a:spcBef>
                <a:spcPts val="0"/>
              </a:spcBef>
              <a:spcAft>
                <a:spcPts val="0"/>
              </a:spcAft>
            </a:pPr>
            <a:r>
              <a:rPr sz="2200" b="0" i="0">
                <a:solidFill>
                  <a:srgbClr val="F4F6F8"/>
                </a:solidFill>
                <a:latin typeface="Arial Black"/>
              </a:rPr>
              <a:t>THUMBS DOWN</a:t>
            </a:r>
          </a:p>
        </p:txBody>
      </p:sp>
      <p:sp>
        <p:nvSpPr>
          <p:cNvPr id="32" name="TextBox 31"/>
          <p:cNvSpPr txBox="1"/>
          <p:nvPr/>
        </p:nvSpPr>
        <p:spPr>
          <a:xfrm>
            <a:off x="7909560" y="4343400"/>
            <a:ext cx="3383280" cy="457200"/>
          </a:xfrm>
          <a:prstGeom prst="rect">
            <a:avLst/>
          </a:prstGeom>
          <a:noFill/>
        </p:spPr>
        <p:txBody>
          <a:bodyPr wrap="square" anchor="t" lIns="0" rIns="0" tIns="0" bIns="0">
            <a:noAutofit/>
          </a:bodyPr>
          <a:lstStyle/>
          <a:p>
            <a:pPr algn="l">
              <a:lnSpc>
                <a:spcPct val="100000"/>
              </a:lnSpc>
              <a:spcBef>
                <a:spcPts val="0"/>
              </a:spcBef>
              <a:spcAft>
                <a:spcPts val="0"/>
              </a:spcAft>
            </a:pPr>
            <a:r>
              <a:rPr sz="2000" b="1" i="0">
                <a:solidFill>
                  <a:srgbClr val="FFB400"/>
                </a:solidFill>
                <a:latin typeface="Arial"/>
              </a:rPr>
              <a:t>= FALSE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A9B3C0"/>
                </a:solidFill>
                <a:latin typeface="Arial Narrow"/>
              </a:rPr>
              <a:t>ACT 3 · CRASH INVESTIGATION</a:t>
            </a:r>
          </a:p>
        </p:txBody>
      </p:sp>
      <p:sp>
        <p:nvSpPr>
          <p:cNvPr id="4" name="Rounded Rectangle 3"/>
          <p:cNvSpPr/>
          <p:nvPr/>
        </p:nvSpPr>
        <p:spPr>
          <a:xfrm>
            <a:off x="10058400" y="274320"/>
            <a:ext cx="1444752" cy="329184"/>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1500" b="1" i="0" spc="60">
                <a:solidFill>
                  <a:srgbClr val="12161C"/>
                </a:solidFill>
                <a:latin typeface="Arial"/>
              </a:rPr>
              <a:t>+100 EP</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6F7A89"/>
                </a:solidFill>
                <a:latin typeface="Arial Narrow"/>
              </a:rPr>
              <a:t>ENERGY LAB  ·  CRASH TEST #05</a:t>
            </a:r>
          </a:p>
        </p:txBody>
      </p:sp>
      <p:sp>
        <p:nvSpPr>
          <p:cNvPr id="6" name="Rectangle 5"/>
          <p:cNvSpPr/>
          <p:nvPr/>
        </p:nvSpPr>
        <p:spPr>
          <a:xfrm>
            <a:off x="4526280" y="6510528"/>
            <a:ext cx="127363" cy="54864"/>
          </a:xfrm>
          <a:prstGeom prst="rect">
            <a:avLst/>
          </a:prstGeom>
          <a:solidFill>
            <a:srgbClr val="8A6A1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8A6A1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8A6A1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8A6A1A"/>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8A6A1A"/>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8A6A1A"/>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8A6A1A"/>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FFB400"/>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2A3240"/>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2A3240"/>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2A3240"/>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2A3240"/>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2A3240"/>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2A3240"/>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6F7A89"/>
                </a:solidFill>
                <a:latin typeface="Arial Narrow"/>
              </a:rPr>
              <a:t>47</a:t>
            </a:fld>
          </a:p>
        </p:txBody>
      </p:sp>
      <p:sp>
        <p:nvSpPr>
          <p:cNvPr id="21" name="TextBox 20"/>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A9B3C0"/>
                </a:solidFill>
                <a:latin typeface="Arial Narrow"/>
              </a:rPr>
              <a:t>STATEMENT 3 / 7   ·   TEXTBOOK</a:t>
            </a:r>
          </a:p>
        </p:txBody>
      </p:sp>
      <p:sp>
        <p:nvSpPr>
          <p:cNvPr id="22" name="TextBox 21"/>
          <p:cNvSpPr txBox="1"/>
          <p:nvPr/>
        </p:nvSpPr>
        <p:spPr>
          <a:xfrm>
            <a:off x="685800" y="1417320"/>
            <a:ext cx="10789920" cy="1828800"/>
          </a:xfrm>
          <a:prstGeom prst="rect">
            <a:avLst/>
          </a:prstGeom>
          <a:noFill/>
        </p:spPr>
        <p:txBody>
          <a:bodyPr wrap="square" anchor="t" lIns="0" rIns="0" tIns="0" bIns="0">
            <a:noAutofit/>
          </a:bodyPr>
          <a:lstStyle/>
          <a:p>
            <a:pPr algn="l">
              <a:lnSpc>
                <a:spcPct val="108000"/>
              </a:lnSpc>
              <a:spcBef>
                <a:spcPts val="0"/>
              </a:spcBef>
              <a:spcAft>
                <a:spcPts val="0"/>
              </a:spcAft>
            </a:pPr>
            <a:r>
              <a:rPr sz="4000" b="1" i="0">
                <a:solidFill>
                  <a:srgbClr val="F4F6F8"/>
                </a:solidFill>
                <a:latin typeface="Arial"/>
              </a:rPr>
              <a:t>“Stretching seatbelts cause less work to be done on people.”</a:t>
            </a:r>
          </a:p>
        </p:txBody>
      </p:sp>
      <p:sp>
        <p:nvSpPr>
          <p:cNvPr id="23" name="Rounded Rectangle 22"/>
          <p:cNvSpPr/>
          <p:nvPr/>
        </p:nvSpPr>
        <p:spPr>
          <a:xfrm>
            <a:off x="685800" y="3703320"/>
            <a:ext cx="10817352" cy="1691640"/>
          </a:xfrm>
          <a:prstGeom prst="roundRect">
            <a:avLst>
              <a:gd name="adj" fmla="val 7567"/>
            </a:avLst>
          </a:prstGeom>
          <a:solidFill>
            <a:srgbClr val="34C77B"/>
          </a:solidFill>
          <a:ln w="19050">
            <a:solidFill>
              <a:srgbClr val="323C4A"/>
            </a:solidFill>
          </a:ln>
        </p:spPr>
        <p:txBody>
          <a:bodyPr rtlCol="0" anchor="ctr"/>
          <a:lstStyle/>
          <a:p>
            <a:pPr algn="ctr"/>
          </a:p>
        </p:txBody>
      </p:sp>
      <p:sp>
        <p:nvSpPr>
          <p:cNvPr id="24" name="TextBox 23"/>
          <p:cNvSpPr txBox="1"/>
          <p:nvPr/>
        </p:nvSpPr>
        <p:spPr>
          <a:xfrm>
            <a:off x="960120" y="3703320"/>
            <a:ext cx="10241280" cy="1691640"/>
          </a:xfrm>
          <a:prstGeom prst="rect">
            <a:avLst/>
          </a:prstGeom>
          <a:noFill/>
        </p:spPr>
        <p:txBody>
          <a:bodyPr wrap="square" anchor="ctr" lIns="0" rIns="0" tIns="0" bIns="0">
            <a:noAutofit/>
          </a:bodyPr>
          <a:lstStyle/>
          <a:p>
            <a:pPr algn="l">
              <a:lnSpc>
                <a:spcPct val="100000"/>
              </a:lnSpc>
              <a:spcBef>
                <a:spcPts val="0"/>
              </a:spcBef>
              <a:spcAft>
                <a:spcPts val="600"/>
              </a:spcAft>
            </a:pPr>
            <a:r>
              <a:rPr sz="3400" b="0" i="0">
                <a:solidFill>
                  <a:srgbClr val="0C1410"/>
                </a:solidFill>
                <a:latin typeface="Arial Black"/>
              </a:rPr>
              <a:t>TRUE</a:t>
            </a:r>
          </a:p>
          <a:p>
            <a:pPr algn="l">
              <a:lnSpc>
                <a:spcPct val="100000"/>
              </a:lnSpc>
              <a:spcBef>
                <a:spcPts val="0"/>
              </a:spcBef>
              <a:spcAft>
                <a:spcPts val="600"/>
              </a:spcAft>
            </a:pPr>
            <a:r>
              <a:rPr sz="2000" b="0" i="0">
                <a:solidFill>
                  <a:srgbClr val="0C1410"/>
                </a:solidFill>
                <a:latin typeface="Arial"/>
              </a:rPr>
              <a:t>Conclusions: 'less work is done on passengers'.</a:t>
            </a:r>
          </a:p>
        </p:txBody>
      </p:sp>
      <p:sp>
        <p:nvSpPr>
          <p:cNvPr id="25" name="Rounded Rectangle 24"/>
          <p:cNvSpPr/>
          <p:nvPr/>
        </p:nvSpPr>
        <p:spPr>
          <a:xfrm>
            <a:off x="685800" y="5532120"/>
            <a:ext cx="2278475" cy="274320"/>
          </a:xfrm>
          <a:prstGeom prst="roundRect">
            <a:avLst>
              <a:gd name="adj" fmla="val 50000"/>
            </a:avLst>
          </a:prstGeom>
          <a:noFill/>
          <a:ln w="19050">
            <a:solidFill>
              <a:srgbClr val="42C3F7"/>
            </a:solidFill>
          </a:ln>
        </p:spPr>
        <p:txBody>
          <a:bodyPr rtlCol="0" anchor="ctr" wrap="square" lIns="0" rIns="0" tIns="0" bIns="0">
            <a:noAutofit/>
          </a:bodyPr>
          <a:lstStyle/>
          <a:p>
            <a:pPr algn="ctr">
              <a:lnSpc>
                <a:spcPct val="100000"/>
              </a:lnSpc>
              <a:spcBef>
                <a:spcPts val="0"/>
              </a:spcBef>
              <a:spcAft>
                <a:spcPts val="0"/>
              </a:spcAft>
            </a:pPr>
            <a:r>
              <a:rPr sz="1300" b="1" i="0" spc="200">
                <a:solidFill>
                  <a:srgbClr val="42C3F7"/>
                </a:solidFill>
                <a:latin typeface="Arial Narrow"/>
              </a:rPr>
              <a:t>TASK 2.3 · TEXTBOOK</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A9B3C0"/>
                </a:solidFill>
                <a:latin typeface="Arial Narrow"/>
              </a:rPr>
              <a:t>ACT 3 · CRASH INVESTIGATION</a:t>
            </a:r>
          </a:p>
        </p:txBody>
      </p:sp>
      <p:sp>
        <p:nvSpPr>
          <p:cNvPr id="4" name="Rounded Rectangle 3"/>
          <p:cNvSpPr/>
          <p:nvPr/>
        </p:nvSpPr>
        <p:spPr>
          <a:xfrm>
            <a:off x="10058400" y="274320"/>
            <a:ext cx="1444752" cy="329184"/>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1500" b="1" i="0" spc="60">
                <a:solidFill>
                  <a:srgbClr val="12161C"/>
                </a:solidFill>
                <a:latin typeface="Arial"/>
              </a:rPr>
              <a:t>+100 EP</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6F7A89"/>
                </a:solidFill>
                <a:latin typeface="Arial Narrow"/>
              </a:rPr>
              <a:t>ENERGY LAB  ·  CRASH TEST #05</a:t>
            </a:r>
          </a:p>
        </p:txBody>
      </p:sp>
      <p:sp>
        <p:nvSpPr>
          <p:cNvPr id="6" name="Rectangle 5"/>
          <p:cNvSpPr/>
          <p:nvPr/>
        </p:nvSpPr>
        <p:spPr>
          <a:xfrm>
            <a:off x="4526280" y="6510528"/>
            <a:ext cx="127363" cy="54864"/>
          </a:xfrm>
          <a:prstGeom prst="rect">
            <a:avLst/>
          </a:prstGeom>
          <a:solidFill>
            <a:srgbClr val="8A6A1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8A6A1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8A6A1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8A6A1A"/>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8A6A1A"/>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8A6A1A"/>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8A6A1A"/>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FFB400"/>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2A3240"/>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2A3240"/>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2A3240"/>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2A3240"/>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2A3240"/>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2A3240"/>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6F7A89"/>
                </a:solidFill>
                <a:latin typeface="Arial Narrow"/>
              </a:rPr>
              <a:t>48</a:t>
            </a:fld>
          </a:p>
        </p:txBody>
      </p:sp>
      <p:sp>
        <p:nvSpPr>
          <p:cNvPr id="21" name="TextBox 20"/>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A9B3C0"/>
                </a:solidFill>
                <a:latin typeface="Arial Narrow"/>
              </a:rPr>
              <a:t>STATEMENT 4 / 7   ·   SUPPLEMENTARY</a:t>
            </a:r>
          </a:p>
        </p:txBody>
      </p:sp>
      <p:sp>
        <p:nvSpPr>
          <p:cNvPr id="22" name="TextBox 21"/>
          <p:cNvSpPr txBox="1"/>
          <p:nvPr/>
        </p:nvSpPr>
        <p:spPr>
          <a:xfrm>
            <a:off x="685800" y="1417320"/>
            <a:ext cx="10789920" cy="1828800"/>
          </a:xfrm>
          <a:prstGeom prst="rect">
            <a:avLst/>
          </a:prstGeom>
          <a:noFill/>
        </p:spPr>
        <p:txBody>
          <a:bodyPr wrap="square" anchor="t" lIns="0" rIns="0" tIns="0" bIns="0">
            <a:noAutofit/>
          </a:bodyPr>
          <a:lstStyle/>
          <a:p>
            <a:pPr algn="l">
              <a:lnSpc>
                <a:spcPct val="108000"/>
              </a:lnSpc>
              <a:spcBef>
                <a:spcPts val="0"/>
              </a:spcBef>
              <a:spcAft>
                <a:spcPts val="0"/>
              </a:spcAft>
            </a:pPr>
            <a:r>
              <a:rPr sz="4000" b="1" i="0">
                <a:solidFill>
                  <a:srgbClr val="F4F6F8"/>
                </a:solidFill>
                <a:latin typeface="Arial"/>
              </a:rPr>
              <a:t>“Stretching the seatbelt increases the stopping distance.”</a:t>
            </a:r>
          </a:p>
        </p:txBody>
      </p:sp>
      <p:sp>
        <p:nvSpPr>
          <p:cNvPr id="23" name="Rounded Rectangle 22"/>
          <p:cNvSpPr/>
          <p:nvPr/>
        </p:nvSpPr>
        <p:spPr>
          <a:xfrm>
            <a:off x="685800" y="3703320"/>
            <a:ext cx="5257800" cy="1417320"/>
          </a:xfrm>
          <a:prstGeom prst="roundRect">
            <a:avLst>
              <a:gd name="adj" fmla="val 9032"/>
            </a:avLst>
          </a:prstGeom>
          <a:solidFill>
            <a:srgbClr val="1A2029"/>
          </a:solidFill>
          <a:ln w="19050">
            <a:solidFill>
              <a:srgbClr val="323C4A"/>
            </a:solidFill>
          </a:ln>
        </p:spPr>
        <p:txBody>
          <a:bodyPr rtlCol="0" anchor="ctr"/>
          <a:lstStyle/>
          <a:p>
            <a:pPr algn="ctr"/>
          </a:p>
        </p:txBody>
      </p:sp>
      <p:sp>
        <p:nvSpPr>
          <p:cNvPr id="24" name="Rounded Rectangle 23"/>
          <p:cNvSpPr/>
          <p:nvPr/>
        </p:nvSpPr>
        <p:spPr>
          <a:xfrm>
            <a:off x="1393884" y="3793388"/>
            <a:ext cx="283921" cy="525780"/>
          </a:xfrm>
          <a:prstGeom prst="roundRect">
            <a:avLst>
              <a:gd name="adj" fmla="val 40740"/>
            </a:avLst>
          </a:prstGeom>
          <a:solidFill>
            <a:srgbClr val="F4F6F8"/>
          </a:solidFill>
          <a:ln w="31750">
            <a:solidFill>
              <a:srgbClr val="0E1116"/>
            </a:solidFill>
          </a:ln>
        </p:spPr>
        <p:txBody>
          <a:bodyPr rtlCol="0" anchor="ctr"/>
          <a:lstStyle/>
          <a:p>
            <a:pPr algn="ctr"/>
          </a:p>
        </p:txBody>
      </p:sp>
      <p:sp>
        <p:nvSpPr>
          <p:cNvPr id="25" name="Rounded Rectangle 24"/>
          <p:cNvSpPr/>
          <p:nvPr/>
        </p:nvSpPr>
        <p:spPr>
          <a:xfrm>
            <a:off x="1410919" y="4171950"/>
            <a:ext cx="630936" cy="525780"/>
          </a:xfrm>
          <a:prstGeom prst="roundRect">
            <a:avLst>
              <a:gd name="adj" fmla="val 30000"/>
            </a:avLst>
          </a:prstGeom>
          <a:solidFill>
            <a:srgbClr val="F4F6F8"/>
          </a:solidFill>
          <a:ln w="31750">
            <a:solidFill>
              <a:srgbClr val="0E1116"/>
            </a:solidFill>
          </a:ln>
        </p:spPr>
        <p:txBody>
          <a:bodyPr rtlCol="0" anchor="ctr"/>
          <a:lstStyle/>
          <a:p>
            <a:pPr algn="ctr"/>
          </a:p>
        </p:txBody>
      </p:sp>
      <p:sp>
        <p:nvSpPr>
          <p:cNvPr id="26" name="TextBox 25"/>
          <p:cNvSpPr txBox="1"/>
          <p:nvPr/>
        </p:nvSpPr>
        <p:spPr>
          <a:xfrm>
            <a:off x="2377440" y="3931920"/>
            <a:ext cx="3383280" cy="457200"/>
          </a:xfrm>
          <a:prstGeom prst="rect">
            <a:avLst/>
          </a:prstGeom>
          <a:noFill/>
        </p:spPr>
        <p:txBody>
          <a:bodyPr wrap="square" anchor="t" lIns="0" rIns="0" tIns="0" bIns="0">
            <a:noAutofit/>
          </a:bodyPr>
          <a:lstStyle/>
          <a:p>
            <a:pPr algn="l">
              <a:lnSpc>
                <a:spcPct val="100000"/>
              </a:lnSpc>
              <a:spcBef>
                <a:spcPts val="0"/>
              </a:spcBef>
              <a:spcAft>
                <a:spcPts val="0"/>
              </a:spcAft>
            </a:pPr>
            <a:r>
              <a:rPr sz="2200" b="0" i="0">
                <a:solidFill>
                  <a:srgbClr val="F4F6F8"/>
                </a:solidFill>
                <a:latin typeface="Arial Black"/>
              </a:rPr>
              <a:t>THUMBS UP</a:t>
            </a:r>
          </a:p>
        </p:txBody>
      </p:sp>
      <p:sp>
        <p:nvSpPr>
          <p:cNvPr id="27" name="TextBox 26"/>
          <p:cNvSpPr txBox="1"/>
          <p:nvPr/>
        </p:nvSpPr>
        <p:spPr>
          <a:xfrm>
            <a:off x="2377440" y="4343400"/>
            <a:ext cx="3383280" cy="457200"/>
          </a:xfrm>
          <a:prstGeom prst="rect">
            <a:avLst/>
          </a:prstGeom>
          <a:noFill/>
        </p:spPr>
        <p:txBody>
          <a:bodyPr wrap="square" anchor="t" lIns="0" rIns="0" tIns="0" bIns="0">
            <a:noAutofit/>
          </a:bodyPr>
          <a:lstStyle/>
          <a:p>
            <a:pPr algn="l">
              <a:lnSpc>
                <a:spcPct val="100000"/>
              </a:lnSpc>
              <a:spcBef>
                <a:spcPts val="0"/>
              </a:spcBef>
              <a:spcAft>
                <a:spcPts val="0"/>
              </a:spcAft>
            </a:pPr>
            <a:r>
              <a:rPr sz="2000" b="1" i="0">
                <a:solidFill>
                  <a:srgbClr val="FFB400"/>
                </a:solidFill>
                <a:latin typeface="Arial"/>
              </a:rPr>
              <a:t>= TRUE</a:t>
            </a:r>
          </a:p>
        </p:txBody>
      </p:sp>
      <p:sp>
        <p:nvSpPr>
          <p:cNvPr id="28" name="Rounded Rectangle 27"/>
          <p:cNvSpPr/>
          <p:nvPr/>
        </p:nvSpPr>
        <p:spPr>
          <a:xfrm>
            <a:off x="6217920" y="3703320"/>
            <a:ext cx="5257800" cy="1417320"/>
          </a:xfrm>
          <a:prstGeom prst="roundRect">
            <a:avLst>
              <a:gd name="adj" fmla="val 9032"/>
            </a:avLst>
          </a:prstGeom>
          <a:solidFill>
            <a:srgbClr val="1A2029"/>
          </a:solidFill>
          <a:ln w="19050">
            <a:solidFill>
              <a:srgbClr val="323C4A"/>
            </a:solidFill>
          </a:ln>
        </p:spPr>
        <p:txBody>
          <a:bodyPr rtlCol="0" anchor="ctr"/>
          <a:lstStyle/>
          <a:p>
            <a:pPr algn="ctr"/>
          </a:p>
        </p:txBody>
      </p:sp>
      <p:sp>
        <p:nvSpPr>
          <p:cNvPr id="29" name="Rounded Rectangle 28"/>
          <p:cNvSpPr/>
          <p:nvPr/>
        </p:nvSpPr>
        <p:spPr>
          <a:xfrm>
            <a:off x="6926004" y="4550512"/>
            <a:ext cx="283921" cy="525780"/>
          </a:xfrm>
          <a:prstGeom prst="roundRect">
            <a:avLst>
              <a:gd name="adj" fmla="val 40740"/>
            </a:avLst>
          </a:prstGeom>
          <a:solidFill>
            <a:srgbClr val="F4F6F8"/>
          </a:solidFill>
          <a:ln w="31750">
            <a:solidFill>
              <a:srgbClr val="0E1116"/>
            </a:solidFill>
          </a:ln>
        </p:spPr>
        <p:txBody>
          <a:bodyPr rtlCol="0" anchor="ctr"/>
          <a:lstStyle/>
          <a:p>
            <a:pPr algn="ctr"/>
          </a:p>
        </p:txBody>
      </p:sp>
      <p:sp>
        <p:nvSpPr>
          <p:cNvPr id="30" name="Rounded Rectangle 29"/>
          <p:cNvSpPr/>
          <p:nvPr/>
        </p:nvSpPr>
        <p:spPr>
          <a:xfrm>
            <a:off x="6943039" y="4171950"/>
            <a:ext cx="630936" cy="525780"/>
          </a:xfrm>
          <a:prstGeom prst="roundRect">
            <a:avLst>
              <a:gd name="adj" fmla="val 30000"/>
            </a:avLst>
          </a:prstGeom>
          <a:solidFill>
            <a:srgbClr val="F4F6F8"/>
          </a:solidFill>
          <a:ln w="31750">
            <a:solidFill>
              <a:srgbClr val="0E1116"/>
            </a:solidFill>
          </a:ln>
        </p:spPr>
        <p:txBody>
          <a:bodyPr rtlCol="0" anchor="ctr"/>
          <a:lstStyle/>
          <a:p>
            <a:pPr algn="ctr"/>
          </a:p>
        </p:txBody>
      </p:sp>
      <p:sp>
        <p:nvSpPr>
          <p:cNvPr id="31" name="TextBox 30"/>
          <p:cNvSpPr txBox="1"/>
          <p:nvPr/>
        </p:nvSpPr>
        <p:spPr>
          <a:xfrm>
            <a:off x="7909560" y="3931920"/>
            <a:ext cx="3383280" cy="457200"/>
          </a:xfrm>
          <a:prstGeom prst="rect">
            <a:avLst/>
          </a:prstGeom>
          <a:noFill/>
        </p:spPr>
        <p:txBody>
          <a:bodyPr wrap="square" anchor="t" lIns="0" rIns="0" tIns="0" bIns="0">
            <a:noAutofit/>
          </a:bodyPr>
          <a:lstStyle/>
          <a:p>
            <a:pPr algn="l">
              <a:lnSpc>
                <a:spcPct val="100000"/>
              </a:lnSpc>
              <a:spcBef>
                <a:spcPts val="0"/>
              </a:spcBef>
              <a:spcAft>
                <a:spcPts val="0"/>
              </a:spcAft>
            </a:pPr>
            <a:r>
              <a:rPr sz="2200" b="0" i="0">
                <a:solidFill>
                  <a:srgbClr val="F4F6F8"/>
                </a:solidFill>
                <a:latin typeface="Arial Black"/>
              </a:rPr>
              <a:t>THUMBS DOWN</a:t>
            </a:r>
          </a:p>
        </p:txBody>
      </p:sp>
      <p:sp>
        <p:nvSpPr>
          <p:cNvPr id="32" name="TextBox 31"/>
          <p:cNvSpPr txBox="1"/>
          <p:nvPr/>
        </p:nvSpPr>
        <p:spPr>
          <a:xfrm>
            <a:off x="7909560" y="4343400"/>
            <a:ext cx="3383280" cy="457200"/>
          </a:xfrm>
          <a:prstGeom prst="rect">
            <a:avLst/>
          </a:prstGeom>
          <a:noFill/>
        </p:spPr>
        <p:txBody>
          <a:bodyPr wrap="square" anchor="t" lIns="0" rIns="0" tIns="0" bIns="0">
            <a:noAutofit/>
          </a:bodyPr>
          <a:lstStyle/>
          <a:p>
            <a:pPr algn="l">
              <a:lnSpc>
                <a:spcPct val="100000"/>
              </a:lnSpc>
              <a:spcBef>
                <a:spcPts val="0"/>
              </a:spcBef>
              <a:spcAft>
                <a:spcPts val="0"/>
              </a:spcAft>
            </a:pPr>
            <a:r>
              <a:rPr sz="2000" b="1" i="0">
                <a:solidFill>
                  <a:srgbClr val="FFB400"/>
                </a:solidFill>
                <a:latin typeface="Arial"/>
              </a:rPr>
              <a:t>= FALSE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A9B3C0"/>
                </a:solidFill>
                <a:latin typeface="Arial Narrow"/>
              </a:rPr>
              <a:t>ACT 3 · CRASH INVESTIGATION</a:t>
            </a:r>
          </a:p>
        </p:txBody>
      </p:sp>
      <p:sp>
        <p:nvSpPr>
          <p:cNvPr id="4" name="Rounded Rectangle 3"/>
          <p:cNvSpPr/>
          <p:nvPr/>
        </p:nvSpPr>
        <p:spPr>
          <a:xfrm>
            <a:off x="10058400" y="274320"/>
            <a:ext cx="1444752" cy="329184"/>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1500" b="1" i="0" spc="60">
                <a:solidFill>
                  <a:srgbClr val="12161C"/>
                </a:solidFill>
                <a:latin typeface="Arial"/>
              </a:rPr>
              <a:t>+100 EP</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6F7A89"/>
                </a:solidFill>
                <a:latin typeface="Arial Narrow"/>
              </a:rPr>
              <a:t>ENERGY LAB  ·  CRASH TEST #05</a:t>
            </a:r>
          </a:p>
        </p:txBody>
      </p:sp>
      <p:sp>
        <p:nvSpPr>
          <p:cNvPr id="6" name="Rectangle 5"/>
          <p:cNvSpPr/>
          <p:nvPr/>
        </p:nvSpPr>
        <p:spPr>
          <a:xfrm>
            <a:off x="4526280" y="6510528"/>
            <a:ext cx="127363" cy="54864"/>
          </a:xfrm>
          <a:prstGeom prst="rect">
            <a:avLst/>
          </a:prstGeom>
          <a:solidFill>
            <a:srgbClr val="8A6A1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8A6A1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8A6A1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8A6A1A"/>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8A6A1A"/>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8A6A1A"/>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8A6A1A"/>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FFB400"/>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2A3240"/>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2A3240"/>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2A3240"/>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2A3240"/>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2A3240"/>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2A3240"/>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6F7A89"/>
                </a:solidFill>
                <a:latin typeface="Arial Narrow"/>
              </a:rPr>
              <a:t>49</a:t>
            </a:fld>
          </a:p>
        </p:txBody>
      </p:sp>
      <p:sp>
        <p:nvSpPr>
          <p:cNvPr id="21" name="TextBox 20"/>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A9B3C0"/>
                </a:solidFill>
                <a:latin typeface="Arial Narrow"/>
              </a:rPr>
              <a:t>STATEMENT 4 / 7   ·   SUPPLEMENTARY</a:t>
            </a:r>
          </a:p>
        </p:txBody>
      </p:sp>
      <p:sp>
        <p:nvSpPr>
          <p:cNvPr id="22" name="TextBox 21"/>
          <p:cNvSpPr txBox="1"/>
          <p:nvPr/>
        </p:nvSpPr>
        <p:spPr>
          <a:xfrm>
            <a:off x="685800" y="1417320"/>
            <a:ext cx="10789920" cy="1828800"/>
          </a:xfrm>
          <a:prstGeom prst="rect">
            <a:avLst/>
          </a:prstGeom>
          <a:noFill/>
        </p:spPr>
        <p:txBody>
          <a:bodyPr wrap="square" anchor="t" lIns="0" rIns="0" tIns="0" bIns="0">
            <a:noAutofit/>
          </a:bodyPr>
          <a:lstStyle/>
          <a:p>
            <a:pPr algn="l">
              <a:lnSpc>
                <a:spcPct val="108000"/>
              </a:lnSpc>
              <a:spcBef>
                <a:spcPts val="0"/>
              </a:spcBef>
              <a:spcAft>
                <a:spcPts val="0"/>
              </a:spcAft>
            </a:pPr>
            <a:r>
              <a:rPr sz="4000" b="1" i="0">
                <a:solidFill>
                  <a:srgbClr val="F4F6F8"/>
                </a:solidFill>
                <a:latin typeface="Arial"/>
              </a:rPr>
              <a:t>“Stretching the seatbelt increases the stopping distance.”</a:t>
            </a:r>
          </a:p>
        </p:txBody>
      </p:sp>
      <p:sp>
        <p:nvSpPr>
          <p:cNvPr id="23" name="Rounded Rectangle 22"/>
          <p:cNvSpPr/>
          <p:nvPr/>
        </p:nvSpPr>
        <p:spPr>
          <a:xfrm>
            <a:off x="685800" y="3703320"/>
            <a:ext cx="10817352" cy="1691640"/>
          </a:xfrm>
          <a:prstGeom prst="roundRect">
            <a:avLst>
              <a:gd name="adj" fmla="val 7567"/>
            </a:avLst>
          </a:prstGeom>
          <a:solidFill>
            <a:srgbClr val="34C77B"/>
          </a:solidFill>
          <a:ln w="19050">
            <a:solidFill>
              <a:srgbClr val="323C4A"/>
            </a:solidFill>
          </a:ln>
        </p:spPr>
        <p:txBody>
          <a:bodyPr rtlCol="0" anchor="ctr"/>
          <a:lstStyle/>
          <a:p>
            <a:pPr algn="ctr"/>
          </a:p>
        </p:txBody>
      </p:sp>
      <p:sp>
        <p:nvSpPr>
          <p:cNvPr id="24" name="TextBox 23"/>
          <p:cNvSpPr txBox="1"/>
          <p:nvPr/>
        </p:nvSpPr>
        <p:spPr>
          <a:xfrm>
            <a:off x="960120" y="3703320"/>
            <a:ext cx="10241280" cy="1691640"/>
          </a:xfrm>
          <a:prstGeom prst="rect">
            <a:avLst/>
          </a:prstGeom>
          <a:noFill/>
        </p:spPr>
        <p:txBody>
          <a:bodyPr wrap="square" anchor="ctr" lIns="0" rIns="0" tIns="0" bIns="0">
            <a:noAutofit/>
          </a:bodyPr>
          <a:lstStyle/>
          <a:p>
            <a:pPr algn="l">
              <a:lnSpc>
                <a:spcPct val="100000"/>
              </a:lnSpc>
              <a:spcBef>
                <a:spcPts val="0"/>
              </a:spcBef>
              <a:spcAft>
                <a:spcPts val="600"/>
              </a:spcAft>
            </a:pPr>
            <a:r>
              <a:rPr sz="3400" b="0" i="0">
                <a:solidFill>
                  <a:srgbClr val="0C1410"/>
                </a:solidFill>
                <a:latin typeface="Arial Black"/>
              </a:rPr>
              <a:t>TRUE</a:t>
            </a:r>
          </a:p>
          <a:p>
            <a:pPr algn="l">
              <a:lnSpc>
                <a:spcPct val="100000"/>
              </a:lnSpc>
              <a:spcBef>
                <a:spcPts val="0"/>
              </a:spcBef>
              <a:spcAft>
                <a:spcPts val="600"/>
              </a:spcAft>
            </a:pPr>
            <a:r>
              <a:rPr sz="2000" b="0" i="0">
                <a:solidFill>
                  <a:srgbClr val="0C1410"/>
                </a:solidFill>
                <a:latin typeface="Arial"/>
              </a:rPr>
              <a:t>Background: 'Stretching seatbelts increase this distance.'</a:t>
            </a:r>
          </a:p>
        </p:txBody>
      </p:sp>
      <p:sp>
        <p:nvSpPr>
          <p:cNvPr id="25" name="Rounded Rectangle 24"/>
          <p:cNvSpPr/>
          <p:nvPr/>
        </p:nvSpPr>
        <p:spPr>
          <a:xfrm>
            <a:off x="685800" y="5532120"/>
            <a:ext cx="2917206" cy="274320"/>
          </a:xfrm>
          <a:prstGeom prst="roundRect">
            <a:avLst>
              <a:gd name="adj" fmla="val 50000"/>
            </a:avLst>
          </a:prstGeom>
          <a:noFill/>
          <a:ln w="19050">
            <a:solidFill>
              <a:srgbClr val="42C3F7"/>
            </a:solidFill>
          </a:ln>
        </p:spPr>
        <p:txBody>
          <a:bodyPr rtlCol="0" anchor="ctr" wrap="square" lIns="0" rIns="0" tIns="0" bIns="0">
            <a:noAutofit/>
          </a:bodyPr>
          <a:lstStyle/>
          <a:p>
            <a:pPr algn="ctr">
              <a:lnSpc>
                <a:spcPct val="100000"/>
              </a:lnSpc>
              <a:spcBef>
                <a:spcPts val="0"/>
              </a:spcBef>
              <a:spcAft>
                <a:spcPts val="0"/>
              </a:spcAft>
            </a:pPr>
            <a:r>
              <a:rPr sz="1300" b="1" i="0" spc="200">
                <a:solidFill>
                  <a:srgbClr val="42C3F7"/>
                </a:solidFill>
                <a:latin typeface="Arial Narrow"/>
              </a:rPr>
              <a:t>REVISION · SUPPLEMENTARY</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A9B3C0"/>
                </a:solidFill>
                <a:latin typeface="Arial Narrow"/>
              </a:rPr>
              <a:t>ACT 3 · CRASH INVESTIGATION</a:t>
            </a:r>
          </a:p>
        </p:txBody>
      </p:sp>
      <p:sp>
        <p:nvSpPr>
          <p:cNvPr id="4" name="Rounded Rectangle 3"/>
          <p:cNvSpPr/>
          <p:nvPr/>
        </p:nvSpPr>
        <p:spPr>
          <a:xfrm>
            <a:off x="10058400" y="274320"/>
            <a:ext cx="1444752" cy="329184"/>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1500" b="1" i="0" spc="60">
                <a:solidFill>
                  <a:srgbClr val="12161C"/>
                </a:solidFill>
                <a:latin typeface="Arial"/>
              </a:rPr>
              <a:t>+100 EP</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6F7A89"/>
                </a:solidFill>
                <a:latin typeface="Arial Narrow"/>
              </a:rPr>
              <a:t>ENERGY LAB  ·  CRASH TEST #05</a:t>
            </a:r>
          </a:p>
        </p:txBody>
      </p:sp>
      <p:sp>
        <p:nvSpPr>
          <p:cNvPr id="6" name="Rectangle 5"/>
          <p:cNvSpPr/>
          <p:nvPr/>
        </p:nvSpPr>
        <p:spPr>
          <a:xfrm>
            <a:off x="4526280" y="6510528"/>
            <a:ext cx="127363" cy="54864"/>
          </a:xfrm>
          <a:prstGeom prst="rect">
            <a:avLst/>
          </a:prstGeom>
          <a:solidFill>
            <a:srgbClr val="8A6A1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8A6A1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8A6A1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8A6A1A"/>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8A6A1A"/>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8A6A1A"/>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8A6A1A"/>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FFB400"/>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2A3240"/>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2A3240"/>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2A3240"/>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2A3240"/>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2A3240"/>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2A3240"/>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6F7A89"/>
                </a:solidFill>
                <a:latin typeface="Arial Narrow"/>
              </a:rPr>
              <a:t>50</a:t>
            </a:fld>
          </a:p>
        </p:txBody>
      </p:sp>
      <p:sp>
        <p:nvSpPr>
          <p:cNvPr id="21" name="TextBox 20"/>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A9B3C0"/>
                </a:solidFill>
                <a:latin typeface="Arial Narrow"/>
              </a:rPr>
              <a:t>STATEMENT 5 / 7   ·   SUPPLEMENTARY</a:t>
            </a:r>
          </a:p>
        </p:txBody>
      </p:sp>
      <p:sp>
        <p:nvSpPr>
          <p:cNvPr id="22" name="TextBox 21"/>
          <p:cNvSpPr txBox="1"/>
          <p:nvPr/>
        </p:nvSpPr>
        <p:spPr>
          <a:xfrm>
            <a:off x="685800" y="1417320"/>
            <a:ext cx="10789920" cy="1828800"/>
          </a:xfrm>
          <a:prstGeom prst="rect">
            <a:avLst/>
          </a:prstGeom>
          <a:noFill/>
        </p:spPr>
        <p:txBody>
          <a:bodyPr wrap="square" anchor="t" lIns="0" rIns="0" tIns="0" bIns="0">
            <a:noAutofit/>
          </a:bodyPr>
          <a:lstStyle/>
          <a:p>
            <a:pPr algn="l">
              <a:lnSpc>
                <a:spcPct val="108000"/>
              </a:lnSpc>
              <a:spcBef>
                <a:spcPts val="0"/>
              </a:spcBef>
              <a:spcAft>
                <a:spcPts val="0"/>
              </a:spcAft>
            </a:pPr>
            <a:r>
              <a:rPr sz="4000" b="1" i="0">
                <a:solidFill>
                  <a:srgbClr val="F4F6F8"/>
                </a:solidFill>
                <a:latin typeface="Arial"/>
              </a:rPr>
              <a:t>“The tests showed an increase in Gs.”</a:t>
            </a:r>
          </a:p>
        </p:txBody>
      </p:sp>
      <p:sp>
        <p:nvSpPr>
          <p:cNvPr id="23" name="Rounded Rectangle 22"/>
          <p:cNvSpPr/>
          <p:nvPr/>
        </p:nvSpPr>
        <p:spPr>
          <a:xfrm>
            <a:off x="685800" y="3703320"/>
            <a:ext cx="5257800" cy="1417320"/>
          </a:xfrm>
          <a:prstGeom prst="roundRect">
            <a:avLst>
              <a:gd name="adj" fmla="val 9032"/>
            </a:avLst>
          </a:prstGeom>
          <a:solidFill>
            <a:srgbClr val="1A2029"/>
          </a:solidFill>
          <a:ln w="19050">
            <a:solidFill>
              <a:srgbClr val="323C4A"/>
            </a:solidFill>
          </a:ln>
        </p:spPr>
        <p:txBody>
          <a:bodyPr rtlCol="0" anchor="ctr"/>
          <a:lstStyle/>
          <a:p>
            <a:pPr algn="ctr"/>
          </a:p>
        </p:txBody>
      </p:sp>
      <p:sp>
        <p:nvSpPr>
          <p:cNvPr id="24" name="Rounded Rectangle 23"/>
          <p:cNvSpPr/>
          <p:nvPr/>
        </p:nvSpPr>
        <p:spPr>
          <a:xfrm>
            <a:off x="1393884" y="3793388"/>
            <a:ext cx="283921" cy="525780"/>
          </a:xfrm>
          <a:prstGeom prst="roundRect">
            <a:avLst>
              <a:gd name="adj" fmla="val 40740"/>
            </a:avLst>
          </a:prstGeom>
          <a:solidFill>
            <a:srgbClr val="F4F6F8"/>
          </a:solidFill>
          <a:ln w="31750">
            <a:solidFill>
              <a:srgbClr val="0E1116"/>
            </a:solidFill>
          </a:ln>
        </p:spPr>
        <p:txBody>
          <a:bodyPr rtlCol="0" anchor="ctr"/>
          <a:lstStyle/>
          <a:p>
            <a:pPr algn="ctr"/>
          </a:p>
        </p:txBody>
      </p:sp>
      <p:sp>
        <p:nvSpPr>
          <p:cNvPr id="25" name="Rounded Rectangle 24"/>
          <p:cNvSpPr/>
          <p:nvPr/>
        </p:nvSpPr>
        <p:spPr>
          <a:xfrm>
            <a:off x="1410919" y="4171950"/>
            <a:ext cx="630936" cy="525780"/>
          </a:xfrm>
          <a:prstGeom prst="roundRect">
            <a:avLst>
              <a:gd name="adj" fmla="val 30000"/>
            </a:avLst>
          </a:prstGeom>
          <a:solidFill>
            <a:srgbClr val="F4F6F8"/>
          </a:solidFill>
          <a:ln w="31750">
            <a:solidFill>
              <a:srgbClr val="0E1116"/>
            </a:solidFill>
          </a:ln>
        </p:spPr>
        <p:txBody>
          <a:bodyPr rtlCol="0" anchor="ctr"/>
          <a:lstStyle/>
          <a:p>
            <a:pPr algn="ctr"/>
          </a:p>
        </p:txBody>
      </p:sp>
      <p:sp>
        <p:nvSpPr>
          <p:cNvPr id="26" name="TextBox 25"/>
          <p:cNvSpPr txBox="1"/>
          <p:nvPr/>
        </p:nvSpPr>
        <p:spPr>
          <a:xfrm>
            <a:off x="2377440" y="3931920"/>
            <a:ext cx="3383280" cy="457200"/>
          </a:xfrm>
          <a:prstGeom prst="rect">
            <a:avLst/>
          </a:prstGeom>
          <a:noFill/>
        </p:spPr>
        <p:txBody>
          <a:bodyPr wrap="square" anchor="t" lIns="0" rIns="0" tIns="0" bIns="0">
            <a:noAutofit/>
          </a:bodyPr>
          <a:lstStyle/>
          <a:p>
            <a:pPr algn="l">
              <a:lnSpc>
                <a:spcPct val="100000"/>
              </a:lnSpc>
              <a:spcBef>
                <a:spcPts val="0"/>
              </a:spcBef>
              <a:spcAft>
                <a:spcPts val="0"/>
              </a:spcAft>
            </a:pPr>
            <a:r>
              <a:rPr sz="2200" b="0" i="0">
                <a:solidFill>
                  <a:srgbClr val="F4F6F8"/>
                </a:solidFill>
                <a:latin typeface="Arial Black"/>
              </a:rPr>
              <a:t>THUMBS UP</a:t>
            </a:r>
          </a:p>
        </p:txBody>
      </p:sp>
      <p:sp>
        <p:nvSpPr>
          <p:cNvPr id="27" name="TextBox 26"/>
          <p:cNvSpPr txBox="1"/>
          <p:nvPr/>
        </p:nvSpPr>
        <p:spPr>
          <a:xfrm>
            <a:off x="2377440" y="4343400"/>
            <a:ext cx="3383280" cy="457200"/>
          </a:xfrm>
          <a:prstGeom prst="rect">
            <a:avLst/>
          </a:prstGeom>
          <a:noFill/>
        </p:spPr>
        <p:txBody>
          <a:bodyPr wrap="square" anchor="t" lIns="0" rIns="0" tIns="0" bIns="0">
            <a:noAutofit/>
          </a:bodyPr>
          <a:lstStyle/>
          <a:p>
            <a:pPr algn="l">
              <a:lnSpc>
                <a:spcPct val="100000"/>
              </a:lnSpc>
              <a:spcBef>
                <a:spcPts val="0"/>
              </a:spcBef>
              <a:spcAft>
                <a:spcPts val="0"/>
              </a:spcAft>
            </a:pPr>
            <a:r>
              <a:rPr sz="2000" b="1" i="0">
                <a:solidFill>
                  <a:srgbClr val="FFB400"/>
                </a:solidFill>
                <a:latin typeface="Arial"/>
              </a:rPr>
              <a:t>= TRUE</a:t>
            </a:r>
          </a:p>
        </p:txBody>
      </p:sp>
      <p:sp>
        <p:nvSpPr>
          <p:cNvPr id="28" name="Rounded Rectangle 27"/>
          <p:cNvSpPr/>
          <p:nvPr/>
        </p:nvSpPr>
        <p:spPr>
          <a:xfrm>
            <a:off x="6217920" y="3703320"/>
            <a:ext cx="5257800" cy="1417320"/>
          </a:xfrm>
          <a:prstGeom prst="roundRect">
            <a:avLst>
              <a:gd name="adj" fmla="val 9032"/>
            </a:avLst>
          </a:prstGeom>
          <a:solidFill>
            <a:srgbClr val="1A2029"/>
          </a:solidFill>
          <a:ln w="19050">
            <a:solidFill>
              <a:srgbClr val="323C4A"/>
            </a:solidFill>
          </a:ln>
        </p:spPr>
        <p:txBody>
          <a:bodyPr rtlCol="0" anchor="ctr"/>
          <a:lstStyle/>
          <a:p>
            <a:pPr algn="ctr"/>
          </a:p>
        </p:txBody>
      </p:sp>
      <p:sp>
        <p:nvSpPr>
          <p:cNvPr id="29" name="Rounded Rectangle 28"/>
          <p:cNvSpPr/>
          <p:nvPr/>
        </p:nvSpPr>
        <p:spPr>
          <a:xfrm>
            <a:off x="6926004" y="4550512"/>
            <a:ext cx="283921" cy="525780"/>
          </a:xfrm>
          <a:prstGeom prst="roundRect">
            <a:avLst>
              <a:gd name="adj" fmla="val 40740"/>
            </a:avLst>
          </a:prstGeom>
          <a:solidFill>
            <a:srgbClr val="F4F6F8"/>
          </a:solidFill>
          <a:ln w="31750">
            <a:solidFill>
              <a:srgbClr val="0E1116"/>
            </a:solidFill>
          </a:ln>
        </p:spPr>
        <p:txBody>
          <a:bodyPr rtlCol="0" anchor="ctr"/>
          <a:lstStyle/>
          <a:p>
            <a:pPr algn="ctr"/>
          </a:p>
        </p:txBody>
      </p:sp>
      <p:sp>
        <p:nvSpPr>
          <p:cNvPr id="30" name="Rounded Rectangle 29"/>
          <p:cNvSpPr/>
          <p:nvPr/>
        </p:nvSpPr>
        <p:spPr>
          <a:xfrm>
            <a:off x="6943039" y="4171950"/>
            <a:ext cx="630936" cy="525780"/>
          </a:xfrm>
          <a:prstGeom prst="roundRect">
            <a:avLst>
              <a:gd name="adj" fmla="val 30000"/>
            </a:avLst>
          </a:prstGeom>
          <a:solidFill>
            <a:srgbClr val="F4F6F8"/>
          </a:solidFill>
          <a:ln w="31750">
            <a:solidFill>
              <a:srgbClr val="0E1116"/>
            </a:solidFill>
          </a:ln>
        </p:spPr>
        <p:txBody>
          <a:bodyPr rtlCol="0" anchor="ctr"/>
          <a:lstStyle/>
          <a:p>
            <a:pPr algn="ctr"/>
          </a:p>
        </p:txBody>
      </p:sp>
      <p:sp>
        <p:nvSpPr>
          <p:cNvPr id="31" name="TextBox 30"/>
          <p:cNvSpPr txBox="1"/>
          <p:nvPr/>
        </p:nvSpPr>
        <p:spPr>
          <a:xfrm>
            <a:off x="7909560" y="3931920"/>
            <a:ext cx="3383280" cy="457200"/>
          </a:xfrm>
          <a:prstGeom prst="rect">
            <a:avLst/>
          </a:prstGeom>
          <a:noFill/>
        </p:spPr>
        <p:txBody>
          <a:bodyPr wrap="square" anchor="t" lIns="0" rIns="0" tIns="0" bIns="0">
            <a:noAutofit/>
          </a:bodyPr>
          <a:lstStyle/>
          <a:p>
            <a:pPr algn="l">
              <a:lnSpc>
                <a:spcPct val="100000"/>
              </a:lnSpc>
              <a:spcBef>
                <a:spcPts val="0"/>
              </a:spcBef>
              <a:spcAft>
                <a:spcPts val="0"/>
              </a:spcAft>
            </a:pPr>
            <a:r>
              <a:rPr sz="2200" b="0" i="0">
                <a:solidFill>
                  <a:srgbClr val="F4F6F8"/>
                </a:solidFill>
                <a:latin typeface="Arial Black"/>
              </a:rPr>
              <a:t>THUMBS DOWN</a:t>
            </a:r>
          </a:p>
        </p:txBody>
      </p:sp>
      <p:sp>
        <p:nvSpPr>
          <p:cNvPr id="32" name="TextBox 31"/>
          <p:cNvSpPr txBox="1"/>
          <p:nvPr/>
        </p:nvSpPr>
        <p:spPr>
          <a:xfrm>
            <a:off x="7909560" y="4343400"/>
            <a:ext cx="3383280" cy="457200"/>
          </a:xfrm>
          <a:prstGeom prst="rect">
            <a:avLst/>
          </a:prstGeom>
          <a:noFill/>
        </p:spPr>
        <p:txBody>
          <a:bodyPr wrap="square" anchor="t" lIns="0" rIns="0" tIns="0" bIns="0">
            <a:noAutofit/>
          </a:bodyPr>
          <a:lstStyle/>
          <a:p>
            <a:pPr algn="l">
              <a:lnSpc>
                <a:spcPct val="100000"/>
              </a:lnSpc>
              <a:spcBef>
                <a:spcPts val="0"/>
              </a:spcBef>
              <a:spcAft>
                <a:spcPts val="0"/>
              </a:spcAft>
            </a:pPr>
            <a:r>
              <a:rPr sz="2000" b="1" i="0">
                <a:solidFill>
                  <a:srgbClr val="FFB400"/>
                </a:solidFill>
                <a:latin typeface="Arial"/>
              </a:rPr>
              <a:t>= FALSE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A9B3C0"/>
                </a:solidFill>
                <a:latin typeface="Arial Narrow"/>
              </a:rPr>
              <a:t>ACT 3 · CRASH INVESTIGATION</a:t>
            </a:r>
          </a:p>
        </p:txBody>
      </p:sp>
      <p:sp>
        <p:nvSpPr>
          <p:cNvPr id="4" name="Rounded Rectangle 3"/>
          <p:cNvSpPr/>
          <p:nvPr/>
        </p:nvSpPr>
        <p:spPr>
          <a:xfrm>
            <a:off x="10058400" y="274320"/>
            <a:ext cx="1444752" cy="329184"/>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1500" b="1" i="0" spc="60">
                <a:solidFill>
                  <a:srgbClr val="12161C"/>
                </a:solidFill>
                <a:latin typeface="Arial"/>
              </a:rPr>
              <a:t>+100 EP</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6F7A89"/>
                </a:solidFill>
                <a:latin typeface="Arial Narrow"/>
              </a:rPr>
              <a:t>ENERGY LAB  ·  CRASH TEST #05</a:t>
            </a:r>
          </a:p>
        </p:txBody>
      </p:sp>
      <p:sp>
        <p:nvSpPr>
          <p:cNvPr id="6" name="Rectangle 5"/>
          <p:cNvSpPr/>
          <p:nvPr/>
        </p:nvSpPr>
        <p:spPr>
          <a:xfrm>
            <a:off x="4526280" y="6510528"/>
            <a:ext cx="127363" cy="54864"/>
          </a:xfrm>
          <a:prstGeom prst="rect">
            <a:avLst/>
          </a:prstGeom>
          <a:solidFill>
            <a:srgbClr val="8A6A1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8A6A1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8A6A1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8A6A1A"/>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8A6A1A"/>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8A6A1A"/>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8A6A1A"/>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FFB400"/>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2A3240"/>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2A3240"/>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2A3240"/>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2A3240"/>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2A3240"/>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2A3240"/>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6F7A89"/>
                </a:solidFill>
                <a:latin typeface="Arial Narrow"/>
              </a:rPr>
              <a:t>51</a:t>
            </a:fld>
          </a:p>
        </p:txBody>
      </p:sp>
      <p:sp>
        <p:nvSpPr>
          <p:cNvPr id="21" name="TextBox 20"/>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A9B3C0"/>
                </a:solidFill>
                <a:latin typeface="Arial Narrow"/>
              </a:rPr>
              <a:t>STATEMENT 5 / 7   ·   SUPPLEMENTARY</a:t>
            </a:r>
          </a:p>
        </p:txBody>
      </p:sp>
      <p:sp>
        <p:nvSpPr>
          <p:cNvPr id="22" name="TextBox 21"/>
          <p:cNvSpPr txBox="1"/>
          <p:nvPr/>
        </p:nvSpPr>
        <p:spPr>
          <a:xfrm>
            <a:off x="685800" y="1417320"/>
            <a:ext cx="10789920" cy="1828800"/>
          </a:xfrm>
          <a:prstGeom prst="rect">
            <a:avLst/>
          </a:prstGeom>
          <a:noFill/>
        </p:spPr>
        <p:txBody>
          <a:bodyPr wrap="square" anchor="t" lIns="0" rIns="0" tIns="0" bIns="0">
            <a:noAutofit/>
          </a:bodyPr>
          <a:lstStyle/>
          <a:p>
            <a:pPr algn="l">
              <a:lnSpc>
                <a:spcPct val="108000"/>
              </a:lnSpc>
              <a:spcBef>
                <a:spcPts val="0"/>
              </a:spcBef>
              <a:spcAft>
                <a:spcPts val="0"/>
              </a:spcAft>
            </a:pPr>
            <a:r>
              <a:rPr sz="4000" b="1" i="0">
                <a:solidFill>
                  <a:srgbClr val="F4F6F8"/>
                </a:solidFill>
                <a:latin typeface="Arial"/>
              </a:rPr>
              <a:t>“The tests showed an increase in Gs.”</a:t>
            </a:r>
          </a:p>
        </p:txBody>
      </p:sp>
      <p:sp>
        <p:nvSpPr>
          <p:cNvPr id="23" name="Rounded Rectangle 22"/>
          <p:cNvSpPr/>
          <p:nvPr/>
        </p:nvSpPr>
        <p:spPr>
          <a:xfrm>
            <a:off x="685800" y="3703320"/>
            <a:ext cx="10817352" cy="1691640"/>
          </a:xfrm>
          <a:prstGeom prst="roundRect">
            <a:avLst>
              <a:gd name="adj" fmla="val 7567"/>
            </a:avLst>
          </a:prstGeom>
          <a:solidFill>
            <a:srgbClr val="F0525A"/>
          </a:solidFill>
          <a:ln w="19050">
            <a:solidFill>
              <a:srgbClr val="323C4A"/>
            </a:solidFill>
          </a:ln>
        </p:spPr>
        <p:txBody>
          <a:bodyPr rtlCol="0" anchor="ctr"/>
          <a:lstStyle/>
          <a:p>
            <a:pPr algn="ctr"/>
          </a:p>
        </p:txBody>
      </p:sp>
      <p:sp>
        <p:nvSpPr>
          <p:cNvPr id="24" name="TextBox 23"/>
          <p:cNvSpPr txBox="1"/>
          <p:nvPr/>
        </p:nvSpPr>
        <p:spPr>
          <a:xfrm>
            <a:off x="960120" y="3703320"/>
            <a:ext cx="10241280" cy="1691640"/>
          </a:xfrm>
          <a:prstGeom prst="rect">
            <a:avLst/>
          </a:prstGeom>
          <a:noFill/>
        </p:spPr>
        <p:txBody>
          <a:bodyPr wrap="square" anchor="ctr" lIns="0" rIns="0" tIns="0" bIns="0">
            <a:noAutofit/>
          </a:bodyPr>
          <a:lstStyle/>
          <a:p>
            <a:pPr algn="l">
              <a:lnSpc>
                <a:spcPct val="100000"/>
              </a:lnSpc>
              <a:spcBef>
                <a:spcPts val="0"/>
              </a:spcBef>
              <a:spcAft>
                <a:spcPts val="600"/>
              </a:spcAft>
            </a:pPr>
            <a:r>
              <a:rPr sz="3400" b="0" i="0">
                <a:solidFill>
                  <a:srgbClr val="FFFFFF"/>
                </a:solidFill>
                <a:latin typeface="Arial Black"/>
              </a:rPr>
              <a:t>FALSE</a:t>
            </a:r>
          </a:p>
          <a:p>
            <a:pPr algn="l">
              <a:lnSpc>
                <a:spcPct val="100000"/>
              </a:lnSpc>
              <a:spcBef>
                <a:spcPts val="0"/>
              </a:spcBef>
              <a:spcAft>
                <a:spcPts val="600"/>
              </a:spcAft>
            </a:pPr>
            <a:r>
              <a:rPr sz="2000" b="0" i="0">
                <a:solidFill>
                  <a:srgbClr val="FFFFFF"/>
                </a:solidFill>
                <a:latin typeface="Arial"/>
              </a:rPr>
              <a:t>Results: stretching seatbelts REDUCE the force and Gs that passengers feel.</a:t>
            </a:r>
          </a:p>
        </p:txBody>
      </p:sp>
      <p:sp>
        <p:nvSpPr>
          <p:cNvPr id="25" name="Rounded Rectangle 24"/>
          <p:cNvSpPr/>
          <p:nvPr/>
        </p:nvSpPr>
        <p:spPr>
          <a:xfrm>
            <a:off x="685800" y="5532120"/>
            <a:ext cx="2917206" cy="274320"/>
          </a:xfrm>
          <a:prstGeom prst="roundRect">
            <a:avLst>
              <a:gd name="adj" fmla="val 50000"/>
            </a:avLst>
          </a:prstGeom>
          <a:noFill/>
          <a:ln w="19050">
            <a:solidFill>
              <a:srgbClr val="42C3F7"/>
            </a:solidFill>
          </a:ln>
        </p:spPr>
        <p:txBody>
          <a:bodyPr rtlCol="0" anchor="ctr" wrap="square" lIns="0" rIns="0" tIns="0" bIns="0">
            <a:noAutofit/>
          </a:bodyPr>
          <a:lstStyle/>
          <a:p>
            <a:pPr algn="ctr">
              <a:lnSpc>
                <a:spcPct val="100000"/>
              </a:lnSpc>
              <a:spcBef>
                <a:spcPts val="0"/>
              </a:spcBef>
              <a:spcAft>
                <a:spcPts val="0"/>
              </a:spcAft>
            </a:pPr>
            <a:r>
              <a:rPr sz="1300" b="1" i="0" spc="200">
                <a:solidFill>
                  <a:srgbClr val="42C3F7"/>
                </a:solidFill>
                <a:latin typeface="Arial Narrow"/>
              </a:rPr>
              <a:t>REVISION · SUPPLEMENTARY</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A9B3C0"/>
                </a:solidFill>
                <a:latin typeface="Arial Narrow"/>
              </a:rPr>
              <a:t>ACT 3 · CRASH INVESTIGATION</a:t>
            </a:r>
          </a:p>
        </p:txBody>
      </p:sp>
      <p:sp>
        <p:nvSpPr>
          <p:cNvPr id="4" name="Rounded Rectangle 3"/>
          <p:cNvSpPr/>
          <p:nvPr/>
        </p:nvSpPr>
        <p:spPr>
          <a:xfrm>
            <a:off x="10058400" y="274320"/>
            <a:ext cx="1444752" cy="329184"/>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1500" b="1" i="0" spc="60">
                <a:solidFill>
                  <a:srgbClr val="12161C"/>
                </a:solidFill>
                <a:latin typeface="Arial"/>
              </a:rPr>
              <a:t>+100 EP</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6F7A89"/>
                </a:solidFill>
                <a:latin typeface="Arial Narrow"/>
              </a:rPr>
              <a:t>ENERGY LAB  ·  CRASH TEST #05</a:t>
            </a:r>
          </a:p>
        </p:txBody>
      </p:sp>
      <p:sp>
        <p:nvSpPr>
          <p:cNvPr id="6" name="Rectangle 5"/>
          <p:cNvSpPr/>
          <p:nvPr/>
        </p:nvSpPr>
        <p:spPr>
          <a:xfrm>
            <a:off x="4526280" y="6510528"/>
            <a:ext cx="127363" cy="54864"/>
          </a:xfrm>
          <a:prstGeom prst="rect">
            <a:avLst/>
          </a:prstGeom>
          <a:solidFill>
            <a:srgbClr val="8A6A1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8A6A1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8A6A1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8A6A1A"/>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8A6A1A"/>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8A6A1A"/>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8A6A1A"/>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FFB400"/>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2A3240"/>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2A3240"/>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2A3240"/>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2A3240"/>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2A3240"/>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2A3240"/>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6F7A89"/>
                </a:solidFill>
                <a:latin typeface="Arial Narrow"/>
              </a:rPr>
              <a:t>52</a:t>
            </a:fld>
          </a:p>
        </p:txBody>
      </p:sp>
      <p:sp>
        <p:nvSpPr>
          <p:cNvPr id="21" name="TextBox 20"/>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A9B3C0"/>
                </a:solidFill>
                <a:latin typeface="Arial Narrow"/>
              </a:rPr>
              <a:t>STATEMENT 6 / 7   ·   SUPPLEMENTARY</a:t>
            </a:r>
          </a:p>
        </p:txBody>
      </p:sp>
      <p:sp>
        <p:nvSpPr>
          <p:cNvPr id="22" name="TextBox 21"/>
          <p:cNvSpPr txBox="1"/>
          <p:nvPr/>
        </p:nvSpPr>
        <p:spPr>
          <a:xfrm>
            <a:off x="685800" y="1417320"/>
            <a:ext cx="10789920" cy="1828800"/>
          </a:xfrm>
          <a:prstGeom prst="rect">
            <a:avLst/>
          </a:prstGeom>
          <a:noFill/>
        </p:spPr>
        <p:txBody>
          <a:bodyPr wrap="square" anchor="t" lIns="0" rIns="0" tIns="0" bIns="0">
            <a:noAutofit/>
          </a:bodyPr>
          <a:lstStyle/>
          <a:p>
            <a:pPr algn="l">
              <a:lnSpc>
                <a:spcPct val="108000"/>
              </a:lnSpc>
              <a:spcBef>
                <a:spcPts val="0"/>
              </a:spcBef>
              <a:spcAft>
                <a:spcPts val="0"/>
              </a:spcAft>
            </a:pPr>
            <a:r>
              <a:rPr sz="4000" b="1" i="0">
                <a:solidFill>
                  <a:srgbClr val="F4F6F8"/>
                </a:solidFill>
                <a:latin typeface="Arial"/>
              </a:rPr>
              <a:t>“With non-stretching seatbelts, the stopping distance is long.”</a:t>
            </a:r>
          </a:p>
        </p:txBody>
      </p:sp>
      <p:sp>
        <p:nvSpPr>
          <p:cNvPr id="23" name="Rounded Rectangle 22"/>
          <p:cNvSpPr/>
          <p:nvPr/>
        </p:nvSpPr>
        <p:spPr>
          <a:xfrm>
            <a:off x="685800" y="3703320"/>
            <a:ext cx="5257800" cy="1417320"/>
          </a:xfrm>
          <a:prstGeom prst="roundRect">
            <a:avLst>
              <a:gd name="adj" fmla="val 9032"/>
            </a:avLst>
          </a:prstGeom>
          <a:solidFill>
            <a:srgbClr val="1A2029"/>
          </a:solidFill>
          <a:ln w="19050">
            <a:solidFill>
              <a:srgbClr val="323C4A"/>
            </a:solidFill>
          </a:ln>
        </p:spPr>
        <p:txBody>
          <a:bodyPr rtlCol="0" anchor="ctr"/>
          <a:lstStyle/>
          <a:p>
            <a:pPr algn="ctr"/>
          </a:p>
        </p:txBody>
      </p:sp>
      <p:sp>
        <p:nvSpPr>
          <p:cNvPr id="24" name="Rounded Rectangle 23"/>
          <p:cNvSpPr/>
          <p:nvPr/>
        </p:nvSpPr>
        <p:spPr>
          <a:xfrm>
            <a:off x="1393884" y="3793388"/>
            <a:ext cx="283921" cy="525780"/>
          </a:xfrm>
          <a:prstGeom prst="roundRect">
            <a:avLst>
              <a:gd name="adj" fmla="val 40740"/>
            </a:avLst>
          </a:prstGeom>
          <a:solidFill>
            <a:srgbClr val="F4F6F8"/>
          </a:solidFill>
          <a:ln w="31750">
            <a:solidFill>
              <a:srgbClr val="0E1116"/>
            </a:solidFill>
          </a:ln>
        </p:spPr>
        <p:txBody>
          <a:bodyPr rtlCol="0" anchor="ctr"/>
          <a:lstStyle/>
          <a:p>
            <a:pPr algn="ctr"/>
          </a:p>
        </p:txBody>
      </p:sp>
      <p:sp>
        <p:nvSpPr>
          <p:cNvPr id="25" name="Rounded Rectangle 24"/>
          <p:cNvSpPr/>
          <p:nvPr/>
        </p:nvSpPr>
        <p:spPr>
          <a:xfrm>
            <a:off x="1410919" y="4171950"/>
            <a:ext cx="630936" cy="525780"/>
          </a:xfrm>
          <a:prstGeom prst="roundRect">
            <a:avLst>
              <a:gd name="adj" fmla="val 30000"/>
            </a:avLst>
          </a:prstGeom>
          <a:solidFill>
            <a:srgbClr val="F4F6F8"/>
          </a:solidFill>
          <a:ln w="31750">
            <a:solidFill>
              <a:srgbClr val="0E1116"/>
            </a:solidFill>
          </a:ln>
        </p:spPr>
        <p:txBody>
          <a:bodyPr rtlCol="0" anchor="ctr"/>
          <a:lstStyle/>
          <a:p>
            <a:pPr algn="ctr"/>
          </a:p>
        </p:txBody>
      </p:sp>
      <p:sp>
        <p:nvSpPr>
          <p:cNvPr id="26" name="TextBox 25"/>
          <p:cNvSpPr txBox="1"/>
          <p:nvPr/>
        </p:nvSpPr>
        <p:spPr>
          <a:xfrm>
            <a:off x="2377440" y="3931920"/>
            <a:ext cx="3383280" cy="457200"/>
          </a:xfrm>
          <a:prstGeom prst="rect">
            <a:avLst/>
          </a:prstGeom>
          <a:noFill/>
        </p:spPr>
        <p:txBody>
          <a:bodyPr wrap="square" anchor="t" lIns="0" rIns="0" tIns="0" bIns="0">
            <a:noAutofit/>
          </a:bodyPr>
          <a:lstStyle/>
          <a:p>
            <a:pPr algn="l">
              <a:lnSpc>
                <a:spcPct val="100000"/>
              </a:lnSpc>
              <a:spcBef>
                <a:spcPts val="0"/>
              </a:spcBef>
              <a:spcAft>
                <a:spcPts val="0"/>
              </a:spcAft>
            </a:pPr>
            <a:r>
              <a:rPr sz="2200" b="0" i="0">
                <a:solidFill>
                  <a:srgbClr val="F4F6F8"/>
                </a:solidFill>
                <a:latin typeface="Arial Black"/>
              </a:rPr>
              <a:t>THUMBS UP</a:t>
            </a:r>
          </a:p>
        </p:txBody>
      </p:sp>
      <p:sp>
        <p:nvSpPr>
          <p:cNvPr id="27" name="TextBox 26"/>
          <p:cNvSpPr txBox="1"/>
          <p:nvPr/>
        </p:nvSpPr>
        <p:spPr>
          <a:xfrm>
            <a:off x="2377440" y="4343400"/>
            <a:ext cx="3383280" cy="457200"/>
          </a:xfrm>
          <a:prstGeom prst="rect">
            <a:avLst/>
          </a:prstGeom>
          <a:noFill/>
        </p:spPr>
        <p:txBody>
          <a:bodyPr wrap="square" anchor="t" lIns="0" rIns="0" tIns="0" bIns="0">
            <a:noAutofit/>
          </a:bodyPr>
          <a:lstStyle/>
          <a:p>
            <a:pPr algn="l">
              <a:lnSpc>
                <a:spcPct val="100000"/>
              </a:lnSpc>
              <a:spcBef>
                <a:spcPts val="0"/>
              </a:spcBef>
              <a:spcAft>
                <a:spcPts val="0"/>
              </a:spcAft>
            </a:pPr>
            <a:r>
              <a:rPr sz="2000" b="1" i="0">
                <a:solidFill>
                  <a:srgbClr val="FFB400"/>
                </a:solidFill>
                <a:latin typeface="Arial"/>
              </a:rPr>
              <a:t>= TRUE</a:t>
            </a:r>
          </a:p>
        </p:txBody>
      </p:sp>
      <p:sp>
        <p:nvSpPr>
          <p:cNvPr id="28" name="Rounded Rectangle 27"/>
          <p:cNvSpPr/>
          <p:nvPr/>
        </p:nvSpPr>
        <p:spPr>
          <a:xfrm>
            <a:off x="6217920" y="3703320"/>
            <a:ext cx="5257800" cy="1417320"/>
          </a:xfrm>
          <a:prstGeom prst="roundRect">
            <a:avLst>
              <a:gd name="adj" fmla="val 9032"/>
            </a:avLst>
          </a:prstGeom>
          <a:solidFill>
            <a:srgbClr val="1A2029"/>
          </a:solidFill>
          <a:ln w="19050">
            <a:solidFill>
              <a:srgbClr val="323C4A"/>
            </a:solidFill>
          </a:ln>
        </p:spPr>
        <p:txBody>
          <a:bodyPr rtlCol="0" anchor="ctr"/>
          <a:lstStyle/>
          <a:p>
            <a:pPr algn="ctr"/>
          </a:p>
        </p:txBody>
      </p:sp>
      <p:sp>
        <p:nvSpPr>
          <p:cNvPr id="29" name="Rounded Rectangle 28"/>
          <p:cNvSpPr/>
          <p:nvPr/>
        </p:nvSpPr>
        <p:spPr>
          <a:xfrm>
            <a:off x="6926004" y="4550512"/>
            <a:ext cx="283921" cy="525780"/>
          </a:xfrm>
          <a:prstGeom prst="roundRect">
            <a:avLst>
              <a:gd name="adj" fmla="val 40740"/>
            </a:avLst>
          </a:prstGeom>
          <a:solidFill>
            <a:srgbClr val="F4F6F8"/>
          </a:solidFill>
          <a:ln w="31750">
            <a:solidFill>
              <a:srgbClr val="0E1116"/>
            </a:solidFill>
          </a:ln>
        </p:spPr>
        <p:txBody>
          <a:bodyPr rtlCol="0" anchor="ctr"/>
          <a:lstStyle/>
          <a:p>
            <a:pPr algn="ctr"/>
          </a:p>
        </p:txBody>
      </p:sp>
      <p:sp>
        <p:nvSpPr>
          <p:cNvPr id="30" name="Rounded Rectangle 29"/>
          <p:cNvSpPr/>
          <p:nvPr/>
        </p:nvSpPr>
        <p:spPr>
          <a:xfrm>
            <a:off x="6943039" y="4171950"/>
            <a:ext cx="630936" cy="525780"/>
          </a:xfrm>
          <a:prstGeom prst="roundRect">
            <a:avLst>
              <a:gd name="adj" fmla="val 30000"/>
            </a:avLst>
          </a:prstGeom>
          <a:solidFill>
            <a:srgbClr val="F4F6F8"/>
          </a:solidFill>
          <a:ln w="31750">
            <a:solidFill>
              <a:srgbClr val="0E1116"/>
            </a:solidFill>
          </a:ln>
        </p:spPr>
        <p:txBody>
          <a:bodyPr rtlCol="0" anchor="ctr"/>
          <a:lstStyle/>
          <a:p>
            <a:pPr algn="ctr"/>
          </a:p>
        </p:txBody>
      </p:sp>
      <p:sp>
        <p:nvSpPr>
          <p:cNvPr id="31" name="TextBox 30"/>
          <p:cNvSpPr txBox="1"/>
          <p:nvPr/>
        </p:nvSpPr>
        <p:spPr>
          <a:xfrm>
            <a:off x="7909560" y="3931920"/>
            <a:ext cx="3383280" cy="457200"/>
          </a:xfrm>
          <a:prstGeom prst="rect">
            <a:avLst/>
          </a:prstGeom>
          <a:noFill/>
        </p:spPr>
        <p:txBody>
          <a:bodyPr wrap="square" anchor="t" lIns="0" rIns="0" tIns="0" bIns="0">
            <a:noAutofit/>
          </a:bodyPr>
          <a:lstStyle/>
          <a:p>
            <a:pPr algn="l">
              <a:lnSpc>
                <a:spcPct val="100000"/>
              </a:lnSpc>
              <a:spcBef>
                <a:spcPts val="0"/>
              </a:spcBef>
              <a:spcAft>
                <a:spcPts val="0"/>
              </a:spcAft>
            </a:pPr>
            <a:r>
              <a:rPr sz="2200" b="0" i="0">
                <a:solidFill>
                  <a:srgbClr val="F4F6F8"/>
                </a:solidFill>
                <a:latin typeface="Arial Black"/>
              </a:rPr>
              <a:t>THUMBS DOWN</a:t>
            </a:r>
          </a:p>
        </p:txBody>
      </p:sp>
      <p:sp>
        <p:nvSpPr>
          <p:cNvPr id="32" name="TextBox 31"/>
          <p:cNvSpPr txBox="1"/>
          <p:nvPr/>
        </p:nvSpPr>
        <p:spPr>
          <a:xfrm>
            <a:off x="7909560" y="4343400"/>
            <a:ext cx="3383280" cy="457200"/>
          </a:xfrm>
          <a:prstGeom prst="rect">
            <a:avLst/>
          </a:prstGeom>
          <a:noFill/>
        </p:spPr>
        <p:txBody>
          <a:bodyPr wrap="square" anchor="t" lIns="0" rIns="0" tIns="0" bIns="0">
            <a:noAutofit/>
          </a:bodyPr>
          <a:lstStyle/>
          <a:p>
            <a:pPr algn="l">
              <a:lnSpc>
                <a:spcPct val="100000"/>
              </a:lnSpc>
              <a:spcBef>
                <a:spcPts val="0"/>
              </a:spcBef>
              <a:spcAft>
                <a:spcPts val="0"/>
              </a:spcAft>
            </a:pPr>
            <a:r>
              <a:rPr sz="2000" b="1" i="0">
                <a:solidFill>
                  <a:srgbClr val="FFB400"/>
                </a:solidFill>
                <a:latin typeface="Arial"/>
              </a:rPr>
              <a:t>= FALSE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A9B3C0"/>
                </a:solidFill>
                <a:latin typeface="Arial Narrow"/>
              </a:rPr>
              <a:t>ACT 3 · CRASH INVESTIGATION</a:t>
            </a:r>
          </a:p>
        </p:txBody>
      </p:sp>
      <p:sp>
        <p:nvSpPr>
          <p:cNvPr id="4" name="Rounded Rectangle 3"/>
          <p:cNvSpPr/>
          <p:nvPr/>
        </p:nvSpPr>
        <p:spPr>
          <a:xfrm>
            <a:off x="10058400" y="274320"/>
            <a:ext cx="1444752" cy="329184"/>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1500" b="1" i="0" spc="60">
                <a:solidFill>
                  <a:srgbClr val="12161C"/>
                </a:solidFill>
                <a:latin typeface="Arial"/>
              </a:rPr>
              <a:t>+100 EP</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6F7A89"/>
                </a:solidFill>
                <a:latin typeface="Arial Narrow"/>
              </a:rPr>
              <a:t>ENERGY LAB  ·  CRASH TEST #05</a:t>
            </a:r>
          </a:p>
        </p:txBody>
      </p:sp>
      <p:sp>
        <p:nvSpPr>
          <p:cNvPr id="6" name="Rectangle 5"/>
          <p:cNvSpPr/>
          <p:nvPr/>
        </p:nvSpPr>
        <p:spPr>
          <a:xfrm>
            <a:off x="4526280" y="6510528"/>
            <a:ext cx="127363" cy="54864"/>
          </a:xfrm>
          <a:prstGeom prst="rect">
            <a:avLst/>
          </a:prstGeom>
          <a:solidFill>
            <a:srgbClr val="8A6A1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8A6A1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8A6A1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8A6A1A"/>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8A6A1A"/>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8A6A1A"/>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8A6A1A"/>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FFB400"/>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2A3240"/>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2A3240"/>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2A3240"/>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2A3240"/>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2A3240"/>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2A3240"/>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6F7A89"/>
                </a:solidFill>
                <a:latin typeface="Arial Narrow"/>
              </a:rPr>
              <a:t>53</a:t>
            </a:fld>
          </a:p>
        </p:txBody>
      </p:sp>
      <p:sp>
        <p:nvSpPr>
          <p:cNvPr id="21" name="TextBox 20"/>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A9B3C0"/>
                </a:solidFill>
                <a:latin typeface="Arial Narrow"/>
              </a:rPr>
              <a:t>STATEMENT 6 / 7   ·   SUPPLEMENTARY</a:t>
            </a:r>
          </a:p>
        </p:txBody>
      </p:sp>
      <p:sp>
        <p:nvSpPr>
          <p:cNvPr id="22" name="TextBox 21"/>
          <p:cNvSpPr txBox="1"/>
          <p:nvPr/>
        </p:nvSpPr>
        <p:spPr>
          <a:xfrm>
            <a:off x="685800" y="1417320"/>
            <a:ext cx="10789920" cy="1828800"/>
          </a:xfrm>
          <a:prstGeom prst="rect">
            <a:avLst/>
          </a:prstGeom>
          <a:noFill/>
        </p:spPr>
        <p:txBody>
          <a:bodyPr wrap="square" anchor="t" lIns="0" rIns="0" tIns="0" bIns="0">
            <a:noAutofit/>
          </a:bodyPr>
          <a:lstStyle/>
          <a:p>
            <a:pPr algn="l">
              <a:lnSpc>
                <a:spcPct val="108000"/>
              </a:lnSpc>
              <a:spcBef>
                <a:spcPts val="0"/>
              </a:spcBef>
              <a:spcAft>
                <a:spcPts val="0"/>
              </a:spcAft>
            </a:pPr>
            <a:r>
              <a:rPr sz="4000" b="1" i="0">
                <a:solidFill>
                  <a:srgbClr val="F4F6F8"/>
                </a:solidFill>
                <a:latin typeface="Arial"/>
              </a:rPr>
              <a:t>“With non-stretching seatbelts, the stopping distance is long.”</a:t>
            </a:r>
          </a:p>
        </p:txBody>
      </p:sp>
      <p:sp>
        <p:nvSpPr>
          <p:cNvPr id="23" name="Rounded Rectangle 22"/>
          <p:cNvSpPr/>
          <p:nvPr/>
        </p:nvSpPr>
        <p:spPr>
          <a:xfrm>
            <a:off x="685800" y="3703320"/>
            <a:ext cx="10817352" cy="1691640"/>
          </a:xfrm>
          <a:prstGeom prst="roundRect">
            <a:avLst>
              <a:gd name="adj" fmla="val 7567"/>
            </a:avLst>
          </a:prstGeom>
          <a:solidFill>
            <a:srgbClr val="F0525A"/>
          </a:solidFill>
          <a:ln w="19050">
            <a:solidFill>
              <a:srgbClr val="323C4A"/>
            </a:solidFill>
          </a:ln>
        </p:spPr>
        <p:txBody>
          <a:bodyPr rtlCol="0" anchor="ctr"/>
          <a:lstStyle/>
          <a:p>
            <a:pPr algn="ctr"/>
          </a:p>
        </p:txBody>
      </p:sp>
      <p:sp>
        <p:nvSpPr>
          <p:cNvPr id="24" name="TextBox 23"/>
          <p:cNvSpPr txBox="1"/>
          <p:nvPr/>
        </p:nvSpPr>
        <p:spPr>
          <a:xfrm>
            <a:off x="960120" y="3703320"/>
            <a:ext cx="10241280" cy="1691640"/>
          </a:xfrm>
          <a:prstGeom prst="rect">
            <a:avLst/>
          </a:prstGeom>
          <a:noFill/>
        </p:spPr>
        <p:txBody>
          <a:bodyPr wrap="square" anchor="ctr" lIns="0" rIns="0" tIns="0" bIns="0">
            <a:noAutofit/>
          </a:bodyPr>
          <a:lstStyle/>
          <a:p>
            <a:pPr algn="l">
              <a:lnSpc>
                <a:spcPct val="100000"/>
              </a:lnSpc>
              <a:spcBef>
                <a:spcPts val="0"/>
              </a:spcBef>
              <a:spcAft>
                <a:spcPts val="600"/>
              </a:spcAft>
            </a:pPr>
            <a:r>
              <a:rPr sz="3400" b="0" i="0">
                <a:solidFill>
                  <a:srgbClr val="FFFFFF"/>
                </a:solidFill>
                <a:latin typeface="Arial Black"/>
              </a:rPr>
              <a:t>FALSE</a:t>
            </a:r>
          </a:p>
          <a:p>
            <a:pPr algn="l">
              <a:lnSpc>
                <a:spcPct val="100000"/>
              </a:lnSpc>
              <a:spcBef>
                <a:spcPts val="0"/>
              </a:spcBef>
              <a:spcAft>
                <a:spcPts val="600"/>
              </a:spcAft>
            </a:pPr>
            <a:r>
              <a:rPr sz="2000" b="0" i="0">
                <a:solidFill>
                  <a:srgbClr val="FFFFFF"/>
                </a:solidFill>
                <a:latin typeface="Arial"/>
              </a:rPr>
              <a:t>Background: with non-stretching seatbelts the stopping distance is SHORT.</a:t>
            </a:r>
          </a:p>
        </p:txBody>
      </p:sp>
      <p:sp>
        <p:nvSpPr>
          <p:cNvPr id="25" name="Rounded Rectangle 24"/>
          <p:cNvSpPr/>
          <p:nvPr/>
        </p:nvSpPr>
        <p:spPr>
          <a:xfrm>
            <a:off x="685800" y="5532120"/>
            <a:ext cx="2917206" cy="274320"/>
          </a:xfrm>
          <a:prstGeom prst="roundRect">
            <a:avLst>
              <a:gd name="adj" fmla="val 50000"/>
            </a:avLst>
          </a:prstGeom>
          <a:noFill/>
          <a:ln w="19050">
            <a:solidFill>
              <a:srgbClr val="42C3F7"/>
            </a:solidFill>
          </a:ln>
        </p:spPr>
        <p:txBody>
          <a:bodyPr rtlCol="0" anchor="ctr" wrap="square" lIns="0" rIns="0" tIns="0" bIns="0">
            <a:noAutofit/>
          </a:bodyPr>
          <a:lstStyle/>
          <a:p>
            <a:pPr algn="ctr">
              <a:lnSpc>
                <a:spcPct val="100000"/>
              </a:lnSpc>
              <a:spcBef>
                <a:spcPts val="0"/>
              </a:spcBef>
              <a:spcAft>
                <a:spcPts val="0"/>
              </a:spcAft>
            </a:pPr>
            <a:r>
              <a:rPr sz="1300" b="1" i="0" spc="200">
                <a:solidFill>
                  <a:srgbClr val="42C3F7"/>
                </a:solidFill>
                <a:latin typeface="Arial Narrow"/>
              </a:rPr>
              <a:t>REVISION · SUPPLEMENTARY</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A9B3C0"/>
                </a:solidFill>
                <a:latin typeface="Arial Narrow"/>
              </a:rPr>
              <a:t>ACT 3 · CRASH INVESTIGATION</a:t>
            </a:r>
          </a:p>
        </p:txBody>
      </p:sp>
      <p:sp>
        <p:nvSpPr>
          <p:cNvPr id="4" name="Rounded Rectangle 3"/>
          <p:cNvSpPr/>
          <p:nvPr/>
        </p:nvSpPr>
        <p:spPr>
          <a:xfrm>
            <a:off x="10058400" y="274320"/>
            <a:ext cx="1444752" cy="329184"/>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1500" b="1" i="0" spc="60">
                <a:solidFill>
                  <a:srgbClr val="12161C"/>
                </a:solidFill>
                <a:latin typeface="Arial"/>
              </a:rPr>
              <a:t>+100 EP</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6F7A89"/>
                </a:solidFill>
                <a:latin typeface="Arial Narrow"/>
              </a:rPr>
              <a:t>ENERGY LAB  ·  CRASH TEST #05</a:t>
            </a:r>
          </a:p>
        </p:txBody>
      </p:sp>
      <p:sp>
        <p:nvSpPr>
          <p:cNvPr id="6" name="Rectangle 5"/>
          <p:cNvSpPr/>
          <p:nvPr/>
        </p:nvSpPr>
        <p:spPr>
          <a:xfrm>
            <a:off x="4526280" y="6510528"/>
            <a:ext cx="127363" cy="54864"/>
          </a:xfrm>
          <a:prstGeom prst="rect">
            <a:avLst/>
          </a:prstGeom>
          <a:solidFill>
            <a:srgbClr val="8A6A1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8A6A1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8A6A1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8A6A1A"/>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8A6A1A"/>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8A6A1A"/>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8A6A1A"/>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FFB400"/>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2A3240"/>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2A3240"/>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2A3240"/>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2A3240"/>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2A3240"/>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2A3240"/>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6F7A89"/>
                </a:solidFill>
                <a:latin typeface="Arial Narrow"/>
              </a:rPr>
              <a:t>54</a:t>
            </a:fld>
          </a:p>
        </p:txBody>
      </p:sp>
      <p:sp>
        <p:nvSpPr>
          <p:cNvPr id="21" name="TextBox 20"/>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A9B3C0"/>
                </a:solidFill>
                <a:latin typeface="Arial Narrow"/>
              </a:rPr>
              <a:t>STATEMENT 7 / 7   ·   SUPPLEMENTARY</a:t>
            </a:r>
          </a:p>
        </p:txBody>
      </p:sp>
      <p:sp>
        <p:nvSpPr>
          <p:cNvPr id="22" name="TextBox 21"/>
          <p:cNvSpPr txBox="1"/>
          <p:nvPr/>
        </p:nvSpPr>
        <p:spPr>
          <a:xfrm>
            <a:off x="685800" y="1417320"/>
            <a:ext cx="10789920" cy="1828800"/>
          </a:xfrm>
          <a:prstGeom prst="rect">
            <a:avLst/>
          </a:prstGeom>
          <a:noFill/>
        </p:spPr>
        <p:txBody>
          <a:bodyPr wrap="square" anchor="t" lIns="0" rIns="0" tIns="0" bIns="0">
            <a:noAutofit/>
          </a:bodyPr>
          <a:lstStyle/>
          <a:p>
            <a:pPr algn="l">
              <a:lnSpc>
                <a:spcPct val="108000"/>
              </a:lnSpc>
              <a:spcBef>
                <a:spcPts val="0"/>
              </a:spcBef>
              <a:spcAft>
                <a:spcPts val="0"/>
              </a:spcAft>
            </a:pPr>
            <a:r>
              <a:rPr sz="4000" b="1" i="0">
                <a:solidFill>
                  <a:srgbClr val="F4F6F8"/>
                </a:solidFill>
                <a:latin typeface="Arial"/>
              </a:rPr>
              <a:t>“Most of the passenger's kinetic energy transfers to the belt.”</a:t>
            </a:r>
          </a:p>
        </p:txBody>
      </p:sp>
      <p:sp>
        <p:nvSpPr>
          <p:cNvPr id="23" name="Rounded Rectangle 22"/>
          <p:cNvSpPr/>
          <p:nvPr/>
        </p:nvSpPr>
        <p:spPr>
          <a:xfrm>
            <a:off x="685800" y="3703320"/>
            <a:ext cx="5257800" cy="1417320"/>
          </a:xfrm>
          <a:prstGeom prst="roundRect">
            <a:avLst>
              <a:gd name="adj" fmla="val 9032"/>
            </a:avLst>
          </a:prstGeom>
          <a:solidFill>
            <a:srgbClr val="1A2029"/>
          </a:solidFill>
          <a:ln w="19050">
            <a:solidFill>
              <a:srgbClr val="323C4A"/>
            </a:solidFill>
          </a:ln>
        </p:spPr>
        <p:txBody>
          <a:bodyPr rtlCol="0" anchor="ctr"/>
          <a:lstStyle/>
          <a:p>
            <a:pPr algn="ctr"/>
          </a:p>
        </p:txBody>
      </p:sp>
      <p:sp>
        <p:nvSpPr>
          <p:cNvPr id="24" name="Rounded Rectangle 23"/>
          <p:cNvSpPr/>
          <p:nvPr/>
        </p:nvSpPr>
        <p:spPr>
          <a:xfrm>
            <a:off x="1393884" y="3793388"/>
            <a:ext cx="283921" cy="525780"/>
          </a:xfrm>
          <a:prstGeom prst="roundRect">
            <a:avLst>
              <a:gd name="adj" fmla="val 40740"/>
            </a:avLst>
          </a:prstGeom>
          <a:solidFill>
            <a:srgbClr val="F4F6F8"/>
          </a:solidFill>
          <a:ln w="31750">
            <a:solidFill>
              <a:srgbClr val="0E1116"/>
            </a:solidFill>
          </a:ln>
        </p:spPr>
        <p:txBody>
          <a:bodyPr rtlCol="0" anchor="ctr"/>
          <a:lstStyle/>
          <a:p>
            <a:pPr algn="ctr"/>
          </a:p>
        </p:txBody>
      </p:sp>
      <p:sp>
        <p:nvSpPr>
          <p:cNvPr id="25" name="Rounded Rectangle 24"/>
          <p:cNvSpPr/>
          <p:nvPr/>
        </p:nvSpPr>
        <p:spPr>
          <a:xfrm>
            <a:off x="1410919" y="4171950"/>
            <a:ext cx="630936" cy="525780"/>
          </a:xfrm>
          <a:prstGeom prst="roundRect">
            <a:avLst>
              <a:gd name="adj" fmla="val 30000"/>
            </a:avLst>
          </a:prstGeom>
          <a:solidFill>
            <a:srgbClr val="F4F6F8"/>
          </a:solidFill>
          <a:ln w="31750">
            <a:solidFill>
              <a:srgbClr val="0E1116"/>
            </a:solidFill>
          </a:ln>
        </p:spPr>
        <p:txBody>
          <a:bodyPr rtlCol="0" anchor="ctr"/>
          <a:lstStyle/>
          <a:p>
            <a:pPr algn="ctr"/>
          </a:p>
        </p:txBody>
      </p:sp>
      <p:sp>
        <p:nvSpPr>
          <p:cNvPr id="26" name="TextBox 25"/>
          <p:cNvSpPr txBox="1"/>
          <p:nvPr/>
        </p:nvSpPr>
        <p:spPr>
          <a:xfrm>
            <a:off x="2377440" y="3931920"/>
            <a:ext cx="3383280" cy="457200"/>
          </a:xfrm>
          <a:prstGeom prst="rect">
            <a:avLst/>
          </a:prstGeom>
          <a:noFill/>
        </p:spPr>
        <p:txBody>
          <a:bodyPr wrap="square" anchor="t" lIns="0" rIns="0" tIns="0" bIns="0">
            <a:noAutofit/>
          </a:bodyPr>
          <a:lstStyle/>
          <a:p>
            <a:pPr algn="l">
              <a:lnSpc>
                <a:spcPct val="100000"/>
              </a:lnSpc>
              <a:spcBef>
                <a:spcPts val="0"/>
              </a:spcBef>
              <a:spcAft>
                <a:spcPts val="0"/>
              </a:spcAft>
            </a:pPr>
            <a:r>
              <a:rPr sz="2200" b="0" i="0">
                <a:solidFill>
                  <a:srgbClr val="F4F6F8"/>
                </a:solidFill>
                <a:latin typeface="Arial Black"/>
              </a:rPr>
              <a:t>THUMBS UP</a:t>
            </a:r>
          </a:p>
        </p:txBody>
      </p:sp>
      <p:sp>
        <p:nvSpPr>
          <p:cNvPr id="27" name="TextBox 26"/>
          <p:cNvSpPr txBox="1"/>
          <p:nvPr/>
        </p:nvSpPr>
        <p:spPr>
          <a:xfrm>
            <a:off x="2377440" y="4343400"/>
            <a:ext cx="3383280" cy="457200"/>
          </a:xfrm>
          <a:prstGeom prst="rect">
            <a:avLst/>
          </a:prstGeom>
          <a:noFill/>
        </p:spPr>
        <p:txBody>
          <a:bodyPr wrap="square" anchor="t" lIns="0" rIns="0" tIns="0" bIns="0">
            <a:noAutofit/>
          </a:bodyPr>
          <a:lstStyle/>
          <a:p>
            <a:pPr algn="l">
              <a:lnSpc>
                <a:spcPct val="100000"/>
              </a:lnSpc>
              <a:spcBef>
                <a:spcPts val="0"/>
              </a:spcBef>
              <a:spcAft>
                <a:spcPts val="0"/>
              </a:spcAft>
            </a:pPr>
            <a:r>
              <a:rPr sz="2000" b="1" i="0">
                <a:solidFill>
                  <a:srgbClr val="FFB400"/>
                </a:solidFill>
                <a:latin typeface="Arial"/>
              </a:rPr>
              <a:t>= TRUE</a:t>
            </a:r>
          </a:p>
        </p:txBody>
      </p:sp>
      <p:sp>
        <p:nvSpPr>
          <p:cNvPr id="28" name="Rounded Rectangle 27"/>
          <p:cNvSpPr/>
          <p:nvPr/>
        </p:nvSpPr>
        <p:spPr>
          <a:xfrm>
            <a:off x="6217920" y="3703320"/>
            <a:ext cx="5257800" cy="1417320"/>
          </a:xfrm>
          <a:prstGeom prst="roundRect">
            <a:avLst>
              <a:gd name="adj" fmla="val 9032"/>
            </a:avLst>
          </a:prstGeom>
          <a:solidFill>
            <a:srgbClr val="1A2029"/>
          </a:solidFill>
          <a:ln w="19050">
            <a:solidFill>
              <a:srgbClr val="323C4A"/>
            </a:solidFill>
          </a:ln>
        </p:spPr>
        <p:txBody>
          <a:bodyPr rtlCol="0" anchor="ctr"/>
          <a:lstStyle/>
          <a:p>
            <a:pPr algn="ctr"/>
          </a:p>
        </p:txBody>
      </p:sp>
      <p:sp>
        <p:nvSpPr>
          <p:cNvPr id="29" name="Rounded Rectangle 28"/>
          <p:cNvSpPr/>
          <p:nvPr/>
        </p:nvSpPr>
        <p:spPr>
          <a:xfrm>
            <a:off x="6926004" y="4550512"/>
            <a:ext cx="283921" cy="525780"/>
          </a:xfrm>
          <a:prstGeom prst="roundRect">
            <a:avLst>
              <a:gd name="adj" fmla="val 40740"/>
            </a:avLst>
          </a:prstGeom>
          <a:solidFill>
            <a:srgbClr val="F4F6F8"/>
          </a:solidFill>
          <a:ln w="31750">
            <a:solidFill>
              <a:srgbClr val="0E1116"/>
            </a:solidFill>
          </a:ln>
        </p:spPr>
        <p:txBody>
          <a:bodyPr rtlCol="0" anchor="ctr"/>
          <a:lstStyle/>
          <a:p>
            <a:pPr algn="ctr"/>
          </a:p>
        </p:txBody>
      </p:sp>
      <p:sp>
        <p:nvSpPr>
          <p:cNvPr id="30" name="Rounded Rectangle 29"/>
          <p:cNvSpPr/>
          <p:nvPr/>
        </p:nvSpPr>
        <p:spPr>
          <a:xfrm>
            <a:off x="6943039" y="4171950"/>
            <a:ext cx="630936" cy="525780"/>
          </a:xfrm>
          <a:prstGeom prst="roundRect">
            <a:avLst>
              <a:gd name="adj" fmla="val 30000"/>
            </a:avLst>
          </a:prstGeom>
          <a:solidFill>
            <a:srgbClr val="F4F6F8"/>
          </a:solidFill>
          <a:ln w="31750">
            <a:solidFill>
              <a:srgbClr val="0E1116"/>
            </a:solidFill>
          </a:ln>
        </p:spPr>
        <p:txBody>
          <a:bodyPr rtlCol="0" anchor="ctr"/>
          <a:lstStyle/>
          <a:p>
            <a:pPr algn="ctr"/>
          </a:p>
        </p:txBody>
      </p:sp>
      <p:sp>
        <p:nvSpPr>
          <p:cNvPr id="31" name="TextBox 30"/>
          <p:cNvSpPr txBox="1"/>
          <p:nvPr/>
        </p:nvSpPr>
        <p:spPr>
          <a:xfrm>
            <a:off x="7909560" y="3931920"/>
            <a:ext cx="3383280" cy="457200"/>
          </a:xfrm>
          <a:prstGeom prst="rect">
            <a:avLst/>
          </a:prstGeom>
          <a:noFill/>
        </p:spPr>
        <p:txBody>
          <a:bodyPr wrap="square" anchor="t" lIns="0" rIns="0" tIns="0" bIns="0">
            <a:noAutofit/>
          </a:bodyPr>
          <a:lstStyle/>
          <a:p>
            <a:pPr algn="l">
              <a:lnSpc>
                <a:spcPct val="100000"/>
              </a:lnSpc>
              <a:spcBef>
                <a:spcPts val="0"/>
              </a:spcBef>
              <a:spcAft>
                <a:spcPts val="0"/>
              </a:spcAft>
            </a:pPr>
            <a:r>
              <a:rPr sz="2200" b="0" i="0">
                <a:solidFill>
                  <a:srgbClr val="F4F6F8"/>
                </a:solidFill>
                <a:latin typeface="Arial Black"/>
              </a:rPr>
              <a:t>THUMBS DOWN</a:t>
            </a:r>
          </a:p>
        </p:txBody>
      </p:sp>
      <p:sp>
        <p:nvSpPr>
          <p:cNvPr id="32" name="TextBox 31"/>
          <p:cNvSpPr txBox="1"/>
          <p:nvPr/>
        </p:nvSpPr>
        <p:spPr>
          <a:xfrm>
            <a:off x="7909560" y="4343400"/>
            <a:ext cx="3383280" cy="457200"/>
          </a:xfrm>
          <a:prstGeom prst="rect">
            <a:avLst/>
          </a:prstGeom>
          <a:noFill/>
        </p:spPr>
        <p:txBody>
          <a:bodyPr wrap="square" anchor="t" lIns="0" rIns="0" tIns="0" bIns="0">
            <a:noAutofit/>
          </a:bodyPr>
          <a:lstStyle/>
          <a:p>
            <a:pPr algn="l">
              <a:lnSpc>
                <a:spcPct val="100000"/>
              </a:lnSpc>
              <a:spcBef>
                <a:spcPts val="0"/>
              </a:spcBef>
              <a:spcAft>
                <a:spcPts val="0"/>
              </a:spcAft>
            </a:pPr>
            <a:r>
              <a:rPr sz="2000" b="1" i="0">
                <a:solidFill>
                  <a:srgbClr val="FFB400"/>
                </a:solidFill>
                <a:latin typeface="Arial"/>
              </a:rPr>
              <a:t>= FALSE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A9B3C0"/>
                </a:solidFill>
                <a:latin typeface="Arial Narrow"/>
              </a:rPr>
              <a:t>ACT 3 · CRASH INVESTIGATION</a:t>
            </a:r>
          </a:p>
        </p:txBody>
      </p:sp>
      <p:sp>
        <p:nvSpPr>
          <p:cNvPr id="4" name="Rounded Rectangle 3"/>
          <p:cNvSpPr/>
          <p:nvPr/>
        </p:nvSpPr>
        <p:spPr>
          <a:xfrm>
            <a:off x="10058400" y="274320"/>
            <a:ext cx="1444752" cy="329184"/>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1500" b="1" i="0" spc="60">
                <a:solidFill>
                  <a:srgbClr val="12161C"/>
                </a:solidFill>
                <a:latin typeface="Arial"/>
              </a:rPr>
              <a:t>+100 EP</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6F7A89"/>
                </a:solidFill>
                <a:latin typeface="Arial Narrow"/>
              </a:rPr>
              <a:t>ENERGY LAB  ·  CRASH TEST #05</a:t>
            </a:r>
          </a:p>
        </p:txBody>
      </p:sp>
      <p:sp>
        <p:nvSpPr>
          <p:cNvPr id="6" name="Rectangle 5"/>
          <p:cNvSpPr/>
          <p:nvPr/>
        </p:nvSpPr>
        <p:spPr>
          <a:xfrm>
            <a:off x="4526280" y="6510528"/>
            <a:ext cx="127363" cy="54864"/>
          </a:xfrm>
          <a:prstGeom prst="rect">
            <a:avLst/>
          </a:prstGeom>
          <a:solidFill>
            <a:srgbClr val="8A6A1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8A6A1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8A6A1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8A6A1A"/>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8A6A1A"/>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8A6A1A"/>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8A6A1A"/>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FFB400"/>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2A3240"/>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2A3240"/>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2A3240"/>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2A3240"/>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2A3240"/>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2A3240"/>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6F7A89"/>
                </a:solidFill>
                <a:latin typeface="Arial Narrow"/>
              </a:rPr>
              <a:t>55</a:t>
            </a:fld>
          </a:p>
        </p:txBody>
      </p:sp>
      <p:sp>
        <p:nvSpPr>
          <p:cNvPr id="21" name="TextBox 20"/>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A9B3C0"/>
                </a:solidFill>
                <a:latin typeface="Arial Narrow"/>
              </a:rPr>
              <a:t>STATEMENT 7 / 7   ·   SUPPLEMENTARY</a:t>
            </a:r>
          </a:p>
        </p:txBody>
      </p:sp>
      <p:sp>
        <p:nvSpPr>
          <p:cNvPr id="22" name="TextBox 21"/>
          <p:cNvSpPr txBox="1"/>
          <p:nvPr/>
        </p:nvSpPr>
        <p:spPr>
          <a:xfrm>
            <a:off x="685800" y="1417320"/>
            <a:ext cx="10789920" cy="1828800"/>
          </a:xfrm>
          <a:prstGeom prst="rect">
            <a:avLst/>
          </a:prstGeom>
          <a:noFill/>
        </p:spPr>
        <p:txBody>
          <a:bodyPr wrap="square" anchor="t" lIns="0" rIns="0" tIns="0" bIns="0">
            <a:noAutofit/>
          </a:bodyPr>
          <a:lstStyle/>
          <a:p>
            <a:pPr algn="l">
              <a:lnSpc>
                <a:spcPct val="108000"/>
              </a:lnSpc>
              <a:spcBef>
                <a:spcPts val="0"/>
              </a:spcBef>
              <a:spcAft>
                <a:spcPts val="0"/>
              </a:spcAft>
            </a:pPr>
            <a:r>
              <a:rPr sz="4000" b="1" i="0">
                <a:solidFill>
                  <a:srgbClr val="F4F6F8"/>
                </a:solidFill>
                <a:latin typeface="Arial"/>
              </a:rPr>
              <a:t>“Most of the passenger's kinetic energy transfers to the belt.”</a:t>
            </a:r>
          </a:p>
        </p:txBody>
      </p:sp>
      <p:sp>
        <p:nvSpPr>
          <p:cNvPr id="23" name="Rounded Rectangle 22"/>
          <p:cNvSpPr/>
          <p:nvPr/>
        </p:nvSpPr>
        <p:spPr>
          <a:xfrm>
            <a:off x="685800" y="3703320"/>
            <a:ext cx="10817352" cy="1691640"/>
          </a:xfrm>
          <a:prstGeom prst="roundRect">
            <a:avLst>
              <a:gd name="adj" fmla="val 7567"/>
            </a:avLst>
          </a:prstGeom>
          <a:solidFill>
            <a:srgbClr val="34C77B"/>
          </a:solidFill>
          <a:ln w="19050">
            <a:solidFill>
              <a:srgbClr val="323C4A"/>
            </a:solidFill>
          </a:ln>
        </p:spPr>
        <p:txBody>
          <a:bodyPr rtlCol="0" anchor="ctr"/>
          <a:lstStyle/>
          <a:p>
            <a:pPr algn="ctr"/>
          </a:p>
        </p:txBody>
      </p:sp>
      <p:sp>
        <p:nvSpPr>
          <p:cNvPr id="24" name="TextBox 23"/>
          <p:cNvSpPr txBox="1"/>
          <p:nvPr/>
        </p:nvSpPr>
        <p:spPr>
          <a:xfrm>
            <a:off x="960120" y="3703320"/>
            <a:ext cx="10241280" cy="1691640"/>
          </a:xfrm>
          <a:prstGeom prst="rect">
            <a:avLst/>
          </a:prstGeom>
          <a:noFill/>
        </p:spPr>
        <p:txBody>
          <a:bodyPr wrap="square" anchor="ctr" lIns="0" rIns="0" tIns="0" bIns="0">
            <a:noAutofit/>
          </a:bodyPr>
          <a:lstStyle/>
          <a:p>
            <a:pPr algn="l">
              <a:lnSpc>
                <a:spcPct val="100000"/>
              </a:lnSpc>
              <a:spcBef>
                <a:spcPts val="0"/>
              </a:spcBef>
              <a:spcAft>
                <a:spcPts val="600"/>
              </a:spcAft>
            </a:pPr>
            <a:r>
              <a:rPr sz="3400" b="0" i="0">
                <a:solidFill>
                  <a:srgbClr val="0C1410"/>
                </a:solidFill>
                <a:latin typeface="Arial Black"/>
              </a:rPr>
              <a:t>TRUE</a:t>
            </a:r>
          </a:p>
          <a:p>
            <a:pPr algn="l">
              <a:lnSpc>
                <a:spcPct val="100000"/>
              </a:lnSpc>
              <a:spcBef>
                <a:spcPts val="0"/>
              </a:spcBef>
              <a:spcAft>
                <a:spcPts val="600"/>
              </a:spcAft>
            </a:pPr>
            <a:r>
              <a:rPr sz="2000" b="0" i="0">
                <a:solidFill>
                  <a:srgbClr val="0C1410"/>
                </a:solidFill>
                <a:latin typeface="Arial"/>
              </a:rPr>
              <a:t>Conclusions: 'most of the passenger's kinetic energy transfers to the belt'.</a:t>
            </a:r>
          </a:p>
        </p:txBody>
      </p:sp>
      <p:sp>
        <p:nvSpPr>
          <p:cNvPr id="25" name="Rounded Rectangle 24"/>
          <p:cNvSpPr/>
          <p:nvPr/>
        </p:nvSpPr>
        <p:spPr>
          <a:xfrm>
            <a:off x="685800" y="5532120"/>
            <a:ext cx="2917206" cy="274320"/>
          </a:xfrm>
          <a:prstGeom prst="roundRect">
            <a:avLst>
              <a:gd name="adj" fmla="val 50000"/>
            </a:avLst>
          </a:prstGeom>
          <a:noFill/>
          <a:ln w="19050">
            <a:solidFill>
              <a:srgbClr val="42C3F7"/>
            </a:solidFill>
          </a:ln>
        </p:spPr>
        <p:txBody>
          <a:bodyPr rtlCol="0" anchor="ctr" wrap="square" lIns="0" rIns="0" tIns="0" bIns="0">
            <a:noAutofit/>
          </a:bodyPr>
          <a:lstStyle/>
          <a:p>
            <a:pPr algn="ctr">
              <a:lnSpc>
                <a:spcPct val="100000"/>
              </a:lnSpc>
              <a:spcBef>
                <a:spcPts val="0"/>
              </a:spcBef>
              <a:spcAft>
                <a:spcPts val="0"/>
              </a:spcAft>
            </a:pPr>
            <a:r>
              <a:rPr sz="1300" b="1" i="0" spc="200">
                <a:solidFill>
                  <a:srgbClr val="42C3F7"/>
                </a:solidFill>
                <a:latin typeface="Arial Narrow"/>
              </a:rPr>
              <a:t>REVISION · SUPPLEMENTARY</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685800" y="1463040"/>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1371600"/>
            <a:ext cx="7315200" cy="274320"/>
          </a:xfrm>
          <a:prstGeom prst="rect">
            <a:avLst/>
          </a:prstGeom>
          <a:noFill/>
        </p:spPr>
        <p:txBody>
          <a:bodyPr wrap="square" anchor="t" lIns="0" rIns="0" tIns="0" bIns="0">
            <a:noAutofit/>
          </a:bodyPr>
          <a:lstStyle/>
          <a:p>
            <a:pPr algn="l">
              <a:lnSpc>
                <a:spcPct val="100000"/>
              </a:lnSpc>
              <a:spcBef>
                <a:spcPts val="0"/>
              </a:spcBef>
              <a:spcAft>
                <a:spcPts val="0"/>
              </a:spcAft>
            </a:pPr>
            <a:r>
              <a:rPr sz="1500" b="1" i="0" spc="300">
                <a:solidFill>
                  <a:srgbClr val="A9B3C0"/>
                </a:solidFill>
                <a:latin typeface="Arial Narrow"/>
              </a:rPr>
              <a:t>COMMUNICATION ENGINEER</a:t>
            </a:r>
          </a:p>
        </p:txBody>
      </p:sp>
      <p:sp>
        <p:nvSpPr>
          <p:cNvPr id="4" name="TextBox 3"/>
          <p:cNvSpPr txBox="1"/>
          <p:nvPr/>
        </p:nvSpPr>
        <p:spPr>
          <a:xfrm>
            <a:off x="685800" y="1874520"/>
            <a:ext cx="10607040" cy="1234440"/>
          </a:xfrm>
          <a:prstGeom prst="rect">
            <a:avLst/>
          </a:prstGeom>
          <a:noFill/>
        </p:spPr>
        <p:txBody>
          <a:bodyPr wrap="square" anchor="t" lIns="0" rIns="0" tIns="0" bIns="0">
            <a:noAutofit/>
          </a:bodyPr>
          <a:lstStyle/>
          <a:p>
            <a:pPr algn="l">
              <a:lnSpc>
                <a:spcPct val="100000"/>
              </a:lnSpc>
              <a:spcBef>
                <a:spcPts val="0"/>
              </a:spcBef>
              <a:spcAft>
                <a:spcPts val="0"/>
              </a:spcAft>
            </a:pPr>
            <a:r>
              <a:rPr sz="4000" b="0" i="0">
                <a:solidFill>
                  <a:srgbClr val="F4F6F8"/>
                </a:solidFill>
                <a:latin typeface="Arial Black"/>
              </a:rPr>
              <a:t>YOU UNDERSTAND THE ENGINEERING.</a:t>
            </a:r>
          </a:p>
        </p:txBody>
      </p:sp>
      <p:sp>
        <p:nvSpPr>
          <p:cNvPr id="5" name="TextBox 4"/>
          <p:cNvSpPr txBox="1"/>
          <p:nvPr/>
        </p:nvSpPr>
        <p:spPr>
          <a:xfrm>
            <a:off x="713232" y="3154680"/>
            <a:ext cx="10515600" cy="1234440"/>
          </a:xfrm>
          <a:prstGeom prst="rect">
            <a:avLst/>
          </a:prstGeom>
          <a:noFill/>
        </p:spPr>
        <p:txBody>
          <a:bodyPr wrap="square" anchor="t" lIns="0" rIns="0" tIns="0" bIns="0">
            <a:noAutofit/>
          </a:bodyPr>
          <a:lstStyle/>
          <a:p>
            <a:pPr algn="l">
              <a:lnSpc>
                <a:spcPct val="100000"/>
              </a:lnSpc>
              <a:spcBef>
                <a:spcPts val="0"/>
              </a:spcBef>
              <a:spcAft>
                <a:spcPts val="0"/>
              </a:spcAft>
            </a:pPr>
            <a:r>
              <a:rPr sz="4000" b="0" i="0">
                <a:solidFill>
                  <a:srgbClr val="F4F6F8"/>
                </a:solidFill>
                <a:latin typeface="Arial Black"/>
              </a:rPr>
              <a:t>CAN YOU TALK ABOUT IT </a:t>
            </a:r>
            <a:r>
              <a:rPr sz="4000" b="0" i="0">
                <a:solidFill>
                  <a:srgbClr val="FFB400"/>
                </a:solidFill>
                <a:latin typeface="Arial Black"/>
              </a:rPr>
              <a:t>CORRECTLY?</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12161C"/>
                </a:solidFill>
                <a:latin typeface="Arial Narrow"/>
              </a:rPr>
              <a:t>ACT 4 · LANGUAGE OF ENGINEERS</a:t>
            </a:r>
          </a:p>
        </p:txBody>
      </p:sp>
      <p:sp>
        <p:nvSpPr>
          <p:cNvPr id="4" name="TextBox 3"/>
          <p:cNvSpPr txBox="1"/>
          <p:nvPr/>
        </p:nvSpPr>
        <p:spPr>
          <a:xfrm>
            <a:off x="7315200" y="310896"/>
            <a:ext cx="4187952" cy="274320"/>
          </a:xfrm>
          <a:prstGeom prst="rect">
            <a:avLst/>
          </a:prstGeom>
          <a:noFill/>
        </p:spPr>
        <p:txBody>
          <a:bodyPr wrap="square" anchor="t" lIns="0" rIns="0" tIns="0" bIns="0">
            <a:noAutofit/>
          </a:bodyPr>
          <a:lstStyle/>
          <a:p>
            <a:pPr algn="r">
              <a:lnSpc>
                <a:spcPct val="100000"/>
              </a:lnSpc>
              <a:spcBef>
                <a:spcPts val="0"/>
              </a:spcBef>
              <a:spcAft>
                <a:spcPts val="0"/>
              </a:spcAft>
            </a:pPr>
            <a:r>
              <a:rPr sz="1300" b="1" i="0" spc="220">
                <a:solidFill>
                  <a:srgbClr val="8A93A0"/>
                </a:solidFill>
                <a:latin typeface="Arial Narrow"/>
              </a:rPr>
              <a:t>COMMUNICATION ENGINEER</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8A93A0"/>
                </a:solidFill>
                <a:latin typeface="Arial Narrow"/>
              </a:rPr>
              <a:t>ENERGY LAB  ·  CRASH TEST #05</a:t>
            </a:r>
          </a:p>
        </p:txBody>
      </p:sp>
      <p:sp>
        <p:nvSpPr>
          <p:cNvPr id="6" name="Rectangle 5"/>
          <p:cNvSpPr/>
          <p:nvPr/>
        </p:nvSpPr>
        <p:spPr>
          <a:xfrm>
            <a:off x="4526280" y="6510528"/>
            <a:ext cx="127363" cy="54864"/>
          </a:xfrm>
          <a:prstGeom prst="rect">
            <a:avLst/>
          </a:prstGeom>
          <a:solidFill>
            <a:srgbClr val="D9B55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D9B55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D9B55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D9B55A"/>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D9B55A"/>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D9B55A"/>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D9B55A"/>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D9B55A"/>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FFB400"/>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D5D0C4"/>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D5D0C4"/>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D5D0C4"/>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D5D0C4"/>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D5D0C4"/>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8A93A0"/>
                </a:solidFill>
                <a:latin typeface="Arial Narrow"/>
              </a:rPr>
              <a:t>57</a:t>
            </a:fld>
          </a:p>
        </p:txBody>
      </p:sp>
      <p:sp>
        <p:nvSpPr>
          <p:cNvPr id="21" name="Rounded Rectangle 20"/>
          <p:cNvSpPr/>
          <p:nvPr/>
        </p:nvSpPr>
        <p:spPr>
          <a:xfrm>
            <a:off x="9052560" y="914400"/>
            <a:ext cx="3156045" cy="274320"/>
          </a:xfrm>
          <a:prstGeom prst="roundRect">
            <a:avLst>
              <a:gd name="adj" fmla="val 50000"/>
            </a:avLst>
          </a:prstGeom>
          <a:noFill/>
          <a:ln w="19050">
            <a:solidFill>
              <a:srgbClr val="0B6A96"/>
            </a:solidFill>
          </a:ln>
        </p:spPr>
        <p:txBody>
          <a:bodyPr rtlCol="0" anchor="ctr" wrap="square" lIns="0" rIns="0" tIns="0" bIns="0">
            <a:noAutofit/>
          </a:bodyPr>
          <a:lstStyle/>
          <a:p>
            <a:pPr algn="ctr">
              <a:lnSpc>
                <a:spcPct val="100000"/>
              </a:lnSpc>
              <a:spcBef>
                <a:spcPts val="0"/>
              </a:spcBef>
              <a:spcAft>
                <a:spcPts val="0"/>
              </a:spcAft>
            </a:pPr>
            <a:r>
              <a:rPr sz="1300" b="1" i="0" spc="200">
                <a:solidFill>
                  <a:srgbClr val="0B6A96"/>
                </a:solidFill>
                <a:latin typeface="Arial Narrow"/>
              </a:rPr>
              <a:t>TEXTBOOK · TASK 8 LANGUAGE</a:t>
            </a:r>
          </a:p>
        </p:txBody>
      </p:sp>
      <p:sp>
        <p:nvSpPr>
          <p:cNvPr id="22" name="TextBox 21"/>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56606E"/>
                </a:solidFill>
                <a:latin typeface="Arial Narrow"/>
              </a:rPr>
              <a:t>LANGUAGE 1 OF 5 · COMPARATIVES</a:t>
            </a:r>
          </a:p>
        </p:txBody>
      </p:sp>
      <p:sp>
        <p:nvSpPr>
          <p:cNvPr id="23" name="TextBox 22"/>
          <p:cNvSpPr txBox="1"/>
          <p:nvPr/>
        </p:nvSpPr>
        <p:spPr>
          <a:xfrm>
            <a:off x="685800" y="1188720"/>
            <a:ext cx="10789920" cy="1005840"/>
          </a:xfrm>
          <a:prstGeom prst="rect">
            <a:avLst/>
          </a:prstGeom>
          <a:noFill/>
        </p:spPr>
        <p:txBody>
          <a:bodyPr wrap="square" anchor="t" lIns="0" rIns="0" tIns="0" bIns="0">
            <a:noAutofit/>
          </a:bodyPr>
          <a:lstStyle/>
          <a:p>
            <a:pPr algn="l">
              <a:lnSpc>
                <a:spcPct val="100000"/>
              </a:lnSpc>
              <a:spcBef>
                <a:spcPts val="0"/>
              </a:spcBef>
              <a:spcAft>
                <a:spcPts val="0"/>
              </a:spcAft>
            </a:pPr>
            <a:r>
              <a:rPr sz="4000" b="0" i="0">
                <a:solidFill>
                  <a:srgbClr val="12161C"/>
                </a:solidFill>
                <a:latin typeface="Arial Black"/>
              </a:rPr>
              <a:t>OLD BELT  vs  NEW BELT</a:t>
            </a:r>
          </a:p>
        </p:txBody>
      </p:sp>
      <p:sp>
        <p:nvSpPr>
          <p:cNvPr id="24" name="TextBox 23"/>
          <p:cNvSpPr txBox="1"/>
          <p:nvPr/>
        </p:nvSpPr>
        <p:spPr>
          <a:xfrm>
            <a:off x="685800" y="2331720"/>
            <a:ext cx="2286000" cy="457200"/>
          </a:xfrm>
          <a:prstGeom prst="rect">
            <a:avLst/>
          </a:prstGeom>
          <a:noFill/>
        </p:spPr>
        <p:txBody>
          <a:bodyPr wrap="square" anchor="t" lIns="0" rIns="0" tIns="0" bIns="0">
            <a:noAutofit/>
          </a:bodyPr>
          <a:lstStyle/>
          <a:p>
            <a:pPr algn="l">
              <a:lnSpc>
                <a:spcPct val="100000"/>
              </a:lnSpc>
              <a:spcBef>
                <a:spcPts val="0"/>
              </a:spcBef>
              <a:spcAft>
                <a:spcPts val="0"/>
              </a:spcAft>
            </a:pPr>
            <a:r>
              <a:rPr sz="2000" b="1" i="0" spc="100">
                <a:solidFill>
                  <a:srgbClr val="12161C"/>
                </a:solidFill>
                <a:latin typeface="Arial Narrow"/>
              </a:rPr>
              <a:t>OLD BELT</a:t>
            </a:r>
          </a:p>
        </p:txBody>
      </p:sp>
      <p:sp>
        <p:nvSpPr>
          <p:cNvPr id="25" name="Rounded Rectangle 24"/>
          <p:cNvSpPr/>
          <p:nvPr/>
        </p:nvSpPr>
        <p:spPr>
          <a:xfrm>
            <a:off x="3017520" y="2377440"/>
            <a:ext cx="3379622" cy="384048"/>
          </a:xfrm>
          <a:prstGeom prst="roundRect">
            <a:avLst>
              <a:gd name="adj" fmla="val 19047"/>
            </a:avLst>
          </a:prstGeom>
          <a:solidFill>
            <a:srgbClr val="56606E"/>
          </a:solidFill>
          <a:ln>
            <a:noFill/>
          </a:ln>
        </p:spPr>
        <p:txBody>
          <a:bodyPr rtlCol="0" anchor="ctr"/>
          <a:lstStyle/>
          <a:p>
            <a:pPr algn="ctr"/>
          </a:p>
        </p:txBody>
      </p:sp>
      <p:sp>
        <p:nvSpPr>
          <p:cNvPr id="26" name="TextBox 25"/>
          <p:cNvSpPr txBox="1"/>
          <p:nvPr/>
        </p:nvSpPr>
        <p:spPr>
          <a:xfrm>
            <a:off x="3017520" y="2788920"/>
            <a:ext cx="7772400" cy="320040"/>
          </a:xfrm>
          <a:prstGeom prst="rect">
            <a:avLst/>
          </a:prstGeom>
          <a:noFill/>
        </p:spPr>
        <p:txBody>
          <a:bodyPr wrap="square" anchor="t" lIns="0" rIns="0" tIns="0" bIns="0">
            <a:noAutofit/>
          </a:bodyPr>
          <a:lstStyle/>
          <a:p>
            <a:pPr algn="l">
              <a:lnSpc>
                <a:spcPct val="100000"/>
              </a:lnSpc>
              <a:spcBef>
                <a:spcPts val="0"/>
              </a:spcBef>
              <a:spcAft>
                <a:spcPts val="0"/>
              </a:spcAft>
            </a:pPr>
            <a:r>
              <a:rPr sz="1400" b="1" i="0" spc="100">
                <a:solidFill>
                  <a:srgbClr val="56606E"/>
                </a:solidFill>
                <a:latin typeface="Arial Narrow"/>
              </a:rPr>
              <a:t>SHORT STOPPING DISTANCE</a:t>
            </a:r>
          </a:p>
        </p:txBody>
      </p:sp>
      <p:sp>
        <p:nvSpPr>
          <p:cNvPr id="27" name="TextBox 26"/>
          <p:cNvSpPr txBox="1"/>
          <p:nvPr/>
        </p:nvSpPr>
        <p:spPr>
          <a:xfrm>
            <a:off x="685800" y="3200400"/>
            <a:ext cx="2286000" cy="457200"/>
          </a:xfrm>
          <a:prstGeom prst="rect">
            <a:avLst/>
          </a:prstGeom>
          <a:noFill/>
        </p:spPr>
        <p:txBody>
          <a:bodyPr wrap="square" anchor="t" lIns="0" rIns="0" tIns="0" bIns="0">
            <a:noAutofit/>
          </a:bodyPr>
          <a:lstStyle/>
          <a:p>
            <a:pPr algn="l">
              <a:lnSpc>
                <a:spcPct val="100000"/>
              </a:lnSpc>
              <a:spcBef>
                <a:spcPts val="0"/>
              </a:spcBef>
              <a:spcAft>
                <a:spcPts val="0"/>
              </a:spcAft>
            </a:pPr>
            <a:r>
              <a:rPr sz="2000" b="1" i="0" spc="100">
                <a:solidFill>
                  <a:srgbClr val="12161C"/>
                </a:solidFill>
                <a:latin typeface="Arial Narrow"/>
              </a:rPr>
              <a:t>NEW BELT</a:t>
            </a:r>
          </a:p>
        </p:txBody>
      </p:sp>
      <p:sp>
        <p:nvSpPr>
          <p:cNvPr id="28" name="Rounded Rectangle 27"/>
          <p:cNvSpPr/>
          <p:nvPr/>
        </p:nvSpPr>
        <p:spPr>
          <a:xfrm>
            <a:off x="3017520" y="3246120"/>
            <a:ext cx="6920179" cy="384048"/>
          </a:xfrm>
          <a:prstGeom prst="roundRect">
            <a:avLst>
              <a:gd name="adj" fmla="val 19047"/>
            </a:avLst>
          </a:prstGeom>
          <a:solidFill>
            <a:srgbClr val="FFB400"/>
          </a:solidFill>
          <a:ln>
            <a:noFill/>
          </a:ln>
        </p:spPr>
        <p:txBody>
          <a:bodyPr rtlCol="0" anchor="ctr"/>
          <a:lstStyle/>
          <a:p>
            <a:pPr algn="ctr"/>
          </a:p>
        </p:txBody>
      </p:sp>
      <p:sp>
        <p:nvSpPr>
          <p:cNvPr id="29" name="TextBox 28"/>
          <p:cNvSpPr txBox="1"/>
          <p:nvPr/>
        </p:nvSpPr>
        <p:spPr>
          <a:xfrm>
            <a:off x="3017520" y="3657600"/>
            <a:ext cx="7772400" cy="320040"/>
          </a:xfrm>
          <a:prstGeom prst="rect">
            <a:avLst/>
          </a:prstGeom>
          <a:noFill/>
        </p:spPr>
        <p:txBody>
          <a:bodyPr wrap="square" anchor="t" lIns="0" rIns="0" tIns="0" bIns="0">
            <a:noAutofit/>
          </a:bodyPr>
          <a:lstStyle/>
          <a:p>
            <a:pPr algn="l">
              <a:lnSpc>
                <a:spcPct val="100000"/>
              </a:lnSpc>
              <a:spcBef>
                <a:spcPts val="0"/>
              </a:spcBef>
              <a:spcAft>
                <a:spcPts val="0"/>
              </a:spcAft>
            </a:pPr>
            <a:r>
              <a:rPr sz="1400" b="1" i="0" spc="100">
                <a:solidFill>
                  <a:srgbClr val="9C5A00"/>
                </a:solidFill>
                <a:latin typeface="Arial Narrow"/>
              </a:rPr>
              <a:t>LONGER STOPPING DISTANCE</a:t>
            </a:r>
          </a:p>
        </p:txBody>
      </p:sp>
      <p:sp>
        <p:nvSpPr>
          <p:cNvPr id="30" name="Rounded Rectangle 29"/>
          <p:cNvSpPr/>
          <p:nvPr/>
        </p:nvSpPr>
        <p:spPr>
          <a:xfrm>
            <a:off x="685800" y="4434840"/>
            <a:ext cx="2514600" cy="777240"/>
          </a:xfrm>
          <a:prstGeom prst="roundRect">
            <a:avLst>
              <a:gd name="adj" fmla="val 16470"/>
            </a:avLst>
          </a:prstGeom>
          <a:solidFill>
            <a:srgbClr val="E9E5DC"/>
          </a:solidFill>
          <a:ln w="19050">
            <a:solidFill>
              <a:srgbClr val="CFC9BC"/>
            </a:solidFill>
          </a:ln>
        </p:spPr>
        <p:txBody>
          <a:bodyPr rtlCol="0" anchor="ctr"/>
          <a:lstStyle/>
          <a:p>
            <a:pPr algn="ctr"/>
          </a:p>
        </p:txBody>
      </p:sp>
      <p:sp>
        <p:nvSpPr>
          <p:cNvPr id="31" name="TextBox 30"/>
          <p:cNvSpPr txBox="1"/>
          <p:nvPr/>
        </p:nvSpPr>
        <p:spPr>
          <a:xfrm>
            <a:off x="868680" y="4434840"/>
            <a:ext cx="2194560" cy="777240"/>
          </a:xfrm>
          <a:prstGeom prst="rect">
            <a:avLst/>
          </a:prstGeom>
          <a:noFill/>
        </p:spPr>
        <p:txBody>
          <a:bodyPr wrap="square" anchor="ctr" lIns="0" rIns="0" tIns="0" bIns="0">
            <a:noAutofit/>
          </a:bodyPr>
          <a:lstStyle/>
          <a:p>
            <a:pPr algn="l">
              <a:lnSpc>
                <a:spcPct val="100000"/>
              </a:lnSpc>
              <a:spcBef>
                <a:spcPts val="0"/>
              </a:spcBef>
              <a:spcAft>
                <a:spcPts val="0"/>
              </a:spcAft>
            </a:pPr>
            <a:r>
              <a:rPr sz="1900" b="0" i="0">
                <a:solidFill>
                  <a:srgbClr val="56606E"/>
                </a:solidFill>
                <a:latin typeface="Arial"/>
              </a:rPr>
              <a:t>long  </a:t>
            </a:r>
            <a:r>
              <a:rPr sz="1900" b="0" i="0">
                <a:solidFill>
                  <a:srgbClr val="12161C"/>
                </a:solidFill>
                <a:latin typeface="Arial"/>
              </a:rPr>
              <a:t>→  </a:t>
            </a:r>
            <a:r>
              <a:rPr sz="1900" b="1" i="0">
                <a:solidFill>
                  <a:srgbClr val="9C5A00"/>
                </a:solidFill>
                <a:latin typeface="Arial"/>
              </a:rPr>
              <a:t>longer</a:t>
            </a:r>
          </a:p>
        </p:txBody>
      </p:sp>
      <p:sp>
        <p:nvSpPr>
          <p:cNvPr id="32" name="Rounded Rectangle 31"/>
          <p:cNvSpPr/>
          <p:nvPr/>
        </p:nvSpPr>
        <p:spPr>
          <a:xfrm>
            <a:off x="3392424" y="4434840"/>
            <a:ext cx="2514600" cy="777240"/>
          </a:xfrm>
          <a:prstGeom prst="roundRect">
            <a:avLst>
              <a:gd name="adj" fmla="val 16470"/>
            </a:avLst>
          </a:prstGeom>
          <a:solidFill>
            <a:srgbClr val="E9E5DC"/>
          </a:solidFill>
          <a:ln w="19050">
            <a:solidFill>
              <a:srgbClr val="CFC9BC"/>
            </a:solidFill>
          </a:ln>
        </p:spPr>
        <p:txBody>
          <a:bodyPr rtlCol="0" anchor="ctr"/>
          <a:lstStyle/>
          <a:p>
            <a:pPr algn="ctr"/>
          </a:p>
        </p:txBody>
      </p:sp>
      <p:sp>
        <p:nvSpPr>
          <p:cNvPr id="33" name="TextBox 32"/>
          <p:cNvSpPr txBox="1"/>
          <p:nvPr/>
        </p:nvSpPr>
        <p:spPr>
          <a:xfrm>
            <a:off x="3575304" y="4434840"/>
            <a:ext cx="2194560" cy="777240"/>
          </a:xfrm>
          <a:prstGeom prst="rect">
            <a:avLst/>
          </a:prstGeom>
          <a:noFill/>
        </p:spPr>
        <p:txBody>
          <a:bodyPr wrap="square" anchor="ctr" lIns="0" rIns="0" tIns="0" bIns="0">
            <a:noAutofit/>
          </a:bodyPr>
          <a:lstStyle/>
          <a:p>
            <a:pPr algn="l">
              <a:lnSpc>
                <a:spcPct val="100000"/>
              </a:lnSpc>
              <a:spcBef>
                <a:spcPts val="0"/>
              </a:spcBef>
              <a:spcAft>
                <a:spcPts val="0"/>
              </a:spcAft>
            </a:pPr>
            <a:r>
              <a:rPr sz="1900" b="0" i="0">
                <a:solidFill>
                  <a:srgbClr val="56606E"/>
                </a:solidFill>
                <a:latin typeface="Arial"/>
              </a:rPr>
              <a:t>short  </a:t>
            </a:r>
            <a:r>
              <a:rPr sz="1900" b="0" i="0">
                <a:solidFill>
                  <a:srgbClr val="12161C"/>
                </a:solidFill>
                <a:latin typeface="Arial"/>
              </a:rPr>
              <a:t>→  </a:t>
            </a:r>
            <a:r>
              <a:rPr sz="1900" b="1" i="0">
                <a:solidFill>
                  <a:srgbClr val="9C5A00"/>
                </a:solidFill>
                <a:latin typeface="Arial"/>
              </a:rPr>
              <a:t>shorter</a:t>
            </a:r>
          </a:p>
        </p:txBody>
      </p:sp>
      <p:sp>
        <p:nvSpPr>
          <p:cNvPr id="34" name="Rounded Rectangle 33"/>
          <p:cNvSpPr/>
          <p:nvPr/>
        </p:nvSpPr>
        <p:spPr>
          <a:xfrm>
            <a:off x="6099048" y="4434840"/>
            <a:ext cx="2514600" cy="777240"/>
          </a:xfrm>
          <a:prstGeom prst="roundRect">
            <a:avLst>
              <a:gd name="adj" fmla="val 16470"/>
            </a:avLst>
          </a:prstGeom>
          <a:solidFill>
            <a:srgbClr val="E9E5DC"/>
          </a:solidFill>
          <a:ln w="19050">
            <a:solidFill>
              <a:srgbClr val="CFC9BC"/>
            </a:solidFill>
          </a:ln>
        </p:spPr>
        <p:txBody>
          <a:bodyPr rtlCol="0" anchor="ctr"/>
          <a:lstStyle/>
          <a:p>
            <a:pPr algn="ctr"/>
          </a:p>
        </p:txBody>
      </p:sp>
      <p:sp>
        <p:nvSpPr>
          <p:cNvPr id="35" name="TextBox 34"/>
          <p:cNvSpPr txBox="1"/>
          <p:nvPr/>
        </p:nvSpPr>
        <p:spPr>
          <a:xfrm>
            <a:off x="6281928" y="4434840"/>
            <a:ext cx="2194560" cy="777240"/>
          </a:xfrm>
          <a:prstGeom prst="rect">
            <a:avLst/>
          </a:prstGeom>
          <a:noFill/>
        </p:spPr>
        <p:txBody>
          <a:bodyPr wrap="square" anchor="ctr" lIns="0" rIns="0" tIns="0" bIns="0">
            <a:noAutofit/>
          </a:bodyPr>
          <a:lstStyle/>
          <a:p>
            <a:pPr algn="l">
              <a:lnSpc>
                <a:spcPct val="100000"/>
              </a:lnSpc>
              <a:spcBef>
                <a:spcPts val="0"/>
              </a:spcBef>
              <a:spcAft>
                <a:spcPts val="0"/>
              </a:spcAft>
            </a:pPr>
            <a:r>
              <a:rPr sz="1900" b="0" i="0">
                <a:solidFill>
                  <a:srgbClr val="56606E"/>
                </a:solidFill>
                <a:latin typeface="Arial"/>
              </a:rPr>
              <a:t>safe  </a:t>
            </a:r>
            <a:r>
              <a:rPr sz="1900" b="0" i="0">
                <a:solidFill>
                  <a:srgbClr val="12161C"/>
                </a:solidFill>
                <a:latin typeface="Arial"/>
              </a:rPr>
              <a:t>→  </a:t>
            </a:r>
            <a:r>
              <a:rPr sz="1900" b="1" i="0">
                <a:solidFill>
                  <a:srgbClr val="9C5A00"/>
                </a:solidFill>
                <a:latin typeface="Arial"/>
              </a:rPr>
              <a:t>safer</a:t>
            </a:r>
          </a:p>
        </p:txBody>
      </p:sp>
      <p:sp>
        <p:nvSpPr>
          <p:cNvPr id="36" name="Rounded Rectangle 35"/>
          <p:cNvSpPr/>
          <p:nvPr/>
        </p:nvSpPr>
        <p:spPr>
          <a:xfrm>
            <a:off x="8805672" y="4434840"/>
            <a:ext cx="2514600" cy="777240"/>
          </a:xfrm>
          <a:prstGeom prst="roundRect">
            <a:avLst>
              <a:gd name="adj" fmla="val 16470"/>
            </a:avLst>
          </a:prstGeom>
          <a:solidFill>
            <a:srgbClr val="E9E5DC"/>
          </a:solidFill>
          <a:ln w="19050">
            <a:solidFill>
              <a:srgbClr val="CFC9BC"/>
            </a:solidFill>
          </a:ln>
        </p:spPr>
        <p:txBody>
          <a:bodyPr rtlCol="0" anchor="ctr"/>
          <a:lstStyle/>
          <a:p>
            <a:pPr algn="ctr"/>
          </a:p>
        </p:txBody>
      </p:sp>
      <p:sp>
        <p:nvSpPr>
          <p:cNvPr id="37" name="TextBox 36"/>
          <p:cNvSpPr txBox="1"/>
          <p:nvPr/>
        </p:nvSpPr>
        <p:spPr>
          <a:xfrm>
            <a:off x="8988552" y="4434840"/>
            <a:ext cx="2194560" cy="777240"/>
          </a:xfrm>
          <a:prstGeom prst="rect">
            <a:avLst/>
          </a:prstGeom>
          <a:noFill/>
        </p:spPr>
        <p:txBody>
          <a:bodyPr wrap="square" anchor="ctr" lIns="0" rIns="0" tIns="0" bIns="0">
            <a:noAutofit/>
          </a:bodyPr>
          <a:lstStyle/>
          <a:p>
            <a:pPr algn="l">
              <a:lnSpc>
                <a:spcPct val="100000"/>
              </a:lnSpc>
              <a:spcBef>
                <a:spcPts val="0"/>
              </a:spcBef>
              <a:spcAft>
                <a:spcPts val="0"/>
              </a:spcAft>
            </a:pPr>
            <a:r>
              <a:rPr sz="1900" b="0" i="0">
                <a:solidFill>
                  <a:srgbClr val="56606E"/>
                </a:solidFill>
                <a:latin typeface="Arial"/>
              </a:rPr>
              <a:t>great  </a:t>
            </a:r>
            <a:r>
              <a:rPr sz="1900" b="0" i="0">
                <a:solidFill>
                  <a:srgbClr val="12161C"/>
                </a:solidFill>
                <a:latin typeface="Arial"/>
              </a:rPr>
              <a:t>→  </a:t>
            </a:r>
            <a:r>
              <a:rPr sz="1900" b="1" i="0">
                <a:solidFill>
                  <a:srgbClr val="9C5A00"/>
                </a:solidFill>
                <a:latin typeface="Arial"/>
              </a:rPr>
              <a:t>greater</a:t>
            </a:r>
          </a:p>
        </p:txBody>
      </p:sp>
      <p:sp>
        <p:nvSpPr>
          <p:cNvPr id="38" name="Rectangle 37"/>
          <p:cNvSpPr/>
          <p:nvPr/>
        </p:nvSpPr>
        <p:spPr>
          <a:xfrm>
            <a:off x="685800" y="5440680"/>
            <a:ext cx="64008" cy="640080"/>
          </a:xfrm>
          <a:prstGeom prst="rect">
            <a:avLst/>
          </a:prstGeom>
          <a:solidFill>
            <a:srgbClr val="FFB400"/>
          </a:solidFill>
          <a:ln>
            <a:noFill/>
          </a:ln>
        </p:spPr>
        <p:txBody>
          <a:bodyPr rtlCol="0" anchor="ctr"/>
          <a:lstStyle/>
          <a:p>
            <a:pPr algn="ctr"/>
          </a:p>
        </p:txBody>
      </p:sp>
      <p:sp>
        <p:nvSpPr>
          <p:cNvPr id="39" name="TextBox 38"/>
          <p:cNvSpPr txBox="1"/>
          <p:nvPr/>
        </p:nvSpPr>
        <p:spPr>
          <a:xfrm>
            <a:off x="941832" y="5440680"/>
            <a:ext cx="9802368" cy="640080"/>
          </a:xfrm>
          <a:prstGeom prst="rect">
            <a:avLst/>
          </a:prstGeom>
          <a:noFill/>
        </p:spPr>
        <p:txBody>
          <a:bodyPr wrap="square" anchor="ctr" lIns="0" rIns="0" tIns="0" bIns="0">
            <a:noAutofit/>
          </a:bodyPr>
          <a:lstStyle/>
          <a:p>
            <a:pPr algn="l">
              <a:lnSpc>
                <a:spcPct val="100000"/>
              </a:lnSpc>
              <a:spcBef>
                <a:spcPts val="0"/>
              </a:spcBef>
              <a:spcAft>
                <a:spcPts val="0"/>
              </a:spcAft>
            </a:pPr>
            <a:r>
              <a:rPr sz="2400" b="0" i="0">
                <a:solidFill>
                  <a:srgbClr val="12161C"/>
                </a:solidFill>
                <a:latin typeface="Arial"/>
              </a:rPr>
              <a:t>The new seatbelt is </a:t>
            </a:r>
            <a:r>
              <a:rPr sz="2400" b="1" i="0">
                <a:solidFill>
                  <a:srgbClr val="9C5A00"/>
                </a:solidFill>
                <a:latin typeface="Arial"/>
              </a:rPr>
              <a:t>safer</a:t>
            </a:r>
            <a:r>
              <a:rPr sz="2400" b="0" i="0">
                <a:solidFill>
                  <a:srgbClr val="12161C"/>
                </a:solidFill>
                <a:latin typeface="Arial"/>
              </a:rPr>
              <a:t> than the current seatbelt.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12161C"/>
                </a:solidFill>
                <a:latin typeface="Arial Narrow"/>
              </a:rPr>
              <a:t>ACT 4 · LANGUAGE OF ENGINEERS</a:t>
            </a:r>
          </a:p>
        </p:txBody>
      </p:sp>
      <p:sp>
        <p:nvSpPr>
          <p:cNvPr id="4" name="TextBox 3"/>
          <p:cNvSpPr txBox="1"/>
          <p:nvPr/>
        </p:nvSpPr>
        <p:spPr>
          <a:xfrm>
            <a:off x="7315200" y="310896"/>
            <a:ext cx="4187952" cy="274320"/>
          </a:xfrm>
          <a:prstGeom prst="rect">
            <a:avLst/>
          </a:prstGeom>
          <a:noFill/>
        </p:spPr>
        <p:txBody>
          <a:bodyPr wrap="square" anchor="t" lIns="0" rIns="0" tIns="0" bIns="0">
            <a:noAutofit/>
          </a:bodyPr>
          <a:lstStyle/>
          <a:p>
            <a:pPr algn="r">
              <a:lnSpc>
                <a:spcPct val="100000"/>
              </a:lnSpc>
              <a:spcBef>
                <a:spcPts val="0"/>
              </a:spcBef>
              <a:spcAft>
                <a:spcPts val="0"/>
              </a:spcAft>
            </a:pPr>
            <a:r>
              <a:rPr sz="1300" b="1" i="0" spc="220">
                <a:solidFill>
                  <a:srgbClr val="8A93A0"/>
                </a:solidFill>
                <a:latin typeface="Arial Narrow"/>
              </a:rPr>
              <a:t>COMMUNICATION ENGINEER</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8A93A0"/>
                </a:solidFill>
                <a:latin typeface="Arial Narrow"/>
              </a:rPr>
              <a:t>ENERGY LAB  ·  CRASH TEST #05</a:t>
            </a:r>
          </a:p>
        </p:txBody>
      </p:sp>
      <p:sp>
        <p:nvSpPr>
          <p:cNvPr id="6" name="Rectangle 5"/>
          <p:cNvSpPr/>
          <p:nvPr/>
        </p:nvSpPr>
        <p:spPr>
          <a:xfrm>
            <a:off x="4526280" y="6510528"/>
            <a:ext cx="127363" cy="54864"/>
          </a:xfrm>
          <a:prstGeom prst="rect">
            <a:avLst/>
          </a:prstGeom>
          <a:solidFill>
            <a:srgbClr val="D9B55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D9B55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D9B55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D9B55A"/>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D9B55A"/>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D9B55A"/>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D9B55A"/>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D9B55A"/>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FFB400"/>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D5D0C4"/>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D5D0C4"/>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D5D0C4"/>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D5D0C4"/>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D5D0C4"/>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8A93A0"/>
                </a:solidFill>
                <a:latin typeface="Arial Narrow"/>
              </a:rPr>
              <a:t>58</a:t>
            </a:fld>
          </a:p>
        </p:txBody>
      </p:sp>
      <p:sp>
        <p:nvSpPr>
          <p:cNvPr id="21" name="Rounded Rectangle 20"/>
          <p:cNvSpPr/>
          <p:nvPr/>
        </p:nvSpPr>
        <p:spPr>
          <a:xfrm>
            <a:off x="8686800" y="914400"/>
            <a:ext cx="3156045" cy="274320"/>
          </a:xfrm>
          <a:prstGeom prst="roundRect">
            <a:avLst>
              <a:gd name="adj" fmla="val 50000"/>
            </a:avLst>
          </a:prstGeom>
          <a:noFill/>
          <a:ln w="19050">
            <a:solidFill>
              <a:srgbClr val="0B6A96"/>
            </a:solidFill>
          </a:ln>
        </p:spPr>
        <p:txBody>
          <a:bodyPr rtlCol="0" anchor="ctr" wrap="square" lIns="0" rIns="0" tIns="0" bIns="0">
            <a:noAutofit/>
          </a:bodyPr>
          <a:lstStyle/>
          <a:p>
            <a:pPr algn="ctr">
              <a:lnSpc>
                <a:spcPct val="100000"/>
              </a:lnSpc>
              <a:spcBef>
                <a:spcPts val="0"/>
              </a:spcBef>
              <a:spcAft>
                <a:spcPts val="0"/>
              </a:spcAft>
            </a:pPr>
            <a:r>
              <a:rPr sz="1300" b="1" i="0" spc="200">
                <a:solidFill>
                  <a:srgbClr val="0B6A96"/>
                </a:solidFill>
                <a:latin typeface="Arial Narrow"/>
              </a:rPr>
              <a:t>TEXTBOOK · TASK 8 LANGUAGE</a:t>
            </a:r>
          </a:p>
        </p:txBody>
      </p:sp>
      <p:sp>
        <p:nvSpPr>
          <p:cNvPr id="22" name="TextBox 21"/>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56606E"/>
                </a:solidFill>
                <a:latin typeface="Arial Narrow"/>
              </a:rPr>
              <a:t>LANGUAGE 2 OF 5 · BE GOING TO</a:t>
            </a:r>
          </a:p>
        </p:txBody>
      </p:sp>
      <p:sp>
        <p:nvSpPr>
          <p:cNvPr id="23" name="TextBox 22"/>
          <p:cNvSpPr txBox="1"/>
          <p:nvPr/>
        </p:nvSpPr>
        <p:spPr>
          <a:xfrm>
            <a:off x="685800" y="1188720"/>
            <a:ext cx="10789920" cy="1005840"/>
          </a:xfrm>
          <a:prstGeom prst="rect">
            <a:avLst/>
          </a:prstGeom>
          <a:noFill/>
        </p:spPr>
        <p:txBody>
          <a:bodyPr wrap="square" anchor="t" lIns="0" rIns="0" tIns="0" bIns="0">
            <a:noAutofit/>
          </a:bodyPr>
          <a:lstStyle/>
          <a:p>
            <a:pPr algn="l">
              <a:lnSpc>
                <a:spcPct val="100000"/>
              </a:lnSpc>
              <a:spcBef>
                <a:spcPts val="0"/>
              </a:spcBef>
              <a:spcAft>
                <a:spcPts val="0"/>
              </a:spcAft>
            </a:pPr>
            <a:r>
              <a:rPr sz="4600" b="0" i="0">
                <a:solidFill>
                  <a:srgbClr val="12161C"/>
                </a:solidFill>
                <a:latin typeface="Arial Black"/>
              </a:rPr>
              <a:t>BE GOING TO</a:t>
            </a:r>
          </a:p>
        </p:txBody>
      </p:sp>
      <p:sp>
        <p:nvSpPr>
          <p:cNvPr id="24" name="Rectangle 23"/>
          <p:cNvSpPr/>
          <p:nvPr/>
        </p:nvSpPr>
        <p:spPr>
          <a:xfrm>
            <a:off x="685800" y="2331720"/>
            <a:ext cx="64008" cy="731520"/>
          </a:xfrm>
          <a:prstGeom prst="rect">
            <a:avLst/>
          </a:prstGeom>
          <a:solidFill>
            <a:srgbClr val="FFB400"/>
          </a:solidFill>
          <a:ln>
            <a:noFill/>
          </a:ln>
        </p:spPr>
        <p:txBody>
          <a:bodyPr rtlCol="0" anchor="ctr"/>
          <a:lstStyle/>
          <a:p>
            <a:pPr algn="ctr"/>
          </a:p>
        </p:txBody>
      </p:sp>
      <p:sp>
        <p:nvSpPr>
          <p:cNvPr id="25" name="TextBox 24"/>
          <p:cNvSpPr txBox="1"/>
          <p:nvPr/>
        </p:nvSpPr>
        <p:spPr>
          <a:xfrm>
            <a:off x="941832" y="2331720"/>
            <a:ext cx="9802368" cy="731520"/>
          </a:xfrm>
          <a:prstGeom prst="rect">
            <a:avLst/>
          </a:prstGeom>
          <a:noFill/>
        </p:spPr>
        <p:txBody>
          <a:bodyPr wrap="square" anchor="ctr" lIns="0" rIns="0" tIns="0" bIns="0">
            <a:noAutofit/>
          </a:bodyPr>
          <a:lstStyle/>
          <a:p>
            <a:pPr algn="l">
              <a:lnSpc>
                <a:spcPct val="100000"/>
              </a:lnSpc>
              <a:spcBef>
                <a:spcPts val="0"/>
              </a:spcBef>
              <a:spcAft>
                <a:spcPts val="0"/>
              </a:spcAft>
            </a:pPr>
            <a:r>
              <a:rPr sz="2600" b="0" i="0">
                <a:solidFill>
                  <a:srgbClr val="12161C"/>
                </a:solidFill>
                <a:latin typeface="Arial"/>
              </a:rPr>
              <a:t>“Are you going to make the seatbelts </a:t>
            </a:r>
            <a:r>
              <a:rPr sz="2600" b="1" i="0">
                <a:solidFill>
                  <a:srgbClr val="9C5A00"/>
                </a:solidFill>
                <a:latin typeface="Arial"/>
              </a:rPr>
              <a:t>stretch more</a:t>
            </a:r>
            <a:r>
              <a:rPr sz="2600" b="0" i="0">
                <a:solidFill>
                  <a:srgbClr val="12161C"/>
                </a:solidFill>
                <a:latin typeface="Arial"/>
              </a:rPr>
              <a:t>?”</a:t>
            </a:r>
          </a:p>
        </p:txBody>
      </p:sp>
      <p:sp>
        <p:nvSpPr>
          <p:cNvPr id="26" name="Rounded Rectangle 25"/>
          <p:cNvSpPr/>
          <p:nvPr/>
        </p:nvSpPr>
        <p:spPr>
          <a:xfrm>
            <a:off x="685800" y="3383280"/>
            <a:ext cx="2514600" cy="1051560"/>
          </a:xfrm>
          <a:prstGeom prst="roundRect">
            <a:avLst>
              <a:gd name="adj" fmla="val 12173"/>
            </a:avLst>
          </a:prstGeom>
          <a:solidFill>
            <a:srgbClr val="E9E5DC"/>
          </a:solidFill>
          <a:ln w="19050">
            <a:solidFill>
              <a:srgbClr val="CFC9BC"/>
            </a:solidFill>
          </a:ln>
        </p:spPr>
        <p:txBody>
          <a:bodyPr rtlCol="0" anchor="ctr"/>
          <a:lstStyle/>
          <a:p>
            <a:pPr algn="ctr"/>
          </a:p>
        </p:txBody>
      </p:sp>
      <p:sp>
        <p:nvSpPr>
          <p:cNvPr id="27" name="TextBox 26"/>
          <p:cNvSpPr txBox="1"/>
          <p:nvPr/>
        </p:nvSpPr>
        <p:spPr>
          <a:xfrm>
            <a:off x="868680" y="3520440"/>
            <a:ext cx="2148840" cy="365760"/>
          </a:xfrm>
          <a:prstGeom prst="rect">
            <a:avLst/>
          </a:prstGeom>
          <a:noFill/>
        </p:spPr>
        <p:txBody>
          <a:bodyPr wrap="square" anchor="t" lIns="0" rIns="0" tIns="0" bIns="0">
            <a:noAutofit/>
          </a:bodyPr>
          <a:lstStyle/>
          <a:p>
            <a:pPr algn="l">
              <a:lnSpc>
                <a:spcPct val="100000"/>
              </a:lnSpc>
              <a:spcBef>
                <a:spcPts val="0"/>
              </a:spcBef>
              <a:spcAft>
                <a:spcPts val="0"/>
              </a:spcAft>
            </a:pPr>
            <a:r>
              <a:rPr sz="1400" b="1" i="0" spc="150">
                <a:solidFill>
                  <a:srgbClr val="56606E"/>
                </a:solidFill>
                <a:latin typeface="Arial Narrow"/>
              </a:rPr>
              <a:t>SUBJECT</a:t>
            </a:r>
          </a:p>
        </p:txBody>
      </p:sp>
      <p:sp>
        <p:nvSpPr>
          <p:cNvPr id="28" name="TextBox 27"/>
          <p:cNvSpPr txBox="1"/>
          <p:nvPr/>
        </p:nvSpPr>
        <p:spPr>
          <a:xfrm>
            <a:off x="868680" y="3886200"/>
            <a:ext cx="2148840" cy="457200"/>
          </a:xfrm>
          <a:prstGeom prst="rect">
            <a:avLst/>
          </a:prstGeom>
          <a:noFill/>
        </p:spPr>
        <p:txBody>
          <a:bodyPr wrap="square" anchor="t" lIns="0" rIns="0" tIns="0" bIns="0">
            <a:noAutofit/>
          </a:bodyPr>
          <a:lstStyle/>
          <a:p>
            <a:pPr algn="l">
              <a:lnSpc>
                <a:spcPct val="100000"/>
              </a:lnSpc>
              <a:spcBef>
                <a:spcPts val="0"/>
              </a:spcBef>
              <a:spcAft>
                <a:spcPts val="0"/>
              </a:spcAft>
            </a:pPr>
            <a:r>
              <a:rPr sz="2200" b="1" i="0">
                <a:solidFill>
                  <a:srgbClr val="12161C"/>
                </a:solidFill>
                <a:latin typeface="Arial"/>
              </a:rPr>
              <a:t>We</a:t>
            </a:r>
          </a:p>
        </p:txBody>
      </p:sp>
      <p:sp>
        <p:nvSpPr>
          <p:cNvPr id="29" name="Rounded Rectangle 28"/>
          <p:cNvSpPr/>
          <p:nvPr/>
        </p:nvSpPr>
        <p:spPr>
          <a:xfrm>
            <a:off x="3392424" y="3383280"/>
            <a:ext cx="2514600" cy="1051560"/>
          </a:xfrm>
          <a:prstGeom prst="roundRect">
            <a:avLst>
              <a:gd name="adj" fmla="val 12173"/>
            </a:avLst>
          </a:prstGeom>
          <a:solidFill>
            <a:srgbClr val="E9E5DC"/>
          </a:solidFill>
          <a:ln w="19050">
            <a:solidFill>
              <a:srgbClr val="CFC9BC"/>
            </a:solidFill>
          </a:ln>
        </p:spPr>
        <p:txBody>
          <a:bodyPr rtlCol="0" anchor="ctr"/>
          <a:lstStyle/>
          <a:p>
            <a:pPr algn="ctr"/>
          </a:p>
        </p:txBody>
      </p:sp>
      <p:sp>
        <p:nvSpPr>
          <p:cNvPr id="30" name="TextBox 29"/>
          <p:cNvSpPr txBox="1"/>
          <p:nvPr/>
        </p:nvSpPr>
        <p:spPr>
          <a:xfrm>
            <a:off x="3575304" y="3520440"/>
            <a:ext cx="2148840" cy="365760"/>
          </a:xfrm>
          <a:prstGeom prst="rect">
            <a:avLst/>
          </a:prstGeom>
          <a:noFill/>
        </p:spPr>
        <p:txBody>
          <a:bodyPr wrap="square" anchor="t" lIns="0" rIns="0" tIns="0" bIns="0">
            <a:noAutofit/>
          </a:bodyPr>
          <a:lstStyle/>
          <a:p>
            <a:pPr algn="l">
              <a:lnSpc>
                <a:spcPct val="100000"/>
              </a:lnSpc>
              <a:spcBef>
                <a:spcPts val="0"/>
              </a:spcBef>
              <a:spcAft>
                <a:spcPts val="0"/>
              </a:spcAft>
            </a:pPr>
            <a:r>
              <a:rPr sz="1400" b="1" i="0" spc="150">
                <a:solidFill>
                  <a:srgbClr val="56606E"/>
                </a:solidFill>
                <a:latin typeface="Arial Narrow"/>
              </a:rPr>
              <a:t>BE</a:t>
            </a:r>
          </a:p>
        </p:txBody>
      </p:sp>
      <p:sp>
        <p:nvSpPr>
          <p:cNvPr id="31" name="TextBox 30"/>
          <p:cNvSpPr txBox="1"/>
          <p:nvPr/>
        </p:nvSpPr>
        <p:spPr>
          <a:xfrm>
            <a:off x="3575304" y="3886200"/>
            <a:ext cx="2148840" cy="457200"/>
          </a:xfrm>
          <a:prstGeom prst="rect">
            <a:avLst/>
          </a:prstGeom>
          <a:noFill/>
        </p:spPr>
        <p:txBody>
          <a:bodyPr wrap="square" anchor="t" lIns="0" rIns="0" tIns="0" bIns="0">
            <a:noAutofit/>
          </a:bodyPr>
          <a:lstStyle/>
          <a:p>
            <a:pPr algn="l">
              <a:lnSpc>
                <a:spcPct val="100000"/>
              </a:lnSpc>
              <a:spcBef>
                <a:spcPts val="0"/>
              </a:spcBef>
              <a:spcAft>
                <a:spcPts val="0"/>
              </a:spcAft>
            </a:pPr>
            <a:r>
              <a:rPr sz="2200" b="1" i="0">
                <a:solidFill>
                  <a:srgbClr val="12161C"/>
                </a:solidFill>
                <a:latin typeface="Arial"/>
              </a:rPr>
              <a:t>are</a:t>
            </a:r>
          </a:p>
        </p:txBody>
      </p:sp>
      <p:sp>
        <p:nvSpPr>
          <p:cNvPr id="32" name="Rounded Rectangle 31"/>
          <p:cNvSpPr/>
          <p:nvPr/>
        </p:nvSpPr>
        <p:spPr>
          <a:xfrm>
            <a:off x="6099048" y="3383280"/>
            <a:ext cx="2514600" cy="1051560"/>
          </a:xfrm>
          <a:prstGeom prst="roundRect">
            <a:avLst>
              <a:gd name="adj" fmla="val 12173"/>
            </a:avLst>
          </a:prstGeom>
          <a:solidFill>
            <a:srgbClr val="E9E5DC"/>
          </a:solidFill>
          <a:ln w="19050">
            <a:solidFill>
              <a:srgbClr val="CFC9BC"/>
            </a:solidFill>
          </a:ln>
        </p:spPr>
        <p:txBody>
          <a:bodyPr rtlCol="0" anchor="ctr"/>
          <a:lstStyle/>
          <a:p>
            <a:pPr algn="ctr"/>
          </a:p>
        </p:txBody>
      </p:sp>
      <p:sp>
        <p:nvSpPr>
          <p:cNvPr id="33" name="TextBox 32"/>
          <p:cNvSpPr txBox="1"/>
          <p:nvPr/>
        </p:nvSpPr>
        <p:spPr>
          <a:xfrm>
            <a:off x="6281928" y="3520440"/>
            <a:ext cx="2148840" cy="365760"/>
          </a:xfrm>
          <a:prstGeom prst="rect">
            <a:avLst/>
          </a:prstGeom>
          <a:noFill/>
        </p:spPr>
        <p:txBody>
          <a:bodyPr wrap="square" anchor="t" lIns="0" rIns="0" tIns="0" bIns="0">
            <a:noAutofit/>
          </a:bodyPr>
          <a:lstStyle/>
          <a:p>
            <a:pPr algn="l">
              <a:lnSpc>
                <a:spcPct val="100000"/>
              </a:lnSpc>
              <a:spcBef>
                <a:spcPts val="0"/>
              </a:spcBef>
              <a:spcAft>
                <a:spcPts val="0"/>
              </a:spcAft>
            </a:pPr>
            <a:r>
              <a:rPr sz="1400" b="1" i="0" spc="150">
                <a:solidFill>
                  <a:srgbClr val="56606E"/>
                </a:solidFill>
                <a:latin typeface="Arial Narrow"/>
              </a:rPr>
              <a:t>GOING TO</a:t>
            </a:r>
          </a:p>
        </p:txBody>
      </p:sp>
      <p:sp>
        <p:nvSpPr>
          <p:cNvPr id="34" name="TextBox 33"/>
          <p:cNvSpPr txBox="1"/>
          <p:nvPr/>
        </p:nvSpPr>
        <p:spPr>
          <a:xfrm>
            <a:off x="6281928" y="3886200"/>
            <a:ext cx="2148840" cy="457200"/>
          </a:xfrm>
          <a:prstGeom prst="rect">
            <a:avLst/>
          </a:prstGeom>
          <a:noFill/>
        </p:spPr>
        <p:txBody>
          <a:bodyPr wrap="square" anchor="t" lIns="0" rIns="0" tIns="0" bIns="0">
            <a:noAutofit/>
          </a:bodyPr>
          <a:lstStyle/>
          <a:p>
            <a:pPr algn="l">
              <a:lnSpc>
                <a:spcPct val="100000"/>
              </a:lnSpc>
              <a:spcBef>
                <a:spcPts val="0"/>
              </a:spcBef>
              <a:spcAft>
                <a:spcPts val="0"/>
              </a:spcAft>
            </a:pPr>
            <a:r>
              <a:rPr sz="2200" b="1" i="0">
                <a:solidFill>
                  <a:srgbClr val="12161C"/>
                </a:solidFill>
                <a:latin typeface="Arial"/>
              </a:rPr>
              <a:t>going to</a:t>
            </a:r>
          </a:p>
        </p:txBody>
      </p:sp>
      <p:sp>
        <p:nvSpPr>
          <p:cNvPr id="35" name="Rounded Rectangle 34"/>
          <p:cNvSpPr/>
          <p:nvPr/>
        </p:nvSpPr>
        <p:spPr>
          <a:xfrm>
            <a:off x="8805672" y="3383280"/>
            <a:ext cx="2514600" cy="1051560"/>
          </a:xfrm>
          <a:prstGeom prst="roundRect">
            <a:avLst>
              <a:gd name="adj" fmla="val 12173"/>
            </a:avLst>
          </a:prstGeom>
          <a:solidFill>
            <a:srgbClr val="E9E5DC"/>
          </a:solidFill>
          <a:ln w="19050">
            <a:solidFill>
              <a:srgbClr val="CFC9BC"/>
            </a:solidFill>
          </a:ln>
        </p:spPr>
        <p:txBody>
          <a:bodyPr rtlCol="0" anchor="ctr"/>
          <a:lstStyle/>
          <a:p>
            <a:pPr algn="ctr"/>
          </a:p>
        </p:txBody>
      </p:sp>
      <p:sp>
        <p:nvSpPr>
          <p:cNvPr id="36" name="TextBox 35"/>
          <p:cNvSpPr txBox="1"/>
          <p:nvPr/>
        </p:nvSpPr>
        <p:spPr>
          <a:xfrm>
            <a:off x="8988552" y="3520440"/>
            <a:ext cx="2148840" cy="365760"/>
          </a:xfrm>
          <a:prstGeom prst="rect">
            <a:avLst/>
          </a:prstGeom>
          <a:noFill/>
        </p:spPr>
        <p:txBody>
          <a:bodyPr wrap="square" anchor="t" lIns="0" rIns="0" tIns="0" bIns="0">
            <a:noAutofit/>
          </a:bodyPr>
          <a:lstStyle/>
          <a:p>
            <a:pPr algn="l">
              <a:lnSpc>
                <a:spcPct val="100000"/>
              </a:lnSpc>
              <a:spcBef>
                <a:spcPts val="0"/>
              </a:spcBef>
              <a:spcAft>
                <a:spcPts val="0"/>
              </a:spcAft>
            </a:pPr>
            <a:r>
              <a:rPr sz="1400" b="1" i="0" spc="150">
                <a:solidFill>
                  <a:srgbClr val="56606E"/>
                </a:solidFill>
                <a:latin typeface="Arial Narrow"/>
              </a:rPr>
              <a:t>BASE VERB</a:t>
            </a:r>
          </a:p>
        </p:txBody>
      </p:sp>
      <p:sp>
        <p:nvSpPr>
          <p:cNvPr id="37" name="TextBox 36"/>
          <p:cNvSpPr txBox="1"/>
          <p:nvPr/>
        </p:nvSpPr>
        <p:spPr>
          <a:xfrm>
            <a:off x="8988552" y="3886200"/>
            <a:ext cx="2148840" cy="457200"/>
          </a:xfrm>
          <a:prstGeom prst="rect">
            <a:avLst/>
          </a:prstGeom>
          <a:noFill/>
        </p:spPr>
        <p:txBody>
          <a:bodyPr wrap="square" anchor="t" lIns="0" rIns="0" tIns="0" bIns="0">
            <a:noAutofit/>
          </a:bodyPr>
          <a:lstStyle/>
          <a:p>
            <a:pPr algn="l">
              <a:lnSpc>
                <a:spcPct val="100000"/>
              </a:lnSpc>
              <a:spcBef>
                <a:spcPts val="0"/>
              </a:spcBef>
              <a:spcAft>
                <a:spcPts val="0"/>
              </a:spcAft>
            </a:pPr>
            <a:r>
              <a:rPr sz="2200" b="1" i="0">
                <a:solidFill>
                  <a:srgbClr val="12161C"/>
                </a:solidFill>
                <a:latin typeface="Arial"/>
              </a:rPr>
              <a:t>test</a:t>
            </a:r>
          </a:p>
        </p:txBody>
      </p:sp>
      <p:sp>
        <p:nvSpPr>
          <p:cNvPr id="38" name="Rounded Rectangle 37"/>
          <p:cNvSpPr/>
          <p:nvPr/>
        </p:nvSpPr>
        <p:spPr>
          <a:xfrm>
            <a:off x="685800" y="4754880"/>
            <a:ext cx="4206240" cy="621792"/>
          </a:xfrm>
          <a:prstGeom prst="roundRect">
            <a:avLst>
              <a:gd name="adj" fmla="val 38461"/>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2000" b="1" i="0">
                <a:solidFill>
                  <a:srgbClr val="12161C"/>
                </a:solidFill>
                <a:latin typeface="Arial"/>
              </a:rPr>
              <a:t>MEANING: PLAN / INTENTION</a:t>
            </a:r>
          </a:p>
        </p:txBody>
      </p:sp>
      <p:sp>
        <p:nvSpPr>
          <p:cNvPr id="39" name="TextBox 38"/>
          <p:cNvSpPr txBox="1"/>
          <p:nvPr/>
        </p:nvSpPr>
        <p:spPr>
          <a:xfrm>
            <a:off x="5166360" y="4754880"/>
            <a:ext cx="5852160" cy="621792"/>
          </a:xfrm>
          <a:prstGeom prst="rect">
            <a:avLst/>
          </a:prstGeom>
          <a:noFill/>
        </p:spPr>
        <p:txBody>
          <a:bodyPr wrap="square" anchor="ctr" lIns="0" rIns="0" tIns="0" bIns="0">
            <a:noAutofit/>
          </a:bodyPr>
          <a:lstStyle/>
          <a:p>
            <a:pPr algn="l">
              <a:lnSpc>
                <a:spcPct val="100000"/>
              </a:lnSpc>
              <a:spcBef>
                <a:spcPts val="0"/>
              </a:spcBef>
              <a:spcAft>
                <a:spcPts val="0"/>
              </a:spcAft>
            </a:pPr>
            <a:r>
              <a:rPr sz="1700" b="0" i="1">
                <a:solidFill>
                  <a:srgbClr val="56606E"/>
                </a:solidFill>
                <a:latin typeface="Arial"/>
              </a:rPr>
              <a:t>“We are going to test the design.”  “Are you going to fix it?”</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12161C"/>
                </a:solidFill>
                <a:latin typeface="Arial Narrow"/>
              </a:rPr>
              <a:t>ACT 4 · LANGUAGE OF ENGINEERS</a:t>
            </a:r>
          </a:p>
        </p:txBody>
      </p:sp>
      <p:sp>
        <p:nvSpPr>
          <p:cNvPr id="4" name="TextBox 3"/>
          <p:cNvSpPr txBox="1"/>
          <p:nvPr/>
        </p:nvSpPr>
        <p:spPr>
          <a:xfrm>
            <a:off x="7315200" y="310896"/>
            <a:ext cx="4187952" cy="274320"/>
          </a:xfrm>
          <a:prstGeom prst="rect">
            <a:avLst/>
          </a:prstGeom>
          <a:noFill/>
        </p:spPr>
        <p:txBody>
          <a:bodyPr wrap="square" anchor="t" lIns="0" rIns="0" tIns="0" bIns="0">
            <a:noAutofit/>
          </a:bodyPr>
          <a:lstStyle/>
          <a:p>
            <a:pPr algn="r">
              <a:lnSpc>
                <a:spcPct val="100000"/>
              </a:lnSpc>
              <a:spcBef>
                <a:spcPts val="0"/>
              </a:spcBef>
              <a:spcAft>
                <a:spcPts val="0"/>
              </a:spcAft>
            </a:pPr>
            <a:r>
              <a:rPr sz="1300" b="1" i="0" spc="220">
                <a:solidFill>
                  <a:srgbClr val="8A93A0"/>
                </a:solidFill>
                <a:latin typeface="Arial Narrow"/>
              </a:rPr>
              <a:t>COMMUNICATION ENGINEER</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8A93A0"/>
                </a:solidFill>
                <a:latin typeface="Arial Narrow"/>
              </a:rPr>
              <a:t>ENERGY LAB  ·  CRASH TEST #05</a:t>
            </a:r>
          </a:p>
        </p:txBody>
      </p:sp>
      <p:sp>
        <p:nvSpPr>
          <p:cNvPr id="6" name="Rectangle 5"/>
          <p:cNvSpPr/>
          <p:nvPr/>
        </p:nvSpPr>
        <p:spPr>
          <a:xfrm>
            <a:off x="4526280" y="6510528"/>
            <a:ext cx="127363" cy="54864"/>
          </a:xfrm>
          <a:prstGeom prst="rect">
            <a:avLst/>
          </a:prstGeom>
          <a:solidFill>
            <a:srgbClr val="D9B55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D9B55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D9B55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D9B55A"/>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D9B55A"/>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D9B55A"/>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D9B55A"/>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D9B55A"/>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FFB400"/>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D5D0C4"/>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D5D0C4"/>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D5D0C4"/>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D5D0C4"/>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D5D0C4"/>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8A93A0"/>
                </a:solidFill>
                <a:latin typeface="Arial Narrow"/>
              </a:rPr>
              <a:t>59</a:t>
            </a:fld>
          </a:p>
        </p:txBody>
      </p:sp>
      <p:sp>
        <p:nvSpPr>
          <p:cNvPr id="21" name="Rounded Rectangle 20"/>
          <p:cNvSpPr/>
          <p:nvPr/>
        </p:nvSpPr>
        <p:spPr>
          <a:xfrm>
            <a:off x="8686800" y="914400"/>
            <a:ext cx="2278475" cy="274320"/>
          </a:xfrm>
          <a:prstGeom prst="roundRect">
            <a:avLst>
              <a:gd name="adj" fmla="val 50000"/>
            </a:avLst>
          </a:prstGeom>
          <a:noFill/>
          <a:ln w="19050">
            <a:solidFill>
              <a:srgbClr val="0B6A96"/>
            </a:solidFill>
          </a:ln>
        </p:spPr>
        <p:txBody>
          <a:bodyPr rtlCol="0" anchor="ctr" wrap="square" lIns="0" rIns="0" tIns="0" bIns="0">
            <a:noAutofit/>
          </a:bodyPr>
          <a:lstStyle/>
          <a:p>
            <a:pPr algn="ctr">
              <a:lnSpc>
                <a:spcPct val="100000"/>
              </a:lnSpc>
              <a:spcBef>
                <a:spcPts val="0"/>
              </a:spcBef>
              <a:spcAft>
                <a:spcPts val="0"/>
              </a:spcAft>
            </a:pPr>
            <a:r>
              <a:rPr sz="1300" b="1" i="0" spc="200">
                <a:solidFill>
                  <a:srgbClr val="0B6A96"/>
                </a:solidFill>
                <a:latin typeface="Arial Narrow"/>
              </a:rPr>
              <a:t>TEXTBOOK · TASK 7/8</a:t>
            </a:r>
          </a:p>
        </p:txBody>
      </p:sp>
      <p:sp>
        <p:nvSpPr>
          <p:cNvPr id="22" name="TextBox 21"/>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56606E"/>
                </a:solidFill>
                <a:latin typeface="Arial Narrow"/>
              </a:rPr>
              <a:t>LANGUAGE 3 OF 5 · PRESENT CONTINUOUS FOR FUTURE</a:t>
            </a:r>
          </a:p>
        </p:txBody>
      </p:sp>
      <p:sp>
        <p:nvSpPr>
          <p:cNvPr id="23" name="TextBox 22"/>
          <p:cNvSpPr txBox="1"/>
          <p:nvPr/>
        </p:nvSpPr>
        <p:spPr>
          <a:xfrm>
            <a:off x="685800" y="1188720"/>
            <a:ext cx="10789920" cy="1005840"/>
          </a:xfrm>
          <a:prstGeom prst="rect">
            <a:avLst/>
          </a:prstGeom>
          <a:noFill/>
        </p:spPr>
        <p:txBody>
          <a:bodyPr wrap="square" anchor="t" lIns="0" rIns="0" tIns="0" bIns="0">
            <a:noAutofit/>
          </a:bodyPr>
          <a:lstStyle/>
          <a:p>
            <a:pPr algn="l">
              <a:lnSpc>
                <a:spcPct val="100000"/>
              </a:lnSpc>
              <a:spcBef>
                <a:spcPts val="0"/>
              </a:spcBef>
              <a:spcAft>
                <a:spcPts val="0"/>
              </a:spcAft>
            </a:pPr>
            <a:r>
              <a:rPr sz="3400" b="0" i="0">
                <a:solidFill>
                  <a:srgbClr val="12161C"/>
                </a:solidFill>
                <a:latin typeface="Arial Black"/>
              </a:rPr>
              <a:t>WE'RE TESTING IT NEXT WEEK.</a:t>
            </a:r>
          </a:p>
        </p:txBody>
      </p:sp>
      <p:sp>
        <p:nvSpPr>
          <p:cNvPr id="24" name="TextBox 23"/>
          <p:cNvSpPr txBox="1"/>
          <p:nvPr/>
        </p:nvSpPr>
        <p:spPr>
          <a:xfrm>
            <a:off x="713232" y="2057400"/>
            <a:ext cx="10058400" cy="457200"/>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56606E"/>
                </a:solidFill>
                <a:latin typeface="Arial"/>
              </a:rPr>
              <a:t>be + verb-</a:t>
            </a:r>
            <a:r>
              <a:rPr sz="1900" b="1" i="0">
                <a:solidFill>
                  <a:srgbClr val="9C5A00"/>
                </a:solidFill>
                <a:latin typeface="Arial"/>
              </a:rPr>
              <a:t>ing</a:t>
            </a:r>
            <a:r>
              <a:rPr sz="1900" b="0" i="0">
                <a:solidFill>
                  <a:srgbClr val="56606E"/>
                </a:solidFill>
                <a:latin typeface="Arial"/>
              </a:rPr>
              <a:t> — used here for a fixed, scheduled arrangement, shown by the time phrase </a:t>
            </a:r>
            <a:r>
              <a:rPr sz="1900" b="1" i="0">
                <a:solidFill>
                  <a:srgbClr val="9C5A00"/>
                </a:solidFill>
                <a:latin typeface="Arial"/>
              </a:rPr>
              <a:t>NEXT WEEK</a:t>
            </a:r>
            <a:r>
              <a:rPr sz="1900" b="0" i="0">
                <a:solidFill>
                  <a:srgbClr val="56606E"/>
                </a:solidFill>
                <a:latin typeface="Arial"/>
              </a:rPr>
              <a:t>.</a:t>
            </a:r>
          </a:p>
        </p:txBody>
      </p:sp>
      <p:sp>
        <p:nvSpPr>
          <p:cNvPr id="25" name="Rounded Rectangle 24"/>
          <p:cNvSpPr/>
          <p:nvPr/>
        </p:nvSpPr>
        <p:spPr>
          <a:xfrm>
            <a:off x="685800" y="2743200"/>
            <a:ext cx="5120640" cy="2606040"/>
          </a:xfrm>
          <a:prstGeom prst="roundRect">
            <a:avLst>
              <a:gd name="adj" fmla="val 4912"/>
            </a:avLst>
          </a:prstGeom>
          <a:solidFill>
            <a:srgbClr val="E9E5DC"/>
          </a:solidFill>
          <a:ln w="19050">
            <a:solidFill>
              <a:srgbClr val="CFC9BC"/>
            </a:solidFill>
          </a:ln>
        </p:spPr>
        <p:txBody>
          <a:bodyPr rtlCol="0" anchor="ctr"/>
          <a:lstStyle/>
          <a:p>
            <a:pPr algn="ctr"/>
          </a:p>
        </p:txBody>
      </p:sp>
      <p:sp>
        <p:nvSpPr>
          <p:cNvPr id="26" name="TextBox 25"/>
          <p:cNvSpPr txBox="1"/>
          <p:nvPr/>
        </p:nvSpPr>
        <p:spPr>
          <a:xfrm>
            <a:off x="960120" y="2926080"/>
            <a:ext cx="4572000" cy="822960"/>
          </a:xfrm>
          <a:prstGeom prst="rect">
            <a:avLst/>
          </a:prstGeom>
          <a:noFill/>
        </p:spPr>
        <p:txBody>
          <a:bodyPr wrap="square" anchor="t" lIns="0" rIns="0" tIns="0" bIns="0">
            <a:noAutofit/>
          </a:bodyPr>
          <a:lstStyle/>
          <a:p>
            <a:pPr algn="l">
              <a:lnSpc>
                <a:spcPct val="105000"/>
              </a:lnSpc>
              <a:spcBef>
                <a:spcPts val="0"/>
              </a:spcBef>
              <a:spcAft>
                <a:spcPts val="0"/>
              </a:spcAft>
            </a:pPr>
            <a:r>
              <a:rPr sz="2500" b="0" i="0">
                <a:solidFill>
                  <a:srgbClr val="12161C"/>
                </a:solidFill>
                <a:latin typeface="Arial Black"/>
              </a:rPr>
              <a:t>We're going to test it.</a:t>
            </a:r>
          </a:p>
        </p:txBody>
      </p:sp>
      <p:sp>
        <p:nvSpPr>
          <p:cNvPr id="27" name="Rounded Rectangle 26"/>
          <p:cNvSpPr/>
          <p:nvPr/>
        </p:nvSpPr>
        <p:spPr>
          <a:xfrm>
            <a:off x="960120" y="3886200"/>
            <a:ext cx="3291840" cy="502920"/>
          </a:xfrm>
          <a:prstGeom prst="roundRect">
            <a:avLst>
              <a:gd name="adj" fmla="val 18181"/>
            </a:avLst>
          </a:prstGeom>
          <a:solidFill>
            <a:srgbClr val="F5F3EE"/>
          </a:solidFill>
          <a:ln>
            <a:noFill/>
          </a:ln>
        </p:spPr>
        <p:txBody>
          <a:bodyPr rtlCol="0" anchor="ctr" wrap="square" lIns="0" rIns="0" tIns="0" bIns="0">
            <a:noAutofit/>
          </a:bodyPr>
          <a:lstStyle/>
          <a:p>
            <a:pPr algn="ctr">
              <a:lnSpc>
                <a:spcPct val="100000"/>
              </a:lnSpc>
              <a:spcBef>
                <a:spcPts val="0"/>
              </a:spcBef>
              <a:spcAft>
                <a:spcPts val="0"/>
              </a:spcAft>
            </a:pPr>
            <a:r>
              <a:rPr sz="1600" b="1" i="0">
                <a:solidFill>
                  <a:srgbClr val="FFB400"/>
                </a:solidFill>
                <a:latin typeface="Arial"/>
              </a:rPr>
              <a:t>PLAN / INTENTION</a:t>
            </a:r>
          </a:p>
        </p:txBody>
      </p:sp>
      <p:sp>
        <p:nvSpPr>
          <p:cNvPr id="28" name="TextBox 27"/>
          <p:cNvSpPr txBox="1"/>
          <p:nvPr/>
        </p:nvSpPr>
        <p:spPr>
          <a:xfrm>
            <a:off x="960120" y="4526280"/>
            <a:ext cx="4572000" cy="640080"/>
          </a:xfrm>
          <a:prstGeom prst="rect">
            <a:avLst/>
          </a:prstGeom>
          <a:noFill/>
        </p:spPr>
        <p:txBody>
          <a:bodyPr wrap="square" anchor="t" lIns="0" rIns="0" tIns="0" bIns="0">
            <a:noAutofit/>
          </a:bodyPr>
          <a:lstStyle/>
          <a:p>
            <a:pPr algn="l">
              <a:lnSpc>
                <a:spcPct val="100000"/>
              </a:lnSpc>
              <a:spcBef>
                <a:spcPts val="0"/>
              </a:spcBef>
              <a:spcAft>
                <a:spcPts val="0"/>
              </a:spcAft>
            </a:pPr>
            <a:r>
              <a:rPr sz="1600" b="0" i="1">
                <a:solidFill>
                  <a:srgbClr val="56606E"/>
                </a:solidFill>
                <a:latin typeface="Arial"/>
              </a:rPr>
              <a:t>a decision — no fixed time yet</a:t>
            </a:r>
          </a:p>
        </p:txBody>
      </p:sp>
      <p:sp>
        <p:nvSpPr>
          <p:cNvPr id="29" name="Rounded Rectangle 28"/>
          <p:cNvSpPr/>
          <p:nvPr/>
        </p:nvSpPr>
        <p:spPr>
          <a:xfrm>
            <a:off x="6208776" y="2743200"/>
            <a:ext cx="5120640" cy="2606040"/>
          </a:xfrm>
          <a:prstGeom prst="roundRect">
            <a:avLst>
              <a:gd name="adj" fmla="val 4912"/>
            </a:avLst>
          </a:prstGeom>
          <a:solidFill>
            <a:srgbClr val="FFB400"/>
          </a:solidFill>
          <a:ln w="19050">
            <a:solidFill>
              <a:srgbClr val="CFC9BC"/>
            </a:solidFill>
          </a:ln>
        </p:spPr>
        <p:txBody>
          <a:bodyPr rtlCol="0" anchor="ctr"/>
          <a:lstStyle/>
          <a:p>
            <a:pPr algn="ctr"/>
          </a:p>
        </p:txBody>
      </p:sp>
      <p:sp>
        <p:nvSpPr>
          <p:cNvPr id="30" name="TextBox 29"/>
          <p:cNvSpPr txBox="1"/>
          <p:nvPr/>
        </p:nvSpPr>
        <p:spPr>
          <a:xfrm>
            <a:off x="6483096" y="2926080"/>
            <a:ext cx="4572000" cy="822960"/>
          </a:xfrm>
          <a:prstGeom prst="rect">
            <a:avLst/>
          </a:prstGeom>
          <a:noFill/>
        </p:spPr>
        <p:txBody>
          <a:bodyPr wrap="square" anchor="t" lIns="0" rIns="0" tIns="0" bIns="0">
            <a:noAutofit/>
          </a:bodyPr>
          <a:lstStyle/>
          <a:p>
            <a:pPr algn="l">
              <a:lnSpc>
                <a:spcPct val="105000"/>
              </a:lnSpc>
              <a:spcBef>
                <a:spcPts val="0"/>
              </a:spcBef>
              <a:spcAft>
                <a:spcPts val="0"/>
              </a:spcAft>
            </a:pPr>
            <a:r>
              <a:rPr sz="2500" b="0" i="0">
                <a:solidFill>
                  <a:srgbClr val="12161C"/>
                </a:solidFill>
                <a:latin typeface="Arial Black"/>
              </a:rPr>
              <a:t>We're testing it next week.</a:t>
            </a:r>
          </a:p>
        </p:txBody>
      </p:sp>
      <p:sp>
        <p:nvSpPr>
          <p:cNvPr id="31" name="Rounded Rectangle 30"/>
          <p:cNvSpPr/>
          <p:nvPr/>
        </p:nvSpPr>
        <p:spPr>
          <a:xfrm>
            <a:off x="6483096" y="3886200"/>
            <a:ext cx="3291840" cy="502920"/>
          </a:xfrm>
          <a:prstGeom prst="roundRect">
            <a:avLst>
              <a:gd name="adj" fmla="val 18181"/>
            </a:avLst>
          </a:prstGeom>
          <a:solidFill>
            <a:srgbClr val="12161C"/>
          </a:solidFill>
          <a:ln>
            <a:noFill/>
          </a:ln>
        </p:spPr>
        <p:txBody>
          <a:bodyPr rtlCol="0" anchor="ctr" wrap="square" lIns="0" rIns="0" tIns="0" bIns="0">
            <a:noAutofit/>
          </a:bodyPr>
          <a:lstStyle/>
          <a:p>
            <a:pPr algn="ctr">
              <a:lnSpc>
                <a:spcPct val="100000"/>
              </a:lnSpc>
              <a:spcBef>
                <a:spcPts val="0"/>
              </a:spcBef>
              <a:spcAft>
                <a:spcPts val="0"/>
              </a:spcAft>
            </a:pPr>
            <a:r>
              <a:rPr sz="1600" b="1" i="0">
                <a:solidFill>
                  <a:srgbClr val="FFB400"/>
                </a:solidFill>
                <a:latin typeface="Arial"/>
              </a:rPr>
              <a:t>ARRANGEMENT</a:t>
            </a:r>
          </a:p>
        </p:txBody>
      </p:sp>
      <p:sp>
        <p:nvSpPr>
          <p:cNvPr id="32" name="TextBox 31"/>
          <p:cNvSpPr txBox="1"/>
          <p:nvPr/>
        </p:nvSpPr>
        <p:spPr>
          <a:xfrm>
            <a:off x="6483096" y="4526280"/>
            <a:ext cx="4572000" cy="640080"/>
          </a:xfrm>
          <a:prstGeom prst="rect">
            <a:avLst/>
          </a:prstGeom>
          <a:noFill/>
        </p:spPr>
        <p:txBody>
          <a:bodyPr wrap="square" anchor="t" lIns="0" rIns="0" tIns="0" bIns="0">
            <a:noAutofit/>
          </a:bodyPr>
          <a:lstStyle/>
          <a:p>
            <a:pPr algn="l">
              <a:lnSpc>
                <a:spcPct val="100000"/>
              </a:lnSpc>
              <a:spcBef>
                <a:spcPts val="0"/>
              </a:spcBef>
              <a:spcAft>
                <a:spcPts val="0"/>
              </a:spcAft>
            </a:pPr>
            <a:r>
              <a:rPr sz="1600" b="0" i="1">
                <a:solidFill>
                  <a:srgbClr val="5C4400"/>
                </a:solidFill>
                <a:latin typeface="Arial"/>
              </a:rPr>
              <a:t>already scheduled — a time is fixed</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12161C"/>
                </a:solidFill>
                <a:latin typeface="Arial Narrow"/>
              </a:rPr>
              <a:t>ACT 4 · LANGUAGE OF ENGINEERS</a:t>
            </a:r>
          </a:p>
        </p:txBody>
      </p:sp>
      <p:sp>
        <p:nvSpPr>
          <p:cNvPr id="4" name="TextBox 3"/>
          <p:cNvSpPr txBox="1"/>
          <p:nvPr/>
        </p:nvSpPr>
        <p:spPr>
          <a:xfrm>
            <a:off x="7315200" y="310896"/>
            <a:ext cx="4187952" cy="274320"/>
          </a:xfrm>
          <a:prstGeom prst="rect">
            <a:avLst/>
          </a:prstGeom>
          <a:noFill/>
        </p:spPr>
        <p:txBody>
          <a:bodyPr wrap="square" anchor="t" lIns="0" rIns="0" tIns="0" bIns="0">
            <a:noAutofit/>
          </a:bodyPr>
          <a:lstStyle/>
          <a:p>
            <a:pPr algn="r">
              <a:lnSpc>
                <a:spcPct val="100000"/>
              </a:lnSpc>
              <a:spcBef>
                <a:spcPts val="0"/>
              </a:spcBef>
              <a:spcAft>
                <a:spcPts val="0"/>
              </a:spcAft>
            </a:pPr>
            <a:r>
              <a:rPr sz="1300" b="1" i="0" spc="220">
                <a:solidFill>
                  <a:srgbClr val="8A93A0"/>
                </a:solidFill>
                <a:latin typeface="Arial Narrow"/>
              </a:rPr>
              <a:t>COMMUNICATION ENGINEER</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8A93A0"/>
                </a:solidFill>
                <a:latin typeface="Arial Narrow"/>
              </a:rPr>
              <a:t>ENERGY LAB  ·  CRASH TEST #05</a:t>
            </a:r>
          </a:p>
        </p:txBody>
      </p:sp>
      <p:sp>
        <p:nvSpPr>
          <p:cNvPr id="6" name="Rectangle 5"/>
          <p:cNvSpPr/>
          <p:nvPr/>
        </p:nvSpPr>
        <p:spPr>
          <a:xfrm>
            <a:off x="4526280" y="6510528"/>
            <a:ext cx="127363" cy="54864"/>
          </a:xfrm>
          <a:prstGeom prst="rect">
            <a:avLst/>
          </a:prstGeom>
          <a:solidFill>
            <a:srgbClr val="D9B55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D9B55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D9B55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D9B55A"/>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D9B55A"/>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D9B55A"/>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D9B55A"/>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D9B55A"/>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FFB400"/>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D5D0C4"/>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D5D0C4"/>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D5D0C4"/>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D5D0C4"/>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D5D0C4"/>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8A93A0"/>
                </a:solidFill>
                <a:latin typeface="Arial Narrow"/>
              </a:rPr>
              <a:t>60</a:t>
            </a:fld>
          </a:p>
        </p:txBody>
      </p:sp>
      <p:sp>
        <p:nvSpPr>
          <p:cNvPr id="21" name="Rounded Rectangle 20"/>
          <p:cNvSpPr/>
          <p:nvPr/>
        </p:nvSpPr>
        <p:spPr>
          <a:xfrm>
            <a:off x="9052560" y="914400"/>
            <a:ext cx="3156045" cy="274320"/>
          </a:xfrm>
          <a:prstGeom prst="roundRect">
            <a:avLst>
              <a:gd name="adj" fmla="val 50000"/>
            </a:avLst>
          </a:prstGeom>
          <a:noFill/>
          <a:ln w="19050">
            <a:solidFill>
              <a:srgbClr val="0B6A96"/>
            </a:solidFill>
          </a:ln>
        </p:spPr>
        <p:txBody>
          <a:bodyPr rtlCol="0" anchor="ctr" wrap="square" lIns="0" rIns="0" tIns="0" bIns="0">
            <a:noAutofit/>
          </a:bodyPr>
          <a:lstStyle/>
          <a:p>
            <a:pPr algn="ctr">
              <a:lnSpc>
                <a:spcPct val="100000"/>
              </a:lnSpc>
              <a:spcBef>
                <a:spcPts val="0"/>
              </a:spcBef>
              <a:spcAft>
                <a:spcPts val="0"/>
              </a:spcAft>
            </a:pPr>
            <a:r>
              <a:rPr sz="1300" b="1" i="0" spc="200">
                <a:solidFill>
                  <a:srgbClr val="0B6A96"/>
                </a:solidFill>
                <a:latin typeface="Arial Narrow"/>
              </a:rPr>
              <a:t>TEXTBOOK · TASK 8 LANGUAGE</a:t>
            </a:r>
          </a:p>
        </p:txBody>
      </p:sp>
      <p:sp>
        <p:nvSpPr>
          <p:cNvPr id="22" name="TextBox 21"/>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56606E"/>
                </a:solidFill>
                <a:latin typeface="Arial Narrow"/>
              </a:rPr>
              <a:t>LANGUAGE 4 OF 5 · CAN</a:t>
            </a:r>
          </a:p>
        </p:txBody>
      </p:sp>
      <p:sp>
        <p:nvSpPr>
          <p:cNvPr id="23" name="TextBox 22"/>
          <p:cNvSpPr txBox="1"/>
          <p:nvPr/>
        </p:nvSpPr>
        <p:spPr>
          <a:xfrm>
            <a:off x="685800" y="1188720"/>
            <a:ext cx="10789920" cy="1005840"/>
          </a:xfrm>
          <a:prstGeom prst="rect">
            <a:avLst/>
          </a:prstGeom>
          <a:noFill/>
        </p:spPr>
        <p:txBody>
          <a:bodyPr wrap="square" anchor="t" lIns="0" rIns="0" tIns="0" bIns="0">
            <a:noAutofit/>
          </a:bodyPr>
          <a:lstStyle/>
          <a:p>
            <a:pPr algn="l">
              <a:lnSpc>
                <a:spcPct val="100000"/>
              </a:lnSpc>
              <a:spcBef>
                <a:spcPts val="0"/>
              </a:spcBef>
              <a:spcAft>
                <a:spcPts val="0"/>
              </a:spcAft>
            </a:pPr>
            <a:r>
              <a:rPr sz="4400" b="0" i="0">
                <a:solidFill>
                  <a:srgbClr val="12161C"/>
                </a:solidFill>
                <a:latin typeface="Arial Black"/>
              </a:rPr>
              <a:t>CAN + BASE VERB</a:t>
            </a:r>
          </a:p>
        </p:txBody>
      </p:sp>
      <p:sp>
        <p:nvSpPr>
          <p:cNvPr id="24" name="Rectangle 23"/>
          <p:cNvSpPr/>
          <p:nvPr/>
        </p:nvSpPr>
        <p:spPr>
          <a:xfrm>
            <a:off x="685800" y="2286000"/>
            <a:ext cx="64008" cy="685800"/>
          </a:xfrm>
          <a:prstGeom prst="rect">
            <a:avLst/>
          </a:prstGeom>
          <a:solidFill>
            <a:srgbClr val="FFB400"/>
          </a:solidFill>
          <a:ln>
            <a:noFill/>
          </a:ln>
        </p:spPr>
        <p:txBody>
          <a:bodyPr rtlCol="0" anchor="ctr"/>
          <a:lstStyle/>
          <a:p>
            <a:pPr algn="ctr"/>
          </a:p>
        </p:txBody>
      </p:sp>
      <p:sp>
        <p:nvSpPr>
          <p:cNvPr id="25" name="TextBox 24"/>
          <p:cNvSpPr txBox="1"/>
          <p:nvPr/>
        </p:nvSpPr>
        <p:spPr>
          <a:xfrm>
            <a:off x="941832" y="2286000"/>
            <a:ext cx="9802368" cy="685800"/>
          </a:xfrm>
          <a:prstGeom prst="rect">
            <a:avLst/>
          </a:prstGeom>
          <a:noFill/>
        </p:spPr>
        <p:txBody>
          <a:bodyPr wrap="square" anchor="ctr" lIns="0" rIns="0" tIns="0" bIns="0">
            <a:noAutofit/>
          </a:bodyPr>
          <a:lstStyle/>
          <a:p>
            <a:pPr algn="l">
              <a:lnSpc>
                <a:spcPct val="100000"/>
              </a:lnSpc>
              <a:spcBef>
                <a:spcPts val="0"/>
              </a:spcBef>
              <a:spcAft>
                <a:spcPts val="0"/>
              </a:spcAft>
            </a:pPr>
            <a:r>
              <a:rPr sz="2800" b="0" i="0">
                <a:solidFill>
                  <a:srgbClr val="12161C"/>
                </a:solidFill>
                <a:latin typeface="Arial"/>
              </a:rPr>
              <a:t>“How </a:t>
            </a:r>
            <a:r>
              <a:rPr sz="2800" b="1" i="0">
                <a:solidFill>
                  <a:srgbClr val="9C5A00"/>
                </a:solidFill>
                <a:latin typeface="Arial"/>
              </a:rPr>
              <a:t>can</a:t>
            </a:r>
            <a:r>
              <a:rPr sz="2800" b="0" i="0">
                <a:solidFill>
                  <a:srgbClr val="12161C"/>
                </a:solidFill>
                <a:latin typeface="Arial"/>
              </a:rPr>
              <a:t> you do that?”</a:t>
            </a:r>
          </a:p>
        </p:txBody>
      </p:sp>
      <p:sp>
        <p:nvSpPr>
          <p:cNvPr id="26" name="Rounded Rectangle 25"/>
          <p:cNvSpPr/>
          <p:nvPr/>
        </p:nvSpPr>
        <p:spPr>
          <a:xfrm>
            <a:off x="685800" y="3246120"/>
            <a:ext cx="5120640" cy="2286000"/>
          </a:xfrm>
          <a:prstGeom prst="roundRect">
            <a:avLst>
              <a:gd name="adj" fmla="val 5600"/>
            </a:avLst>
          </a:prstGeom>
          <a:solidFill>
            <a:srgbClr val="E9E5DC"/>
          </a:solidFill>
          <a:ln w="25400">
            <a:solidFill>
              <a:srgbClr val="1E8F52"/>
            </a:solidFill>
          </a:ln>
        </p:spPr>
        <p:txBody>
          <a:bodyPr rtlCol="0" anchor="ctr"/>
          <a:lstStyle/>
          <a:p>
            <a:pPr algn="ctr"/>
          </a:p>
        </p:txBody>
      </p:sp>
      <p:sp>
        <p:nvSpPr>
          <p:cNvPr id="27" name="TextBox 26"/>
          <p:cNvSpPr txBox="1"/>
          <p:nvPr/>
        </p:nvSpPr>
        <p:spPr>
          <a:xfrm>
            <a:off x="960120" y="3429000"/>
            <a:ext cx="4114800" cy="457200"/>
          </a:xfrm>
          <a:prstGeom prst="rect">
            <a:avLst/>
          </a:prstGeom>
          <a:noFill/>
        </p:spPr>
        <p:txBody>
          <a:bodyPr wrap="square" anchor="t" lIns="0" rIns="0" tIns="0" bIns="0">
            <a:noAutofit/>
          </a:bodyPr>
          <a:lstStyle/>
          <a:p>
            <a:pPr algn="l">
              <a:lnSpc>
                <a:spcPct val="100000"/>
              </a:lnSpc>
              <a:spcBef>
                <a:spcPts val="0"/>
              </a:spcBef>
              <a:spcAft>
                <a:spcPts val="0"/>
              </a:spcAft>
            </a:pPr>
            <a:r>
              <a:rPr sz="2000" b="1" i="0" spc="200">
                <a:solidFill>
                  <a:srgbClr val="1E8F52"/>
                </a:solidFill>
                <a:latin typeface="Arial Narrow"/>
              </a:rPr>
              <a:t>CORRECT</a:t>
            </a:r>
          </a:p>
        </p:txBody>
      </p:sp>
      <p:sp>
        <p:nvSpPr>
          <p:cNvPr id="28" name="Freeform 27"/>
          <p:cNvSpPr/>
          <p:nvPr/>
        </p:nvSpPr>
        <p:spPr>
          <a:xfrm>
            <a:off x="1005840" y="4003243"/>
            <a:ext cx="256032" cy="204826"/>
          </a:xfrm>
          <a:custGeom>
            <a:avLst/>
            <a:gdLst/>
            <a:ahLst/>
            <a:cxnLst/>
            <a:rect l="l" t="t" r="r" b="b"/>
            <a:pathLst>
              <a:path w="256032" h="204826">
                <a:moveTo>
                  <a:pt x="0" y="115215"/>
                </a:moveTo>
                <a:lnTo>
                  <a:pt x="92172" y="204826"/>
                </a:lnTo>
                <a:lnTo>
                  <a:pt x="256032" y="0"/>
                </a:lnTo>
              </a:path>
            </a:pathLst>
          </a:custGeom>
          <a:noFill/>
          <a:ln w="50800" cap="rnd">
            <a:solidFill>
              <a:srgbClr val="1E8F52"/>
            </a:solidFill>
            <a:round/>
          </a:ln>
        </p:spPr>
        <p:txBody>
          <a:bodyPr rtlCol="0" anchor="ctr"/>
          <a:lstStyle/>
          <a:p>
            <a:pPr algn="ctr"/>
          </a:p>
        </p:txBody>
      </p:sp>
      <p:sp>
        <p:nvSpPr>
          <p:cNvPr id="29" name="TextBox 28"/>
          <p:cNvSpPr txBox="1"/>
          <p:nvPr/>
        </p:nvSpPr>
        <p:spPr>
          <a:xfrm>
            <a:off x="1463040" y="3913632"/>
            <a:ext cx="4023360" cy="457200"/>
          </a:xfrm>
          <a:prstGeom prst="rect">
            <a:avLst/>
          </a:prstGeom>
          <a:noFill/>
        </p:spPr>
        <p:txBody>
          <a:bodyPr wrap="square" anchor="t" lIns="0" rIns="0" tIns="0" bIns="0">
            <a:noAutofit/>
          </a:bodyPr>
          <a:lstStyle/>
          <a:p>
            <a:pPr algn="l">
              <a:lnSpc>
                <a:spcPct val="100000"/>
              </a:lnSpc>
              <a:spcBef>
                <a:spcPts val="0"/>
              </a:spcBef>
              <a:spcAft>
                <a:spcPts val="0"/>
              </a:spcAft>
            </a:pPr>
            <a:r>
              <a:rPr sz="2200" b="0" i="0">
                <a:solidFill>
                  <a:srgbClr val="12161C"/>
                </a:solidFill>
                <a:latin typeface="Arial"/>
              </a:rPr>
              <a:t>can make</a:t>
            </a:r>
          </a:p>
        </p:txBody>
      </p:sp>
      <p:sp>
        <p:nvSpPr>
          <p:cNvPr id="30" name="Freeform 29"/>
          <p:cNvSpPr/>
          <p:nvPr/>
        </p:nvSpPr>
        <p:spPr>
          <a:xfrm>
            <a:off x="1005840" y="4570171"/>
            <a:ext cx="256032" cy="204826"/>
          </a:xfrm>
          <a:custGeom>
            <a:avLst/>
            <a:gdLst/>
            <a:ahLst/>
            <a:cxnLst/>
            <a:rect l="l" t="t" r="r" b="b"/>
            <a:pathLst>
              <a:path w="256032" h="204826">
                <a:moveTo>
                  <a:pt x="0" y="115215"/>
                </a:moveTo>
                <a:lnTo>
                  <a:pt x="92172" y="204826"/>
                </a:lnTo>
                <a:lnTo>
                  <a:pt x="256032" y="0"/>
                </a:lnTo>
              </a:path>
            </a:pathLst>
          </a:custGeom>
          <a:noFill/>
          <a:ln w="50800" cap="rnd">
            <a:solidFill>
              <a:srgbClr val="1E8F52"/>
            </a:solidFill>
            <a:round/>
          </a:ln>
        </p:spPr>
        <p:txBody>
          <a:bodyPr rtlCol="0" anchor="ctr"/>
          <a:lstStyle/>
          <a:p>
            <a:pPr algn="ctr"/>
          </a:p>
        </p:txBody>
      </p:sp>
      <p:sp>
        <p:nvSpPr>
          <p:cNvPr id="31" name="TextBox 30"/>
          <p:cNvSpPr txBox="1"/>
          <p:nvPr/>
        </p:nvSpPr>
        <p:spPr>
          <a:xfrm>
            <a:off x="1463040" y="4480560"/>
            <a:ext cx="4023360" cy="457200"/>
          </a:xfrm>
          <a:prstGeom prst="rect">
            <a:avLst/>
          </a:prstGeom>
          <a:noFill/>
        </p:spPr>
        <p:txBody>
          <a:bodyPr wrap="square" anchor="t" lIns="0" rIns="0" tIns="0" bIns="0">
            <a:noAutofit/>
          </a:bodyPr>
          <a:lstStyle/>
          <a:p>
            <a:pPr algn="l">
              <a:lnSpc>
                <a:spcPct val="100000"/>
              </a:lnSpc>
              <a:spcBef>
                <a:spcPts val="0"/>
              </a:spcBef>
              <a:spcAft>
                <a:spcPts val="0"/>
              </a:spcAft>
            </a:pPr>
            <a:r>
              <a:rPr sz="2200" b="0" i="0">
                <a:solidFill>
                  <a:srgbClr val="12161C"/>
                </a:solidFill>
                <a:latin typeface="Arial"/>
              </a:rPr>
              <a:t>can reduce</a:t>
            </a:r>
          </a:p>
        </p:txBody>
      </p:sp>
      <p:sp>
        <p:nvSpPr>
          <p:cNvPr id="32" name="Freeform 31"/>
          <p:cNvSpPr/>
          <p:nvPr/>
        </p:nvSpPr>
        <p:spPr>
          <a:xfrm>
            <a:off x="1005840" y="5137099"/>
            <a:ext cx="256032" cy="204826"/>
          </a:xfrm>
          <a:custGeom>
            <a:avLst/>
            <a:gdLst/>
            <a:ahLst/>
            <a:cxnLst/>
            <a:rect l="l" t="t" r="r" b="b"/>
            <a:pathLst>
              <a:path w="256032" h="204826">
                <a:moveTo>
                  <a:pt x="0" y="115215"/>
                </a:moveTo>
                <a:lnTo>
                  <a:pt x="92172" y="204826"/>
                </a:lnTo>
                <a:lnTo>
                  <a:pt x="256032" y="0"/>
                </a:lnTo>
              </a:path>
            </a:pathLst>
          </a:custGeom>
          <a:noFill/>
          <a:ln w="50800" cap="rnd">
            <a:solidFill>
              <a:srgbClr val="1E8F52"/>
            </a:solidFill>
            <a:round/>
          </a:ln>
        </p:spPr>
        <p:txBody>
          <a:bodyPr rtlCol="0" anchor="ctr"/>
          <a:lstStyle/>
          <a:p>
            <a:pPr algn="ctr"/>
          </a:p>
        </p:txBody>
      </p:sp>
      <p:sp>
        <p:nvSpPr>
          <p:cNvPr id="33" name="TextBox 32"/>
          <p:cNvSpPr txBox="1"/>
          <p:nvPr/>
        </p:nvSpPr>
        <p:spPr>
          <a:xfrm>
            <a:off x="1463040" y="5047488"/>
            <a:ext cx="4023360" cy="457200"/>
          </a:xfrm>
          <a:prstGeom prst="rect">
            <a:avLst/>
          </a:prstGeom>
          <a:noFill/>
        </p:spPr>
        <p:txBody>
          <a:bodyPr wrap="square" anchor="t" lIns="0" rIns="0" tIns="0" bIns="0">
            <a:noAutofit/>
          </a:bodyPr>
          <a:lstStyle/>
          <a:p>
            <a:pPr algn="l">
              <a:lnSpc>
                <a:spcPct val="100000"/>
              </a:lnSpc>
              <a:spcBef>
                <a:spcPts val="0"/>
              </a:spcBef>
              <a:spcAft>
                <a:spcPts val="0"/>
              </a:spcAft>
            </a:pPr>
            <a:r>
              <a:rPr sz="2200" b="0" i="0">
                <a:solidFill>
                  <a:srgbClr val="12161C"/>
                </a:solidFill>
                <a:latin typeface="Arial"/>
              </a:rPr>
              <a:t>can transfer</a:t>
            </a:r>
          </a:p>
        </p:txBody>
      </p:sp>
      <p:sp>
        <p:nvSpPr>
          <p:cNvPr id="34" name="Rounded Rectangle 33"/>
          <p:cNvSpPr/>
          <p:nvPr/>
        </p:nvSpPr>
        <p:spPr>
          <a:xfrm>
            <a:off x="6208776" y="3246120"/>
            <a:ext cx="5120640" cy="2286000"/>
          </a:xfrm>
          <a:prstGeom prst="roundRect">
            <a:avLst>
              <a:gd name="adj" fmla="val 5600"/>
            </a:avLst>
          </a:prstGeom>
          <a:solidFill>
            <a:srgbClr val="FFFFFF"/>
          </a:solidFill>
          <a:ln w="25400">
            <a:solidFill>
              <a:srgbClr val="C8323A"/>
            </a:solidFill>
          </a:ln>
        </p:spPr>
        <p:txBody>
          <a:bodyPr rtlCol="0" anchor="ctr"/>
          <a:lstStyle/>
          <a:p>
            <a:pPr algn="ctr"/>
          </a:p>
        </p:txBody>
      </p:sp>
      <p:sp>
        <p:nvSpPr>
          <p:cNvPr id="35" name="TextBox 34"/>
          <p:cNvSpPr txBox="1"/>
          <p:nvPr/>
        </p:nvSpPr>
        <p:spPr>
          <a:xfrm>
            <a:off x="6483096" y="3429000"/>
            <a:ext cx="4114800" cy="457200"/>
          </a:xfrm>
          <a:prstGeom prst="rect">
            <a:avLst/>
          </a:prstGeom>
          <a:noFill/>
        </p:spPr>
        <p:txBody>
          <a:bodyPr wrap="square" anchor="t" lIns="0" rIns="0" tIns="0" bIns="0">
            <a:noAutofit/>
          </a:bodyPr>
          <a:lstStyle/>
          <a:p>
            <a:pPr algn="l">
              <a:lnSpc>
                <a:spcPct val="100000"/>
              </a:lnSpc>
              <a:spcBef>
                <a:spcPts val="0"/>
              </a:spcBef>
              <a:spcAft>
                <a:spcPts val="0"/>
              </a:spcAft>
            </a:pPr>
            <a:r>
              <a:rPr sz="2000" b="1" i="0" spc="200">
                <a:solidFill>
                  <a:srgbClr val="C8323A"/>
                </a:solidFill>
                <a:latin typeface="Arial Narrow"/>
              </a:rPr>
              <a:t>INCORRECT</a:t>
            </a:r>
          </a:p>
        </p:txBody>
      </p:sp>
      <p:sp>
        <p:nvSpPr>
          <p:cNvPr id="36" name="Freeform 35"/>
          <p:cNvSpPr/>
          <p:nvPr/>
        </p:nvSpPr>
        <p:spPr>
          <a:xfrm>
            <a:off x="6528816" y="3977640"/>
            <a:ext cx="256032" cy="256032"/>
          </a:xfrm>
          <a:custGeom>
            <a:avLst/>
            <a:gdLst/>
            <a:ahLst/>
            <a:cxnLst/>
            <a:rect l="l" t="t" r="r" b="b"/>
            <a:pathLst>
              <a:path w="256032" h="256032">
                <a:moveTo>
                  <a:pt x="0" y="0"/>
                </a:moveTo>
                <a:lnTo>
                  <a:pt x="256032" y="256032"/>
                </a:lnTo>
              </a:path>
            </a:pathLst>
          </a:custGeom>
          <a:noFill/>
          <a:ln w="50800" cap="rnd">
            <a:solidFill>
              <a:srgbClr val="C8323A"/>
            </a:solidFill>
            <a:round/>
          </a:ln>
        </p:spPr>
        <p:txBody>
          <a:bodyPr rtlCol="0" anchor="ctr"/>
          <a:lstStyle/>
          <a:p>
            <a:pPr algn="ctr"/>
          </a:p>
        </p:txBody>
      </p:sp>
      <p:sp>
        <p:nvSpPr>
          <p:cNvPr id="37" name="Freeform 36"/>
          <p:cNvSpPr/>
          <p:nvPr/>
        </p:nvSpPr>
        <p:spPr>
          <a:xfrm>
            <a:off x="6528816" y="3977640"/>
            <a:ext cx="256032" cy="256032"/>
          </a:xfrm>
          <a:custGeom>
            <a:avLst/>
            <a:gdLst/>
            <a:ahLst/>
            <a:cxnLst/>
            <a:rect l="l" t="t" r="r" b="b"/>
            <a:pathLst>
              <a:path w="256032" h="256032">
                <a:moveTo>
                  <a:pt x="256032" y="0"/>
                </a:moveTo>
                <a:lnTo>
                  <a:pt x="0" y="256032"/>
                </a:lnTo>
              </a:path>
            </a:pathLst>
          </a:custGeom>
          <a:noFill/>
          <a:ln w="50800" cap="rnd">
            <a:solidFill>
              <a:srgbClr val="C8323A"/>
            </a:solidFill>
            <a:round/>
          </a:ln>
        </p:spPr>
        <p:txBody>
          <a:bodyPr rtlCol="0" anchor="ctr"/>
          <a:lstStyle/>
          <a:p>
            <a:pPr algn="ctr"/>
          </a:p>
        </p:txBody>
      </p:sp>
      <p:sp>
        <p:nvSpPr>
          <p:cNvPr id="38" name="TextBox 37"/>
          <p:cNvSpPr txBox="1"/>
          <p:nvPr/>
        </p:nvSpPr>
        <p:spPr>
          <a:xfrm>
            <a:off x="6986016" y="3913632"/>
            <a:ext cx="4023360" cy="457200"/>
          </a:xfrm>
          <a:prstGeom prst="rect">
            <a:avLst/>
          </a:prstGeom>
          <a:noFill/>
        </p:spPr>
        <p:txBody>
          <a:bodyPr wrap="square" anchor="t" lIns="0" rIns="0" tIns="0" bIns="0">
            <a:noAutofit/>
          </a:bodyPr>
          <a:lstStyle/>
          <a:p>
            <a:pPr algn="l">
              <a:lnSpc>
                <a:spcPct val="100000"/>
              </a:lnSpc>
              <a:spcBef>
                <a:spcPts val="0"/>
              </a:spcBef>
              <a:spcAft>
                <a:spcPts val="0"/>
              </a:spcAft>
            </a:pPr>
            <a:r>
              <a:rPr sz="2200" b="0" i="0">
                <a:solidFill>
                  <a:srgbClr val="12161C"/>
                </a:solidFill>
                <a:latin typeface="Arial"/>
              </a:rPr>
              <a:t>can to make</a:t>
            </a:r>
          </a:p>
        </p:txBody>
      </p:sp>
      <p:sp>
        <p:nvSpPr>
          <p:cNvPr id="39" name="Freeform 38"/>
          <p:cNvSpPr/>
          <p:nvPr/>
        </p:nvSpPr>
        <p:spPr>
          <a:xfrm>
            <a:off x="6528816" y="4544568"/>
            <a:ext cx="256032" cy="256032"/>
          </a:xfrm>
          <a:custGeom>
            <a:avLst/>
            <a:gdLst/>
            <a:ahLst/>
            <a:cxnLst/>
            <a:rect l="l" t="t" r="r" b="b"/>
            <a:pathLst>
              <a:path w="256032" h="256032">
                <a:moveTo>
                  <a:pt x="0" y="0"/>
                </a:moveTo>
                <a:lnTo>
                  <a:pt x="256032" y="256032"/>
                </a:lnTo>
              </a:path>
            </a:pathLst>
          </a:custGeom>
          <a:noFill/>
          <a:ln w="50800" cap="rnd">
            <a:solidFill>
              <a:srgbClr val="C8323A"/>
            </a:solidFill>
            <a:round/>
          </a:ln>
        </p:spPr>
        <p:txBody>
          <a:bodyPr rtlCol="0" anchor="ctr"/>
          <a:lstStyle/>
          <a:p>
            <a:pPr algn="ctr"/>
          </a:p>
        </p:txBody>
      </p:sp>
      <p:sp>
        <p:nvSpPr>
          <p:cNvPr id="40" name="Freeform 39"/>
          <p:cNvSpPr/>
          <p:nvPr/>
        </p:nvSpPr>
        <p:spPr>
          <a:xfrm>
            <a:off x="6528816" y="4544568"/>
            <a:ext cx="256032" cy="256032"/>
          </a:xfrm>
          <a:custGeom>
            <a:avLst/>
            <a:gdLst/>
            <a:ahLst/>
            <a:cxnLst/>
            <a:rect l="l" t="t" r="r" b="b"/>
            <a:pathLst>
              <a:path w="256032" h="256032">
                <a:moveTo>
                  <a:pt x="256032" y="0"/>
                </a:moveTo>
                <a:lnTo>
                  <a:pt x="0" y="256032"/>
                </a:lnTo>
              </a:path>
            </a:pathLst>
          </a:custGeom>
          <a:noFill/>
          <a:ln w="50800" cap="rnd">
            <a:solidFill>
              <a:srgbClr val="C8323A"/>
            </a:solidFill>
            <a:round/>
          </a:ln>
        </p:spPr>
        <p:txBody>
          <a:bodyPr rtlCol="0" anchor="ctr"/>
          <a:lstStyle/>
          <a:p>
            <a:pPr algn="ctr"/>
          </a:p>
        </p:txBody>
      </p:sp>
      <p:sp>
        <p:nvSpPr>
          <p:cNvPr id="41" name="TextBox 40"/>
          <p:cNvSpPr txBox="1"/>
          <p:nvPr/>
        </p:nvSpPr>
        <p:spPr>
          <a:xfrm>
            <a:off x="6986016" y="4480560"/>
            <a:ext cx="4023360" cy="457200"/>
          </a:xfrm>
          <a:prstGeom prst="rect">
            <a:avLst/>
          </a:prstGeom>
          <a:noFill/>
        </p:spPr>
        <p:txBody>
          <a:bodyPr wrap="square" anchor="t" lIns="0" rIns="0" tIns="0" bIns="0">
            <a:noAutofit/>
          </a:bodyPr>
          <a:lstStyle/>
          <a:p>
            <a:pPr algn="l">
              <a:lnSpc>
                <a:spcPct val="100000"/>
              </a:lnSpc>
              <a:spcBef>
                <a:spcPts val="0"/>
              </a:spcBef>
              <a:spcAft>
                <a:spcPts val="0"/>
              </a:spcAft>
            </a:pPr>
            <a:r>
              <a:rPr sz="2200" b="0" i="0">
                <a:solidFill>
                  <a:srgbClr val="12161C"/>
                </a:solidFill>
                <a:latin typeface="Arial"/>
              </a:rPr>
              <a:t>can reduces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A9B3C0"/>
                </a:solidFill>
                <a:latin typeface="Arial Narrow"/>
              </a:rPr>
              <a:t>ACT 4 · LANGUAGE OF ENGINEERS</a:t>
            </a:r>
          </a:p>
        </p:txBody>
      </p:sp>
      <p:sp>
        <p:nvSpPr>
          <p:cNvPr id="4" name="TextBox 3"/>
          <p:cNvSpPr txBox="1"/>
          <p:nvPr/>
        </p:nvSpPr>
        <p:spPr>
          <a:xfrm>
            <a:off x="7315200" y="310896"/>
            <a:ext cx="4187952" cy="274320"/>
          </a:xfrm>
          <a:prstGeom prst="rect">
            <a:avLst/>
          </a:prstGeom>
          <a:noFill/>
        </p:spPr>
        <p:txBody>
          <a:bodyPr wrap="square" anchor="t" lIns="0" rIns="0" tIns="0" bIns="0">
            <a:noAutofit/>
          </a:bodyPr>
          <a:lstStyle/>
          <a:p>
            <a:pPr algn="r">
              <a:lnSpc>
                <a:spcPct val="100000"/>
              </a:lnSpc>
              <a:spcBef>
                <a:spcPts val="0"/>
              </a:spcBef>
              <a:spcAft>
                <a:spcPts val="0"/>
              </a:spcAft>
            </a:pPr>
            <a:r>
              <a:rPr sz="1300" b="1" i="0" spc="220">
                <a:solidFill>
                  <a:srgbClr val="6F7A89"/>
                </a:solidFill>
                <a:latin typeface="Arial Narrow"/>
              </a:rPr>
              <a:t>COMMUNICATION ENGINEER</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6F7A89"/>
                </a:solidFill>
                <a:latin typeface="Arial Narrow"/>
              </a:rPr>
              <a:t>ENERGY LAB  ·  CRASH TEST #05</a:t>
            </a:r>
          </a:p>
        </p:txBody>
      </p:sp>
      <p:sp>
        <p:nvSpPr>
          <p:cNvPr id="6" name="Rectangle 5"/>
          <p:cNvSpPr/>
          <p:nvPr/>
        </p:nvSpPr>
        <p:spPr>
          <a:xfrm>
            <a:off x="4526280" y="6510528"/>
            <a:ext cx="127363" cy="54864"/>
          </a:xfrm>
          <a:prstGeom prst="rect">
            <a:avLst/>
          </a:prstGeom>
          <a:solidFill>
            <a:srgbClr val="8A6A1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8A6A1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8A6A1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8A6A1A"/>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8A6A1A"/>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8A6A1A"/>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8A6A1A"/>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8A6A1A"/>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FFB400"/>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2A3240"/>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2A3240"/>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2A3240"/>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2A3240"/>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2A3240"/>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6F7A89"/>
                </a:solidFill>
                <a:latin typeface="Arial Narrow"/>
              </a:rPr>
              <a:t>61</a:t>
            </a:fld>
          </a:p>
        </p:txBody>
      </p:sp>
      <p:sp>
        <p:nvSpPr>
          <p:cNvPr id="21" name="TextBox 20"/>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A9B3C0"/>
                </a:solidFill>
                <a:latin typeface="Arial Narrow"/>
              </a:rPr>
              <a:t>LANGUAGE 5 OF 5 · PASSIVE</a:t>
            </a:r>
          </a:p>
        </p:txBody>
      </p:sp>
      <p:sp>
        <p:nvSpPr>
          <p:cNvPr id="22" name="TextBox 21"/>
          <p:cNvSpPr txBox="1"/>
          <p:nvPr/>
        </p:nvSpPr>
        <p:spPr>
          <a:xfrm>
            <a:off x="685800" y="1188720"/>
            <a:ext cx="10789920" cy="1005840"/>
          </a:xfrm>
          <a:prstGeom prst="rect">
            <a:avLst/>
          </a:prstGeom>
          <a:noFill/>
        </p:spPr>
        <p:txBody>
          <a:bodyPr wrap="square" anchor="t" lIns="0" rIns="0" tIns="0" bIns="0">
            <a:noAutofit/>
          </a:bodyPr>
          <a:lstStyle/>
          <a:p>
            <a:pPr algn="l">
              <a:lnSpc>
                <a:spcPct val="100000"/>
              </a:lnSpc>
              <a:spcBef>
                <a:spcPts val="0"/>
              </a:spcBef>
              <a:spcAft>
                <a:spcPts val="0"/>
              </a:spcAft>
            </a:pPr>
            <a:r>
              <a:rPr sz="4200" b="0" i="0">
                <a:solidFill>
                  <a:srgbClr val="F4F6F8"/>
                </a:solidFill>
                <a:latin typeface="Arial Black"/>
              </a:rPr>
              <a:t>BE + PAST PARTICIPLE</a:t>
            </a:r>
          </a:p>
        </p:txBody>
      </p:sp>
      <p:sp>
        <p:nvSpPr>
          <p:cNvPr id="23" name="Rounded Rectangle 22"/>
          <p:cNvSpPr/>
          <p:nvPr/>
        </p:nvSpPr>
        <p:spPr>
          <a:xfrm>
            <a:off x="685800" y="2331720"/>
            <a:ext cx="10360152" cy="1417320"/>
          </a:xfrm>
          <a:prstGeom prst="roundRect">
            <a:avLst>
              <a:gd name="adj" fmla="val 9032"/>
            </a:avLst>
          </a:prstGeom>
          <a:solidFill>
            <a:srgbClr val="232B36"/>
          </a:solidFill>
          <a:ln w="19050">
            <a:solidFill>
              <a:srgbClr val="323C4A"/>
            </a:solidFill>
          </a:ln>
        </p:spPr>
        <p:txBody>
          <a:bodyPr rtlCol="0" anchor="ctr"/>
          <a:lstStyle/>
          <a:p>
            <a:pPr algn="ctr"/>
          </a:p>
        </p:txBody>
      </p:sp>
      <p:sp>
        <p:nvSpPr>
          <p:cNvPr id="24" name="TextBox 23"/>
          <p:cNvSpPr txBox="1"/>
          <p:nvPr/>
        </p:nvSpPr>
        <p:spPr>
          <a:xfrm>
            <a:off x="960120" y="2496312"/>
            <a:ext cx="9692640" cy="594360"/>
          </a:xfrm>
          <a:prstGeom prst="rect">
            <a:avLst/>
          </a:prstGeom>
          <a:noFill/>
        </p:spPr>
        <p:txBody>
          <a:bodyPr wrap="square" anchor="t" lIns="0" rIns="0" tIns="0" bIns="0">
            <a:noAutofit/>
          </a:bodyPr>
          <a:lstStyle/>
          <a:p>
            <a:pPr algn="l">
              <a:lnSpc>
                <a:spcPct val="100000"/>
              </a:lnSpc>
              <a:spcBef>
                <a:spcPts val="0"/>
              </a:spcBef>
              <a:spcAft>
                <a:spcPts val="0"/>
              </a:spcAft>
            </a:pPr>
            <a:r>
              <a:rPr sz="2700" b="0" i="0">
                <a:solidFill>
                  <a:srgbClr val="F4F6F8"/>
                </a:solidFill>
                <a:latin typeface="Arial"/>
              </a:rPr>
              <a:t>Work </a:t>
            </a:r>
            <a:r>
              <a:rPr sz="2700" b="1" i="0">
                <a:solidFill>
                  <a:srgbClr val="FFB400"/>
                </a:solidFill>
                <a:latin typeface="Arial"/>
              </a:rPr>
              <a:t>is</a:t>
            </a:r>
            <a:r>
              <a:rPr sz="2700" b="0" i="0">
                <a:solidFill>
                  <a:srgbClr val="F4F6F8"/>
                </a:solidFill>
                <a:latin typeface="Arial"/>
              </a:rPr>
              <a:t> </a:t>
            </a:r>
            <a:r>
              <a:rPr sz="2700" b="1" i="0">
                <a:solidFill>
                  <a:srgbClr val="FFB400"/>
                </a:solidFill>
                <a:latin typeface="Arial"/>
              </a:rPr>
              <a:t>done</a:t>
            </a:r>
            <a:r>
              <a:rPr sz="2700" b="0" i="0">
                <a:solidFill>
                  <a:srgbClr val="F4F6F8"/>
                </a:solidFill>
                <a:latin typeface="Arial"/>
              </a:rPr>
              <a:t> on passengers.</a:t>
            </a:r>
          </a:p>
        </p:txBody>
      </p:sp>
      <p:sp>
        <p:nvSpPr>
          <p:cNvPr id="25" name="Rounded Rectangle 24"/>
          <p:cNvSpPr/>
          <p:nvPr/>
        </p:nvSpPr>
        <p:spPr>
          <a:xfrm>
            <a:off x="8869680" y="3200400"/>
            <a:ext cx="2148840" cy="457200"/>
          </a:xfrm>
          <a:prstGeom prst="roundRect">
            <a:avLst>
              <a:gd name="adj" fmla="val 20000"/>
            </a:avLst>
          </a:prstGeom>
          <a:solidFill>
            <a:srgbClr val="0E1116"/>
          </a:solidFill>
          <a:ln>
            <a:noFill/>
          </a:ln>
        </p:spPr>
        <p:txBody>
          <a:bodyPr rtlCol="0" anchor="ctr" wrap="square" lIns="0" rIns="0" tIns="0" bIns="0">
            <a:noAutofit/>
          </a:bodyPr>
          <a:lstStyle/>
          <a:p>
            <a:pPr algn="ctr">
              <a:lnSpc>
                <a:spcPct val="100000"/>
              </a:lnSpc>
              <a:spcBef>
                <a:spcPts val="0"/>
              </a:spcBef>
              <a:spcAft>
                <a:spcPts val="0"/>
              </a:spcAft>
            </a:pPr>
            <a:r>
              <a:rPr sz="1400" b="1" i="0" spc="100">
                <a:solidFill>
                  <a:srgbClr val="FFB400"/>
                </a:solidFill>
                <a:latin typeface="Arial Narrow"/>
              </a:rPr>
              <a:t>PRESENT PASSIVE</a:t>
            </a:r>
          </a:p>
        </p:txBody>
      </p:sp>
      <p:sp>
        <p:nvSpPr>
          <p:cNvPr id="26" name="Rounded Rectangle 25"/>
          <p:cNvSpPr/>
          <p:nvPr/>
        </p:nvSpPr>
        <p:spPr>
          <a:xfrm>
            <a:off x="685800" y="4023360"/>
            <a:ext cx="10360152" cy="1417320"/>
          </a:xfrm>
          <a:prstGeom prst="roundRect">
            <a:avLst>
              <a:gd name="adj" fmla="val 9032"/>
            </a:avLst>
          </a:prstGeom>
          <a:solidFill>
            <a:srgbClr val="232B36"/>
          </a:solidFill>
          <a:ln w="19050">
            <a:solidFill>
              <a:srgbClr val="323C4A"/>
            </a:solidFill>
          </a:ln>
        </p:spPr>
        <p:txBody>
          <a:bodyPr rtlCol="0" anchor="ctr"/>
          <a:lstStyle/>
          <a:p>
            <a:pPr algn="ctr"/>
          </a:p>
        </p:txBody>
      </p:sp>
      <p:sp>
        <p:nvSpPr>
          <p:cNvPr id="27" name="TextBox 26"/>
          <p:cNvSpPr txBox="1"/>
          <p:nvPr/>
        </p:nvSpPr>
        <p:spPr>
          <a:xfrm>
            <a:off x="960120" y="4187952"/>
            <a:ext cx="9692640" cy="594360"/>
          </a:xfrm>
          <a:prstGeom prst="rect">
            <a:avLst/>
          </a:prstGeom>
          <a:noFill/>
        </p:spPr>
        <p:txBody>
          <a:bodyPr wrap="square" anchor="t" lIns="0" rIns="0" tIns="0" bIns="0">
            <a:noAutofit/>
          </a:bodyPr>
          <a:lstStyle/>
          <a:p>
            <a:pPr algn="l">
              <a:lnSpc>
                <a:spcPct val="100000"/>
              </a:lnSpc>
              <a:spcBef>
                <a:spcPts val="0"/>
              </a:spcBef>
              <a:spcAft>
                <a:spcPts val="0"/>
              </a:spcAft>
            </a:pPr>
            <a:r>
              <a:rPr sz="2700" b="0" i="0">
                <a:solidFill>
                  <a:srgbClr val="F4F6F8"/>
                </a:solidFill>
                <a:latin typeface="Arial"/>
              </a:rPr>
              <a:t>Energy </a:t>
            </a:r>
            <a:r>
              <a:rPr sz="2700" b="1" i="0">
                <a:solidFill>
                  <a:srgbClr val="FFB400"/>
                </a:solidFill>
                <a:latin typeface="Arial"/>
              </a:rPr>
              <a:t>will be</a:t>
            </a:r>
            <a:r>
              <a:rPr sz="2700" b="0" i="0">
                <a:solidFill>
                  <a:srgbClr val="F4F6F8"/>
                </a:solidFill>
                <a:latin typeface="Arial"/>
              </a:rPr>
              <a:t> </a:t>
            </a:r>
            <a:r>
              <a:rPr sz="2700" b="1" i="0">
                <a:solidFill>
                  <a:srgbClr val="FFB400"/>
                </a:solidFill>
                <a:latin typeface="Arial"/>
              </a:rPr>
              <a:t>transferred</a:t>
            </a:r>
            <a:r>
              <a:rPr sz="2700" b="0" i="0">
                <a:solidFill>
                  <a:srgbClr val="F4F6F8"/>
                </a:solidFill>
                <a:latin typeface="Arial"/>
              </a:rPr>
              <a:t> to the belt.</a:t>
            </a:r>
          </a:p>
        </p:txBody>
      </p:sp>
      <p:sp>
        <p:nvSpPr>
          <p:cNvPr id="28" name="Rounded Rectangle 27"/>
          <p:cNvSpPr/>
          <p:nvPr/>
        </p:nvSpPr>
        <p:spPr>
          <a:xfrm>
            <a:off x="8869680" y="4892040"/>
            <a:ext cx="2148840" cy="457200"/>
          </a:xfrm>
          <a:prstGeom prst="roundRect">
            <a:avLst>
              <a:gd name="adj" fmla="val 20000"/>
            </a:avLst>
          </a:prstGeom>
          <a:solidFill>
            <a:srgbClr val="0E1116"/>
          </a:solidFill>
          <a:ln>
            <a:noFill/>
          </a:ln>
        </p:spPr>
        <p:txBody>
          <a:bodyPr rtlCol="0" anchor="ctr" wrap="square" lIns="0" rIns="0" tIns="0" bIns="0">
            <a:noAutofit/>
          </a:bodyPr>
          <a:lstStyle/>
          <a:p>
            <a:pPr algn="ctr">
              <a:lnSpc>
                <a:spcPct val="100000"/>
              </a:lnSpc>
              <a:spcBef>
                <a:spcPts val="0"/>
              </a:spcBef>
              <a:spcAft>
                <a:spcPts val="0"/>
              </a:spcAft>
            </a:pPr>
            <a:r>
              <a:rPr sz="1400" b="1" i="0" spc="100">
                <a:solidFill>
                  <a:srgbClr val="FFB400"/>
                </a:solidFill>
                <a:latin typeface="Arial Narrow"/>
              </a:rPr>
              <a:t>FUTURE PASSIVE</a:t>
            </a:r>
          </a:p>
        </p:txBody>
      </p:sp>
      <p:sp>
        <p:nvSpPr>
          <p:cNvPr id="29" name="Rounded Rectangle 28"/>
          <p:cNvSpPr/>
          <p:nvPr/>
        </p:nvSpPr>
        <p:spPr>
          <a:xfrm>
            <a:off x="685800" y="5806440"/>
            <a:ext cx="3312176" cy="274320"/>
          </a:xfrm>
          <a:prstGeom prst="roundRect">
            <a:avLst>
              <a:gd name="adj" fmla="val 50000"/>
            </a:avLst>
          </a:prstGeom>
          <a:noFill/>
          <a:ln w="19050">
            <a:solidFill>
              <a:srgbClr val="42C3F7"/>
            </a:solidFill>
          </a:ln>
        </p:spPr>
        <p:txBody>
          <a:bodyPr rtlCol="0" anchor="ctr" wrap="square" lIns="0" rIns="0" tIns="0" bIns="0">
            <a:noAutofit/>
          </a:bodyPr>
          <a:lstStyle/>
          <a:p>
            <a:pPr algn="ctr">
              <a:lnSpc>
                <a:spcPct val="100000"/>
              </a:lnSpc>
              <a:spcBef>
                <a:spcPts val="0"/>
              </a:spcBef>
              <a:spcAft>
                <a:spcPts val="0"/>
              </a:spcAft>
            </a:pPr>
            <a:r>
              <a:rPr sz="1300" b="1" i="0" spc="200">
                <a:solidFill>
                  <a:srgbClr val="42C3F7"/>
                </a:solidFill>
                <a:latin typeface="Arial Narrow"/>
              </a:rPr>
              <a:t>TEXTBOOK · ABSTRACT &amp; TASK 7</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cxnSp>
        <p:nvCxnSpPr>
          <p:cNvPr id="2" name="Connector 1"/>
          <p:cNvCxnSpPr/>
          <p:nvPr/>
        </p:nvCxnSpPr>
        <p:spPr>
          <a:xfrm>
            <a:off x="914400" y="0"/>
            <a:ext cx="0" cy="6858000"/>
          </a:xfrm>
          <a:prstGeom prst="line">
            <a:avLst/>
          </a:prstGeom>
          <a:ln w="9525">
            <a:solidFill>
              <a:srgbClr val="151A22"/>
            </a:solidFill>
          </a:ln>
        </p:spPr>
      </p:cxnSp>
      <p:cxnSp>
        <p:nvCxnSpPr>
          <p:cNvPr id="3" name="Connector 2"/>
          <p:cNvCxnSpPr/>
          <p:nvPr/>
        </p:nvCxnSpPr>
        <p:spPr>
          <a:xfrm>
            <a:off x="1828800" y="0"/>
            <a:ext cx="0" cy="6858000"/>
          </a:xfrm>
          <a:prstGeom prst="line">
            <a:avLst/>
          </a:prstGeom>
          <a:ln w="9525">
            <a:solidFill>
              <a:srgbClr val="151A22"/>
            </a:solidFill>
          </a:ln>
        </p:spPr>
      </p:cxnSp>
      <p:cxnSp>
        <p:nvCxnSpPr>
          <p:cNvPr id="4" name="Connector 3"/>
          <p:cNvCxnSpPr/>
          <p:nvPr/>
        </p:nvCxnSpPr>
        <p:spPr>
          <a:xfrm>
            <a:off x="2743200" y="0"/>
            <a:ext cx="0" cy="6858000"/>
          </a:xfrm>
          <a:prstGeom prst="line">
            <a:avLst/>
          </a:prstGeom>
          <a:ln w="9525">
            <a:solidFill>
              <a:srgbClr val="151A22"/>
            </a:solidFill>
          </a:ln>
        </p:spPr>
      </p:cxnSp>
      <p:cxnSp>
        <p:nvCxnSpPr>
          <p:cNvPr id="5" name="Connector 4"/>
          <p:cNvCxnSpPr/>
          <p:nvPr/>
        </p:nvCxnSpPr>
        <p:spPr>
          <a:xfrm>
            <a:off x="3657600" y="0"/>
            <a:ext cx="0" cy="6858000"/>
          </a:xfrm>
          <a:prstGeom prst="line">
            <a:avLst/>
          </a:prstGeom>
          <a:ln w="9525">
            <a:solidFill>
              <a:srgbClr val="151A22"/>
            </a:solidFill>
          </a:ln>
        </p:spPr>
      </p:cxnSp>
      <p:cxnSp>
        <p:nvCxnSpPr>
          <p:cNvPr id="6" name="Connector 5"/>
          <p:cNvCxnSpPr/>
          <p:nvPr/>
        </p:nvCxnSpPr>
        <p:spPr>
          <a:xfrm>
            <a:off x="4572000" y="0"/>
            <a:ext cx="0" cy="6858000"/>
          </a:xfrm>
          <a:prstGeom prst="line">
            <a:avLst/>
          </a:prstGeom>
          <a:ln w="9525">
            <a:solidFill>
              <a:srgbClr val="151A22"/>
            </a:solidFill>
          </a:ln>
        </p:spPr>
      </p:cxnSp>
      <p:cxnSp>
        <p:nvCxnSpPr>
          <p:cNvPr id="7" name="Connector 6"/>
          <p:cNvCxnSpPr/>
          <p:nvPr/>
        </p:nvCxnSpPr>
        <p:spPr>
          <a:xfrm>
            <a:off x="5486400" y="0"/>
            <a:ext cx="0" cy="6858000"/>
          </a:xfrm>
          <a:prstGeom prst="line">
            <a:avLst/>
          </a:prstGeom>
          <a:ln w="9525">
            <a:solidFill>
              <a:srgbClr val="151A22"/>
            </a:solidFill>
          </a:ln>
        </p:spPr>
      </p:cxnSp>
      <p:cxnSp>
        <p:nvCxnSpPr>
          <p:cNvPr id="8" name="Connector 7"/>
          <p:cNvCxnSpPr/>
          <p:nvPr/>
        </p:nvCxnSpPr>
        <p:spPr>
          <a:xfrm>
            <a:off x="6400800" y="0"/>
            <a:ext cx="0" cy="6858000"/>
          </a:xfrm>
          <a:prstGeom prst="line">
            <a:avLst/>
          </a:prstGeom>
          <a:ln w="9525">
            <a:solidFill>
              <a:srgbClr val="151A22"/>
            </a:solidFill>
          </a:ln>
        </p:spPr>
      </p:cxnSp>
      <p:cxnSp>
        <p:nvCxnSpPr>
          <p:cNvPr id="9" name="Connector 8"/>
          <p:cNvCxnSpPr/>
          <p:nvPr/>
        </p:nvCxnSpPr>
        <p:spPr>
          <a:xfrm>
            <a:off x="7315200" y="0"/>
            <a:ext cx="0" cy="6858000"/>
          </a:xfrm>
          <a:prstGeom prst="line">
            <a:avLst/>
          </a:prstGeom>
          <a:ln w="9525">
            <a:solidFill>
              <a:srgbClr val="151A22"/>
            </a:solidFill>
          </a:ln>
        </p:spPr>
      </p:cxnSp>
      <p:cxnSp>
        <p:nvCxnSpPr>
          <p:cNvPr id="10" name="Connector 9"/>
          <p:cNvCxnSpPr/>
          <p:nvPr/>
        </p:nvCxnSpPr>
        <p:spPr>
          <a:xfrm>
            <a:off x="8229600" y="0"/>
            <a:ext cx="0" cy="6858000"/>
          </a:xfrm>
          <a:prstGeom prst="line">
            <a:avLst/>
          </a:prstGeom>
          <a:ln w="9525">
            <a:solidFill>
              <a:srgbClr val="151A22"/>
            </a:solidFill>
          </a:ln>
        </p:spPr>
      </p:cxnSp>
      <p:cxnSp>
        <p:nvCxnSpPr>
          <p:cNvPr id="11" name="Connector 10"/>
          <p:cNvCxnSpPr/>
          <p:nvPr/>
        </p:nvCxnSpPr>
        <p:spPr>
          <a:xfrm>
            <a:off x="9144000" y="0"/>
            <a:ext cx="0" cy="6858000"/>
          </a:xfrm>
          <a:prstGeom prst="line">
            <a:avLst/>
          </a:prstGeom>
          <a:ln w="9525">
            <a:solidFill>
              <a:srgbClr val="151A22"/>
            </a:solidFill>
          </a:ln>
        </p:spPr>
      </p:cxnSp>
      <p:cxnSp>
        <p:nvCxnSpPr>
          <p:cNvPr id="12" name="Connector 11"/>
          <p:cNvCxnSpPr/>
          <p:nvPr/>
        </p:nvCxnSpPr>
        <p:spPr>
          <a:xfrm>
            <a:off x="10058400" y="0"/>
            <a:ext cx="0" cy="6858000"/>
          </a:xfrm>
          <a:prstGeom prst="line">
            <a:avLst/>
          </a:prstGeom>
          <a:ln w="9525">
            <a:solidFill>
              <a:srgbClr val="151A22"/>
            </a:solidFill>
          </a:ln>
        </p:spPr>
      </p:cxnSp>
      <p:cxnSp>
        <p:nvCxnSpPr>
          <p:cNvPr id="13" name="Connector 12"/>
          <p:cNvCxnSpPr/>
          <p:nvPr/>
        </p:nvCxnSpPr>
        <p:spPr>
          <a:xfrm>
            <a:off x="10972800" y="0"/>
            <a:ext cx="0" cy="6858000"/>
          </a:xfrm>
          <a:prstGeom prst="line">
            <a:avLst/>
          </a:prstGeom>
          <a:ln w="9525">
            <a:solidFill>
              <a:srgbClr val="151A22"/>
            </a:solidFill>
          </a:ln>
        </p:spPr>
      </p:cxnSp>
      <p:cxnSp>
        <p:nvCxnSpPr>
          <p:cNvPr id="14" name="Connector 13"/>
          <p:cNvCxnSpPr/>
          <p:nvPr/>
        </p:nvCxnSpPr>
        <p:spPr>
          <a:xfrm>
            <a:off x="11887200" y="0"/>
            <a:ext cx="0" cy="6858000"/>
          </a:xfrm>
          <a:prstGeom prst="line">
            <a:avLst/>
          </a:prstGeom>
          <a:ln w="9525">
            <a:solidFill>
              <a:srgbClr val="151A22"/>
            </a:solidFill>
          </a:ln>
        </p:spPr>
      </p:cxnSp>
      <p:cxnSp>
        <p:nvCxnSpPr>
          <p:cNvPr id="15" name="Connector 14"/>
          <p:cNvCxnSpPr/>
          <p:nvPr/>
        </p:nvCxnSpPr>
        <p:spPr>
          <a:xfrm>
            <a:off x="0" y="914400"/>
            <a:ext cx="12192000" cy="0"/>
          </a:xfrm>
          <a:prstGeom prst="line">
            <a:avLst/>
          </a:prstGeom>
          <a:ln w="9525">
            <a:solidFill>
              <a:srgbClr val="151A22"/>
            </a:solidFill>
          </a:ln>
        </p:spPr>
      </p:cxnSp>
      <p:cxnSp>
        <p:nvCxnSpPr>
          <p:cNvPr id="16" name="Connector 15"/>
          <p:cNvCxnSpPr/>
          <p:nvPr/>
        </p:nvCxnSpPr>
        <p:spPr>
          <a:xfrm>
            <a:off x="0" y="1828800"/>
            <a:ext cx="12192000" cy="0"/>
          </a:xfrm>
          <a:prstGeom prst="line">
            <a:avLst/>
          </a:prstGeom>
          <a:ln w="9525">
            <a:solidFill>
              <a:srgbClr val="151A22"/>
            </a:solidFill>
          </a:ln>
        </p:spPr>
      </p:cxnSp>
      <p:cxnSp>
        <p:nvCxnSpPr>
          <p:cNvPr id="17" name="Connector 16"/>
          <p:cNvCxnSpPr/>
          <p:nvPr/>
        </p:nvCxnSpPr>
        <p:spPr>
          <a:xfrm>
            <a:off x="0" y="2743200"/>
            <a:ext cx="12192000" cy="0"/>
          </a:xfrm>
          <a:prstGeom prst="line">
            <a:avLst/>
          </a:prstGeom>
          <a:ln w="9525">
            <a:solidFill>
              <a:srgbClr val="151A22"/>
            </a:solidFill>
          </a:ln>
        </p:spPr>
      </p:cxnSp>
      <p:cxnSp>
        <p:nvCxnSpPr>
          <p:cNvPr id="18" name="Connector 17"/>
          <p:cNvCxnSpPr/>
          <p:nvPr/>
        </p:nvCxnSpPr>
        <p:spPr>
          <a:xfrm>
            <a:off x="0" y="3657600"/>
            <a:ext cx="12192000" cy="0"/>
          </a:xfrm>
          <a:prstGeom prst="line">
            <a:avLst/>
          </a:prstGeom>
          <a:ln w="9525">
            <a:solidFill>
              <a:srgbClr val="151A22"/>
            </a:solidFill>
          </a:ln>
        </p:spPr>
      </p:cxnSp>
      <p:cxnSp>
        <p:nvCxnSpPr>
          <p:cNvPr id="19" name="Connector 18"/>
          <p:cNvCxnSpPr/>
          <p:nvPr/>
        </p:nvCxnSpPr>
        <p:spPr>
          <a:xfrm>
            <a:off x="0" y="4572000"/>
            <a:ext cx="12192000" cy="0"/>
          </a:xfrm>
          <a:prstGeom prst="line">
            <a:avLst/>
          </a:prstGeom>
          <a:ln w="9525">
            <a:solidFill>
              <a:srgbClr val="151A22"/>
            </a:solidFill>
          </a:ln>
        </p:spPr>
      </p:cxnSp>
      <p:cxnSp>
        <p:nvCxnSpPr>
          <p:cNvPr id="20" name="Connector 19"/>
          <p:cNvCxnSpPr/>
          <p:nvPr/>
        </p:nvCxnSpPr>
        <p:spPr>
          <a:xfrm>
            <a:off x="0" y="5486400"/>
            <a:ext cx="12192000" cy="0"/>
          </a:xfrm>
          <a:prstGeom prst="line">
            <a:avLst/>
          </a:prstGeom>
          <a:ln w="9525">
            <a:solidFill>
              <a:srgbClr val="151A22"/>
            </a:solidFill>
          </a:ln>
        </p:spPr>
      </p:cxnSp>
      <p:cxnSp>
        <p:nvCxnSpPr>
          <p:cNvPr id="21" name="Connector 20"/>
          <p:cNvCxnSpPr/>
          <p:nvPr/>
        </p:nvCxnSpPr>
        <p:spPr>
          <a:xfrm>
            <a:off x="0" y="6400800"/>
            <a:ext cx="12192000" cy="0"/>
          </a:xfrm>
          <a:prstGeom prst="line">
            <a:avLst/>
          </a:prstGeom>
          <a:ln w="9525">
            <a:solidFill>
              <a:srgbClr val="151A22"/>
            </a:solidFill>
          </a:ln>
        </p:spPr>
      </p:cxnSp>
      <p:sp>
        <p:nvSpPr>
          <p:cNvPr id="22" name="Rectangle 2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23" name="TextBox 2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A9B3C0"/>
                </a:solidFill>
                <a:latin typeface="Arial Narrow"/>
              </a:rPr>
              <a:t>ACT 4 · LANGUAGE OF ENGINEERS</a:t>
            </a:r>
          </a:p>
        </p:txBody>
      </p:sp>
      <p:sp>
        <p:nvSpPr>
          <p:cNvPr id="24" name="Rounded Rectangle 23"/>
          <p:cNvSpPr/>
          <p:nvPr/>
        </p:nvSpPr>
        <p:spPr>
          <a:xfrm>
            <a:off x="10058400" y="274320"/>
            <a:ext cx="1444752" cy="329184"/>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1500" b="1" i="0" spc="60">
                <a:solidFill>
                  <a:srgbClr val="12161C"/>
                </a:solidFill>
                <a:latin typeface="Arial"/>
              </a:rPr>
              <a:t>+100 EP</a:t>
            </a:r>
          </a:p>
        </p:txBody>
      </p:sp>
      <p:sp>
        <p:nvSpPr>
          <p:cNvPr id="25" name="TextBox 2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6F7A89"/>
                </a:solidFill>
                <a:latin typeface="Arial Narrow"/>
              </a:rPr>
              <a:t>ENERGY LAB  ·  CRASH TEST #05</a:t>
            </a:r>
          </a:p>
        </p:txBody>
      </p:sp>
      <p:sp>
        <p:nvSpPr>
          <p:cNvPr id="26" name="Rectangle 25"/>
          <p:cNvSpPr/>
          <p:nvPr/>
        </p:nvSpPr>
        <p:spPr>
          <a:xfrm>
            <a:off x="4526280" y="6510528"/>
            <a:ext cx="127363" cy="54864"/>
          </a:xfrm>
          <a:prstGeom prst="rect">
            <a:avLst/>
          </a:prstGeom>
          <a:solidFill>
            <a:srgbClr val="8A6A1A"/>
          </a:solidFill>
          <a:ln>
            <a:noFill/>
          </a:ln>
        </p:spPr>
        <p:txBody>
          <a:bodyPr rtlCol="0" anchor="ctr"/>
          <a:lstStyle/>
          <a:p>
            <a:pPr algn="ctr"/>
          </a:p>
        </p:txBody>
      </p:sp>
      <p:sp>
        <p:nvSpPr>
          <p:cNvPr id="27" name="Rectangle 26"/>
          <p:cNvSpPr/>
          <p:nvPr/>
        </p:nvSpPr>
        <p:spPr>
          <a:xfrm>
            <a:off x="4676503" y="6510528"/>
            <a:ext cx="187452" cy="54864"/>
          </a:xfrm>
          <a:prstGeom prst="rect">
            <a:avLst/>
          </a:prstGeom>
          <a:solidFill>
            <a:srgbClr val="8A6A1A"/>
          </a:solidFill>
          <a:ln>
            <a:noFill/>
          </a:ln>
        </p:spPr>
        <p:txBody>
          <a:bodyPr rtlCol="0" anchor="ctr"/>
          <a:lstStyle/>
          <a:p>
            <a:pPr algn="ctr"/>
          </a:p>
        </p:txBody>
      </p:sp>
      <p:sp>
        <p:nvSpPr>
          <p:cNvPr id="28" name="Rectangle 27"/>
          <p:cNvSpPr/>
          <p:nvPr/>
        </p:nvSpPr>
        <p:spPr>
          <a:xfrm>
            <a:off x="4886815" y="6510528"/>
            <a:ext cx="157407" cy="54864"/>
          </a:xfrm>
          <a:prstGeom prst="rect">
            <a:avLst/>
          </a:prstGeom>
          <a:solidFill>
            <a:srgbClr val="8A6A1A"/>
          </a:solidFill>
          <a:ln>
            <a:noFill/>
          </a:ln>
        </p:spPr>
        <p:txBody>
          <a:bodyPr rtlCol="0" anchor="ctr"/>
          <a:lstStyle/>
          <a:p>
            <a:pPr algn="ctr"/>
          </a:p>
        </p:txBody>
      </p:sp>
      <p:sp>
        <p:nvSpPr>
          <p:cNvPr id="29" name="Rectangle 28"/>
          <p:cNvSpPr/>
          <p:nvPr/>
        </p:nvSpPr>
        <p:spPr>
          <a:xfrm>
            <a:off x="5067082" y="6510528"/>
            <a:ext cx="337675" cy="54864"/>
          </a:xfrm>
          <a:prstGeom prst="rect">
            <a:avLst/>
          </a:prstGeom>
          <a:solidFill>
            <a:srgbClr val="8A6A1A"/>
          </a:solidFill>
          <a:ln>
            <a:noFill/>
          </a:ln>
        </p:spPr>
        <p:txBody>
          <a:bodyPr rtlCol="0" anchor="ctr"/>
          <a:lstStyle/>
          <a:p>
            <a:pPr algn="ctr"/>
          </a:p>
        </p:txBody>
      </p:sp>
      <p:sp>
        <p:nvSpPr>
          <p:cNvPr id="30" name="Rectangle 29"/>
          <p:cNvSpPr/>
          <p:nvPr/>
        </p:nvSpPr>
        <p:spPr>
          <a:xfrm>
            <a:off x="5427617" y="6510528"/>
            <a:ext cx="247541" cy="54864"/>
          </a:xfrm>
          <a:prstGeom prst="rect">
            <a:avLst/>
          </a:prstGeom>
          <a:solidFill>
            <a:srgbClr val="8A6A1A"/>
          </a:solidFill>
          <a:ln>
            <a:noFill/>
          </a:ln>
        </p:spPr>
        <p:txBody>
          <a:bodyPr rtlCol="0" anchor="ctr"/>
          <a:lstStyle/>
          <a:p>
            <a:pPr algn="ctr"/>
          </a:p>
        </p:txBody>
      </p:sp>
      <p:sp>
        <p:nvSpPr>
          <p:cNvPr id="31" name="Rectangle 30"/>
          <p:cNvSpPr/>
          <p:nvPr/>
        </p:nvSpPr>
        <p:spPr>
          <a:xfrm>
            <a:off x="5698018" y="6510528"/>
            <a:ext cx="67274" cy="54864"/>
          </a:xfrm>
          <a:prstGeom prst="rect">
            <a:avLst/>
          </a:prstGeom>
          <a:solidFill>
            <a:srgbClr val="8A6A1A"/>
          </a:solidFill>
          <a:ln>
            <a:noFill/>
          </a:ln>
        </p:spPr>
        <p:txBody>
          <a:bodyPr rtlCol="0" anchor="ctr"/>
          <a:lstStyle/>
          <a:p>
            <a:pPr algn="ctr"/>
          </a:p>
        </p:txBody>
      </p:sp>
      <p:sp>
        <p:nvSpPr>
          <p:cNvPr id="32" name="Rectangle 31"/>
          <p:cNvSpPr/>
          <p:nvPr/>
        </p:nvSpPr>
        <p:spPr>
          <a:xfrm>
            <a:off x="5788152" y="6510528"/>
            <a:ext cx="397764" cy="54864"/>
          </a:xfrm>
          <a:prstGeom prst="rect">
            <a:avLst/>
          </a:prstGeom>
          <a:solidFill>
            <a:srgbClr val="8A6A1A"/>
          </a:solidFill>
          <a:ln>
            <a:noFill/>
          </a:ln>
        </p:spPr>
        <p:txBody>
          <a:bodyPr rtlCol="0" anchor="ctr"/>
          <a:lstStyle/>
          <a:p>
            <a:pPr algn="ctr"/>
          </a:p>
        </p:txBody>
      </p:sp>
      <p:sp>
        <p:nvSpPr>
          <p:cNvPr id="33" name="Rectangle 32"/>
          <p:cNvSpPr/>
          <p:nvPr/>
        </p:nvSpPr>
        <p:spPr>
          <a:xfrm>
            <a:off x="6208776" y="6510528"/>
            <a:ext cx="187452" cy="54864"/>
          </a:xfrm>
          <a:prstGeom prst="rect">
            <a:avLst/>
          </a:prstGeom>
          <a:solidFill>
            <a:srgbClr val="8A6A1A"/>
          </a:solidFill>
          <a:ln>
            <a:noFill/>
          </a:ln>
        </p:spPr>
        <p:txBody>
          <a:bodyPr rtlCol="0" anchor="ctr"/>
          <a:lstStyle/>
          <a:p>
            <a:pPr algn="ctr"/>
          </a:p>
        </p:txBody>
      </p:sp>
      <p:sp>
        <p:nvSpPr>
          <p:cNvPr id="34" name="Rectangle 33"/>
          <p:cNvSpPr/>
          <p:nvPr/>
        </p:nvSpPr>
        <p:spPr>
          <a:xfrm>
            <a:off x="6419088" y="6510528"/>
            <a:ext cx="367719" cy="54864"/>
          </a:xfrm>
          <a:prstGeom prst="rect">
            <a:avLst/>
          </a:prstGeom>
          <a:solidFill>
            <a:srgbClr val="8A6A1A"/>
          </a:solidFill>
          <a:ln>
            <a:noFill/>
          </a:ln>
        </p:spPr>
        <p:txBody>
          <a:bodyPr rtlCol="0" anchor="ctr"/>
          <a:lstStyle/>
          <a:p>
            <a:pPr algn="ctr"/>
          </a:p>
        </p:txBody>
      </p:sp>
      <p:sp>
        <p:nvSpPr>
          <p:cNvPr id="35" name="Rectangle 34"/>
          <p:cNvSpPr/>
          <p:nvPr/>
        </p:nvSpPr>
        <p:spPr>
          <a:xfrm>
            <a:off x="6809667" y="6510528"/>
            <a:ext cx="157407" cy="54864"/>
          </a:xfrm>
          <a:prstGeom prst="rect">
            <a:avLst/>
          </a:prstGeom>
          <a:solidFill>
            <a:srgbClr val="FFB400"/>
          </a:solidFill>
          <a:ln>
            <a:noFill/>
          </a:ln>
        </p:spPr>
        <p:txBody>
          <a:bodyPr rtlCol="0" anchor="ctr"/>
          <a:lstStyle/>
          <a:p>
            <a:pPr algn="ctr"/>
          </a:p>
        </p:txBody>
      </p:sp>
      <p:sp>
        <p:nvSpPr>
          <p:cNvPr id="36" name="Rectangle 35"/>
          <p:cNvSpPr/>
          <p:nvPr/>
        </p:nvSpPr>
        <p:spPr>
          <a:xfrm>
            <a:off x="6989935" y="6510528"/>
            <a:ext cx="217497" cy="54864"/>
          </a:xfrm>
          <a:prstGeom prst="rect">
            <a:avLst/>
          </a:prstGeom>
          <a:solidFill>
            <a:srgbClr val="2A3240"/>
          </a:solidFill>
          <a:ln>
            <a:noFill/>
          </a:ln>
        </p:spPr>
        <p:txBody>
          <a:bodyPr rtlCol="0" anchor="ctr"/>
          <a:lstStyle/>
          <a:p>
            <a:pPr algn="ctr"/>
          </a:p>
        </p:txBody>
      </p:sp>
      <p:sp>
        <p:nvSpPr>
          <p:cNvPr id="37" name="Rectangle 36"/>
          <p:cNvSpPr/>
          <p:nvPr/>
        </p:nvSpPr>
        <p:spPr>
          <a:xfrm>
            <a:off x="7230291" y="6510528"/>
            <a:ext cx="217497" cy="54864"/>
          </a:xfrm>
          <a:prstGeom prst="rect">
            <a:avLst/>
          </a:prstGeom>
          <a:solidFill>
            <a:srgbClr val="2A3240"/>
          </a:solidFill>
          <a:ln>
            <a:noFill/>
          </a:ln>
        </p:spPr>
        <p:txBody>
          <a:bodyPr rtlCol="0" anchor="ctr"/>
          <a:lstStyle/>
          <a:p>
            <a:pPr algn="ctr"/>
          </a:p>
        </p:txBody>
      </p:sp>
      <p:sp>
        <p:nvSpPr>
          <p:cNvPr id="38" name="Rectangle 37"/>
          <p:cNvSpPr/>
          <p:nvPr/>
        </p:nvSpPr>
        <p:spPr>
          <a:xfrm>
            <a:off x="7470648" y="6510528"/>
            <a:ext cx="97318" cy="54864"/>
          </a:xfrm>
          <a:prstGeom prst="rect">
            <a:avLst/>
          </a:prstGeom>
          <a:solidFill>
            <a:srgbClr val="2A3240"/>
          </a:solidFill>
          <a:ln>
            <a:noFill/>
          </a:ln>
        </p:spPr>
        <p:txBody>
          <a:bodyPr rtlCol="0" anchor="ctr"/>
          <a:lstStyle/>
          <a:p>
            <a:pPr algn="ctr"/>
          </a:p>
        </p:txBody>
      </p:sp>
      <p:sp>
        <p:nvSpPr>
          <p:cNvPr id="39" name="Rectangle 38"/>
          <p:cNvSpPr/>
          <p:nvPr/>
        </p:nvSpPr>
        <p:spPr>
          <a:xfrm>
            <a:off x="7590826" y="6510528"/>
            <a:ext cx="67274" cy="54864"/>
          </a:xfrm>
          <a:prstGeom prst="rect">
            <a:avLst/>
          </a:prstGeom>
          <a:solidFill>
            <a:srgbClr val="2A3240"/>
          </a:solidFill>
          <a:ln>
            <a:noFill/>
          </a:ln>
        </p:spPr>
        <p:txBody>
          <a:bodyPr rtlCol="0" anchor="ctr"/>
          <a:lstStyle/>
          <a:p>
            <a:pPr algn="ctr"/>
          </a:p>
        </p:txBody>
      </p:sp>
      <p:sp>
        <p:nvSpPr>
          <p:cNvPr id="40" name="TextBox 3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6F7A89"/>
                </a:solidFill>
                <a:latin typeface="Arial Narrow"/>
              </a:rPr>
              <a:t>62</a:t>
            </a:fld>
          </a:p>
        </p:txBody>
      </p:sp>
      <p:sp>
        <p:nvSpPr>
          <p:cNvPr id="41" name="Rectangle 40"/>
          <p:cNvSpPr/>
          <p:nvPr/>
        </p:nvSpPr>
        <p:spPr>
          <a:xfrm>
            <a:off x="0" y="0"/>
            <a:ext cx="12192000" cy="6858000"/>
          </a:xfrm>
          <a:prstGeom prst="rect">
            <a:avLst/>
          </a:prstGeom>
          <a:solidFill>
            <a:srgbClr val="1A1006"/>
          </a:solidFill>
          <a:ln>
            <a:noFill/>
          </a:ln>
        </p:spPr>
        <p:txBody>
          <a:bodyPr rtlCol="0" anchor="ctr"/>
          <a:lstStyle/>
          <a:p>
            <a:pPr algn="ctr"/>
          </a:p>
        </p:txBody>
      </p:sp>
      <p:sp>
        <p:nvSpPr>
          <p:cNvPr id="42" name="TextBox 41"/>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FFB400"/>
                </a:solidFill>
                <a:latin typeface="Arial Narrow"/>
              </a:rPr>
              <a:t>GAME 4 · SYSTEM ALERT</a:t>
            </a:r>
          </a:p>
        </p:txBody>
      </p:sp>
      <p:sp>
        <p:nvSpPr>
          <p:cNvPr id="43" name="TextBox 42"/>
          <p:cNvSpPr txBox="1"/>
          <p:nvPr/>
        </p:nvSpPr>
        <p:spPr>
          <a:xfrm>
            <a:off x="685800" y="1188720"/>
            <a:ext cx="10789920" cy="1005840"/>
          </a:xfrm>
          <a:prstGeom prst="rect">
            <a:avLst/>
          </a:prstGeom>
          <a:noFill/>
        </p:spPr>
        <p:txBody>
          <a:bodyPr wrap="square" anchor="t" lIns="0" rIns="0" tIns="0" bIns="0">
            <a:noAutofit/>
          </a:bodyPr>
          <a:lstStyle/>
          <a:p>
            <a:pPr algn="l">
              <a:lnSpc>
                <a:spcPct val="100000"/>
              </a:lnSpc>
              <a:spcBef>
                <a:spcPts val="0"/>
              </a:spcBef>
              <a:spcAft>
                <a:spcPts val="0"/>
              </a:spcAft>
            </a:pPr>
            <a:r>
              <a:rPr sz="4600" b="0" i="0">
                <a:solidFill>
                  <a:srgbClr val="FFB400"/>
                </a:solidFill>
                <a:latin typeface="Arial Black"/>
              </a:rPr>
              <a:t>LANGUAGE SYSTEM FAILURE</a:t>
            </a:r>
          </a:p>
        </p:txBody>
      </p:sp>
      <p:sp>
        <p:nvSpPr>
          <p:cNvPr id="44" name="TextBox 43"/>
          <p:cNvSpPr txBox="1"/>
          <p:nvPr/>
        </p:nvSpPr>
        <p:spPr>
          <a:xfrm>
            <a:off x="713232" y="2057400"/>
            <a:ext cx="10058400" cy="548640"/>
          </a:xfrm>
          <a:prstGeom prst="rect">
            <a:avLst/>
          </a:prstGeom>
          <a:noFill/>
        </p:spPr>
        <p:txBody>
          <a:bodyPr wrap="square" anchor="t" lIns="0" rIns="0" tIns="0" bIns="0">
            <a:noAutofit/>
          </a:bodyPr>
          <a:lstStyle/>
          <a:p>
            <a:pPr algn="l">
              <a:lnSpc>
                <a:spcPct val="100000"/>
              </a:lnSpc>
              <a:spcBef>
                <a:spcPts val="0"/>
              </a:spcBef>
              <a:spcAft>
                <a:spcPts val="0"/>
              </a:spcAft>
            </a:pPr>
            <a:r>
              <a:rPr sz="2400" b="1" i="0" spc="100">
                <a:solidFill>
                  <a:srgbClr val="F4F6F8"/>
                </a:solidFill>
                <a:latin typeface="Arial Narrow"/>
              </a:rPr>
              <a:t>ENGINEER.EXE IS SPEAKING BAD ENGLISH.</a:t>
            </a:r>
          </a:p>
        </p:txBody>
      </p:sp>
      <p:sp>
        <p:nvSpPr>
          <p:cNvPr id="45" name="Rounded Rectangle 44"/>
          <p:cNvSpPr/>
          <p:nvPr/>
        </p:nvSpPr>
        <p:spPr>
          <a:xfrm>
            <a:off x="685800" y="2880360"/>
            <a:ext cx="10360152" cy="1828800"/>
          </a:xfrm>
          <a:prstGeom prst="roundRect">
            <a:avLst>
              <a:gd name="adj" fmla="val 7000"/>
            </a:avLst>
          </a:prstGeom>
          <a:solidFill>
            <a:srgbClr val="1A2029"/>
          </a:solidFill>
          <a:ln w="19050">
            <a:solidFill>
              <a:srgbClr val="323C4A"/>
            </a:solidFill>
          </a:ln>
        </p:spPr>
        <p:txBody>
          <a:bodyPr rtlCol="0" anchor="ctr"/>
          <a:lstStyle/>
          <a:p>
            <a:pPr algn="ctr"/>
          </a:p>
        </p:txBody>
      </p:sp>
      <p:sp>
        <p:nvSpPr>
          <p:cNvPr id="46" name="TextBox 45"/>
          <p:cNvSpPr txBox="1"/>
          <p:nvPr/>
        </p:nvSpPr>
        <p:spPr>
          <a:xfrm>
            <a:off x="960120" y="3108960"/>
            <a:ext cx="9784080" cy="502920"/>
          </a:xfrm>
          <a:prstGeom prst="rect">
            <a:avLst/>
          </a:prstGeom>
          <a:noFill/>
        </p:spPr>
        <p:txBody>
          <a:bodyPr wrap="square" anchor="t" lIns="0" rIns="0" tIns="0" bIns="0">
            <a:noAutofit/>
          </a:bodyPr>
          <a:lstStyle/>
          <a:p>
            <a:pPr algn="l">
              <a:lnSpc>
                <a:spcPct val="100000"/>
              </a:lnSpc>
              <a:spcBef>
                <a:spcPts val="0"/>
              </a:spcBef>
              <a:spcAft>
                <a:spcPts val="0"/>
              </a:spcAft>
            </a:pPr>
            <a:r>
              <a:rPr sz="2000" b="1" i="0" spc="150">
                <a:solidFill>
                  <a:srgbClr val="A9B3C0"/>
                </a:solidFill>
                <a:latin typeface="Arial Narrow"/>
              </a:rPr>
              <a:t>YOUR JOB: REPAIR THE SENTENCE.</a:t>
            </a:r>
          </a:p>
        </p:txBody>
      </p:sp>
      <p:sp>
        <p:nvSpPr>
          <p:cNvPr id="47" name="TextBox 46"/>
          <p:cNvSpPr txBox="1"/>
          <p:nvPr/>
        </p:nvSpPr>
        <p:spPr>
          <a:xfrm>
            <a:off x="914400" y="3611880"/>
            <a:ext cx="9966960" cy="914400"/>
          </a:xfrm>
          <a:prstGeom prst="rect">
            <a:avLst/>
          </a:prstGeom>
          <a:noFill/>
        </p:spPr>
        <p:txBody>
          <a:bodyPr wrap="square" anchor="t" lIns="0" rIns="0" tIns="0" bIns="0">
            <a:noAutofit/>
          </a:bodyPr>
          <a:lstStyle/>
          <a:p>
            <a:pPr algn="l">
              <a:lnSpc>
                <a:spcPct val="100000"/>
              </a:lnSpc>
              <a:spcBef>
                <a:spcPts val="0"/>
              </a:spcBef>
              <a:spcAft>
                <a:spcPts val="0"/>
              </a:spcAft>
            </a:pPr>
            <a:r>
              <a:rPr sz="2200" b="0" i="0">
                <a:solidFill>
                  <a:srgbClr val="F4F6F8"/>
                </a:solidFill>
                <a:latin typeface="Arial"/>
              </a:rPr>
              <a:t>Say the </a:t>
            </a:r>
            <a:r>
              <a:rPr sz="2200" b="1" i="0">
                <a:solidFill>
                  <a:srgbClr val="FFB400"/>
                </a:solidFill>
                <a:latin typeface="Arial"/>
              </a:rPr>
              <a:t>correct</a:t>
            </a:r>
            <a:r>
              <a:rPr sz="2200" b="0" i="0">
                <a:solidFill>
                  <a:srgbClr val="F4F6F8"/>
                </a:solidFill>
                <a:latin typeface="Arial"/>
              </a:rPr>
              <a:t> version out loud. Fastest correct team in each zone: </a:t>
            </a:r>
            <a:r>
              <a:rPr sz="2200" b="1" i="0">
                <a:solidFill>
                  <a:srgbClr val="FFB400"/>
                </a:solidFill>
                <a:latin typeface="Arial"/>
              </a:rPr>
              <a:t>+100 EP</a:t>
            </a:r>
            <a:r>
              <a:rPr sz="2200" b="0" i="0">
                <a:solidFill>
                  <a:srgbClr val="F4F6F8"/>
                </a:solidFill>
                <a:latin typeface="Arial"/>
              </a:rPr>
              <a: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A9B3C0"/>
                </a:solidFill>
                <a:latin typeface="Arial Narrow"/>
              </a:rPr>
              <a:t>ACT 4 · LANGUAGE OF ENGINEERS</a:t>
            </a:r>
          </a:p>
        </p:txBody>
      </p:sp>
      <p:sp>
        <p:nvSpPr>
          <p:cNvPr id="4" name="Rounded Rectangle 3"/>
          <p:cNvSpPr/>
          <p:nvPr/>
        </p:nvSpPr>
        <p:spPr>
          <a:xfrm>
            <a:off x="10058400" y="274320"/>
            <a:ext cx="1444752" cy="329184"/>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1500" b="1" i="0" spc="60">
                <a:solidFill>
                  <a:srgbClr val="12161C"/>
                </a:solidFill>
                <a:latin typeface="Arial"/>
              </a:rPr>
              <a:t>+100 EP</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6F7A89"/>
                </a:solidFill>
                <a:latin typeface="Arial Narrow"/>
              </a:rPr>
              <a:t>ENERGY LAB  ·  CRASH TEST #05</a:t>
            </a:r>
          </a:p>
        </p:txBody>
      </p:sp>
      <p:sp>
        <p:nvSpPr>
          <p:cNvPr id="6" name="Rectangle 5"/>
          <p:cNvSpPr/>
          <p:nvPr/>
        </p:nvSpPr>
        <p:spPr>
          <a:xfrm>
            <a:off x="4526280" y="6510528"/>
            <a:ext cx="127363" cy="54864"/>
          </a:xfrm>
          <a:prstGeom prst="rect">
            <a:avLst/>
          </a:prstGeom>
          <a:solidFill>
            <a:srgbClr val="8A6A1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8A6A1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8A6A1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8A6A1A"/>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8A6A1A"/>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8A6A1A"/>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8A6A1A"/>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8A6A1A"/>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8A6A1A"/>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FFB400"/>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2A3240"/>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2A3240"/>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2A3240"/>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2A3240"/>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6F7A89"/>
                </a:solidFill>
                <a:latin typeface="Arial Narrow"/>
              </a:rPr>
              <a:t>63</a:t>
            </a:fld>
          </a:p>
        </p:txBody>
      </p:sp>
      <p:sp>
        <p:nvSpPr>
          <p:cNvPr id="21" name="TextBox 20"/>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F0525A"/>
                </a:solidFill>
                <a:latin typeface="Arial Narrow"/>
              </a:rPr>
              <a:t>BUG 1 / 5</a:t>
            </a:r>
          </a:p>
        </p:txBody>
      </p:sp>
      <p:sp>
        <p:nvSpPr>
          <p:cNvPr id="22" name="Rounded Rectangle 21"/>
          <p:cNvSpPr/>
          <p:nvPr/>
        </p:nvSpPr>
        <p:spPr>
          <a:xfrm>
            <a:off x="685800" y="1371600"/>
            <a:ext cx="10360152" cy="1371600"/>
          </a:xfrm>
          <a:prstGeom prst="roundRect">
            <a:avLst>
              <a:gd name="adj" fmla="val 9333"/>
            </a:avLst>
          </a:prstGeom>
          <a:solidFill>
            <a:srgbClr val="1A2029"/>
          </a:solidFill>
          <a:ln w="25400">
            <a:solidFill>
              <a:srgbClr val="F0525A"/>
            </a:solidFill>
          </a:ln>
        </p:spPr>
        <p:txBody>
          <a:bodyPr rtlCol="0" anchor="ctr"/>
          <a:lstStyle/>
          <a:p>
            <a:pPr algn="ctr"/>
          </a:p>
        </p:txBody>
      </p:sp>
      <p:sp>
        <p:nvSpPr>
          <p:cNvPr id="23" name="TextBox 22"/>
          <p:cNvSpPr txBox="1"/>
          <p:nvPr/>
        </p:nvSpPr>
        <p:spPr>
          <a:xfrm>
            <a:off x="960120" y="1371600"/>
            <a:ext cx="9784080" cy="1371600"/>
          </a:xfrm>
          <a:prstGeom prst="rect">
            <a:avLst/>
          </a:prstGeom>
          <a:noFill/>
        </p:spPr>
        <p:txBody>
          <a:bodyPr wrap="square" anchor="ctr" lIns="0" rIns="0" tIns="0" bIns="0">
            <a:noAutofit/>
          </a:bodyPr>
          <a:lstStyle/>
          <a:p>
            <a:pPr algn="l">
              <a:lnSpc>
                <a:spcPct val="100000"/>
              </a:lnSpc>
              <a:spcBef>
                <a:spcPts val="0"/>
              </a:spcBef>
              <a:spcAft>
                <a:spcPts val="0"/>
              </a:spcAft>
            </a:pPr>
            <a:r>
              <a:rPr sz="3000" b="0" i="0">
                <a:solidFill>
                  <a:srgbClr val="F0525A"/>
                </a:solidFill>
                <a:latin typeface="Arial"/>
              </a:rPr>
              <a:t>✗  </a:t>
            </a:r>
            <a:r>
              <a:rPr sz="3000" b="0" i="0">
                <a:solidFill>
                  <a:srgbClr val="F4F6F8"/>
                </a:solidFill>
                <a:latin typeface="Arial"/>
              </a:rPr>
              <a:t>We can to make it safer.</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A9B3C0"/>
                </a:solidFill>
                <a:latin typeface="Arial Narrow"/>
              </a:rPr>
              <a:t>ACT 4 · LANGUAGE OF ENGINEERS</a:t>
            </a:r>
          </a:p>
        </p:txBody>
      </p:sp>
      <p:sp>
        <p:nvSpPr>
          <p:cNvPr id="4" name="Rounded Rectangle 3"/>
          <p:cNvSpPr/>
          <p:nvPr/>
        </p:nvSpPr>
        <p:spPr>
          <a:xfrm>
            <a:off x="10058400" y="274320"/>
            <a:ext cx="1444752" cy="329184"/>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1500" b="1" i="0" spc="60">
                <a:solidFill>
                  <a:srgbClr val="12161C"/>
                </a:solidFill>
                <a:latin typeface="Arial"/>
              </a:rPr>
              <a:t>+100 EP</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6F7A89"/>
                </a:solidFill>
                <a:latin typeface="Arial Narrow"/>
              </a:rPr>
              <a:t>ENERGY LAB  ·  CRASH TEST #05</a:t>
            </a:r>
          </a:p>
        </p:txBody>
      </p:sp>
      <p:sp>
        <p:nvSpPr>
          <p:cNvPr id="6" name="Rectangle 5"/>
          <p:cNvSpPr/>
          <p:nvPr/>
        </p:nvSpPr>
        <p:spPr>
          <a:xfrm>
            <a:off x="4526280" y="6510528"/>
            <a:ext cx="127363" cy="54864"/>
          </a:xfrm>
          <a:prstGeom prst="rect">
            <a:avLst/>
          </a:prstGeom>
          <a:solidFill>
            <a:srgbClr val="8A6A1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8A6A1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8A6A1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8A6A1A"/>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8A6A1A"/>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8A6A1A"/>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8A6A1A"/>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8A6A1A"/>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8A6A1A"/>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FFB400"/>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2A3240"/>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2A3240"/>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2A3240"/>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2A3240"/>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6F7A89"/>
                </a:solidFill>
                <a:latin typeface="Arial Narrow"/>
              </a:rPr>
              <a:t>64</a:t>
            </a:fld>
          </a:p>
        </p:txBody>
      </p:sp>
      <p:sp>
        <p:nvSpPr>
          <p:cNvPr id="21" name="TextBox 20"/>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34C77B"/>
                </a:solidFill>
                <a:latin typeface="Arial Narrow"/>
              </a:rPr>
              <a:t>BUG 1 / 5</a:t>
            </a:r>
          </a:p>
        </p:txBody>
      </p:sp>
      <p:sp>
        <p:nvSpPr>
          <p:cNvPr id="22" name="Rounded Rectangle 21"/>
          <p:cNvSpPr/>
          <p:nvPr/>
        </p:nvSpPr>
        <p:spPr>
          <a:xfrm>
            <a:off x="685800" y="1371600"/>
            <a:ext cx="10360152" cy="1371600"/>
          </a:xfrm>
          <a:prstGeom prst="roundRect">
            <a:avLst>
              <a:gd name="adj" fmla="val 9333"/>
            </a:avLst>
          </a:prstGeom>
          <a:solidFill>
            <a:srgbClr val="1A2029"/>
          </a:solidFill>
          <a:ln w="25400">
            <a:solidFill>
              <a:srgbClr val="F0525A"/>
            </a:solidFill>
          </a:ln>
        </p:spPr>
        <p:txBody>
          <a:bodyPr rtlCol="0" anchor="ctr"/>
          <a:lstStyle/>
          <a:p>
            <a:pPr algn="ctr"/>
          </a:p>
        </p:txBody>
      </p:sp>
      <p:sp>
        <p:nvSpPr>
          <p:cNvPr id="23" name="TextBox 22"/>
          <p:cNvSpPr txBox="1"/>
          <p:nvPr/>
        </p:nvSpPr>
        <p:spPr>
          <a:xfrm>
            <a:off x="960120" y="1371600"/>
            <a:ext cx="9784080" cy="1371600"/>
          </a:xfrm>
          <a:prstGeom prst="rect">
            <a:avLst/>
          </a:prstGeom>
          <a:noFill/>
        </p:spPr>
        <p:txBody>
          <a:bodyPr wrap="square" anchor="ctr" lIns="0" rIns="0" tIns="0" bIns="0">
            <a:noAutofit/>
          </a:bodyPr>
          <a:lstStyle/>
          <a:p>
            <a:pPr algn="l">
              <a:lnSpc>
                <a:spcPct val="100000"/>
              </a:lnSpc>
              <a:spcBef>
                <a:spcPts val="0"/>
              </a:spcBef>
              <a:spcAft>
                <a:spcPts val="0"/>
              </a:spcAft>
            </a:pPr>
            <a:r>
              <a:rPr sz="3000" b="0" i="0">
                <a:solidFill>
                  <a:srgbClr val="F0525A"/>
                </a:solidFill>
                <a:latin typeface="Arial"/>
              </a:rPr>
              <a:t>✗  </a:t>
            </a:r>
            <a:r>
              <a:rPr sz="3000" b="0" i="0">
                <a:solidFill>
                  <a:srgbClr val="F4F6F8"/>
                </a:solidFill>
                <a:latin typeface="Arial"/>
              </a:rPr>
              <a:t>We can to make it safer.</a:t>
            </a:r>
          </a:p>
        </p:txBody>
      </p:sp>
      <p:sp>
        <p:nvSpPr>
          <p:cNvPr id="24" name="Rounded Rectangle 23"/>
          <p:cNvSpPr/>
          <p:nvPr/>
        </p:nvSpPr>
        <p:spPr>
          <a:xfrm>
            <a:off x="685800" y="2971800"/>
            <a:ext cx="10360152" cy="1371600"/>
          </a:xfrm>
          <a:prstGeom prst="roundRect">
            <a:avLst>
              <a:gd name="adj" fmla="val 9333"/>
            </a:avLst>
          </a:prstGeom>
          <a:solidFill>
            <a:srgbClr val="34C77B"/>
          </a:solidFill>
          <a:ln w="19050">
            <a:solidFill>
              <a:srgbClr val="323C4A"/>
            </a:solidFill>
          </a:ln>
        </p:spPr>
        <p:txBody>
          <a:bodyPr rtlCol="0" anchor="ctr"/>
          <a:lstStyle/>
          <a:p>
            <a:pPr algn="ctr"/>
          </a:p>
        </p:txBody>
      </p:sp>
      <p:sp>
        <p:nvSpPr>
          <p:cNvPr id="25" name="TextBox 24"/>
          <p:cNvSpPr txBox="1"/>
          <p:nvPr/>
        </p:nvSpPr>
        <p:spPr>
          <a:xfrm>
            <a:off x="960120" y="2971800"/>
            <a:ext cx="9784080" cy="1371600"/>
          </a:xfrm>
          <a:prstGeom prst="rect">
            <a:avLst/>
          </a:prstGeom>
          <a:noFill/>
        </p:spPr>
        <p:txBody>
          <a:bodyPr wrap="square" anchor="ctr" lIns="0" rIns="0" tIns="0" bIns="0">
            <a:noAutofit/>
          </a:bodyPr>
          <a:lstStyle/>
          <a:p>
            <a:pPr algn="l">
              <a:lnSpc>
                <a:spcPct val="100000"/>
              </a:lnSpc>
              <a:spcBef>
                <a:spcPts val="0"/>
              </a:spcBef>
              <a:spcAft>
                <a:spcPts val="0"/>
              </a:spcAft>
            </a:pPr>
            <a:r>
              <a:rPr sz="3000" b="1" i="0">
                <a:solidFill>
                  <a:srgbClr val="0C1410"/>
                </a:solidFill>
                <a:latin typeface="Arial"/>
              </a:rPr>
              <a:t>✓  </a:t>
            </a:r>
            <a:r>
              <a:rPr sz="3000" b="1" i="0">
                <a:solidFill>
                  <a:srgbClr val="0C1410"/>
                </a:solidFill>
                <a:latin typeface="Arial"/>
              </a:rPr>
              <a:t>We can make it safer.</a:t>
            </a:r>
          </a:p>
        </p:txBody>
      </p:sp>
      <p:sp>
        <p:nvSpPr>
          <p:cNvPr id="26" name="Rounded Rectangle 25"/>
          <p:cNvSpPr/>
          <p:nvPr/>
        </p:nvSpPr>
        <p:spPr>
          <a:xfrm>
            <a:off x="685800" y="4572000"/>
            <a:ext cx="4206240" cy="502920"/>
          </a:xfrm>
          <a:prstGeom prst="roundRect">
            <a:avLst>
              <a:gd name="adj" fmla="val 18181"/>
            </a:avLst>
          </a:prstGeom>
          <a:solidFill>
            <a:srgbClr val="232B36"/>
          </a:solidFill>
          <a:ln>
            <a:noFill/>
          </a:ln>
        </p:spPr>
        <p:txBody>
          <a:bodyPr rtlCol="0" anchor="ctr" wrap="square" lIns="0" rIns="0" tIns="0" bIns="0">
            <a:noAutofit/>
          </a:bodyPr>
          <a:lstStyle/>
          <a:p>
            <a:pPr algn="ctr">
              <a:lnSpc>
                <a:spcPct val="100000"/>
              </a:lnSpc>
              <a:spcBef>
                <a:spcPts val="0"/>
              </a:spcBef>
              <a:spcAft>
                <a:spcPts val="0"/>
              </a:spcAft>
            </a:pPr>
            <a:r>
              <a:rPr sz="1500" b="1" i="0" spc="80">
                <a:solidFill>
                  <a:srgbClr val="FFB400"/>
                </a:solidFill>
                <a:latin typeface="Arial Narrow"/>
              </a:rPr>
              <a:t>CAN + BASE VERB (NO 'TO')</a:t>
            </a:r>
          </a:p>
        </p:txBody>
      </p:sp>
      <p:sp>
        <p:nvSpPr>
          <p:cNvPr id="27" name="TextBox 26"/>
          <p:cNvSpPr txBox="1"/>
          <p:nvPr/>
        </p:nvSpPr>
        <p:spPr>
          <a:xfrm>
            <a:off x="5120640" y="4572000"/>
            <a:ext cx="5943600" cy="502920"/>
          </a:xfrm>
          <a:prstGeom prst="rect">
            <a:avLst/>
          </a:prstGeom>
          <a:noFill/>
        </p:spPr>
        <p:txBody>
          <a:bodyPr wrap="square" anchor="ctr" lIns="0" rIns="0" tIns="0" bIns="0">
            <a:noAutofit/>
          </a:bodyPr>
          <a:lstStyle/>
          <a:p>
            <a:pPr algn="l">
              <a:lnSpc>
                <a:spcPct val="100000"/>
              </a:lnSpc>
              <a:spcBef>
                <a:spcPts val="0"/>
              </a:spcBef>
              <a:spcAft>
                <a:spcPts val="0"/>
              </a:spcAft>
            </a:pPr>
            <a:r>
              <a:rPr sz="1600" b="0" i="1">
                <a:solidFill>
                  <a:srgbClr val="A9B3C0"/>
                </a:solidFill>
                <a:latin typeface="Arial"/>
              </a:rPr>
              <a:t>seen in: “How can you do that?”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A9B3C0"/>
                </a:solidFill>
                <a:latin typeface="Arial Narrow"/>
              </a:rPr>
              <a:t>ACT 4 · LANGUAGE OF ENGINEERS</a:t>
            </a:r>
          </a:p>
        </p:txBody>
      </p:sp>
      <p:sp>
        <p:nvSpPr>
          <p:cNvPr id="4" name="Rounded Rectangle 3"/>
          <p:cNvSpPr/>
          <p:nvPr/>
        </p:nvSpPr>
        <p:spPr>
          <a:xfrm>
            <a:off x="10058400" y="274320"/>
            <a:ext cx="1444752" cy="329184"/>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1500" b="1" i="0" spc="60">
                <a:solidFill>
                  <a:srgbClr val="12161C"/>
                </a:solidFill>
                <a:latin typeface="Arial"/>
              </a:rPr>
              <a:t>+100 EP</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6F7A89"/>
                </a:solidFill>
                <a:latin typeface="Arial Narrow"/>
              </a:rPr>
              <a:t>ENERGY LAB  ·  CRASH TEST #05</a:t>
            </a:r>
          </a:p>
        </p:txBody>
      </p:sp>
      <p:sp>
        <p:nvSpPr>
          <p:cNvPr id="6" name="Rectangle 5"/>
          <p:cNvSpPr/>
          <p:nvPr/>
        </p:nvSpPr>
        <p:spPr>
          <a:xfrm>
            <a:off x="4526280" y="6510528"/>
            <a:ext cx="127363" cy="54864"/>
          </a:xfrm>
          <a:prstGeom prst="rect">
            <a:avLst/>
          </a:prstGeom>
          <a:solidFill>
            <a:srgbClr val="8A6A1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8A6A1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8A6A1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8A6A1A"/>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8A6A1A"/>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8A6A1A"/>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8A6A1A"/>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8A6A1A"/>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8A6A1A"/>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FFB400"/>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2A3240"/>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2A3240"/>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2A3240"/>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2A3240"/>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6F7A89"/>
                </a:solidFill>
                <a:latin typeface="Arial Narrow"/>
              </a:rPr>
              <a:t>65</a:t>
            </a:fld>
          </a:p>
        </p:txBody>
      </p:sp>
      <p:sp>
        <p:nvSpPr>
          <p:cNvPr id="21" name="TextBox 20"/>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F0525A"/>
                </a:solidFill>
                <a:latin typeface="Arial Narrow"/>
              </a:rPr>
              <a:t>BUG 2 / 5</a:t>
            </a:r>
          </a:p>
        </p:txBody>
      </p:sp>
      <p:sp>
        <p:nvSpPr>
          <p:cNvPr id="22" name="Rounded Rectangle 21"/>
          <p:cNvSpPr/>
          <p:nvPr/>
        </p:nvSpPr>
        <p:spPr>
          <a:xfrm>
            <a:off x="685800" y="1371600"/>
            <a:ext cx="10360152" cy="1371600"/>
          </a:xfrm>
          <a:prstGeom prst="roundRect">
            <a:avLst>
              <a:gd name="adj" fmla="val 9333"/>
            </a:avLst>
          </a:prstGeom>
          <a:solidFill>
            <a:srgbClr val="1A2029"/>
          </a:solidFill>
          <a:ln w="25400">
            <a:solidFill>
              <a:srgbClr val="F0525A"/>
            </a:solidFill>
          </a:ln>
        </p:spPr>
        <p:txBody>
          <a:bodyPr rtlCol="0" anchor="ctr"/>
          <a:lstStyle/>
          <a:p>
            <a:pPr algn="ctr"/>
          </a:p>
        </p:txBody>
      </p:sp>
      <p:sp>
        <p:nvSpPr>
          <p:cNvPr id="23" name="TextBox 22"/>
          <p:cNvSpPr txBox="1"/>
          <p:nvPr/>
        </p:nvSpPr>
        <p:spPr>
          <a:xfrm>
            <a:off x="960120" y="1371600"/>
            <a:ext cx="9784080" cy="1371600"/>
          </a:xfrm>
          <a:prstGeom prst="rect">
            <a:avLst/>
          </a:prstGeom>
          <a:noFill/>
        </p:spPr>
        <p:txBody>
          <a:bodyPr wrap="square" anchor="ctr" lIns="0" rIns="0" tIns="0" bIns="0">
            <a:noAutofit/>
          </a:bodyPr>
          <a:lstStyle/>
          <a:p>
            <a:pPr algn="l">
              <a:lnSpc>
                <a:spcPct val="100000"/>
              </a:lnSpc>
              <a:spcBef>
                <a:spcPts val="0"/>
              </a:spcBef>
              <a:spcAft>
                <a:spcPts val="0"/>
              </a:spcAft>
            </a:pPr>
            <a:r>
              <a:rPr sz="3000" b="0" i="0">
                <a:solidFill>
                  <a:srgbClr val="F0525A"/>
                </a:solidFill>
                <a:latin typeface="Arial"/>
              </a:rPr>
              <a:t>✗  </a:t>
            </a:r>
            <a:r>
              <a:rPr sz="3000" b="0" i="0">
                <a:solidFill>
                  <a:srgbClr val="F4F6F8"/>
                </a:solidFill>
                <a:latin typeface="Arial"/>
              </a:rPr>
              <a:t>The new seatbelt is more safer.</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A9B3C0"/>
                </a:solidFill>
                <a:latin typeface="Arial Narrow"/>
              </a:rPr>
              <a:t>ACT 4 · LANGUAGE OF ENGINEERS</a:t>
            </a:r>
          </a:p>
        </p:txBody>
      </p:sp>
      <p:sp>
        <p:nvSpPr>
          <p:cNvPr id="4" name="Rounded Rectangle 3"/>
          <p:cNvSpPr/>
          <p:nvPr/>
        </p:nvSpPr>
        <p:spPr>
          <a:xfrm>
            <a:off x="10058400" y="274320"/>
            <a:ext cx="1444752" cy="329184"/>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1500" b="1" i="0" spc="60">
                <a:solidFill>
                  <a:srgbClr val="12161C"/>
                </a:solidFill>
                <a:latin typeface="Arial"/>
              </a:rPr>
              <a:t>+100 EP</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6F7A89"/>
                </a:solidFill>
                <a:latin typeface="Arial Narrow"/>
              </a:rPr>
              <a:t>ENERGY LAB  ·  CRASH TEST #05</a:t>
            </a:r>
          </a:p>
        </p:txBody>
      </p:sp>
      <p:sp>
        <p:nvSpPr>
          <p:cNvPr id="6" name="Rectangle 5"/>
          <p:cNvSpPr/>
          <p:nvPr/>
        </p:nvSpPr>
        <p:spPr>
          <a:xfrm>
            <a:off x="4526280" y="6510528"/>
            <a:ext cx="127363" cy="54864"/>
          </a:xfrm>
          <a:prstGeom prst="rect">
            <a:avLst/>
          </a:prstGeom>
          <a:solidFill>
            <a:srgbClr val="8A6A1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8A6A1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8A6A1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8A6A1A"/>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8A6A1A"/>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8A6A1A"/>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8A6A1A"/>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8A6A1A"/>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8A6A1A"/>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FFB400"/>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2A3240"/>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2A3240"/>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2A3240"/>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2A3240"/>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6F7A89"/>
                </a:solidFill>
                <a:latin typeface="Arial Narrow"/>
              </a:rPr>
              <a:t>66</a:t>
            </a:fld>
          </a:p>
        </p:txBody>
      </p:sp>
      <p:sp>
        <p:nvSpPr>
          <p:cNvPr id="21" name="TextBox 20"/>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34C77B"/>
                </a:solidFill>
                <a:latin typeface="Arial Narrow"/>
              </a:rPr>
              <a:t>BUG 2 / 5</a:t>
            </a:r>
          </a:p>
        </p:txBody>
      </p:sp>
      <p:sp>
        <p:nvSpPr>
          <p:cNvPr id="22" name="Rounded Rectangle 21"/>
          <p:cNvSpPr/>
          <p:nvPr/>
        </p:nvSpPr>
        <p:spPr>
          <a:xfrm>
            <a:off x="685800" y="1371600"/>
            <a:ext cx="10360152" cy="1371600"/>
          </a:xfrm>
          <a:prstGeom prst="roundRect">
            <a:avLst>
              <a:gd name="adj" fmla="val 9333"/>
            </a:avLst>
          </a:prstGeom>
          <a:solidFill>
            <a:srgbClr val="1A2029"/>
          </a:solidFill>
          <a:ln w="25400">
            <a:solidFill>
              <a:srgbClr val="F0525A"/>
            </a:solidFill>
          </a:ln>
        </p:spPr>
        <p:txBody>
          <a:bodyPr rtlCol="0" anchor="ctr"/>
          <a:lstStyle/>
          <a:p>
            <a:pPr algn="ctr"/>
          </a:p>
        </p:txBody>
      </p:sp>
      <p:sp>
        <p:nvSpPr>
          <p:cNvPr id="23" name="TextBox 22"/>
          <p:cNvSpPr txBox="1"/>
          <p:nvPr/>
        </p:nvSpPr>
        <p:spPr>
          <a:xfrm>
            <a:off x="960120" y="1371600"/>
            <a:ext cx="9784080" cy="1371600"/>
          </a:xfrm>
          <a:prstGeom prst="rect">
            <a:avLst/>
          </a:prstGeom>
          <a:noFill/>
        </p:spPr>
        <p:txBody>
          <a:bodyPr wrap="square" anchor="ctr" lIns="0" rIns="0" tIns="0" bIns="0">
            <a:noAutofit/>
          </a:bodyPr>
          <a:lstStyle/>
          <a:p>
            <a:pPr algn="l">
              <a:lnSpc>
                <a:spcPct val="100000"/>
              </a:lnSpc>
              <a:spcBef>
                <a:spcPts val="0"/>
              </a:spcBef>
              <a:spcAft>
                <a:spcPts val="0"/>
              </a:spcAft>
            </a:pPr>
            <a:r>
              <a:rPr sz="3000" b="0" i="0">
                <a:solidFill>
                  <a:srgbClr val="F0525A"/>
                </a:solidFill>
                <a:latin typeface="Arial"/>
              </a:rPr>
              <a:t>✗  </a:t>
            </a:r>
            <a:r>
              <a:rPr sz="3000" b="0" i="0">
                <a:solidFill>
                  <a:srgbClr val="F4F6F8"/>
                </a:solidFill>
                <a:latin typeface="Arial"/>
              </a:rPr>
              <a:t>The new seatbelt is more safer.</a:t>
            </a:r>
          </a:p>
        </p:txBody>
      </p:sp>
      <p:sp>
        <p:nvSpPr>
          <p:cNvPr id="24" name="Rounded Rectangle 23"/>
          <p:cNvSpPr/>
          <p:nvPr/>
        </p:nvSpPr>
        <p:spPr>
          <a:xfrm>
            <a:off x="685800" y="2971800"/>
            <a:ext cx="10360152" cy="1371600"/>
          </a:xfrm>
          <a:prstGeom prst="roundRect">
            <a:avLst>
              <a:gd name="adj" fmla="val 9333"/>
            </a:avLst>
          </a:prstGeom>
          <a:solidFill>
            <a:srgbClr val="34C77B"/>
          </a:solidFill>
          <a:ln w="19050">
            <a:solidFill>
              <a:srgbClr val="323C4A"/>
            </a:solidFill>
          </a:ln>
        </p:spPr>
        <p:txBody>
          <a:bodyPr rtlCol="0" anchor="ctr"/>
          <a:lstStyle/>
          <a:p>
            <a:pPr algn="ctr"/>
          </a:p>
        </p:txBody>
      </p:sp>
      <p:sp>
        <p:nvSpPr>
          <p:cNvPr id="25" name="TextBox 24"/>
          <p:cNvSpPr txBox="1"/>
          <p:nvPr/>
        </p:nvSpPr>
        <p:spPr>
          <a:xfrm>
            <a:off x="960120" y="2971800"/>
            <a:ext cx="9784080" cy="1371600"/>
          </a:xfrm>
          <a:prstGeom prst="rect">
            <a:avLst/>
          </a:prstGeom>
          <a:noFill/>
        </p:spPr>
        <p:txBody>
          <a:bodyPr wrap="square" anchor="ctr" lIns="0" rIns="0" tIns="0" bIns="0">
            <a:noAutofit/>
          </a:bodyPr>
          <a:lstStyle/>
          <a:p>
            <a:pPr algn="l">
              <a:lnSpc>
                <a:spcPct val="100000"/>
              </a:lnSpc>
              <a:spcBef>
                <a:spcPts val="0"/>
              </a:spcBef>
              <a:spcAft>
                <a:spcPts val="0"/>
              </a:spcAft>
            </a:pPr>
            <a:r>
              <a:rPr sz="3000" b="1" i="0">
                <a:solidFill>
                  <a:srgbClr val="0C1410"/>
                </a:solidFill>
                <a:latin typeface="Arial"/>
              </a:rPr>
              <a:t>✓  </a:t>
            </a:r>
            <a:r>
              <a:rPr sz="3000" b="1" i="0">
                <a:solidFill>
                  <a:srgbClr val="0C1410"/>
                </a:solidFill>
                <a:latin typeface="Arial"/>
              </a:rPr>
              <a:t>The new seatbelt is safer.</a:t>
            </a:r>
          </a:p>
        </p:txBody>
      </p:sp>
      <p:sp>
        <p:nvSpPr>
          <p:cNvPr id="26" name="Rounded Rectangle 25"/>
          <p:cNvSpPr/>
          <p:nvPr/>
        </p:nvSpPr>
        <p:spPr>
          <a:xfrm>
            <a:off x="685800" y="4572000"/>
            <a:ext cx="4206240" cy="502920"/>
          </a:xfrm>
          <a:prstGeom prst="roundRect">
            <a:avLst>
              <a:gd name="adj" fmla="val 18181"/>
            </a:avLst>
          </a:prstGeom>
          <a:solidFill>
            <a:srgbClr val="232B36"/>
          </a:solidFill>
          <a:ln>
            <a:noFill/>
          </a:ln>
        </p:spPr>
        <p:txBody>
          <a:bodyPr rtlCol="0" anchor="ctr" wrap="square" lIns="0" rIns="0" tIns="0" bIns="0">
            <a:noAutofit/>
          </a:bodyPr>
          <a:lstStyle/>
          <a:p>
            <a:pPr algn="ctr">
              <a:lnSpc>
                <a:spcPct val="100000"/>
              </a:lnSpc>
              <a:spcBef>
                <a:spcPts val="0"/>
              </a:spcBef>
              <a:spcAft>
                <a:spcPts val="0"/>
              </a:spcAft>
            </a:pPr>
            <a:r>
              <a:rPr sz="1500" b="1" i="0" spc="80">
                <a:solidFill>
                  <a:srgbClr val="FFB400"/>
                </a:solidFill>
                <a:latin typeface="Arial Narrow"/>
              </a:rPr>
              <a:t>SHORT ADJECTIVE → -ER (NEVER 'MORE' + -ER)</a:t>
            </a:r>
          </a:p>
        </p:txBody>
      </p:sp>
      <p:sp>
        <p:nvSpPr>
          <p:cNvPr id="27" name="TextBox 26"/>
          <p:cNvSpPr txBox="1"/>
          <p:nvPr/>
        </p:nvSpPr>
        <p:spPr>
          <a:xfrm>
            <a:off x="5120640" y="4572000"/>
            <a:ext cx="5943600" cy="502920"/>
          </a:xfrm>
          <a:prstGeom prst="rect">
            <a:avLst/>
          </a:prstGeom>
          <a:noFill/>
        </p:spPr>
        <p:txBody>
          <a:bodyPr wrap="square" anchor="ctr" lIns="0" rIns="0" tIns="0" bIns="0">
            <a:noAutofit/>
          </a:bodyPr>
          <a:lstStyle/>
          <a:p>
            <a:pPr algn="l">
              <a:lnSpc>
                <a:spcPct val="100000"/>
              </a:lnSpc>
              <a:spcBef>
                <a:spcPts val="0"/>
              </a:spcBef>
              <a:spcAft>
                <a:spcPts val="0"/>
              </a:spcAft>
            </a:pPr>
            <a:r>
              <a:rPr sz="1600" b="0" i="1">
                <a:solidFill>
                  <a:srgbClr val="A9B3C0"/>
                </a:solidFill>
                <a:latin typeface="Arial"/>
              </a:rPr>
              <a:t>seen in: “safer than our current models”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A9B3C0"/>
                </a:solidFill>
                <a:latin typeface="Arial Narrow"/>
              </a:rPr>
              <a:t>ACT 4 · LANGUAGE OF ENGINEERS</a:t>
            </a:r>
          </a:p>
        </p:txBody>
      </p:sp>
      <p:sp>
        <p:nvSpPr>
          <p:cNvPr id="4" name="Rounded Rectangle 3"/>
          <p:cNvSpPr/>
          <p:nvPr/>
        </p:nvSpPr>
        <p:spPr>
          <a:xfrm>
            <a:off x="10058400" y="274320"/>
            <a:ext cx="1444752" cy="329184"/>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1500" b="1" i="0" spc="60">
                <a:solidFill>
                  <a:srgbClr val="12161C"/>
                </a:solidFill>
                <a:latin typeface="Arial"/>
              </a:rPr>
              <a:t>+100 EP</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6F7A89"/>
                </a:solidFill>
                <a:latin typeface="Arial Narrow"/>
              </a:rPr>
              <a:t>ENERGY LAB  ·  CRASH TEST #05</a:t>
            </a:r>
          </a:p>
        </p:txBody>
      </p:sp>
      <p:sp>
        <p:nvSpPr>
          <p:cNvPr id="6" name="Rectangle 5"/>
          <p:cNvSpPr/>
          <p:nvPr/>
        </p:nvSpPr>
        <p:spPr>
          <a:xfrm>
            <a:off x="4526280" y="6510528"/>
            <a:ext cx="127363" cy="54864"/>
          </a:xfrm>
          <a:prstGeom prst="rect">
            <a:avLst/>
          </a:prstGeom>
          <a:solidFill>
            <a:srgbClr val="8A6A1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8A6A1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8A6A1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8A6A1A"/>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8A6A1A"/>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8A6A1A"/>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8A6A1A"/>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8A6A1A"/>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8A6A1A"/>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FFB400"/>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2A3240"/>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2A3240"/>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2A3240"/>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2A3240"/>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6F7A89"/>
                </a:solidFill>
                <a:latin typeface="Arial Narrow"/>
              </a:rPr>
              <a:t>67</a:t>
            </a:fld>
          </a:p>
        </p:txBody>
      </p:sp>
      <p:sp>
        <p:nvSpPr>
          <p:cNvPr id="21" name="TextBox 20"/>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F0525A"/>
                </a:solidFill>
                <a:latin typeface="Arial Narrow"/>
              </a:rPr>
              <a:t>BUG 3 / 5</a:t>
            </a:r>
          </a:p>
        </p:txBody>
      </p:sp>
      <p:sp>
        <p:nvSpPr>
          <p:cNvPr id="22" name="Rounded Rectangle 21"/>
          <p:cNvSpPr/>
          <p:nvPr/>
        </p:nvSpPr>
        <p:spPr>
          <a:xfrm>
            <a:off x="685800" y="1371600"/>
            <a:ext cx="10360152" cy="1371600"/>
          </a:xfrm>
          <a:prstGeom prst="roundRect">
            <a:avLst>
              <a:gd name="adj" fmla="val 9333"/>
            </a:avLst>
          </a:prstGeom>
          <a:solidFill>
            <a:srgbClr val="1A2029"/>
          </a:solidFill>
          <a:ln w="25400">
            <a:solidFill>
              <a:srgbClr val="F0525A"/>
            </a:solidFill>
          </a:ln>
        </p:spPr>
        <p:txBody>
          <a:bodyPr rtlCol="0" anchor="ctr"/>
          <a:lstStyle/>
          <a:p>
            <a:pPr algn="ctr"/>
          </a:p>
        </p:txBody>
      </p:sp>
      <p:sp>
        <p:nvSpPr>
          <p:cNvPr id="23" name="TextBox 22"/>
          <p:cNvSpPr txBox="1"/>
          <p:nvPr/>
        </p:nvSpPr>
        <p:spPr>
          <a:xfrm>
            <a:off x="960120" y="1371600"/>
            <a:ext cx="9784080" cy="1371600"/>
          </a:xfrm>
          <a:prstGeom prst="rect">
            <a:avLst/>
          </a:prstGeom>
          <a:noFill/>
        </p:spPr>
        <p:txBody>
          <a:bodyPr wrap="square" anchor="ctr" lIns="0" rIns="0" tIns="0" bIns="0">
            <a:noAutofit/>
          </a:bodyPr>
          <a:lstStyle/>
          <a:p>
            <a:pPr algn="l">
              <a:lnSpc>
                <a:spcPct val="100000"/>
              </a:lnSpc>
              <a:spcBef>
                <a:spcPts val="0"/>
              </a:spcBef>
              <a:spcAft>
                <a:spcPts val="0"/>
              </a:spcAft>
            </a:pPr>
            <a:r>
              <a:rPr sz="3000" b="0" i="0">
                <a:solidFill>
                  <a:srgbClr val="F0525A"/>
                </a:solidFill>
                <a:latin typeface="Arial"/>
              </a:rPr>
              <a:t>✗  </a:t>
            </a:r>
            <a:r>
              <a:rPr sz="3000" b="0" i="0">
                <a:solidFill>
                  <a:srgbClr val="F4F6F8"/>
                </a:solidFill>
                <a:latin typeface="Arial"/>
              </a:rPr>
              <a:t>We going to test it.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A9B3C0"/>
                </a:solidFill>
                <a:latin typeface="Arial Narrow"/>
              </a:rPr>
              <a:t>ACT 4 · LANGUAGE OF ENGINEERS</a:t>
            </a:r>
          </a:p>
        </p:txBody>
      </p:sp>
      <p:sp>
        <p:nvSpPr>
          <p:cNvPr id="4" name="Rounded Rectangle 3"/>
          <p:cNvSpPr/>
          <p:nvPr/>
        </p:nvSpPr>
        <p:spPr>
          <a:xfrm>
            <a:off x="10058400" y="274320"/>
            <a:ext cx="1444752" cy="329184"/>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1500" b="1" i="0" spc="60">
                <a:solidFill>
                  <a:srgbClr val="12161C"/>
                </a:solidFill>
                <a:latin typeface="Arial"/>
              </a:rPr>
              <a:t>+100 EP</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6F7A89"/>
                </a:solidFill>
                <a:latin typeface="Arial Narrow"/>
              </a:rPr>
              <a:t>ENERGY LAB  ·  CRASH TEST #05</a:t>
            </a:r>
          </a:p>
        </p:txBody>
      </p:sp>
      <p:sp>
        <p:nvSpPr>
          <p:cNvPr id="6" name="Rectangle 5"/>
          <p:cNvSpPr/>
          <p:nvPr/>
        </p:nvSpPr>
        <p:spPr>
          <a:xfrm>
            <a:off x="4526280" y="6510528"/>
            <a:ext cx="127363" cy="54864"/>
          </a:xfrm>
          <a:prstGeom prst="rect">
            <a:avLst/>
          </a:prstGeom>
          <a:solidFill>
            <a:srgbClr val="8A6A1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8A6A1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8A6A1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8A6A1A"/>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8A6A1A"/>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8A6A1A"/>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8A6A1A"/>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8A6A1A"/>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8A6A1A"/>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FFB400"/>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2A3240"/>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2A3240"/>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2A3240"/>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2A3240"/>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6F7A89"/>
                </a:solidFill>
                <a:latin typeface="Arial Narrow"/>
              </a:rPr>
              <a:t>68</a:t>
            </a:fld>
          </a:p>
        </p:txBody>
      </p:sp>
      <p:sp>
        <p:nvSpPr>
          <p:cNvPr id="21" name="TextBox 20"/>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34C77B"/>
                </a:solidFill>
                <a:latin typeface="Arial Narrow"/>
              </a:rPr>
              <a:t>BUG 3 / 5</a:t>
            </a:r>
          </a:p>
        </p:txBody>
      </p:sp>
      <p:sp>
        <p:nvSpPr>
          <p:cNvPr id="22" name="Rounded Rectangle 21"/>
          <p:cNvSpPr/>
          <p:nvPr/>
        </p:nvSpPr>
        <p:spPr>
          <a:xfrm>
            <a:off x="685800" y="1371600"/>
            <a:ext cx="10360152" cy="1371600"/>
          </a:xfrm>
          <a:prstGeom prst="roundRect">
            <a:avLst>
              <a:gd name="adj" fmla="val 9333"/>
            </a:avLst>
          </a:prstGeom>
          <a:solidFill>
            <a:srgbClr val="1A2029"/>
          </a:solidFill>
          <a:ln w="25400">
            <a:solidFill>
              <a:srgbClr val="F0525A"/>
            </a:solidFill>
          </a:ln>
        </p:spPr>
        <p:txBody>
          <a:bodyPr rtlCol="0" anchor="ctr"/>
          <a:lstStyle/>
          <a:p>
            <a:pPr algn="ctr"/>
          </a:p>
        </p:txBody>
      </p:sp>
      <p:sp>
        <p:nvSpPr>
          <p:cNvPr id="23" name="TextBox 22"/>
          <p:cNvSpPr txBox="1"/>
          <p:nvPr/>
        </p:nvSpPr>
        <p:spPr>
          <a:xfrm>
            <a:off x="960120" y="1371600"/>
            <a:ext cx="9784080" cy="1371600"/>
          </a:xfrm>
          <a:prstGeom prst="rect">
            <a:avLst/>
          </a:prstGeom>
          <a:noFill/>
        </p:spPr>
        <p:txBody>
          <a:bodyPr wrap="square" anchor="ctr" lIns="0" rIns="0" tIns="0" bIns="0">
            <a:noAutofit/>
          </a:bodyPr>
          <a:lstStyle/>
          <a:p>
            <a:pPr algn="l">
              <a:lnSpc>
                <a:spcPct val="100000"/>
              </a:lnSpc>
              <a:spcBef>
                <a:spcPts val="0"/>
              </a:spcBef>
              <a:spcAft>
                <a:spcPts val="0"/>
              </a:spcAft>
            </a:pPr>
            <a:r>
              <a:rPr sz="3000" b="0" i="0">
                <a:solidFill>
                  <a:srgbClr val="F0525A"/>
                </a:solidFill>
                <a:latin typeface="Arial"/>
              </a:rPr>
              <a:t>✗  </a:t>
            </a:r>
            <a:r>
              <a:rPr sz="3000" b="0" i="0">
                <a:solidFill>
                  <a:srgbClr val="F4F6F8"/>
                </a:solidFill>
                <a:latin typeface="Arial"/>
              </a:rPr>
              <a:t>We going to test it.</a:t>
            </a:r>
          </a:p>
        </p:txBody>
      </p:sp>
      <p:sp>
        <p:nvSpPr>
          <p:cNvPr id="24" name="Rounded Rectangle 23"/>
          <p:cNvSpPr/>
          <p:nvPr/>
        </p:nvSpPr>
        <p:spPr>
          <a:xfrm>
            <a:off x="685800" y="2971800"/>
            <a:ext cx="10360152" cy="1371600"/>
          </a:xfrm>
          <a:prstGeom prst="roundRect">
            <a:avLst>
              <a:gd name="adj" fmla="val 9333"/>
            </a:avLst>
          </a:prstGeom>
          <a:solidFill>
            <a:srgbClr val="34C77B"/>
          </a:solidFill>
          <a:ln w="19050">
            <a:solidFill>
              <a:srgbClr val="323C4A"/>
            </a:solidFill>
          </a:ln>
        </p:spPr>
        <p:txBody>
          <a:bodyPr rtlCol="0" anchor="ctr"/>
          <a:lstStyle/>
          <a:p>
            <a:pPr algn="ctr"/>
          </a:p>
        </p:txBody>
      </p:sp>
      <p:sp>
        <p:nvSpPr>
          <p:cNvPr id="25" name="TextBox 24"/>
          <p:cNvSpPr txBox="1"/>
          <p:nvPr/>
        </p:nvSpPr>
        <p:spPr>
          <a:xfrm>
            <a:off x="960120" y="2971800"/>
            <a:ext cx="9784080" cy="1371600"/>
          </a:xfrm>
          <a:prstGeom prst="rect">
            <a:avLst/>
          </a:prstGeom>
          <a:noFill/>
        </p:spPr>
        <p:txBody>
          <a:bodyPr wrap="square" anchor="ctr" lIns="0" rIns="0" tIns="0" bIns="0">
            <a:noAutofit/>
          </a:bodyPr>
          <a:lstStyle/>
          <a:p>
            <a:pPr algn="l">
              <a:lnSpc>
                <a:spcPct val="100000"/>
              </a:lnSpc>
              <a:spcBef>
                <a:spcPts val="0"/>
              </a:spcBef>
              <a:spcAft>
                <a:spcPts val="0"/>
              </a:spcAft>
            </a:pPr>
            <a:r>
              <a:rPr sz="3000" b="1" i="0">
                <a:solidFill>
                  <a:srgbClr val="0C1410"/>
                </a:solidFill>
                <a:latin typeface="Arial"/>
              </a:rPr>
              <a:t>✓  </a:t>
            </a:r>
            <a:r>
              <a:rPr sz="3000" b="1" i="0">
                <a:solidFill>
                  <a:srgbClr val="0C1410"/>
                </a:solidFill>
                <a:latin typeface="Arial"/>
              </a:rPr>
              <a:t>We're going to test it.</a:t>
            </a:r>
          </a:p>
        </p:txBody>
      </p:sp>
      <p:sp>
        <p:nvSpPr>
          <p:cNvPr id="26" name="Rounded Rectangle 25"/>
          <p:cNvSpPr/>
          <p:nvPr/>
        </p:nvSpPr>
        <p:spPr>
          <a:xfrm>
            <a:off x="685800" y="4572000"/>
            <a:ext cx="4206240" cy="502920"/>
          </a:xfrm>
          <a:prstGeom prst="roundRect">
            <a:avLst>
              <a:gd name="adj" fmla="val 18181"/>
            </a:avLst>
          </a:prstGeom>
          <a:solidFill>
            <a:srgbClr val="232B36"/>
          </a:solidFill>
          <a:ln>
            <a:noFill/>
          </a:ln>
        </p:spPr>
        <p:txBody>
          <a:bodyPr rtlCol="0" anchor="ctr" wrap="square" lIns="0" rIns="0" tIns="0" bIns="0">
            <a:noAutofit/>
          </a:bodyPr>
          <a:lstStyle/>
          <a:p>
            <a:pPr algn="ctr">
              <a:lnSpc>
                <a:spcPct val="100000"/>
              </a:lnSpc>
              <a:spcBef>
                <a:spcPts val="0"/>
              </a:spcBef>
              <a:spcAft>
                <a:spcPts val="0"/>
              </a:spcAft>
            </a:pPr>
            <a:r>
              <a:rPr sz="1500" b="1" i="0" spc="80">
                <a:solidFill>
                  <a:srgbClr val="FFB400"/>
                </a:solidFill>
                <a:latin typeface="Arial Narrow"/>
              </a:rPr>
              <a:t>BE + GOING TO + BASE VERB (DON'T FORGET 'BE')</a:t>
            </a:r>
          </a:p>
        </p:txBody>
      </p:sp>
      <p:sp>
        <p:nvSpPr>
          <p:cNvPr id="27" name="TextBox 26"/>
          <p:cNvSpPr txBox="1"/>
          <p:nvPr/>
        </p:nvSpPr>
        <p:spPr>
          <a:xfrm>
            <a:off x="5120640" y="4572000"/>
            <a:ext cx="5943600" cy="502920"/>
          </a:xfrm>
          <a:prstGeom prst="rect">
            <a:avLst/>
          </a:prstGeom>
          <a:noFill/>
        </p:spPr>
        <p:txBody>
          <a:bodyPr wrap="square" anchor="ctr" lIns="0" rIns="0" tIns="0" bIns="0">
            <a:noAutofit/>
          </a:bodyPr>
          <a:lstStyle/>
          <a:p>
            <a:pPr algn="l">
              <a:lnSpc>
                <a:spcPct val="100000"/>
              </a:lnSpc>
              <a:spcBef>
                <a:spcPts val="0"/>
              </a:spcBef>
              <a:spcAft>
                <a:spcPts val="0"/>
              </a:spcAft>
            </a:pPr>
            <a:r>
              <a:rPr sz="1600" b="0" i="1">
                <a:solidFill>
                  <a:srgbClr val="A9B3C0"/>
                </a:solidFill>
                <a:latin typeface="Arial"/>
              </a:rPr>
              <a:t>seen in: “Are you going to make the seatbelts…?”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A9B3C0"/>
                </a:solidFill>
                <a:latin typeface="Arial Narrow"/>
              </a:rPr>
              <a:t>ACT 4 · LANGUAGE OF ENGINEERS</a:t>
            </a:r>
          </a:p>
        </p:txBody>
      </p:sp>
      <p:sp>
        <p:nvSpPr>
          <p:cNvPr id="4" name="Rounded Rectangle 3"/>
          <p:cNvSpPr/>
          <p:nvPr/>
        </p:nvSpPr>
        <p:spPr>
          <a:xfrm>
            <a:off x="10058400" y="274320"/>
            <a:ext cx="1444752" cy="329184"/>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1500" b="1" i="0" spc="60">
                <a:solidFill>
                  <a:srgbClr val="12161C"/>
                </a:solidFill>
                <a:latin typeface="Arial"/>
              </a:rPr>
              <a:t>+100 EP</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6F7A89"/>
                </a:solidFill>
                <a:latin typeface="Arial Narrow"/>
              </a:rPr>
              <a:t>ENERGY LAB  ·  CRASH TEST #05</a:t>
            </a:r>
          </a:p>
        </p:txBody>
      </p:sp>
      <p:sp>
        <p:nvSpPr>
          <p:cNvPr id="6" name="Rectangle 5"/>
          <p:cNvSpPr/>
          <p:nvPr/>
        </p:nvSpPr>
        <p:spPr>
          <a:xfrm>
            <a:off x="4526280" y="6510528"/>
            <a:ext cx="127363" cy="54864"/>
          </a:xfrm>
          <a:prstGeom prst="rect">
            <a:avLst/>
          </a:prstGeom>
          <a:solidFill>
            <a:srgbClr val="8A6A1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8A6A1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8A6A1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8A6A1A"/>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8A6A1A"/>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8A6A1A"/>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8A6A1A"/>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8A6A1A"/>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8A6A1A"/>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FFB400"/>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2A3240"/>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2A3240"/>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2A3240"/>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2A3240"/>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6F7A89"/>
                </a:solidFill>
                <a:latin typeface="Arial Narrow"/>
              </a:rPr>
              <a:t>69</a:t>
            </a:fld>
          </a:p>
        </p:txBody>
      </p:sp>
      <p:sp>
        <p:nvSpPr>
          <p:cNvPr id="21" name="TextBox 20"/>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F0525A"/>
                </a:solidFill>
                <a:latin typeface="Arial Narrow"/>
              </a:rPr>
              <a:t>BUG 4 / 5</a:t>
            </a:r>
          </a:p>
        </p:txBody>
      </p:sp>
      <p:sp>
        <p:nvSpPr>
          <p:cNvPr id="22" name="Rounded Rectangle 21"/>
          <p:cNvSpPr/>
          <p:nvPr/>
        </p:nvSpPr>
        <p:spPr>
          <a:xfrm>
            <a:off x="685800" y="1371600"/>
            <a:ext cx="10360152" cy="1371600"/>
          </a:xfrm>
          <a:prstGeom prst="roundRect">
            <a:avLst>
              <a:gd name="adj" fmla="val 9333"/>
            </a:avLst>
          </a:prstGeom>
          <a:solidFill>
            <a:srgbClr val="1A2029"/>
          </a:solidFill>
          <a:ln w="25400">
            <a:solidFill>
              <a:srgbClr val="F0525A"/>
            </a:solidFill>
          </a:ln>
        </p:spPr>
        <p:txBody>
          <a:bodyPr rtlCol="0" anchor="ctr"/>
          <a:lstStyle/>
          <a:p>
            <a:pPr algn="ctr"/>
          </a:p>
        </p:txBody>
      </p:sp>
      <p:sp>
        <p:nvSpPr>
          <p:cNvPr id="23" name="TextBox 22"/>
          <p:cNvSpPr txBox="1"/>
          <p:nvPr/>
        </p:nvSpPr>
        <p:spPr>
          <a:xfrm>
            <a:off x="960120" y="1371600"/>
            <a:ext cx="9784080" cy="1371600"/>
          </a:xfrm>
          <a:prstGeom prst="rect">
            <a:avLst/>
          </a:prstGeom>
          <a:noFill/>
        </p:spPr>
        <p:txBody>
          <a:bodyPr wrap="square" anchor="ctr" lIns="0" rIns="0" tIns="0" bIns="0">
            <a:noAutofit/>
          </a:bodyPr>
          <a:lstStyle/>
          <a:p>
            <a:pPr algn="l">
              <a:lnSpc>
                <a:spcPct val="100000"/>
              </a:lnSpc>
              <a:spcBef>
                <a:spcPts val="0"/>
              </a:spcBef>
              <a:spcAft>
                <a:spcPts val="0"/>
              </a:spcAft>
            </a:pPr>
            <a:r>
              <a:rPr sz="3000" b="0" i="0">
                <a:solidFill>
                  <a:srgbClr val="F0525A"/>
                </a:solidFill>
                <a:latin typeface="Arial"/>
              </a:rPr>
              <a:t>✗  </a:t>
            </a:r>
            <a:r>
              <a:rPr sz="3000" b="0" i="0">
                <a:solidFill>
                  <a:srgbClr val="F4F6F8"/>
                </a:solidFill>
                <a:latin typeface="Arial"/>
              </a:rPr>
              <a:t>We're test it next week.</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A9B3C0"/>
                </a:solidFill>
                <a:latin typeface="Arial Narrow"/>
              </a:rPr>
              <a:t>ACT 4 · LANGUAGE OF ENGINEERS</a:t>
            </a:r>
          </a:p>
        </p:txBody>
      </p:sp>
      <p:sp>
        <p:nvSpPr>
          <p:cNvPr id="4" name="Rounded Rectangle 3"/>
          <p:cNvSpPr/>
          <p:nvPr/>
        </p:nvSpPr>
        <p:spPr>
          <a:xfrm>
            <a:off x="10058400" y="274320"/>
            <a:ext cx="1444752" cy="329184"/>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1500" b="1" i="0" spc="60">
                <a:solidFill>
                  <a:srgbClr val="12161C"/>
                </a:solidFill>
                <a:latin typeface="Arial"/>
              </a:rPr>
              <a:t>+100 EP</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6F7A89"/>
                </a:solidFill>
                <a:latin typeface="Arial Narrow"/>
              </a:rPr>
              <a:t>ENERGY LAB  ·  CRASH TEST #05</a:t>
            </a:r>
          </a:p>
        </p:txBody>
      </p:sp>
      <p:sp>
        <p:nvSpPr>
          <p:cNvPr id="6" name="Rectangle 5"/>
          <p:cNvSpPr/>
          <p:nvPr/>
        </p:nvSpPr>
        <p:spPr>
          <a:xfrm>
            <a:off x="4526280" y="6510528"/>
            <a:ext cx="127363" cy="54864"/>
          </a:xfrm>
          <a:prstGeom prst="rect">
            <a:avLst/>
          </a:prstGeom>
          <a:solidFill>
            <a:srgbClr val="8A6A1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8A6A1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8A6A1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8A6A1A"/>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8A6A1A"/>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8A6A1A"/>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8A6A1A"/>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8A6A1A"/>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8A6A1A"/>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FFB400"/>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2A3240"/>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2A3240"/>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2A3240"/>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2A3240"/>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6F7A89"/>
                </a:solidFill>
                <a:latin typeface="Arial Narrow"/>
              </a:rPr>
              <a:t>70</a:t>
            </a:fld>
          </a:p>
        </p:txBody>
      </p:sp>
      <p:sp>
        <p:nvSpPr>
          <p:cNvPr id="21" name="TextBox 20"/>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34C77B"/>
                </a:solidFill>
                <a:latin typeface="Arial Narrow"/>
              </a:rPr>
              <a:t>BUG 4 / 5</a:t>
            </a:r>
          </a:p>
        </p:txBody>
      </p:sp>
      <p:sp>
        <p:nvSpPr>
          <p:cNvPr id="22" name="Rounded Rectangle 21"/>
          <p:cNvSpPr/>
          <p:nvPr/>
        </p:nvSpPr>
        <p:spPr>
          <a:xfrm>
            <a:off x="685800" y="1371600"/>
            <a:ext cx="10360152" cy="1371600"/>
          </a:xfrm>
          <a:prstGeom prst="roundRect">
            <a:avLst>
              <a:gd name="adj" fmla="val 9333"/>
            </a:avLst>
          </a:prstGeom>
          <a:solidFill>
            <a:srgbClr val="1A2029"/>
          </a:solidFill>
          <a:ln w="25400">
            <a:solidFill>
              <a:srgbClr val="F0525A"/>
            </a:solidFill>
          </a:ln>
        </p:spPr>
        <p:txBody>
          <a:bodyPr rtlCol="0" anchor="ctr"/>
          <a:lstStyle/>
          <a:p>
            <a:pPr algn="ctr"/>
          </a:p>
        </p:txBody>
      </p:sp>
      <p:sp>
        <p:nvSpPr>
          <p:cNvPr id="23" name="TextBox 22"/>
          <p:cNvSpPr txBox="1"/>
          <p:nvPr/>
        </p:nvSpPr>
        <p:spPr>
          <a:xfrm>
            <a:off x="960120" y="1371600"/>
            <a:ext cx="9784080" cy="1371600"/>
          </a:xfrm>
          <a:prstGeom prst="rect">
            <a:avLst/>
          </a:prstGeom>
          <a:noFill/>
        </p:spPr>
        <p:txBody>
          <a:bodyPr wrap="square" anchor="ctr" lIns="0" rIns="0" tIns="0" bIns="0">
            <a:noAutofit/>
          </a:bodyPr>
          <a:lstStyle/>
          <a:p>
            <a:pPr algn="l">
              <a:lnSpc>
                <a:spcPct val="100000"/>
              </a:lnSpc>
              <a:spcBef>
                <a:spcPts val="0"/>
              </a:spcBef>
              <a:spcAft>
                <a:spcPts val="0"/>
              </a:spcAft>
            </a:pPr>
            <a:r>
              <a:rPr sz="3000" b="0" i="0">
                <a:solidFill>
                  <a:srgbClr val="F0525A"/>
                </a:solidFill>
                <a:latin typeface="Arial"/>
              </a:rPr>
              <a:t>✗  </a:t>
            </a:r>
            <a:r>
              <a:rPr sz="3000" b="0" i="0">
                <a:solidFill>
                  <a:srgbClr val="F4F6F8"/>
                </a:solidFill>
                <a:latin typeface="Arial"/>
              </a:rPr>
              <a:t>We're test it next week.</a:t>
            </a:r>
          </a:p>
        </p:txBody>
      </p:sp>
      <p:sp>
        <p:nvSpPr>
          <p:cNvPr id="24" name="Rounded Rectangle 23"/>
          <p:cNvSpPr/>
          <p:nvPr/>
        </p:nvSpPr>
        <p:spPr>
          <a:xfrm>
            <a:off x="685800" y="2971800"/>
            <a:ext cx="10360152" cy="1371600"/>
          </a:xfrm>
          <a:prstGeom prst="roundRect">
            <a:avLst>
              <a:gd name="adj" fmla="val 9333"/>
            </a:avLst>
          </a:prstGeom>
          <a:solidFill>
            <a:srgbClr val="34C77B"/>
          </a:solidFill>
          <a:ln w="19050">
            <a:solidFill>
              <a:srgbClr val="323C4A"/>
            </a:solidFill>
          </a:ln>
        </p:spPr>
        <p:txBody>
          <a:bodyPr rtlCol="0" anchor="ctr"/>
          <a:lstStyle/>
          <a:p>
            <a:pPr algn="ctr"/>
          </a:p>
        </p:txBody>
      </p:sp>
      <p:sp>
        <p:nvSpPr>
          <p:cNvPr id="25" name="TextBox 24"/>
          <p:cNvSpPr txBox="1"/>
          <p:nvPr/>
        </p:nvSpPr>
        <p:spPr>
          <a:xfrm>
            <a:off x="960120" y="2971800"/>
            <a:ext cx="9784080" cy="1371600"/>
          </a:xfrm>
          <a:prstGeom prst="rect">
            <a:avLst/>
          </a:prstGeom>
          <a:noFill/>
        </p:spPr>
        <p:txBody>
          <a:bodyPr wrap="square" anchor="ctr" lIns="0" rIns="0" tIns="0" bIns="0">
            <a:noAutofit/>
          </a:bodyPr>
          <a:lstStyle/>
          <a:p>
            <a:pPr algn="l">
              <a:lnSpc>
                <a:spcPct val="100000"/>
              </a:lnSpc>
              <a:spcBef>
                <a:spcPts val="0"/>
              </a:spcBef>
              <a:spcAft>
                <a:spcPts val="0"/>
              </a:spcAft>
            </a:pPr>
            <a:r>
              <a:rPr sz="3000" b="1" i="0">
                <a:solidFill>
                  <a:srgbClr val="0C1410"/>
                </a:solidFill>
                <a:latin typeface="Arial"/>
              </a:rPr>
              <a:t>✓  </a:t>
            </a:r>
            <a:r>
              <a:rPr sz="3000" b="1" i="0">
                <a:solidFill>
                  <a:srgbClr val="0C1410"/>
                </a:solidFill>
                <a:latin typeface="Arial"/>
              </a:rPr>
              <a:t>We're testing it next week.</a:t>
            </a:r>
          </a:p>
        </p:txBody>
      </p:sp>
      <p:sp>
        <p:nvSpPr>
          <p:cNvPr id="26" name="Rounded Rectangle 25"/>
          <p:cNvSpPr/>
          <p:nvPr/>
        </p:nvSpPr>
        <p:spPr>
          <a:xfrm>
            <a:off x="685800" y="4572000"/>
            <a:ext cx="4206240" cy="502920"/>
          </a:xfrm>
          <a:prstGeom prst="roundRect">
            <a:avLst>
              <a:gd name="adj" fmla="val 18181"/>
            </a:avLst>
          </a:prstGeom>
          <a:solidFill>
            <a:srgbClr val="232B36"/>
          </a:solidFill>
          <a:ln>
            <a:noFill/>
          </a:ln>
        </p:spPr>
        <p:txBody>
          <a:bodyPr rtlCol="0" anchor="ctr" wrap="square" lIns="0" rIns="0" tIns="0" bIns="0">
            <a:noAutofit/>
          </a:bodyPr>
          <a:lstStyle/>
          <a:p>
            <a:pPr algn="ctr">
              <a:lnSpc>
                <a:spcPct val="100000"/>
              </a:lnSpc>
              <a:spcBef>
                <a:spcPts val="0"/>
              </a:spcBef>
              <a:spcAft>
                <a:spcPts val="0"/>
              </a:spcAft>
            </a:pPr>
            <a:r>
              <a:rPr sz="1500" b="1" i="0" spc="80">
                <a:solidFill>
                  <a:srgbClr val="FFB400"/>
                </a:solidFill>
                <a:latin typeface="Arial Narrow"/>
              </a:rPr>
              <a:t>PRESENT CONTINUOUS = BE + VERB-ING</a:t>
            </a:r>
          </a:p>
        </p:txBody>
      </p:sp>
      <p:sp>
        <p:nvSpPr>
          <p:cNvPr id="27" name="TextBox 26"/>
          <p:cNvSpPr txBox="1"/>
          <p:nvPr/>
        </p:nvSpPr>
        <p:spPr>
          <a:xfrm>
            <a:off x="5120640" y="4572000"/>
            <a:ext cx="5943600" cy="502920"/>
          </a:xfrm>
          <a:prstGeom prst="rect">
            <a:avLst/>
          </a:prstGeom>
          <a:noFill/>
        </p:spPr>
        <p:txBody>
          <a:bodyPr wrap="square" anchor="ctr" lIns="0" rIns="0" tIns="0" bIns="0">
            <a:noAutofit/>
          </a:bodyPr>
          <a:lstStyle/>
          <a:p>
            <a:pPr algn="l">
              <a:lnSpc>
                <a:spcPct val="100000"/>
              </a:lnSpc>
              <a:spcBef>
                <a:spcPts val="0"/>
              </a:spcBef>
              <a:spcAft>
                <a:spcPts val="0"/>
              </a:spcAft>
            </a:pPr>
            <a:r>
              <a:rPr sz="1600" b="0" i="1">
                <a:solidFill>
                  <a:srgbClr val="A9B3C0"/>
                </a:solidFill>
                <a:latin typeface="Arial"/>
              </a:rPr>
              <a:t>seen in: “We're testing it next week.”</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A9B3C0"/>
                </a:solidFill>
                <a:latin typeface="Arial Narrow"/>
              </a:rPr>
              <a:t>ACT 4 · LANGUAGE OF ENGINEERS</a:t>
            </a:r>
          </a:p>
        </p:txBody>
      </p:sp>
      <p:sp>
        <p:nvSpPr>
          <p:cNvPr id="4" name="Rounded Rectangle 3"/>
          <p:cNvSpPr/>
          <p:nvPr/>
        </p:nvSpPr>
        <p:spPr>
          <a:xfrm>
            <a:off x="10058400" y="274320"/>
            <a:ext cx="1444752" cy="329184"/>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1500" b="1" i="0" spc="60">
                <a:solidFill>
                  <a:srgbClr val="12161C"/>
                </a:solidFill>
                <a:latin typeface="Arial"/>
              </a:rPr>
              <a:t>+100 EP</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6F7A89"/>
                </a:solidFill>
                <a:latin typeface="Arial Narrow"/>
              </a:rPr>
              <a:t>ENERGY LAB  ·  CRASH TEST #05</a:t>
            </a:r>
          </a:p>
        </p:txBody>
      </p:sp>
      <p:sp>
        <p:nvSpPr>
          <p:cNvPr id="6" name="Rectangle 5"/>
          <p:cNvSpPr/>
          <p:nvPr/>
        </p:nvSpPr>
        <p:spPr>
          <a:xfrm>
            <a:off x="4526280" y="6510528"/>
            <a:ext cx="127363" cy="54864"/>
          </a:xfrm>
          <a:prstGeom prst="rect">
            <a:avLst/>
          </a:prstGeom>
          <a:solidFill>
            <a:srgbClr val="8A6A1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8A6A1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8A6A1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8A6A1A"/>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8A6A1A"/>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8A6A1A"/>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8A6A1A"/>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8A6A1A"/>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8A6A1A"/>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FFB400"/>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2A3240"/>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2A3240"/>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2A3240"/>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2A3240"/>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6F7A89"/>
                </a:solidFill>
                <a:latin typeface="Arial Narrow"/>
              </a:rPr>
              <a:t>71</a:t>
            </a:fld>
          </a:p>
        </p:txBody>
      </p:sp>
      <p:sp>
        <p:nvSpPr>
          <p:cNvPr id="21" name="TextBox 20"/>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F0525A"/>
                </a:solidFill>
                <a:latin typeface="Arial Narrow"/>
              </a:rPr>
              <a:t>BUG 5 / 5</a:t>
            </a:r>
          </a:p>
        </p:txBody>
      </p:sp>
      <p:sp>
        <p:nvSpPr>
          <p:cNvPr id="22" name="Rounded Rectangle 21"/>
          <p:cNvSpPr/>
          <p:nvPr/>
        </p:nvSpPr>
        <p:spPr>
          <a:xfrm>
            <a:off x="685800" y="1371600"/>
            <a:ext cx="10360152" cy="1371600"/>
          </a:xfrm>
          <a:prstGeom prst="roundRect">
            <a:avLst>
              <a:gd name="adj" fmla="val 9333"/>
            </a:avLst>
          </a:prstGeom>
          <a:solidFill>
            <a:srgbClr val="1A2029"/>
          </a:solidFill>
          <a:ln w="25400">
            <a:solidFill>
              <a:srgbClr val="F0525A"/>
            </a:solidFill>
          </a:ln>
        </p:spPr>
        <p:txBody>
          <a:bodyPr rtlCol="0" anchor="ctr"/>
          <a:lstStyle/>
          <a:p>
            <a:pPr algn="ctr"/>
          </a:p>
        </p:txBody>
      </p:sp>
      <p:sp>
        <p:nvSpPr>
          <p:cNvPr id="23" name="TextBox 22"/>
          <p:cNvSpPr txBox="1"/>
          <p:nvPr/>
        </p:nvSpPr>
        <p:spPr>
          <a:xfrm>
            <a:off x="960120" y="1371600"/>
            <a:ext cx="9784080" cy="1371600"/>
          </a:xfrm>
          <a:prstGeom prst="rect">
            <a:avLst/>
          </a:prstGeom>
          <a:noFill/>
        </p:spPr>
        <p:txBody>
          <a:bodyPr wrap="square" anchor="ctr" lIns="0" rIns="0" tIns="0" bIns="0">
            <a:noAutofit/>
          </a:bodyPr>
          <a:lstStyle/>
          <a:p>
            <a:pPr algn="l">
              <a:lnSpc>
                <a:spcPct val="100000"/>
              </a:lnSpc>
              <a:spcBef>
                <a:spcPts val="0"/>
              </a:spcBef>
              <a:spcAft>
                <a:spcPts val="0"/>
              </a:spcAft>
            </a:pPr>
            <a:r>
              <a:rPr sz="3000" b="0" i="0">
                <a:solidFill>
                  <a:srgbClr val="F0525A"/>
                </a:solidFill>
                <a:latin typeface="Arial"/>
              </a:rPr>
              <a:t>✗  </a:t>
            </a:r>
            <a:r>
              <a:rPr sz="3000" b="0" i="0">
                <a:solidFill>
                  <a:srgbClr val="F4F6F8"/>
                </a:solidFill>
                <a:latin typeface="Arial"/>
              </a:rPr>
              <a:t>Energy will transferred to the belt.</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A9B3C0"/>
                </a:solidFill>
                <a:latin typeface="Arial Narrow"/>
              </a:rPr>
              <a:t>ACT 4 · LANGUAGE OF ENGINEERS</a:t>
            </a:r>
          </a:p>
        </p:txBody>
      </p:sp>
      <p:sp>
        <p:nvSpPr>
          <p:cNvPr id="4" name="Rounded Rectangle 3"/>
          <p:cNvSpPr/>
          <p:nvPr/>
        </p:nvSpPr>
        <p:spPr>
          <a:xfrm>
            <a:off x="10058400" y="274320"/>
            <a:ext cx="1444752" cy="329184"/>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1500" b="1" i="0" spc="60">
                <a:solidFill>
                  <a:srgbClr val="12161C"/>
                </a:solidFill>
                <a:latin typeface="Arial"/>
              </a:rPr>
              <a:t>+100 EP</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6F7A89"/>
                </a:solidFill>
                <a:latin typeface="Arial Narrow"/>
              </a:rPr>
              <a:t>ENERGY LAB  ·  CRASH TEST #05</a:t>
            </a:r>
          </a:p>
        </p:txBody>
      </p:sp>
      <p:sp>
        <p:nvSpPr>
          <p:cNvPr id="6" name="Rectangle 5"/>
          <p:cNvSpPr/>
          <p:nvPr/>
        </p:nvSpPr>
        <p:spPr>
          <a:xfrm>
            <a:off x="4526280" y="6510528"/>
            <a:ext cx="127363" cy="54864"/>
          </a:xfrm>
          <a:prstGeom prst="rect">
            <a:avLst/>
          </a:prstGeom>
          <a:solidFill>
            <a:srgbClr val="8A6A1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8A6A1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8A6A1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8A6A1A"/>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8A6A1A"/>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8A6A1A"/>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8A6A1A"/>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8A6A1A"/>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8A6A1A"/>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FFB400"/>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2A3240"/>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2A3240"/>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2A3240"/>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2A3240"/>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6F7A89"/>
                </a:solidFill>
                <a:latin typeface="Arial Narrow"/>
              </a:rPr>
              <a:t>72</a:t>
            </a:fld>
          </a:p>
        </p:txBody>
      </p:sp>
      <p:sp>
        <p:nvSpPr>
          <p:cNvPr id="21" name="TextBox 20"/>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34C77B"/>
                </a:solidFill>
                <a:latin typeface="Arial Narrow"/>
              </a:rPr>
              <a:t>BUG 5 / 5</a:t>
            </a:r>
          </a:p>
        </p:txBody>
      </p:sp>
      <p:sp>
        <p:nvSpPr>
          <p:cNvPr id="22" name="Rounded Rectangle 21"/>
          <p:cNvSpPr/>
          <p:nvPr/>
        </p:nvSpPr>
        <p:spPr>
          <a:xfrm>
            <a:off x="685800" y="1371600"/>
            <a:ext cx="10360152" cy="1371600"/>
          </a:xfrm>
          <a:prstGeom prst="roundRect">
            <a:avLst>
              <a:gd name="adj" fmla="val 9333"/>
            </a:avLst>
          </a:prstGeom>
          <a:solidFill>
            <a:srgbClr val="1A2029"/>
          </a:solidFill>
          <a:ln w="25400">
            <a:solidFill>
              <a:srgbClr val="F0525A"/>
            </a:solidFill>
          </a:ln>
        </p:spPr>
        <p:txBody>
          <a:bodyPr rtlCol="0" anchor="ctr"/>
          <a:lstStyle/>
          <a:p>
            <a:pPr algn="ctr"/>
          </a:p>
        </p:txBody>
      </p:sp>
      <p:sp>
        <p:nvSpPr>
          <p:cNvPr id="23" name="TextBox 22"/>
          <p:cNvSpPr txBox="1"/>
          <p:nvPr/>
        </p:nvSpPr>
        <p:spPr>
          <a:xfrm>
            <a:off x="960120" y="1371600"/>
            <a:ext cx="9784080" cy="1371600"/>
          </a:xfrm>
          <a:prstGeom prst="rect">
            <a:avLst/>
          </a:prstGeom>
          <a:noFill/>
        </p:spPr>
        <p:txBody>
          <a:bodyPr wrap="square" anchor="ctr" lIns="0" rIns="0" tIns="0" bIns="0">
            <a:noAutofit/>
          </a:bodyPr>
          <a:lstStyle/>
          <a:p>
            <a:pPr algn="l">
              <a:lnSpc>
                <a:spcPct val="100000"/>
              </a:lnSpc>
              <a:spcBef>
                <a:spcPts val="0"/>
              </a:spcBef>
              <a:spcAft>
                <a:spcPts val="0"/>
              </a:spcAft>
            </a:pPr>
            <a:r>
              <a:rPr sz="3000" b="0" i="0">
                <a:solidFill>
                  <a:srgbClr val="F0525A"/>
                </a:solidFill>
                <a:latin typeface="Arial"/>
              </a:rPr>
              <a:t>✗  </a:t>
            </a:r>
            <a:r>
              <a:rPr sz="3000" b="0" i="0">
                <a:solidFill>
                  <a:srgbClr val="F4F6F8"/>
                </a:solidFill>
                <a:latin typeface="Arial"/>
              </a:rPr>
              <a:t>Energy will transferred to the belt.</a:t>
            </a:r>
          </a:p>
        </p:txBody>
      </p:sp>
      <p:sp>
        <p:nvSpPr>
          <p:cNvPr id="24" name="Rounded Rectangle 23"/>
          <p:cNvSpPr/>
          <p:nvPr/>
        </p:nvSpPr>
        <p:spPr>
          <a:xfrm>
            <a:off x="685800" y="2971800"/>
            <a:ext cx="10360152" cy="1371600"/>
          </a:xfrm>
          <a:prstGeom prst="roundRect">
            <a:avLst>
              <a:gd name="adj" fmla="val 9333"/>
            </a:avLst>
          </a:prstGeom>
          <a:solidFill>
            <a:srgbClr val="34C77B"/>
          </a:solidFill>
          <a:ln w="19050">
            <a:solidFill>
              <a:srgbClr val="323C4A"/>
            </a:solidFill>
          </a:ln>
        </p:spPr>
        <p:txBody>
          <a:bodyPr rtlCol="0" anchor="ctr"/>
          <a:lstStyle/>
          <a:p>
            <a:pPr algn="ctr"/>
          </a:p>
        </p:txBody>
      </p:sp>
      <p:sp>
        <p:nvSpPr>
          <p:cNvPr id="25" name="TextBox 24"/>
          <p:cNvSpPr txBox="1"/>
          <p:nvPr/>
        </p:nvSpPr>
        <p:spPr>
          <a:xfrm>
            <a:off x="960120" y="2971800"/>
            <a:ext cx="9784080" cy="1371600"/>
          </a:xfrm>
          <a:prstGeom prst="rect">
            <a:avLst/>
          </a:prstGeom>
          <a:noFill/>
        </p:spPr>
        <p:txBody>
          <a:bodyPr wrap="square" anchor="ctr" lIns="0" rIns="0" tIns="0" bIns="0">
            <a:noAutofit/>
          </a:bodyPr>
          <a:lstStyle/>
          <a:p>
            <a:pPr algn="l">
              <a:lnSpc>
                <a:spcPct val="100000"/>
              </a:lnSpc>
              <a:spcBef>
                <a:spcPts val="0"/>
              </a:spcBef>
              <a:spcAft>
                <a:spcPts val="0"/>
              </a:spcAft>
            </a:pPr>
            <a:r>
              <a:rPr sz="3000" b="1" i="0">
                <a:solidFill>
                  <a:srgbClr val="0C1410"/>
                </a:solidFill>
                <a:latin typeface="Arial"/>
              </a:rPr>
              <a:t>✓  </a:t>
            </a:r>
            <a:r>
              <a:rPr sz="3000" b="1" i="0">
                <a:solidFill>
                  <a:srgbClr val="0C1410"/>
                </a:solidFill>
                <a:latin typeface="Arial"/>
              </a:rPr>
              <a:t>Energy will be transferred to the belt.</a:t>
            </a:r>
          </a:p>
        </p:txBody>
      </p:sp>
      <p:sp>
        <p:nvSpPr>
          <p:cNvPr id="26" name="Rounded Rectangle 25"/>
          <p:cNvSpPr/>
          <p:nvPr/>
        </p:nvSpPr>
        <p:spPr>
          <a:xfrm>
            <a:off x="685800" y="4572000"/>
            <a:ext cx="4206240" cy="502920"/>
          </a:xfrm>
          <a:prstGeom prst="roundRect">
            <a:avLst>
              <a:gd name="adj" fmla="val 18181"/>
            </a:avLst>
          </a:prstGeom>
          <a:solidFill>
            <a:srgbClr val="232B36"/>
          </a:solidFill>
          <a:ln>
            <a:noFill/>
          </a:ln>
        </p:spPr>
        <p:txBody>
          <a:bodyPr rtlCol="0" anchor="ctr" wrap="square" lIns="0" rIns="0" tIns="0" bIns="0">
            <a:noAutofit/>
          </a:bodyPr>
          <a:lstStyle/>
          <a:p>
            <a:pPr algn="ctr">
              <a:lnSpc>
                <a:spcPct val="100000"/>
              </a:lnSpc>
              <a:spcBef>
                <a:spcPts val="0"/>
              </a:spcBef>
              <a:spcAft>
                <a:spcPts val="0"/>
              </a:spcAft>
            </a:pPr>
            <a:r>
              <a:rPr sz="1500" b="1" i="0" spc="80">
                <a:solidFill>
                  <a:srgbClr val="FFB400"/>
                </a:solidFill>
                <a:latin typeface="Arial Narrow"/>
              </a:rPr>
              <a:t>WILL + BE + PAST PARTICIPLE</a:t>
            </a:r>
          </a:p>
        </p:txBody>
      </p:sp>
      <p:sp>
        <p:nvSpPr>
          <p:cNvPr id="27" name="TextBox 26"/>
          <p:cNvSpPr txBox="1"/>
          <p:nvPr/>
        </p:nvSpPr>
        <p:spPr>
          <a:xfrm>
            <a:off x="5120640" y="4572000"/>
            <a:ext cx="5943600" cy="502920"/>
          </a:xfrm>
          <a:prstGeom prst="rect">
            <a:avLst/>
          </a:prstGeom>
          <a:noFill/>
        </p:spPr>
        <p:txBody>
          <a:bodyPr wrap="square" anchor="ctr" lIns="0" rIns="0" tIns="0" bIns="0">
            <a:noAutofit/>
          </a:bodyPr>
          <a:lstStyle/>
          <a:p>
            <a:pPr algn="l">
              <a:lnSpc>
                <a:spcPct val="100000"/>
              </a:lnSpc>
              <a:spcBef>
                <a:spcPts val="0"/>
              </a:spcBef>
              <a:spcAft>
                <a:spcPts val="0"/>
              </a:spcAft>
            </a:pPr>
            <a:r>
              <a:rPr sz="1600" b="0" i="1">
                <a:solidFill>
                  <a:srgbClr val="A9B3C0"/>
                </a:solidFill>
                <a:latin typeface="Arial"/>
              </a:rPr>
              <a:t>seen in: “…will be transferred to the belt.”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685800" y="1737360"/>
            <a:ext cx="118872" cy="118872"/>
          </a:xfrm>
          <a:prstGeom prst="rect">
            <a:avLst/>
          </a:prstGeom>
          <a:solidFill>
            <a:srgbClr val="42C3F7"/>
          </a:solidFill>
          <a:ln>
            <a:noFill/>
          </a:ln>
        </p:spPr>
        <p:txBody>
          <a:bodyPr rtlCol="0" anchor="ctr"/>
          <a:lstStyle/>
          <a:p>
            <a:pPr algn="ctr"/>
          </a:p>
        </p:txBody>
      </p:sp>
      <p:sp>
        <p:nvSpPr>
          <p:cNvPr id="3" name="TextBox 2"/>
          <p:cNvSpPr txBox="1"/>
          <p:nvPr/>
        </p:nvSpPr>
        <p:spPr>
          <a:xfrm>
            <a:off x="932688" y="1645920"/>
            <a:ext cx="7315200" cy="274320"/>
          </a:xfrm>
          <a:prstGeom prst="rect">
            <a:avLst/>
          </a:prstGeom>
          <a:noFill/>
        </p:spPr>
        <p:txBody>
          <a:bodyPr wrap="square" anchor="t" lIns="0" rIns="0" tIns="0" bIns="0">
            <a:noAutofit/>
          </a:bodyPr>
          <a:lstStyle/>
          <a:p>
            <a:pPr algn="l">
              <a:lnSpc>
                <a:spcPct val="100000"/>
              </a:lnSpc>
              <a:spcBef>
                <a:spcPts val="0"/>
              </a:spcBef>
              <a:spcAft>
                <a:spcPts val="0"/>
              </a:spcAft>
            </a:pPr>
            <a:r>
              <a:rPr sz="1500" b="1" i="0" spc="300">
                <a:solidFill>
                  <a:srgbClr val="A9B3C0"/>
                </a:solidFill>
                <a:latin typeface="Arial Narrow"/>
              </a:rPr>
              <a:t>TESTING ENGINEER</a:t>
            </a:r>
          </a:p>
        </p:txBody>
      </p:sp>
      <p:sp>
        <p:nvSpPr>
          <p:cNvPr id="4" name="TextBox 3"/>
          <p:cNvSpPr txBox="1"/>
          <p:nvPr/>
        </p:nvSpPr>
        <p:spPr>
          <a:xfrm>
            <a:off x="685800" y="2194560"/>
            <a:ext cx="10607040" cy="1188720"/>
          </a:xfrm>
          <a:prstGeom prst="rect">
            <a:avLst/>
          </a:prstGeom>
          <a:noFill/>
        </p:spPr>
        <p:txBody>
          <a:bodyPr wrap="square" anchor="t" lIns="0" rIns="0" tIns="0" bIns="0">
            <a:noAutofit/>
          </a:bodyPr>
          <a:lstStyle/>
          <a:p>
            <a:pPr algn="l">
              <a:lnSpc>
                <a:spcPct val="100000"/>
              </a:lnSpc>
              <a:spcBef>
                <a:spcPts val="0"/>
              </a:spcBef>
              <a:spcAft>
                <a:spcPts val="0"/>
              </a:spcAft>
            </a:pPr>
            <a:r>
              <a:rPr sz="4800" b="0" i="0">
                <a:solidFill>
                  <a:srgbClr val="F4F6F8"/>
                </a:solidFill>
                <a:latin typeface="Arial Black"/>
              </a:rPr>
              <a:t>INTERCEPTED ENGINEER</a:t>
            </a:r>
          </a:p>
        </p:txBody>
      </p:sp>
      <p:sp>
        <p:nvSpPr>
          <p:cNvPr id="5" name="TextBox 4"/>
          <p:cNvSpPr txBox="1"/>
          <p:nvPr/>
        </p:nvSpPr>
        <p:spPr>
          <a:xfrm>
            <a:off x="713232" y="3063240"/>
            <a:ext cx="10607040" cy="1188720"/>
          </a:xfrm>
          <a:prstGeom prst="rect">
            <a:avLst/>
          </a:prstGeom>
          <a:noFill/>
        </p:spPr>
        <p:txBody>
          <a:bodyPr wrap="square" anchor="t" lIns="0" rIns="0" tIns="0" bIns="0">
            <a:noAutofit/>
          </a:bodyPr>
          <a:lstStyle/>
          <a:p>
            <a:pPr algn="l">
              <a:lnSpc>
                <a:spcPct val="100000"/>
              </a:lnSpc>
              <a:spcBef>
                <a:spcPts val="0"/>
              </a:spcBef>
              <a:spcAft>
                <a:spcPts val="0"/>
              </a:spcAft>
            </a:pPr>
            <a:r>
              <a:rPr sz="4800" b="0" i="0">
                <a:solidFill>
                  <a:srgbClr val="42C3F7"/>
                </a:solidFill>
                <a:latin typeface="Arial Black"/>
              </a:rPr>
              <a:t>CONVERSATION</a:t>
            </a:r>
          </a:p>
        </p:txBody>
      </p:sp>
      <p:sp>
        <p:nvSpPr>
          <p:cNvPr id="6" name="TextBox 5"/>
          <p:cNvSpPr txBox="1"/>
          <p:nvPr/>
        </p:nvSpPr>
        <p:spPr>
          <a:xfrm>
            <a:off x="713232" y="4297680"/>
            <a:ext cx="8229600" cy="457200"/>
          </a:xfrm>
          <a:prstGeom prst="rect">
            <a:avLst/>
          </a:prstGeom>
          <a:noFill/>
        </p:spPr>
        <p:txBody>
          <a:bodyPr wrap="square" anchor="t" lIns="0" rIns="0" tIns="0" bIns="0">
            <a:noAutofit/>
          </a:bodyPr>
          <a:lstStyle/>
          <a:p>
            <a:pPr algn="l">
              <a:lnSpc>
                <a:spcPct val="100000"/>
              </a:lnSpc>
              <a:spcBef>
                <a:spcPts val="0"/>
              </a:spcBef>
              <a:spcAft>
                <a:spcPts val="0"/>
              </a:spcAft>
            </a:pPr>
            <a:r>
              <a:rPr sz="2000" b="1" i="0" spc="200">
                <a:solidFill>
                  <a:srgbClr val="A9B3C0"/>
                </a:solidFill>
                <a:latin typeface="Arial Narrow"/>
              </a:rPr>
              <a:t>LISTEN CAREFULLY. NO WRITING YET.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A9B3C0"/>
                </a:solidFill>
                <a:latin typeface="Arial Narrow"/>
              </a:rPr>
              <a:t>ACT 5 · LISTENING</a:t>
            </a:r>
          </a:p>
        </p:txBody>
      </p:sp>
      <p:sp>
        <p:nvSpPr>
          <p:cNvPr id="4" name="TextBox 3"/>
          <p:cNvSpPr txBox="1"/>
          <p:nvPr/>
        </p:nvSpPr>
        <p:spPr>
          <a:xfrm>
            <a:off x="7315200" y="310896"/>
            <a:ext cx="4187952" cy="274320"/>
          </a:xfrm>
          <a:prstGeom prst="rect">
            <a:avLst/>
          </a:prstGeom>
          <a:noFill/>
        </p:spPr>
        <p:txBody>
          <a:bodyPr wrap="square" anchor="t" lIns="0" rIns="0" tIns="0" bIns="0">
            <a:noAutofit/>
          </a:bodyPr>
          <a:lstStyle/>
          <a:p>
            <a:pPr algn="r">
              <a:lnSpc>
                <a:spcPct val="100000"/>
              </a:lnSpc>
              <a:spcBef>
                <a:spcPts val="0"/>
              </a:spcBef>
              <a:spcAft>
                <a:spcPts val="0"/>
              </a:spcAft>
            </a:pPr>
            <a:r>
              <a:rPr sz="1300" b="1" i="0" spc="220">
                <a:solidFill>
                  <a:srgbClr val="6F7A89"/>
                </a:solidFill>
                <a:latin typeface="Arial Narrow"/>
              </a:rPr>
              <a:t>TESTING ENGINEER</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6F7A89"/>
                </a:solidFill>
                <a:latin typeface="Arial Narrow"/>
              </a:rPr>
              <a:t>ENERGY LAB  ·  CRASH TEST #05</a:t>
            </a:r>
          </a:p>
        </p:txBody>
      </p:sp>
      <p:sp>
        <p:nvSpPr>
          <p:cNvPr id="6" name="Rectangle 5"/>
          <p:cNvSpPr/>
          <p:nvPr/>
        </p:nvSpPr>
        <p:spPr>
          <a:xfrm>
            <a:off x="4526280" y="6510528"/>
            <a:ext cx="127363" cy="54864"/>
          </a:xfrm>
          <a:prstGeom prst="rect">
            <a:avLst/>
          </a:prstGeom>
          <a:solidFill>
            <a:srgbClr val="8A6A1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8A6A1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8A6A1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8A6A1A"/>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8A6A1A"/>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8A6A1A"/>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8A6A1A"/>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8A6A1A"/>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8A6A1A"/>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8A6A1A"/>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FFB400"/>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2A3240"/>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2A3240"/>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2A3240"/>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6F7A89"/>
                </a:solidFill>
                <a:latin typeface="Arial Narrow"/>
              </a:rPr>
              <a:t>74</a:t>
            </a:fld>
          </a:p>
        </p:txBody>
      </p:sp>
      <p:sp>
        <p:nvSpPr>
          <p:cNvPr id="21" name="Rounded Rectangle 20"/>
          <p:cNvSpPr/>
          <p:nvPr/>
        </p:nvSpPr>
        <p:spPr>
          <a:xfrm>
            <a:off x="8732520" y="914400"/>
            <a:ext cx="2278475" cy="274320"/>
          </a:xfrm>
          <a:prstGeom prst="roundRect">
            <a:avLst>
              <a:gd name="adj" fmla="val 50000"/>
            </a:avLst>
          </a:prstGeom>
          <a:noFill/>
          <a:ln w="19050">
            <a:solidFill>
              <a:srgbClr val="42C3F7"/>
            </a:solidFill>
          </a:ln>
        </p:spPr>
        <p:txBody>
          <a:bodyPr rtlCol="0" anchor="ctr" wrap="square" lIns="0" rIns="0" tIns="0" bIns="0">
            <a:noAutofit/>
          </a:bodyPr>
          <a:lstStyle/>
          <a:p>
            <a:pPr algn="ctr">
              <a:lnSpc>
                <a:spcPct val="100000"/>
              </a:lnSpc>
              <a:spcBef>
                <a:spcPts val="0"/>
              </a:spcBef>
              <a:spcAft>
                <a:spcPts val="0"/>
              </a:spcAft>
            </a:pPr>
            <a:r>
              <a:rPr sz="1300" b="1" i="0" spc="200">
                <a:solidFill>
                  <a:srgbClr val="42C3F7"/>
                </a:solidFill>
                <a:latin typeface="Arial Narrow"/>
              </a:rPr>
              <a:t>TEXTBOOK · TASK 6.1</a:t>
            </a:r>
          </a:p>
        </p:txBody>
      </p:sp>
      <p:sp>
        <p:nvSpPr>
          <p:cNvPr id="22" name="TextBox 21"/>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A9B3C0"/>
                </a:solidFill>
                <a:latin typeface="Arial Narrow"/>
              </a:rPr>
              <a:t>LISTENING ROUND 1 · NO WRITING</a:t>
            </a:r>
          </a:p>
        </p:txBody>
      </p:sp>
      <p:sp>
        <p:nvSpPr>
          <p:cNvPr id="23" name="TextBox 22"/>
          <p:cNvSpPr txBox="1"/>
          <p:nvPr/>
        </p:nvSpPr>
        <p:spPr>
          <a:xfrm>
            <a:off x="685800" y="1234440"/>
            <a:ext cx="10789920" cy="1005840"/>
          </a:xfrm>
          <a:prstGeom prst="rect">
            <a:avLst/>
          </a:prstGeom>
          <a:noFill/>
        </p:spPr>
        <p:txBody>
          <a:bodyPr wrap="square" anchor="t" lIns="0" rIns="0" tIns="0" bIns="0">
            <a:noAutofit/>
          </a:bodyPr>
          <a:lstStyle/>
          <a:p>
            <a:pPr algn="l">
              <a:lnSpc>
                <a:spcPct val="100000"/>
              </a:lnSpc>
              <a:spcBef>
                <a:spcPts val="0"/>
              </a:spcBef>
              <a:spcAft>
                <a:spcPts val="0"/>
              </a:spcAft>
            </a:pPr>
            <a:r>
              <a:rPr sz="3000" b="0" i="0">
                <a:solidFill>
                  <a:srgbClr val="F4F6F8"/>
                </a:solidFill>
                <a:latin typeface="Arial Black"/>
              </a:rPr>
              <a:t>WHAT IS THE CONVERSATION MOSTLY ABOUT?</a:t>
            </a:r>
          </a:p>
        </p:txBody>
      </p:sp>
      <p:sp>
        <p:nvSpPr>
          <p:cNvPr id="24" name="Rounded Rectangle 23"/>
          <p:cNvSpPr/>
          <p:nvPr/>
        </p:nvSpPr>
        <p:spPr>
          <a:xfrm>
            <a:off x="685800" y="2606040"/>
            <a:ext cx="10360152" cy="713232"/>
          </a:xfrm>
          <a:prstGeom prst="roundRect">
            <a:avLst>
              <a:gd name="adj" fmla="val 17948"/>
            </a:avLst>
          </a:prstGeom>
          <a:solidFill>
            <a:srgbClr val="1A2029"/>
          </a:solidFill>
          <a:ln w="19050">
            <a:solidFill>
              <a:srgbClr val="323C4A"/>
            </a:solidFill>
          </a:ln>
        </p:spPr>
        <p:txBody>
          <a:bodyPr rtlCol="0" anchor="ctr"/>
          <a:lstStyle/>
          <a:p>
            <a:pPr algn="ctr"/>
          </a:p>
        </p:txBody>
      </p:sp>
      <p:sp>
        <p:nvSpPr>
          <p:cNvPr id="25" name="Rounded Rectangle 24"/>
          <p:cNvSpPr/>
          <p:nvPr/>
        </p:nvSpPr>
        <p:spPr>
          <a:xfrm>
            <a:off x="868680" y="2706624"/>
            <a:ext cx="512064" cy="512064"/>
          </a:xfrm>
          <a:prstGeom prst="roundRect">
            <a:avLst>
              <a:gd name="adj" fmla="val 17857"/>
            </a:avLst>
          </a:prstGeom>
          <a:solidFill>
            <a:srgbClr val="232B36"/>
          </a:solidFill>
          <a:ln>
            <a:noFill/>
          </a:ln>
        </p:spPr>
        <p:txBody>
          <a:bodyPr rtlCol="0" anchor="ctr" wrap="square" lIns="0" rIns="0" tIns="0" bIns="0">
            <a:noAutofit/>
          </a:bodyPr>
          <a:lstStyle/>
          <a:p>
            <a:pPr algn="ctr">
              <a:lnSpc>
                <a:spcPct val="100000"/>
              </a:lnSpc>
              <a:spcBef>
                <a:spcPts val="0"/>
              </a:spcBef>
              <a:spcAft>
                <a:spcPts val="0"/>
              </a:spcAft>
            </a:pPr>
            <a:r>
              <a:rPr sz="2000" b="1" i="0">
                <a:solidFill>
                  <a:srgbClr val="F4F6F8"/>
                </a:solidFill>
                <a:latin typeface="Arial Black"/>
              </a:rPr>
              <a:t>A</a:t>
            </a:r>
          </a:p>
        </p:txBody>
      </p:sp>
      <p:sp>
        <p:nvSpPr>
          <p:cNvPr id="26" name="TextBox 25"/>
          <p:cNvSpPr txBox="1"/>
          <p:nvPr/>
        </p:nvSpPr>
        <p:spPr>
          <a:xfrm>
            <a:off x="1554480" y="2606040"/>
            <a:ext cx="9326880" cy="713232"/>
          </a:xfrm>
          <a:prstGeom prst="rect">
            <a:avLst/>
          </a:prstGeom>
          <a:noFill/>
        </p:spPr>
        <p:txBody>
          <a:bodyPr wrap="square" anchor="ctr" lIns="0" rIns="0" tIns="0" bIns="0">
            <a:noAutofit/>
          </a:bodyPr>
          <a:lstStyle/>
          <a:p>
            <a:pPr algn="l">
              <a:lnSpc>
                <a:spcPct val="100000"/>
              </a:lnSpc>
              <a:spcBef>
                <a:spcPts val="0"/>
              </a:spcBef>
              <a:spcAft>
                <a:spcPts val="0"/>
              </a:spcAft>
            </a:pPr>
            <a:r>
              <a:rPr sz="1900" b="0" i="0">
                <a:solidFill>
                  <a:srgbClr val="F4F6F8"/>
                </a:solidFill>
                <a:latin typeface="Arial"/>
              </a:rPr>
              <a:t>the drawbacks of longer stopping distances</a:t>
            </a:r>
          </a:p>
        </p:txBody>
      </p:sp>
      <p:sp>
        <p:nvSpPr>
          <p:cNvPr id="27" name="Rounded Rectangle 26"/>
          <p:cNvSpPr/>
          <p:nvPr/>
        </p:nvSpPr>
        <p:spPr>
          <a:xfrm>
            <a:off x="685800" y="3447288"/>
            <a:ext cx="10360152" cy="713232"/>
          </a:xfrm>
          <a:prstGeom prst="roundRect">
            <a:avLst>
              <a:gd name="adj" fmla="val 17948"/>
            </a:avLst>
          </a:prstGeom>
          <a:solidFill>
            <a:srgbClr val="1A2029"/>
          </a:solidFill>
          <a:ln w="19050">
            <a:solidFill>
              <a:srgbClr val="323C4A"/>
            </a:solidFill>
          </a:ln>
        </p:spPr>
        <p:txBody>
          <a:bodyPr rtlCol="0" anchor="ctr"/>
          <a:lstStyle/>
          <a:p>
            <a:pPr algn="ctr"/>
          </a:p>
        </p:txBody>
      </p:sp>
      <p:sp>
        <p:nvSpPr>
          <p:cNvPr id="28" name="Rounded Rectangle 27"/>
          <p:cNvSpPr/>
          <p:nvPr/>
        </p:nvSpPr>
        <p:spPr>
          <a:xfrm>
            <a:off x="868680" y="3547872"/>
            <a:ext cx="512064" cy="512064"/>
          </a:xfrm>
          <a:prstGeom prst="roundRect">
            <a:avLst>
              <a:gd name="adj" fmla="val 17857"/>
            </a:avLst>
          </a:prstGeom>
          <a:solidFill>
            <a:srgbClr val="232B36"/>
          </a:solidFill>
          <a:ln>
            <a:noFill/>
          </a:ln>
        </p:spPr>
        <p:txBody>
          <a:bodyPr rtlCol="0" anchor="ctr" wrap="square" lIns="0" rIns="0" tIns="0" bIns="0">
            <a:noAutofit/>
          </a:bodyPr>
          <a:lstStyle/>
          <a:p>
            <a:pPr algn="ctr">
              <a:lnSpc>
                <a:spcPct val="100000"/>
              </a:lnSpc>
              <a:spcBef>
                <a:spcPts val="0"/>
              </a:spcBef>
              <a:spcAft>
                <a:spcPts val="0"/>
              </a:spcAft>
            </a:pPr>
            <a:r>
              <a:rPr sz="2000" b="1" i="0">
                <a:solidFill>
                  <a:srgbClr val="F4F6F8"/>
                </a:solidFill>
                <a:latin typeface="Arial Black"/>
              </a:rPr>
              <a:t>B</a:t>
            </a:r>
          </a:p>
        </p:txBody>
      </p:sp>
      <p:sp>
        <p:nvSpPr>
          <p:cNvPr id="29" name="TextBox 28"/>
          <p:cNvSpPr txBox="1"/>
          <p:nvPr/>
        </p:nvSpPr>
        <p:spPr>
          <a:xfrm>
            <a:off x="1554480" y="3447288"/>
            <a:ext cx="9326880" cy="713232"/>
          </a:xfrm>
          <a:prstGeom prst="rect">
            <a:avLst/>
          </a:prstGeom>
          <a:noFill/>
        </p:spPr>
        <p:txBody>
          <a:bodyPr wrap="square" anchor="ctr" lIns="0" rIns="0" tIns="0" bIns="0">
            <a:noAutofit/>
          </a:bodyPr>
          <a:lstStyle/>
          <a:p>
            <a:pPr algn="l">
              <a:lnSpc>
                <a:spcPct val="100000"/>
              </a:lnSpc>
              <a:spcBef>
                <a:spcPts val="0"/>
              </a:spcBef>
              <a:spcAft>
                <a:spcPts val="0"/>
              </a:spcAft>
            </a:pPr>
            <a:r>
              <a:rPr sz="1900" b="0" i="0">
                <a:solidFill>
                  <a:srgbClr val="F4F6F8"/>
                </a:solidFill>
                <a:latin typeface="Arial"/>
              </a:rPr>
              <a:t>the benefits of a new seatbelt design</a:t>
            </a:r>
          </a:p>
        </p:txBody>
      </p:sp>
      <p:sp>
        <p:nvSpPr>
          <p:cNvPr id="30" name="Rounded Rectangle 29"/>
          <p:cNvSpPr/>
          <p:nvPr/>
        </p:nvSpPr>
        <p:spPr>
          <a:xfrm>
            <a:off x="685800" y="4288536"/>
            <a:ext cx="10360152" cy="713232"/>
          </a:xfrm>
          <a:prstGeom prst="roundRect">
            <a:avLst>
              <a:gd name="adj" fmla="val 17948"/>
            </a:avLst>
          </a:prstGeom>
          <a:solidFill>
            <a:srgbClr val="1A2029"/>
          </a:solidFill>
          <a:ln w="19050">
            <a:solidFill>
              <a:srgbClr val="323C4A"/>
            </a:solidFill>
          </a:ln>
        </p:spPr>
        <p:txBody>
          <a:bodyPr rtlCol="0" anchor="ctr"/>
          <a:lstStyle/>
          <a:p>
            <a:pPr algn="ctr"/>
          </a:p>
        </p:txBody>
      </p:sp>
      <p:sp>
        <p:nvSpPr>
          <p:cNvPr id="31" name="Rounded Rectangle 30"/>
          <p:cNvSpPr/>
          <p:nvPr/>
        </p:nvSpPr>
        <p:spPr>
          <a:xfrm>
            <a:off x="868680" y="4389120"/>
            <a:ext cx="512064" cy="512064"/>
          </a:xfrm>
          <a:prstGeom prst="roundRect">
            <a:avLst>
              <a:gd name="adj" fmla="val 17857"/>
            </a:avLst>
          </a:prstGeom>
          <a:solidFill>
            <a:srgbClr val="232B36"/>
          </a:solidFill>
          <a:ln>
            <a:noFill/>
          </a:ln>
        </p:spPr>
        <p:txBody>
          <a:bodyPr rtlCol="0" anchor="ctr" wrap="square" lIns="0" rIns="0" tIns="0" bIns="0">
            <a:noAutofit/>
          </a:bodyPr>
          <a:lstStyle/>
          <a:p>
            <a:pPr algn="ctr">
              <a:lnSpc>
                <a:spcPct val="100000"/>
              </a:lnSpc>
              <a:spcBef>
                <a:spcPts val="0"/>
              </a:spcBef>
              <a:spcAft>
                <a:spcPts val="0"/>
              </a:spcAft>
            </a:pPr>
            <a:r>
              <a:rPr sz="2000" b="1" i="0">
                <a:solidFill>
                  <a:srgbClr val="F4F6F8"/>
                </a:solidFill>
                <a:latin typeface="Arial Black"/>
              </a:rPr>
              <a:t>C</a:t>
            </a:r>
          </a:p>
        </p:txBody>
      </p:sp>
      <p:sp>
        <p:nvSpPr>
          <p:cNvPr id="32" name="TextBox 31"/>
          <p:cNvSpPr txBox="1"/>
          <p:nvPr/>
        </p:nvSpPr>
        <p:spPr>
          <a:xfrm>
            <a:off x="1554480" y="4288536"/>
            <a:ext cx="9326880" cy="713232"/>
          </a:xfrm>
          <a:prstGeom prst="rect">
            <a:avLst/>
          </a:prstGeom>
          <a:noFill/>
        </p:spPr>
        <p:txBody>
          <a:bodyPr wrap="square" anchor="ctr" lIns="0" rIns="0" tIns="0" bIns="0">
            <a:noAutofit/>
          </a:bodyPr>
          <a:lstStyle/>
          <a:p>
            <a:pPr algn="l">
              <a:lnSpc>
                <a:spcPct val="100000"/>
              </a:lnSpc>
              <a:spcBef>
                <a:spcPts val="0"/>
              </a:spcBef>
              <a:spcAft>
                <a:spcPts val="0"/>
              </a:spcAft>
            </a:pPr>
            <a:r>
              <a:rPr sz="1900" b="0" i="0">
                <a:solidFill>
                  <a:srgbClr val="F4F6F8"/>
                </a:solidFill>
                <a:latin typeface="Arial"/>
              </a:rPr>
              <a:t>the safety of non-stretching seatbelts</a:t>
            </a:r>
          </a:p>
        </p:txBody>
      </p:sp>
      <p:sp>
        <p:nvSpPr>
          <p:cNvPr id="33" name="Rounded Rectangle 32"/>
          <p:cNvSpPr/>
          <p:nvPr/>
        </p:nvSpPr>
        <p:spPr>
          <a:xfrm>
            <a:off x="685800" y="5129784"/>
            <a:ext cx="10360152" cy="713232"/>
          </a:xfrm>
          <a:prstGeom prst="roundRect">
            <a:avLst>
              <a:gd name="adj" fmla="val 17948"/>
            </a:avLst>
          </a:prstGeom>
          <a:solidFill>
            <a:srgbClr val="1A2029"/>
          </a:solidFill>
          <a:ln w="19050">
            <a:solidFill>
              <a:srgbClr val="323C4A"/>
            </a:solidFill>
          </a:ln>
        </p:spPr>
        <p:txBody>
          <a:bodyPr rtlCol="0" anchor="ctr"/>
          <a:lstStyle/>
          <a:p>
            <a:pPr algn="ctr"/>
          </a:p>
        </p:txBody>
      </p:sp>
      <p:sp>
        <p:nvSpPr>
          <p:cNvPr id="34" name="Rounded Rectangle 33"/>
          <p:cNvSpPr/>
          <p:nvPr/>
        </p:nvSpPr>
        <p:spPr>
          <a:xfrm>
            <a:off x="868680" y="5230368"/>
            <a:ext cx="512064" cy="512064"/>
          </a:xfrm>
          <a:prstGeom prst="roundRect">
            <a:avLst>
              <a:gd name="adj" fmla="val 17857"/>
            </a:avLst>
          </a:prstGeom>
          <a:solidFill>
            <a:srgbClr val="232B36"/>
          </a:solidFill>
          <a:ln>
            <a:noFill/>
          </a:ln>
        </p:spPr>
        <p:txBody>
          <a:bodyPr rtlCol="0" anchor="ctr" wrap="square" lIns="0" rIns="0" tIns="0" bIns="0">
            <a:noAutofit/>
          </a:bodyPr>
          <a:lstStyle/>
          <a:p>
            <a:pPr algn="ctr">
              <a:lnSpc>
                <a:spcPct val="100000"/>
              </a:lnSpc>
              <a:spcBef>
                <a:spcPts val="0"/>
              </a:spcBef>
              <a:spcAft>
                <a:spcPts val="0"/>
              </a:spcAft>
            </a:pPr>
            <a:r>
              <a:rPr sz="2000" b="1" i="0">
                <a:solidFill>
                  <a:srgbClr val="F4F6F8"/>
                </a:solidFill>
                <a:latin typeface="Arial Black"/>
              </a:rPr>
              <a:t>D</a:t>
            </a:r>
          </a:p>
        </p:txBody>
      </p:sp>
      <p:sp>
        <p:nvSpPr>
          <p:cNvPr id="35" name="TextBox 34"/>
          <p:cNvSpPr txBox="1"/>
          <p:nvPr/>
        </p:nvSpPr>
        <p:spPr>
          <a:xfrm>
            <a:off x="1554480" y="5129784"/>
            <a:ext cx="9326880" cy="713232"/>
          </a:xfrm>
          <a:prstGeom prst="rect">
            <a:avLst/>
          </a:prstGeom>
          <a:noFill/>
        </p:spPr>
        <p:txBody>
          <a:bodyPr wrap="square" anchor="ctr" lIns="0" rIns="0" tIns="0" bIns="0">
            <a:noAutofit/>
          </a:bodyPr>
          <a:lstStyle/>
          <a:p>
            <a:pPr algn="l">
              <a:lnSpc>
                <a:spcPct val="100000"/>
              </a:lnSpc>
              <a:spcBef>
                <a:spcPts val="0"/>
              </a:spcBef>
              <a:spcAft>
                <a:spcPts val="0"/>
              </a:spcAft>
            </a:pPr>
            <a:r>
              <a:rPr sz="1900" b="0" i="0">
                <a:solidFill>
                  <a:srgbClr val="F4F6F8"/>
                </a:solidFill>
                <a:latin typeface="Arial"/>
              </a:rPr>
              <a:t>the failure of a new seatbelt design</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A9B3C0"/>
                </a:solidFill>
                <a:latin typeface="Arial Narrow"/>
              </a:rPr>
              <a:t>ACT 5 · LISTENING</a:t>
            </a:r>
          </a:p>
        </p:txBody>
      </p:sp>
      <p:sp>
        <p:nvSpPr>
          <p:cNvPr id="4" name="TextBox 3"/>
          <p:cNvSpPr txBox="1"/>
          <p:nvPr/>
        </p:nvSpPr>
        <p:spPr>
          <a:xfrm>
            <a:off x="7315200" y="310896"/>
            <a:ext cx="4187952" cy="274320"/>
          </a:xfrm>
          <a:prstGeom prst="rect">
            <a:avLst/>
          </a:prstGeom>
          <a:noFill/>
        </p:spPr>
        <p:txBody>
          <a:bodyPr wrap="square" anchor="t" lIns="0" rIns="0" tIns="0" bIns="0">
            <a:noAutofit/>
          </a:bodyPr>
          <a:lstStyle/>
          <a:p>
            <a:pPr algn="r">
              <a:lnSpc>
                <a:spcPct val="100000"/>
              </a:lnSpc>
              <a:spcBef>
                <a:spcPts val="0"/>
              </a:spcBef>
              <a:spcAft>
                <a:spcPts val="0"/>
              </a:spcAft>
            </a:pPr>
            <a:r>
              <a:rPr sz="1300" b="1" i="0" spc="220">
                <a:solidFill>
                  <a:srgbClr val="6F7A89"/>
                </a:solidFill>
                <a:latin typeface="Arial Narrow"/>
              </a:rPr>
              <a:t>TESTING ENGINEER</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6F7A89"/>
                </a:solidFill>
                <a:latin typeface="Arial Narrow"/>
              </a:rPr>
              <a:t>ENERGY LAB  ·  CRASH TEST #05</a:t>
            </a:r>
          </a:p>
        </p:txBody>
      </p:sp>
      <p:sp>
        <p:nvSpPr>
          <p:cNvPr id="6" name="Rectangle 5"/>
          <p:cNvSpPr/>
          <p:nvPr/>
        </p:nvSpPr>
        <p:spPr>
          <a:xfrm>
            <a:off x="4526280" y="6510528"/>
            <a:ext cx="127363" cy="54864"/>
          </a:xfrm>
          <a:prstGeom prst="rect">
            <a:avLst/>
          </a:prstGeom>
          <a:solidFill>
            <a:srgbClr val="8A6A1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8A6A1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8A6A1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8A6A1A"/>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8A6A1A"/>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8A6A1A"/>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8A6A1A"/>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8A6A1A"/>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8A6A1A"/>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8A6A1A"/>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FFB400"/>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2A3240"/>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2A3240"/>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2A3240"/>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6F7A89"/>
                </a:solidFill>
                <a:latin typeface="Arial Narrow"/>
              </a:rPr>
              <a:t>75</a:t>
            </a:fld>
          </a:p>
        </p:txBody>
      </p:sp>
      <p:sp>
        <p:nvSpPr>
          <p:cNvPr id="21" name="Rounded Rectangle 20"/>
          <p:cNvSpPr/>
          <p:nvPr/>
        </p:nvSpPr>
        <p:spPr>
          <a:xfrm>
            <a:off x="8732520" y="914400"/>
            <a:ext cx="2278475" cy="274320"/>
          </a:xfrm>
          <a:prstGeom prst="roundRect">
            <a:avLst>
              <a:gd name="adj" fmla="val 50000"/>
            </a:avLst>
          </a:prstGeom>
          <a:noFill/>
          <a:ln w="19050">
            <a:solidFill>
              <a:srgbClr val="42C3F7"/>
            </a:solidFill>
          </a:ln>
        </p:spPr>
        <p:txBody>
          <a:bodyPr rtlCol="0" anchor="ctr" wrap="square" lIns="0" rIns="0" tIns="0" bIns="0">
            <a:noAutofit/>
          </a:bodyPr>
          <a:lstStyle/>
          <a:p>
            <a:pPr algn="ctr">
              <a:lnSpc>
                <a:spcPct val="100000"/>
              </a:lnSpc>
              <a:spcBef>
                <a:spcPts val="0"/>
              </a:spcBef>
              <a:spcAft>
                <a:spcPts val="0"/>
              </a:spcAft>
            </a:pPr>
            <a:r>
              <a:rPr sz="1300" b="1" i="0" spc="200">
                <a:solidFill>
                  <a:srgbClr val="42C3F7"/>
                </a:solidFill>
                <a:latin typeface="Arial Narrow"/>
              </a:rPr>
              <a:t>TEXTBOOK · TASK 6.2</a:t>
            </a:r>
          </a:p>
        </p:txBody>
      </p:sp>
      <p:sp>
        <p:nvSpPr>
          <p:cNvPr id="22" name="TextBox 21"/>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A9B3C0"/>
                </a:solidFill>
                <a:latin typeface="Arial Narrow"/>
              </a:rPr>
              <a:t>LISTENING ROUND 2</a:t>
            </a:r>
          </a:p>
        </p:txBody>
      </p:sp>
      <p:sp>
        <p:nvSpPr>
          <p:cNvPr id="23" name="TextBox 22"/>
          <p:cNvSpPr txBox="1"/>
          <p:nvPr/>
        </p:nvSpPr>
        <p:spPr>
          <a:xfrm>
            <a:off x="685800" y="1234440"/>
            <a:ext cx="10789920" cy="1005840"/>
          </a:xfrm>
          <a:prstGeom prst="rect">
            <a:avLst/>
          </a:prstGeom>
          <a:noFill/>
        </p:spPr>
        <p:txBody>
          <a:bodyPr wrap="square" anchor="t" lIns="0" rIns="0" tIns="0" bIns="0">
            <a:noAutofit/>
          </a:bodyPr>
          <a:lstStyle/>
          <a:p>
            <a:pPr algn="l">
              <a:lnSpc>
                <a:spcPct val="100000"/>
              </a:lnSpc>
              <a:spcBef>
                <a:spcPts val="0"/>
              </a:spcBef>
              <a:spcAft>
                <a:spcPts val="0"/>
              </a:spcAft>
            </a:pPr>
            <a:r>
              <a:rPr sz="2600" b="0" i="0">
                <a:solidFill>
                  <a:srgbClr val="F4F6F8"/>
                </a:solidFill>
                <a:latin typeface="Arial Black"/>
              </a:rPr>
              <a:t>THE WOMAN THINKS THE NEW SEATBELT WILL…</a:t>
            </a:r>
          </a:p>
        </p:txBody>
      </p:sp>
      <p:sp>
        <p:nvSpPr>
          <p:cNvPr id="24" name="Rounded Rectangle 23"/>
          <p:cNvSpPr/>
          <p:nvPr/>
        </p:nvSpPr>
        <p:spPr>
          <a:xfrm>
            <a:off x="685800" y="2514600"/>
            <a:ext cx="10360152" cy="713232"/>
          </a:xfrm>
          <a:prstGeom prst="roundRect">
            <a:avLst>
              <a:gd name="adj" fmla="val 17948"/>
            </a:avLst>
          </a:prstGeom>
          <a:solidFill>
            <a:srgbClr val="1A2029"/>
          </a:solidFill>
          <a:ln w="19050">
            <a:solidFill>
              <a:srgbClr val="323C4A"/>
            </a:solidFill>
          </a:ln>
        </p:spPr>
        <p:txBody>
          <a:bodyPr rtlCol="0" anchor="ctr"/>
          <a:lstStyle/>
          <a:p>
            <a:pPr algn="ctr"/>
          </a:p>
        </p:txBody>
      </p:sp>
      <p:sp>
        <p:nvSpPr>
          <p:cNvPr id="25" name="Rounded Rectangle 24"/>
          <p:cNvSpPr/>
          <p:nvPr/>
        </p:nvSpPr>
        <p:spPr>
          <a:xfrm>
            <a:off x="868680" y="2615184"/>
            <a:ext cx="512064" cy="512064"/>
          </a:xfrm>
          <a:prstGeom prst="roundRect">
            <a:avLst>
              <a:gd name="adj" fmla="val 17857"/>
            </a:avLst>
          </a:prstGeom>
          <a:solidFill>
            <a:srgbClr val="232B36"/>
          </a:solidFill>
          <a:ln>
            <a:noFill/>
          </a:ln>
        </p:spPr>
        <p:txBody>
          <a:bodyPr rtlCol="0" anchor="ctr" wrap="square" lIns="0" rIns="0" tIns="0" bIns="0">
            <a:noAutofit/>
          </a:bodyPr>
          <a:lstStyle/>
          <a:p>
            <a:pPr algn="ctr">
              <a:lnSpc>
                <a:spcPct val="100000"/>
              </a:lnSpc>
              <a:spcBef>
                <a:spcPts val="0"/>
              </a:spcBef>
              <a:spcAft>
                <a:spcPts val="0"/>
              </a:spcAft>
            </a:pPr>
            <a:r>
              <a:rPr sz="2000" b="1" i="0">
                <a:solidFill>
                  <a:srgbClr val="F4F6F8"/>
                </a:solidFill>
                <a:latin typeface="Arial Black"/>
              </a:rPr>
              <a:t>A</a:t>
            </a:r>
          </a:p>
        </p:txBody>
      </p:sp>
      <p:sp>
        <p:nvSpPr>
          <p:cNvPr id="26" name="TextBox 25"/>
          <p:cNvSpPr txBox="1"/>
          <p:nvPr/>
        </p:nvSpPr>
        <p:spPr>
          <a:xfrm>
            <a:off x="1554480" y="2514600"/>
            <a:ext cx="8778240" cy="713232"/>
          </a:xfrm>
          <a:prstGeom prst="rect">
            <a:avLst/>
          </a:prstGeom>
          <a:noFill/>
        </p:spPr>
        <p:txBody>
          <a:bodyPr wrap="square" anchor="ctr" lIns="0" rIns="0" tIns="0" bIns="0">
            <a:noAutofit/>
          </a:bodyPr>
          <a:lstStyle/>
          <a:p>
            <a:pPr algn="l">
              <a:lnSpc>
                <a:spcPct val="100000"/>
              </a:lnSpc>
              <a:spcBef>
                <a:spcPts val="0"/>
              </a:spcBef>
              <a:spcAft>
                <a:spcPts val="0"/>
              </a:spcAft>
            </a:pPr>
            <a:r>
              <a:rPr sz="1900" b="0" i="0">
                <a:solidFill>
                  <a:srgbClr val="F4F6F8"/>
                </a:solidFill>
                <a:latin typeface="Arial"/>
              </a:rPr>
              <a:t>fail the test next week.</a:t>
            </a:r>
          </a:p>
        </p:txBody>
      </p:sp>
      <p:sp>
        <p:nvSpPr>
          <p:cNvPr id="27" name="Rounded Rectangle 26"/>
          <p:cNvSpPr/>
          <p:nvPr/>
        </p:nvSpPr>
        <p:spPr>
          <a:xfrm>
            <a:off x="685800" y="3355848"/>
            <a:ext cx="10360152" cy="713232"/>
          </a:xfrm>
          <a:prstGeom prst="roundRect">
            <a:avLst>
              <a:gd name="adj" fmla="val 17948"/>
            </a:avLst>
          </a:prstGeom>
          <a:solidFill>
            <a:srgbClr val="1A2029"/>
          </a:solidFill>
          <a:ln w="19050">
            <a:solidFill>
              <a:srgbClr val="323C4A"/>
            </a:solidFill>
          </a:ln>
        </p:spPr>
        <p:txBody>
          <a:bodyPr rtlCol="0" anchor="ctr"/>
          <a:lstStyle/>
          <a:p>
            <a:pPr algn="ctr"/>
          </a:p>
        </p:txBody>
      </p:sp>
      <p:sp>
        <p:nvSpPr>
          <p:cNvPr id="28" name="Rounded Rectangle 27"/>
          <p:cNvSpPr/>
          <p:nvPr/>
        </p:nvSpPr>
        <p:spPr>
          <a:xfrm>
            <a:off x="868680" y="3456432"/>
            <a:ext cx="512064" cy="512064"/>
          </a:xfrm>
          <a:prstGeom prst="roundRect">
            <a:avLst>
              <a:gd name="adj" fmla="val 17857"/>
            </a:avLst>
          </a:prstGeom>
          <a:solidFill>
            <a:srgbClr val="232B36"/>
          </a:solidFill>
          <a:ln>
            <a:noFill/>
          </a:ln>
        </p:spPr>
        <p:txBody>
          <a:bodyPr rtlCol="0" anchor="ctr" wrap="square" lIns="0" rIns="0" tIns="0" bIns="0">
            <a:noAutofit/>
          </a:bodyPr>
          <a:lstStyle/>
          <a:p>
            <a:pPr algn="ctr">
              <a:lnSpc>
                <a:spcPct val="100000"/>
              </a:lnSpc>
              <a:spcBef>
                <a:spcPts val="0"/>
              </a:spcBef>
              <a:spcAft>
                <a:spcPts val="0"/>
              </a:spcAft>
            </a:pPr>
            <a:r>
              <a:rPr sz="2000" b="1" i="0">
                <a:solidFill>
                  <a:srgbClr val="F4F6F8"/>
                </a:solidFill>
                <a:latin typeface="Arial Black"/>
              </a:rPr>
              <a:t>B</a:t>
            </a:r>
          </a:p>
        </p:txBody>
      </p:sp>
      <p:sp>
        <p:nvSpPr>
          <p:cNvPr id="29" name="TextBox 28"/>
          <p:cNvSpPr txBox="1"/>
          <p:nvPr/>
        </p:nvSpPr>
        <p:spPr>
          <a:xfrm>
            <a:off x="1554480" y="3355848"/>
            <a:ext cx="8778240" cy="713232"/>
          </a:xfrm>
          <a:prstGeom prst="rect">
            <a:avLst/>
          </a:prstGeom>
          <a:noFill/>
        </p:spPr>
        <p:txBody>
          <a:bodyPr wrap="square" anchor="ctr" lIns="0" rIns="0" tIns="0" bIns="0">
            <a:noAutofit/>
          </a:bodyPr>
          <a:lstStyle/>
          <a:p>
            <a:pPr algn="l">
              <a:lnSpc>
                <a:spcPct val="100000"/>
              </a:lnSpc>
              <a:spcBef>
                <a:spcPts val="0"/>
              </a:spcBef>
              <a:spcAft>
                <a:spcPts val="0"/>
              </a:spcAft>
            </a:pPr>
            <a:r>
              <a:rPr sz="1900" b="0" i="0">
                <a:solidFill>
                  <a:srgbClr val="F4F6F8"/>
                </a:solidFill>
                <a:latin typeface="Arial"/>
              </a:rPr>
              <a:t>transfer potential energy.</a:t>
            </a:r>
          </a:p>
        </p:txBody>
      </p:sp>
      <p:sp>
        <p:nvSpPr>
          <p:cNvPr id="30" name="Rounded Rectangle 29"/>
          <p:cNvSpPr/>
          <p:nvPr/>
        </p:nvSpPr>
        <p:spPr>
          <a:xfrm>
            <a:off x="685800" y="4197096"/>
            <a:ext cx="10360152" cy="713232"/>
          </a:xfrm>
          <a:prstGeom prst="roundRect">
            <a:avLst>
              <a:gd name="adj" fmla="val 17948"/>
            </a:avLst>
          </a:prstGeom>
          <a:solidFill>
            <a:srgbClr val="1A2029"/>
          </a:solidFill>
          <a:ln w="19050">
            <a:solidFill>
              <a:srgbClr val="323C4A"/>
            </a:solidFill>
          </a:ln>
        </p:spPr>
        <p:txBody>
          <a:bodyPr rtlCol="0" anchor="ctr"/>
          <a:lstStyle/>
          <a:p>
            <a:pPr algn="ctr"/>
          </a:p>
        </p:txBody>
      </p:sp>
      <p:sp>
        <p:nvSpPr>
          <p:cNvPr id="31" name="Rounded Rectangle 30"/>
          <p:cNvSpPr/>
          <p:nvPr/>
        </p:nvSpPr>
        <p:spPr>
          <a:xfrm>
            <a:off x="868680" y="4297680"/>
            <a:ext cx="512064" cy="512064"/>
          </a:xfrm>
          <a:prstGeom prst="roundRect">
            <a:avLst>
              <a:gd name="adj" fmla="val 17857"/>
            </a:avLst>
          </a:prstGeom>
          <a:solidFill>
            <a:srgbClr val="232B36"/>
          </a:solidFill>
          <a:ln>
            <a:noFill/>
          </a:ln>
        </p:spPr>
        <p:txBody>
          <a:bodyPr rtlCol="0" anchor="ctr" wrap="square" lIns="0" rIns="0" tIns="0" bIns="0">
            <a:noAutofit/>
          </a:bodyPr>
          <a:lstStyle/>
          <a:p>
            <a:pPr algn="ctr">
              <a:lnSpc>
                <a:spcPct val="100000"/>
              </a:lnSpc>
              <a:spcBef>
                <a:spcPts val="0"/>
              </a:spcBef>
              <a:spcAft>
                <a:spcPts val="0"/>
              </a:spcAft>
            </a:pPr>
            <a:r>
              <a:rPr sz="2000" b="1" i="0">
                <a:solidFill>
                  <a:srgbClr val="F4F6F8"/>
                </a:solidFill>
                <a:latin typeface="Arial Black"/>
              </a:rPr>
              <a:t>C</a:t>
            </a:r>
          </a:p>
        </p:txBody>
      </p:sp>
      <p:sp>
        <p:nvSpPr>
          <p:cNvPr id="32" name="TextBox 31"/>
          <p:cNvSpPr txBox="1"/>
          <p:nvPr/>
        </p:nvSpPr>
        <p:spPr>
          <a:xfrm>
            <a:off x="1554480" y="4197096"/>
            <a:ext cx="8778240" cy="713232"/>
          </a:xfrm>
          <a:prstGeom prst="rect">
            <a:avLst/>
          </a:prstGeom>
          <a:noFill/>
        </p:spPr>
        <p:txBody>
          <a:bodyPr wrap="square" anchor="ctr" lIns="0" rIns="0" tIns="0" bIns="0">
            <a:noAutofit/>
          </a:bodyPr>
          <a:lstStyle/>
          <a:p>
            <a:pPr algn="l">
              <a:lnSpc>
                <a:spcPct val="100000"/>
              </a:lnSpc>
              <a:spcBef>
                <a:spcPts val="0"/>
              </a:spcBef>
              <a:spcAft>
                <a:spcPts val="0"/>
              </a:spcAft>
            </a:pPr>
            <a:r>
              <a:rPr sz="1900" b="0" i="0">
                <a:solidFill>
                  <a:srgbClr val="F4F6F8"/>
                </a:solidFill>
                <a:latin typeface="Arial"/>
              </a:rPr>
              <a:t>shorten the stopping distance.</a:t>
            </a:r>
          </a:p>
        </p:txBody>
      </p:sp>
      <p:sp>
        <p:nvSpPr>
          <p:cNvPr id="33" name="Rounded Rectangle 32"/>
          <p:cNvSpPr/>
          <p:nvPr/>
        </p:nvSpPr>
        <p:spPr>
          <a:xfrm>
            <a:off x="685800" y="5038344"/>
            <a:ext cx="10360152" cy="713232"/>
          </a:xfrm>
          <a:prstGeom prst="roundRect">
            <a:avLst>
              <a:gd name="adj" fmla="val 17948"/>
            </a:avLst>
          </a:prstGeom>
          <a:solidFill>
            <a:srgbClr val="FFB400"/>
          </a:solidFill>
          <a:ln w="19050">
            <a:solidFill>
              <a:srgbClr val="323C4A"/>
            </a:solidFill>
          </a:ln>
        </p:spPr>
        <p:txBody>
          <a:bodyPr rtlCol="0" anchor="ctr"/>
          <a:lstStyle/>
          <a:p>
            <a:pPr algn="ctr"/>
          </a:p>
        </p:txBody>
      </p:sp>
      <p:sp>
        <p:nvSpPr>
          <p:cNvPr id="34" name="Rounded Rectangle 33"/>
          <p:cNvSpPr/>
          <p:nvPr/>
        </p:nvSpPr>
        <p:spPr>
          <a:xfrm>
            <a:off x="868680" y="5138928"/>
            <a:ext cx="512064" cy="512064"/>
          </a:xfrm>
          <a:prstGeom prst="roundRect">
            <a:avLst>
              <a:gd name="adj" fmla="val 17857"/>
            </a:avLst>
          </a:prstGeom>
          <a:solidFill>
            <a:srgbClr val="12161C"/>
          </a:solidFill>
          <a:ln>
            <a:noFill/>
          </a:ln>
        </p:spPr>
        <p:txBody>
          <a:bodyPr rtlCol="0" anchor="ctr" wrap="square" lIns="0" rIns="0" tIns="0" bIns="0">
            <a:noAutofit/>
          </a:bodyPr>
          <a:lstStyle/>
          <a:p>
            <a:pPr algn="ctr">
              <a:lnSpc>
                <a:spcPct val="100000"/>
              </a:lnSpc>
              <a:spcBef>
                <a:spcPts val="0"/>
              </a:spcBef>
              <a:spcAft>
                <a:spcPts val="0"/>
              </a:spcAft>
            </a:pPr>
            <a:r>
              <a:rPr sz="2000" b="1" i="0">
                <a:solidFill>
                  <a:srgbClr val="FFB400"/>
                </a:solidFill>
                <a:latin typeface="Arial Black"/>
              </a:rPr>
              <a:t>D</a:t>
            </a:r>
          </a:p>
        </p:txBody>
      </p:sp>
      <p:sp>
        <p:nvSpPr>
          <p:cNvPr id="35" name="TextBox 34"/>
          <p:cNvSpPr txBox="1"/>
          <p:nvPr/>
        </p:nvSpPr>
        <p:spPr>
          <a:xfrm>
            <a:off x="1554480" y="5038344"/>
            <a:ext cx="8778240" cy="713232"/>
          </a:xfrm>
          <a:prstGeom prst="rect">
            <a:avLst/>
          </a:prstGeom>
          <a:noFill/>
        </p:spPr>
        <p:txBody>
          <a:bodyPr wrap="square" anchor="ctr" lIns="0" rIns="0" tIns="0" bIns="0">
            <a:noAutofit/>
          </a:bodyPr>
          <a:lstStyle/>
          <a:p>
            <a:pPr algn="l">
              <a:lnSpc>
                <a:spcPct val="100000"/>
              </a:lnSpc>
              <a:spcBef>
                <a:spcPts val="0"/>
              </a:spcBef>
              <a:spcAft>
                <a:spcPts val="0"/>
              </a:spcAft>
            </a:pPr>
            <a:r>
              <a:rPr sz="1900" b="1" i="0">
                <a:solidFill>
                  <a:srgbClr val="12161C"/>
                </a:solidFill>
                <a:latin typeface="Arial"/>
              </a:rPr>
              <a:t>be safer than the current seatbelts.</a:t>
            </a:r>
          </a:p>
        </p:txBody>
      </p:sp>
      <p:sp>
        <p:nvSpPr>
          <p:cNvPr id="36" name="Freeform 35"/>
          <p:cNvSpPr/>
          <p:nvPr/>
        </p:nvSpPr>
        <p:spPr>
          <a:xfrm>
            <a:off x="10378440" y="5254142"/>
            <a:ext cx="329184" cy="263348"/>
          </a:xfrm>
          <a:custGeom>
            <a:avLst/>
            <a:gdLst/>
            <a:ahLst/>
            <a:cxnLst/>
            <a:rect l="l" t="t" r="r" b="b"/>
            <a:pathLst>
              <a:path w="329184" h="263348">
                <a:moveTo>
                  <a:pt x="0" y="148133"/>
                </a:moveTo>
                <a:lnTo>
                  <a:pt x="118506" y="263348"/>
                </a:lnTo>
                <a:lnTo>
                  <a:pt x="329184" y="0"/>
                </a:lnTo>
              </a:path>
            </a:pathLst>
          </a:custGeom>
          <a:noFill/>
          <a:ln w="63500" cap="rnd">
            <a:solidFill>
              <a:srgbClr val="12161C"/>
            </a:solidFill>
            <a:round/>
          </a:ln>
        </p:spPr>
        <p:txBody>
          <a:bodyPr rtlCol="0" anchor="ctr"/>
          <a:lstStyle/>
          <a:p>
            <a:pPr algn="ctr"/>
          </a:p>
        </p:txBody>
      </p:sp>
      <p:sp>
        <p:nvSpPr>
          <p:cNvPr id="37" name="TextBox 36"/>
          <p:cNvSpPr txBox="1"/>
          <p:nvPr/>
        </p:nvSpPr>
        <p:spPr>
          <a:xfrm>
            <a:off x="685800" y="5806440"/>
            <a:ext cx="10515600" cy="365760"/>
          </a:xfrm>
          <a:prstGeom prst="rect">
            <a:avLst/>
          </a:prstGeom>
          <a:noFill/>
        </p:spPr>
        <p:txBody>
          <a:bodyPr wrap="square" anchor="t" lIns="0" rIns="0" tIns="0" bIns="0">
            <a:noAutofit/>
          </a:bodyPr>
          <a:lstStyle/>
          <a:p>
            <a:pPr algn="l">
              <a:lnSpc>
                <a:spcPct val="100000"/>
              </a:lnSpc>
              <a:spcBef>
                <a:spcPts val="0"/>
              </a:spcBef>
              <a:spcAft>
                <a:spcPts val="0"/>
              </a:spcAft>
            </a:pPr>
            <a:r>
              <a:rPr sz="1500" b="0" i="1">
                <a:solidFill>
                  <a:srgbClr val="A9B3C0"/>
                </a:solidFill>
                <a:latin typeface="Arial"/>
              </a:rPr>
              <a:t>ROUND 1 ANSWER: B — the benefits of a new seatbelt design</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A9B3C0"/>
                </a:solidFill>
                <a:latin typeface="Arial Narrow"/>
              </a:rPr>
              <a:t>ACT 5 · LISTENING</a:t>
            </a:r>
          </a:p>
        </p:txBody>
      </p:sp>
      <p:sp>
        <p:nvSpPr>
          <p:cNvPr id="4" name="TextBox 3"/>
          <p:cNvSpPr txBox="1"/>
          <p:nvPr/>
        </p:nvSpPr>
        <p:spPr>
          <a:xfrm>
            <a:off x="7315200" y="310896"/>
            <a:ext cx="4187952" cy="274320"/>
          </a:xfrm>
          <a:prstGeom prst="rect">
            <a:avLst/>
          </a:prstGeom>
          <a:noFill/>
        </p:spPr>
        <p:txBody>
          <a:bodyPr wrap="square" anchor="t" lIns="0" rIns="0" tIns="0" bIns="0">
            <a:noAutofit/>
          </a:bodyPr>
          <a:lstStyle/>
          <a:p>
            <a:pPr algn="r">
              <a:lnSpc>
                <a:spcPct val="100000"/>
              </a:lnSpc>
              <a:spcBef>
                <a:spcPts val="0"/>
              </a:spcBef>
              <a:spcAft>
                <a:spcPts val="0"/>
              </a:spcAft>
            </a:pPr>
            <a:r>
              <a:rPr sz="1300" b="1" i="0" spc="220">
                <a:solidFill>
                  <a:srgbClr val="6F7A89"/>
                </a:solidFill>
                <a:latin typeface="Arial Narrow"/>
              </a:rPr>
              <a:t>TESTING ENGINEER</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6F7A89"/>
                </a:solidFill>
                <a:latin typeface="Arial Narrow"/>
              </a:rPr>
              <a:t>ENERGY LAB  ·  CRASH TEST #05</a:t>
            </a:r>
          </a:p>
        </p:txBody>
      </p:sp>
      <p:sp>
        <p:nvSpPr>
          <p:cNvPr id="6" name="Rectangle 5"/>
          <p:cNvSpPr/>
          <p:nvPr/>
        </p:nvSpPr>
        <p:spPr>
          <a:xfrm>
            <a:off x="4526280" y="6510528"/>
            <a:ext cx="127363" cy="54864"/>
          </a:xfrm>
          <a:prstGeom prst="rect">
            <a:avLst/>
          </a:prstGeom>
          <a:solidFill>
            <a:srgbClr val="8A6A1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8A6A1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8A6A1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8A6A1A"/>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8A6A1A"/>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8A6A1A"/>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8A6A1A"/>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8A6A1A"/>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8A6A1A"/>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8A6A1A"/>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FFB400"/>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2A3240"/>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2A3240"/>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2A3240"/>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6F7A89"/>
                </a:solidFill>
                <a:latin typeface="Arial Narrow"/>
              </a:rPr>
              <a:t>76</a:t>
            </a:fld>
          </a:p>
        </p:txBody>
      </p:sp>
      <p:sp>
        <p:nvSpPr>
          <p:cNvPr id="21" name="Rounded Rectangle 20"/>
          <p:cNvSpPr/>
          <p:nvPr/>
        </p:nvSpPr>
        <p:spPr>
          <a:xfrm>
            <a:off x="8732520" y="914400"/>
            <a:ext cx="2114645" cy="274320"/>
          </a:xfrm>
          <a:prstGeom prst="roundRect">
            <a:avLst>
              <a:gd name="adj" fmla="val 50000"/>
            </a:avLst>
          </a:prstGeom>
          <a:noFill/>
          <a:ln w="19050">
            <a:solidFill>
              <a:srgbClr val="42C3F7"/>
            </a:solidFill>
          </a:ln>
        </p:spPr>
        <p:txBody>
          <a:bodyPr rtlCol="0" anchor="ctr" wrap="square" lIns="0" rIns="0" tIns="0" bIns="0">
            <a:noAutofit/>
          </a:bodyPr>
          <a:lstStyle/>
          <a:p>
            <a:pPr algn="ctr">
              <a:lnSpc>
                <a:spcPct val="100000"/>
              </a:lnSpc>
              <a:spcBef>
                <a:spcPts val="0"/>
              </a:spcBef>
              <a:spcAft>
                <a:spcPts val="0"/>
              </a:spcAft>
            </a:pPr>
            <a:r>
              <a:rPr sz="1300" b="1" i="0" spc="200">
                <a:solidFill>
                  <a:srgbClr val="42C3F7"/>
                </a:solidFill>
                <a:latin typeface="Arial Narrow"/>
              </a:rPr>
              <a:t>TEXTBOOK · TASK 7</a:t>
            </a:r>
          </a:p>
        </p:txBody>
      </p:sp>
      <p:sp>
        <p:nvSpPr>
          <p:cNvPr id="22" name="TextBox 21"/>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A9B3C0"/>
                </a:solidFill>
                <a:latin typeface="Arial Narrow"/>
              </a:rPr>
              <a:t>LISTENING ROUND 3 · COMPLETE THE CONVERSATION</a:t>
            </a:r>
          </a:p>
        </p:txBody>
      </p:sp>
      <p:sp>
        <p:nvSpPr>
          <p:cNvPr id="23" name="TextBox 22"/>
          <p:cNvSpPr txBox="1"/>
          <p:nvPr/>
        </p:nvSpPr>
        <p:spPr>
          <a:xfrm>
            <a:off x="685800" y="1188720"/>
            <a:ext cx="10789920" cy="1005840"/>
          </a:xfrm>
          <a:prstGeom prst="rect">
            <a:avLst/>
          </a:prstGeom>
          <a:noFill/>
        </p:spPr>
        <p:txBody>
          <a:bodyPr wrap="square" anchor="t" lIns="0" rIns="0" tIns="0" bIns="0">
            <a:noAutofit/>
          </a:bodyPr>
          <a:lstStyle/>
          <a:p>
            <a:pPr algn="l">
              <a:lnSpc>
                <a:spcPct val="100000"/>
              </a:lnSpc>
              <a:spcBef>
                <a:spcPts val="0"/>
              </a:spcBef>
              <a:spcAft>
                <a:spcPts val="0"/>
              </a:spcAft>
            </a:pPr>
            <a:r>
              <a:rPr sz="3800" b="0" i="0">
                <a:solidFill>
                  <a:srgbClr val="F4F6F8"/>
                </a:solidFill>
                <a:latin typeface="Arial Black"/>
              </a:rPr>
              <a:t>FILL THE SIX GAPS.</a:t>
            </a:r>
          </a:p>
        </p:txBody>
      </p:sp>
      <p:sp>
        <p:nvSpPr>
          <p:cNvPr id="24" name="Rounded Rectangle 23"/>
          <p:cNvSpPr/>
          <p:nvPr/>
        </p:nvSpPr>
        <p:spPr>
          <a:xfrm>
            <a:off x="685800" y="2194560"/>
            <a:ext cx="10360152" cy="3931920"/>
          </a:xfrm>
          <a:prstGeom prst="roundRect">
            <a:avLst>
              <a:gd name="adj" fmla="val 3255"/>
            </a:avLst>
          </a:prstGeom>
          <a:solidFill>
            <a:srgbClr val="232B36"/>
          </a:solidFill>
          <a:ln w="19050">
            <a:solidFill>
              <a:srgbClr val="323C4A"/>
            </a:solidFill>
          </a:ln>
        </p:spPr>
        <p:txBody>
          <a:bodyPr rtlCol="0" anchor="ctr"/>
          <a:lstStyle/>
          <a:p>
            <a:pPr algn="ctr"/>
          </a:p>
        </p:txBody>
      </p:sp>
      <p:sp>
        <p:nvSpPr>
          <p:cNvPr id="25" name="TextBox 24"/>
          <p:cNvSpPr txBox="1"/>
          <p:nvPr/>
        </p:nvSpPr>
        <p:spPr>
          <a:xfrm>
            <a:off x="960120" y="2395728"/>
            <a:ext cx="9902952" cy="3611880"/>
          </a:xfrm>
          <a:prstGeom prst="rect">
            <a:avLst/>
          </a:prstGeom>
          <a:noFill/>
        </p:spPr>
        <p:txBody>
          <a:bodyPr wrap="square" anchor="t" lIns="0" rIns="0" tIns="0" bIns="0">
            <a:noAutofit/>
          </a:bodyPr>
          <a:lstStyle/>
          <a:p>
            <a:pPr algn="l">
              <a:lnSpc>
                <a:spcPct val="105000"/>
              </a:lnSpc>
              <a:spcBef>
                <a:spcPts val="0"/>
              </a:spcBef>
              <a:spcAft>
                <a:spcPts val="900"/>
              </a:spcAft>
            </a:pPr>
            <a:r>
              <a:rPr sz="1650" b="1" i="0">
                <a:solidFill>
                  <a:srgbClr val="A9B3C0"/>
                </a:solidFill>
                <a:latin typeface="Arial Narrow"/>
              </a:rPr>
              <a:t>ENG 1:   </a:t>
            </a:r>
            <a:r>
              <a:rPr sz="1650" b="0" i="0">
                <a:solidFill>
                  <a:srgbClr val="F4F6F8"/>
                </a:solidFill>
                <a:latin typeface="Arial"/>
              </a:rPr>
              <a:t>I heard you're working on the new seatbelt designs.</a:t>
            </a:r>
          </a:p>
          <a:p>
            <a:pPr algn="l">
              <a:lnSpc>
                <a:spcPct val="105000"/>
              </a:lnSpc>
              <a:spcBef>
                <a:spcPts val="0"/>
              </a:spcBef>
              <a:spcAft>
                <a:spcPts val="900"/>
              </a:spcAft>
            </a:pPr>
            <a:r>
              <a:rPr sz="1650" b="1" i="0">
                <a:solidFill>
                  <a:srgbClr val="A9B3C0"/>
                </a:solidFill>
                <a:latin typeface="Arial Narrow"/>
              </a:rPr>
              <a:t>ENG 2:   </a:t>
            </a:r>
            <a:r>
              <a:rPr sz="1650" b="0" i="0">
                <a:solidFill>
                  <a:srgbClr val="F4F6F8"/>
                </a:solidFill>
                <a:latin typeface="Arial"/>
              </a:rPr>
              <a:t>Yes, I am. I think I can make them </a:t>
            </a:r>
            <a:r>
              <a:rPr sz="1650" b="1" i="0">
                <a:solidFill>
                  <a:srgbClr val="FFB400"/>
                </a:solidFill>
                <a:latin typeface="Arial"/>
              </a:rPr>
              <a:t>[1]</a:t>
            </a:r>
            <a:r>
              <a:rPr sz="1650" b="0" i="0">
                <a:solidFill>
                  <a:srgbClr val="F4F6F8"/>
                </a:solidFill>
                <a:latin typeface="Arial"/>
              </a:rPr>
              <a:t> our current models.</a:t>
            </a:r>
          </a:p>
          <a:p>
            <a:pPr algn="l">
              <a:lnSpc>
                <a:spcPct val="105000"/>
              </a:lnSpc>
              <a:spcBef>
                <a:spcPts val="0"/>
              </a:spcBef>
              <a:spcAft>
                <a:spcPts val="900"/>
              </a:spcAft>
            </a:pPr>
            <a:r>
              <a:rPr sz="1650" b="1" i="0">
                <a:solidFill>
                  <a:srgbClr val="A9B3C0"/>
                </a:solidFill>
                <a:latin typeface="Arial Narrow"/>
              </a:rPr>
              <a:t>ENG 1:   </a:t>
            </a:r>
            <a:r>
              <a:rPr sz="1650" b="0" i="0">
                <a:solidFill>
                  <a:srgbClr val="F4F6F8"/>
                </a:solidFill>
                <a:latin typeface="Arial"/>
              </a:rPr>
              <a:t>Really? How can you do that?</a:t>
            </a:r>
          </a:p>
          <a:p>
            <a:pPr algn="l">
              <a:lnSpc>
                <a:spcPct val="105000"/>
              </a:lnSpc>
              <a:spcBef>
                <a:spcPts val="0"/>
              </a:spcBef>
              <a:spcAft>
                <a:spcPts val="900"/>
              </a:spcAft>
            </a:pPr>
            <a:r>
              <a:rPr sz="1650" b="1" i="0">
                <a:solidFill>
                  <a:srgbClr val="A9B3C0"/>
                </a:solidFill>
                <a:latin typeface="Arial Narrow"/>
              </a:rPr>
              <a:t>ENG 2:   </a:t>
            </a:r>
            <a:r>
              <a:rPr sz="1650" b="0" i="0">
                <a:solidFill>
                  <a:srgbClr val="F4F6F8"/>
                </a:solidFill>
                <a:latin typeface="Arial"/>
              </a:rPr>
              <a:t>All I have to do is extend the </a:t>
            </a:r>
            <a:r>
              <a:rPr sz="1650" b="1" i="0">
                <a:solidFill>
                  <a:srgbClr val="FFB400"/>
                </a:solidFill>
                <a:latin typeface="Arial"/>
              </a:rPr>
              <a:t>[2]</a:t>
            </a:r>
            <a:r>
              <a:rPr sz="1650" b="0" i="0">
                <a:solidFill>
                  <a:srgbClr val="F4F6F8"/>
                </a:solidFill>
                <a:latin typeface="Arial"/>
              </a:rPr>
              <a:t>.</a:t>
            </a:r>
          </a:p>
          <a:p>
            <a:pPr algn="l">
              <a:lnSpc>
                <a:spcPct val="105000"/>
              </a:lnSpc>
              <a:spcBef>
                <a:spcPts val="0"/>
              </a:spcBef>
              <a:spcAft>
                <a:spcPts val="900"/>
              </a:spcAft>
            </a:pPr>
            <a:r>
              <a:rPr sz="1650" b="1" i="0">
                <a:solidFill>
                  <a:srgbClr val="A9B3C0"/>
                </a:solidFill>
                <a:latin typeface="Arial Narrow"/>
              </a:rPr>
              <a:t>ENG 1:   </a:t>
            </a:r>
            <a:r>
              <a:rPr sz="1650" b="0" i="0">
                <a:solidFill>
                  <a:srgbClr val="F4F6F8"/>
                </a:solidFill>
                <a:latin typeface="Arial"/>
              </a:rPr>
              <a:t>How? Are you going to make the seatbelts stretch more?</a:t>
            </a:r>
          </a:p>
          <a:p>
            <a:pPr algn="l">
              <a:lnSpc>
                <a:spcPct val="105000"/>
              </a:lnSpc>
              <a:spcBef>
                <a:spcPts val="0"/>
              </a:spcBef>
              <a:spcAft>
                <a:spcPts val="900"/>
              </a:spcAft>
            </a:pPr>
            <a:r>
              <a:rPr sz="1650" b="1" i="0">
                <a:solidFill>
                  <a:srgbClr val="A9B3C0"/>
                </a:solidFill>
                <a:latin typeface="Arial Narrow"/>
              </a:rPr>
              <a:t>ENG 2:   </a:t>
            </a:r>
            <a:r>
              <a:rPr sz="1650" b="0" i="0">
                <a:solidFill>
                  <a:srgbClr val="F4F6F8"/>
                </a:solidFill>
                <a:latin typeface="Arial"/>
              </a:rPr>
              <a:t>Yes, exactly. That way, the passenger's </a:t>
            </a:r>
            <a:r>
              <a:rPr sz="1650" b="1" i="0">
                <a:solidFill>
                  <a:srgbClr val="FFB400"/>
                </a:solidFill>
                <a:latin typeface="Arial"/>
              </a:rPr>
              <a:t>[3]</a:t>
            </a:r>
            <a:r>
              <a:rPr sz="1650" b="0" i="0">
                <a:solidFill>
                  <a:srgbClr val="F4F6F8"/>
                </a:solidFill>
                <a:latin typeface="Arial"/>
              </a:rPr>
              <a:t> will be transferred to the </a:t>
            </a:r>
            <a:r>
              <a:rPr sz="1650" b="1" i="0">
                <a:solidFill>
                  <a:srgbClr val="FFB400"/>
                </a:solidFill>
                <a:latin typeface="Arial"/>
              </a:rPr>
              <a:t>[4]</a:t>
            </a:r>
            <a:r>
              <a:rPr sz="1650" b="0" i="0">
                <a:solidFill>
                  <a:srgbClr val="F4F6F8"/>
                </a:solidFill>
                <a:latin typeface="Arial"/>
              </a:rPr>
              <a:t>.</a:t>
            </a:r>
          </a:p>
          <a:p>
            <a:pPr algn="l">
              <a:lnSpc>
                <a:spcPct val="105000"/>
              </a:lnSpc>
              <a:spcBef>
                <a:spcPts val="0"/>
              </a:spcBef>
              <a:spcAft>
                <a:spcPts val="900"/>
              </a:spcAft>
            </a:pPr>
            <a:r>
              <a:rPr sz="1650" b="1" i="0">
                <a:solidFill>
                  <a:srgbClr val="A9B3C0"/>
                </a:solidFill>
                <a:latin typeface="Arial Narrow"/>
              </a:rPr>
              <a:t>ENG 1:   </a:t>
            </a:r>
            <a:r>
              <a:rPr sz="1650" b="0" i="0">
                <a:solidFill>
                  <a:srgbClr val="F4F6F8"/>
                </a:solidFill>
                <a:latin typeface="Arial"/>
              </a:rPr>
              <a:t>That's a </a:t>
            </a:r>
            <a:r>
              <a:rPr sz="1650" b="1" i="0">
                <a:solidFill>
                  <a:srgbClr val="FFB400"/>
                </a:solidFill>
                <a:latin typeface="Arial"/>
              </a:rPr>
              <a:t>[5]</a:t>
            </a:r>
            <a:r>
              <a:rPr sz="1650" b="0" i="0">
                <a:solidFill>
                  <a:srgbClr val="F4F6F8"/>
                </a:solidFill>
                <a:latin typeface="Arial"/>
              </a:rPr>
              <a:t> idea.</a:t>
            </a:r>
          </a:p>
          <a:p>
            <a:pPr algn="l">
              <a:lnSpc>
                <a:spcPct val="105000"/>
              </a:lnSpc>
              <a:spcBef>
                <a:spcPts val="0"/>
              </a:spcBef>
              <a:spcAft>
                <a:spcPts val="900"/>
              </a:spcAft>
            </a:pPr>
            <a:r>
              <a:rPr sz="1650" b="1" i="0">
                <a:solidFill>
                  <a:srgbClr val="A9B3C0"/>
                </a:solidFill>
                <a:latin typeface="Arial Narrow"/>
              </a:rPr>
              <a:t>ENG 2:   </a:t>
            </a:r>
            <a:r>
              <a:rPr sz="1650" b="0" i="0">
                <a:solidFill>
                  <a:srgbClr val="F4F6F8"/>
                </a:solidFill>
                <a:latin typeface="Arial"/>
              </a:rPr>
              <a:t>Yeah, I think it is. We're </a:t>
            </a:r>
            <a:r>
              <a:rPr sz="1650" b="1" i="0">
                <a:solidFill>
                  <a:srgbClr val="FFB400"/>
                </a:solidFill>
                <a:latin typeface="Arial"/>
              </a:rPr>
              <a:t>[6]</a:t>
            </a:r>
            <a:r>
              <a:rPr sz="1650" b="0" i="0">
                <a:solidFill>
                  <a:srgbClr val="F4F6F8"/>
                </a:solidFill>
                <a:latin typeface="Arial"/>
              </a:rPr>
              <a:t> it next week.</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A9B3C0"/>
                </a:solidFill>
                <a:latin typeface="Arial Narrow"/>
              </a:rPr>
              <a:t>ACT 5 · LISTENING</a:t>
            </a:r>
          </a:p>
        </p:txBody>
      </p:sp>
      <p:sp>
        <p:nvSpPr>
          <p:cNvPr id="4" name="TextBox 3"/>
          <p:cNvSpPr txBox="1"/>
          <p:nvPr/>
        </p:nvSpPr>
        <p:spPr>
          <a:xfrm>
            <a:off x="7315200" y="310896"/>
            <a:ext cx="4187952" cy="274320"/>
          </a:xfrm>
          <a:prstGeom prst="rect">
            <a:avLst/>
          </a:prstGeom>
          <a:noFill/>
        </p:spPr>
        <p:txBody>
          <a:bodyPr wrap="square" anchor="t" lIns="0" rIns="0" tIns="0" bIns="0">
            <a:noAutofit/>
          </a:bodyPr>
          <a:lstStyle/>
          <a:p>
            <a:pPr algn="r">
              <a:lnSpc>
                <a:spcPct val="100000"/>
              </a:lnSpc>
              <a:spcBef>
                <a:spcPts val="0"/>
              </a:spcBef>
              <a:spcAft>
                <a:spcPts val="0"/>
              </a:spcAft>
            </a:pPr>
            <a:r>
              <a:rPr sz="1300" b="1" i="0" spc="220">
                <a:solidFill>
                  <a:srgbClr val="6F7A89"/>
                </a:solidFill>
                <a:latin typeface="Arial Narrow"/>
              </a:rPr>
              <a:t>TESTING ENGINEER</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6F7A89"/>
                </a:solidFill>
                <a:latin typeface="Arial Narrow"/>
              </a:rPr>
              <a:t>ENERGY LAB  ·  CRASH TEST #05</a:t>
            </a:r>
          </a:p>
        </p:txBody>
      </p:sp>
      <p:sp>
        <p:nvSpPr>
          <p:cNvPr id="6" name="Rectangle 5"/>
          <p:cNvSpPr/>
          <p:nvPr/>
        </p:nvSpPr>
        <p:spPr>
          <a:xfrm>
            <a:off x="4526280" y="6510528"/>
            <a:ext cx="127363" cy="54864"/>
          </a:xfrm>
          <a:prstGeom prst="rect">
            <a:avLst/>
          </a:prstGeom>
          <a:solidFill>
            <a:srgbClr val="8A6A1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8A6A1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8A6A1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8A6A1A"/>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8A6A1A"/>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8A6A1A"/>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8A6A1A"/>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8A6A1A"/>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8A6A1A"/>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8A6A1A"/>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FFB400"/>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2A3240"/>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2A3240"/>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2A3240"/>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6F7A89"/>
                </a:solidFill>
                <a:latin typeface="Arial Narrow"/>
              </a:rPr>
              <a:t>77</a:t>
            </a:fld>
          </a:p>
        </p:txBody>
      </p:sp>
      <p:sp>
        <p:nvSpPr>
          <p:cNvPr id="21" name="TextBox 20"/>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A9B3C0"/>
                </a:solidFill>
                <a:latin typeface="Arial Narrow"/>
              </a:rPr>
              <a:t>ANSWERS · TASK 7</a:t>
            </a:r>
          </a:p>
        </p:txBody>
      </p:sp>
      <p:sp>
        <p:nvSpPr>
          <p:cNvPr id="22" name="TextBox 21"/>
          <p:cNvSpPr txBox="1"/>
          <p:nvPr/>
        </p:nvSpPr>
        <p:spPr>
          <a:xfrm>
            <a:off x="685800" y="1188720"/>
            <a:ext cx="10789920" cy="1005840"/>
          </a:xfrm>
          <a:prstGeom prst="rect">
            <a:avLst/>
          </a:prstGeom>
          <a:noFill/>
        </p:spPr>
        <p:txBody>
          <a:bodyPr wrap="square" anchor="t" lIns="0" rIns="0" tIns="0" bIns="0">
            <a:noAutofit/>
          </a:bodyPr>
          <a:lstStyle/>
          <a:p>
            <a:pPr algn="l">
              <a:lnSpc>
                <a:spcPct val="100000"/>
              </a:lnSpc>
              <a:spcBef>
                <a:spcPts val="0"/>
              </a:spcBef>
              <a:spcAft>
                <a:spcPts val="0"/>
              </a:spcAft>
            </a:pPr>
            <a:r>
              <a:rPr sz="4000" b="0" i="0">
                <a:solidFill>
                  <a:srgbClr val="F4F6F8"/>
                </a:solidFill>
                <a:latin typeface="Arial Black"/>
              </a:rPr>
              <a:t>SIX GAPS, CHECKED.</a:t>
            </a:r>
          </a:p>
        </p:txBody>
      </p:sp>
      <p:sp>
        <p:nvSpPr>
          <p:cNvPr id="23" name="Rounded Rectangle 22"/>
          <p:cNvSpPr/>
          <p:nvPr/>
        </p:nvSpPr>
        <p:spPr>
          <a:xfrm>
            <a:off x="685800" y="2377440"/>
            <a:ext cx="3456432" cy="1188720"/>
          </a:xfrm>
          <a:prstGeom prst="roundRect">
            <a:avLst>
              <a:gd name="adj" fmla="val 10769"/>
            </a:avLst>
          </a:prstGeom>
          <a:solidFill>
            <a:srgbClr val="232B36"/>
          </a:solidFill>
          <a:ln w="19050">
            <a:solidFill>
              <a:srgbClr val="323C4A"/>
            </a:solidFill>
          </a:ln>
        </p:spPr>
        <p:txBody>
          <a:bodyPr rtlCol="0" anchor="ctr"/>
          <a:lstStyle/>
          <a:p>
            <a:pPr algn="ctr"/>
          </a:p>
        </p:txBody>
      </p:sp>
      <p:sp>
        <p:nvSpPr>
          <p:cNvPr id="24" name="Rounded Rectangle 23"/>
          <p:cNvSpPr/>
          <p:nvPr/>
        </p:nvSpPr>
        <p:spPr>
          <a:xfrm>
            <a:off x="886968" y="2560320"/>
            <a:ext cx="502920" cy="502920"/>
          </a:xfrm>
          <a:prstGeom prst="roundRect">
            <a:avLst>
              <a:gd name="adj" fmla="val 21818"/>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1800" b="1" i="0">
                <a:solidFill>
                  <a:srgbClr val="12161C"/>
                </a:solidFill>
                <a:latin typeface="Arial Black"/>
              </a:rPr>
              <a:t>1</a:t>
            </a:r>
          </a:p>
        </p:txBody>
      </p:sp>
      <p:sp>
        <p:nvSpPr>
          <p:cNvPr id="25" name="TextBox 24"/>
          <p:cNvSpPr txBox="1"/>
          <p:nvPr/>
        </p:nvSpPr>
        <p:spPr>
          <a:xfrm>
            <a:off x="1554480" y="2523744"/>
            <a:ext cx="2423160" cy="502920"/>
          </a:xfrm>
          <a:prstGeom prst="rect">
            <a:avLst/>
          </a:prstGeom>
          <a:noFill/>
        </p:spPr>
        <p:txBody>
          <a:bodyPr wrap="square" anchor="t" lIns="0" rIns="0" tIns="0" bIns="0">
            <a:noAutofit/>
          </a:bodyPr>
          <a:lstStyle/>
          <a:p>
            <a:pPr algn="l">
              <a:lnSpc>
                <a:spcPct val="95000"/>
              </a:lnSpc>
              <a:spcBef>
                <a:spcPts val="0"/>
              </a:spcBef>
              <a:spcAft>
                <a:spcPts val="0"/>
              </a:spcAft>
            </a:pPr>
            <a:r>
              <a:rPr sz="1800" b="1" i="0">
                <a:solidFill>
                  <a:srgbClr val="F4F6F8"/>
                </a:solidFill>
                <a:latin typeface="Arial"/>
              </a:rPr>
              <a:t>safer than</a:t>
            </a:r>
          </a:p>
        </p:txBody>
      </p:sp>
      <p:sp>
        <p:nvSpPr>
          <p:cNvPr id="26" name="Rounded Rectangle 25"/>
          <p:cNvSpPr/>
          <p:nvPr/>
        </p:nvSpPr>
        <p:spPr>
          <a:xfrm>
            <a:off x="4370832" y="2377440"/>
            <a:ext cx="3456432" cy="1188720"/>
          </a:xfrm>
          <a:prstGeom prst="roundRect">
            <a:avLst>
              <a:gd name="adj" fmla="val 10769"/>
            </a:avLst>
          </a:prstGeom>
          <a:solidFill>
            <a:srgbClr val="232B36"/>
          </a:solidFill>
          <a:ln w="19050">
            <a:solidFill>
              <a:srgbClr val="323C4A"/>
            </a:solidFill>
          </a:ln>
        </p:spPr>
        <p:txBody>
          <a:bodyPr rtlCol="0" anchor="ctr"/>
          <a:lstStyle/>
          <a:p>
            <a:pPr algn="ctr"/>
          </a:p>
        </p:txBody>
      </p:sp>
      <p:sp>
        <p:nvSpPr>
          <p:cNvPr id="27" name="Rounded Rectangle 26"/>
          <p:cNvSpPr/>
          <p:nvPr/>
        </p:nvSpPr>
        <p:spPr>
          <a:xfrm>
            <a:off x="4572000" y="2560320"/>
            <a:ext cx="502920" cy="502920"/>
          </a:xfrm>
          <a:prstGeom prst="roundRect">
            <a:avLst>
              <a:gd name="adj" fmla="val 21818"/>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1800" b="1" i="0">
                <a:solidFill>
                  <a:srgbClr val="12161C"/>
                </a:solidFill>
                <a:latin typeface="Arial Black"/>
              </a:rPr>
              <a:t>2</a:t>
            </a:r>
          </a:p>
        </p:txBody>
      </p:sp>
      <p:sp>
        <p:nvSpPr>
          <p:cNvPr id="28" name="TextBox 27"/>
          <p:cNvSpPr txBox="1"/>
          <p:nvPr/>
        </p:nvSpPr>
        <p:spPr>
          <a:xfrm>
            <a:off x="5239512" y="2523744"/>
            <a:ext cx="2423160" cy="502920"/>
          </a:xfrm>
          <a:prstGeom prst="rect">
            <a:avLst/>
          </a:prstGeom>
          <a:noFill/>
        </p:spPr>
        <p:txBody>
          <a:bodyPr wrap="square" anchor="t" lIns="0" rIns="0" tIns="0" bIns="0">
            <a:noAutofit/>
          </a:bodyPr>
          <a:lstStyle/>
          <a:p>
            <a:pPr algn="l">
              <a:lnSpc>
                <a:spcPct val="95000"/>
              </a:lnSpc>
              <a:spcBef>
                <a:spcPts val="0"/>
              </a:spcBef>
              <a:spcAft>
                <a:spcPts val="0"/>
              </a:spcAft>
            </a:pPr>
            <a:r>
              <a:rPr sz="1800" b="1" i="0">
                <a:solidFill>
                  <a:srgbClr val="F4F6F8"/>
                </a:solidFill>
                <a:latin typeface="Arial"/>
              </a:rPr>
              <a:t>stopping distance</a:t>
            </a:r>
          </a:p>
        </p:txBody>
      </p:sp>
      <p:sp>
        <p:nvSpPr>
          <p:cNvPr id="29" name="Rounded Rectangle 28"/>
          <p:cNvSpPr/>
          <p:nvPr/>
        </p:nvSpPr>
        <p:spPr>
          <a:xfrm>
            <a:off x="8055864" y="2377440"/>
            <a:ext cx="3456432" cy="1188720"/>
          </a:xfrm>
          <a:prstGeom prst="roundRect">
            <a:avLst>
              <a:gd name="adj" fmla="val 10769"/>
            </a:avLst>
          </a:prstGeom>
          <a:solidFill>
            <a:srgbClr val="232B36"/>
          </a:solidFill>
          <a:ln w="19050">
            <a:solidFill>
              <a:srgbClr val="323C4A"/>
            </a:solidFill>
          </a:ln>
        </p:spPr>
        <p:txBody>
          <a:bodyPr rtlCol="0" anchor="ctr"/>
          <a:lstStyle/>
          <a:p>
            <a:pPr algn="ctr"/>
          </a:p>
        </p:txBody>
      </p:sp>
      <p:sp>
        <p:nvSpPr>
          <p:cNvPr id="30" name="Rounded Rectangle 29"/>
          <p:cNvSpPr/>
          <p:nvPr/>
        </p:nvSpPr>
        <p:spPr>
          <a:xfrm>
            <a:off x="8257032" y="2560320"/>
            <a:ext cx="502920" cy="502920"/>
          </a:xfrm>
          <a:prstGeom prst="roundRect">
            <a:avLst>
              <a:gd name="adj" fmla="val 21818"/>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1800" b="1" i="0">
                <a:solidFill>
                  <a:srgbClr val="12161C"/>
                </a:solidFill>
                <a:latin typeface="Arial Black"/>
              </a:rPr>
              <a:t>3</a:t>
            </a:r>
          </a:p>
        </p:txBody>
      </p:sp>
      <p:sp>
        <p:nvSpPr>
          <p:cNvPr id="31" name="TextBox 30"/>
          <p:cNvSpPr txBox="1"/>
          <p:nvPr/>
        </p:nvSpPr>
        <p:spPr>
          <a:xfrm>
            <a:off x="8924544" y="2523744"/>
            <a:ext cx="2423160" cy="502920"/>
          </a:xfrm>
          <a:prstGeom prst="rect">
            <a:avLst/>
          </a:prstGeom>
          <a:noFill/>
        </p:spPr>
        <p:txBody>
          <a:bodyPr wrap="square" anchor="t" lIns="0" rIns="0" tIns="0" bIns="0">
            <a:noAutofit/>
          </a:bodyPr>
          <a:lstStyle/>
          <a:p>
            <a:pPr algn="l">
              <a:lnSpc>
                <a:spcPct val="95000"/>
              </a:lnSpc>
              <a:spcBef>
                <a:spcPts val="0"/>
              </a:spcBef>
              <a:spcAft>
                <a:spcPts val="0"/>
              </a:spcAft>
            </a:pPr>
            <a:r>
              <a:rPr sz="1800" b="1" i="0">
                <a:solidFill>
                  <a:srgbClr val="F4F6F8"/>
                </a:solidFill>
                <a:latin typeface="Arial"/>
              </a:rPr>
              <a:t>kinetic energy</a:t>
            </a:r>
          </a:p>
        </p:txBody>
      </p:sp>
      <p:sp>
        <p:nvSpPr>
          <p:cNvPr id="32" name="Rounded Rectangle 31"/>
          <p:cNvSpPr/>
          <p:nvPr/>
        </p:nvSpPr>
        <p:spPr>
          <a:xfrm>
            <a:off x="685800" y="3794760"/>
            <a:ext cx="3456432" cy="1188720"/>
          </a:xfrm>
          <a:prstGeom prst="roundRect">
            <a:avLst>
              <a:gd name="adj" fmla="val 10769"/>
            </a:avLst>
          </a:prstGeom>
          <a:solidFill>
            <a:srgbClr val="232B36"/>
          </a:solidFill>
          <a:ln w="19050">
            <a:solidFill>
              <a:srgbClr val="323C4A"/>
            </a:solidFill>
          </a:ln>
        </p:spPr>
        <p:txBody>
          <a:bodyPr rtlCol="0" anchor="ctr"/>
          <a:lstStyle/>
          <a:p>
            <a:pPr algn="ctr"/>
          </a:p>
        </p:txBody>
      </p:sp>
      <p:sp>
        <p:nvSpPr>
          <p:cNvPr id="33" name="Rounded Rectangle 32"/>
          <p:cNvSpPr/>
          <p:nvPr/>
        </p:nvSpPr>
        <p:spPr>
          <a:xfrm>
            <a:off x="886968" y="3977640"/>
            <a:ext cx="502920" cy="502920"/>
          </a:xfrm>
          <a:prstGeom prst="roundRect">
            <a:avLst>
              <a:gd name="adj" fmla="val 21818"/>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1800" b="1" i="0">
                <a:solidFill>
                  <a:srgbClr val="12161C"/>
                </a:solidFill>
                <a:latin typeface="Arial Black"/>
              </a:rPr>
              <a:t>4</a:t>
            </a:r>
          </a:p>
        </p:txBody>
      </p:sp>
      <p:sp>
        <p:nvSpPr>
          <p:cNvPr id="34" name="TextBox 33"/>
          <p:cNvSpPr txBox="1"/>
          <p:nvPr/>
        </p:nvSpPr>
        <p:spPr>
          <a:xfrm>
            <a:off x="1554480" y="3941064"/>
            <a:ext cx="2423160" cy="502920"/>
          </a:xfrm>
          <a:prstGeom prst="rect">
            <a:avLst/>
          </a:prstGeom>
          <a:noFill/>
        </p:spPr>
        <p:txBody>
          <a:bodyPr wrap="square" anchor="t" lIns="0" rIns="0" tIns="0" bIns="0">
            <a:noAutofit/>
          </a:bodyPr>
          <a:lstStyle/>
          <a:p>
            <a:pPr algn="l">
              <a:lnSpc>
                <a:spcPct val="95000"/>
              </a:lnSpc>
              <a:spcBef>
                <a:spcPts val="0"/>
              </a:spcBef>
              <a:spcAft>
                <a:spcPts val="0"/>
              </a:spcAft>
            </a:pPr>
            <a:r>
              <a:rPr sz="1800" b="1" i="0">
                <a:solidFill>
                  <a:srgbClr val="F4F6F8"/>
                </a:solidFill>
                <a:latin typeface="Arial"/>
              </a:rPr>
              <a:t>belt</a:t>
            </a:r>
          </a:p>
        </p:txBody>
      </p:sp>
      <p:sp>
        <p:nvSpPr>
          <p:cNvPr id="35" name="Rounded Rectangle 34"/>
          <p:cNvSpPr/>
          <p:nvPr/>
        </p:nvSpPr>
        <p:spPr>
          <a:xfrm>
            <a:off x="4370832" y="3794760"/>
            <a:ext cx="3456432" cy="1188720"/>
          </a:xfrm>
          <a:prstGeom prst="roundRect">
            <a:avLst>
              <a:gd name="adj" fmla="val 10769"/>
            </a:avLst>
          </a:prstGeom>
          <a:solidFill>
            <a:srgbClr val="1A2029"/>
          </a:solidFill>
          <a:ln w="25400">
            <a:solidFill>
              <a:srgbClr val="FFB400"/>
            </a:solidFill>
          </a:ln>
        </p:spPr>
        <p:txBody>
          <a:bodyPr rtlCol="0" anchor="ctr"/>
          <a:lstStyle/>
          <a:p>
            <a:pPr algn="ctr"/>
          </a:p>
        </p:txBody>
      </p:sp>
      <p:sp>
        <p:nvSpPr>
          <p:cNvPr id="36" name="Rounded Rectangle 35"/>
          <p:cNvSpPr/>
          <p:nvPr/>
        </p:nvSpPr>
        <p:spPr>
          <a:xfrm>
            <a:off x="4572000" y="3977640"/>
            <a:ext cx="502920" cy="502920"/>
          </a:xfrm>
          <a:prstGeom prst="roundRect">
            <a:avLst>
              <a:gd name="adj" fmla="val 21818"/>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1800" b="1" i="0">
                <a:solidFill>
                  <a:srgbClr val="12161C"/>
                </a:solidFill>
                <a:latin typeface="Arial Black"/>
              </a:rPr>
              <a:t>5</a:t>
            </a:r>
          </a:p>
        </p:txBody>
      </p:sp>
      <p:sp>
        <p:nvSpPr>
          <p:cNvPr id="37" name="TextBox 36"/>
          <p:cNvSpPr txBox="1"/>
          <p:nvPr/>
        </p:nvSpPr>
        <p:spPr>
          <a:xfrm>
            <a:off x="5239512" y="3941064"/>
            <a:ext cx="2423160" cy="502920"/>
          </a:xfrm>
          <a:prstGeom prst="rect">
            <a:avLst/>
          </a:prstGeom>
          <a:noFill/>
        </p:spPr>
        <p:txBody>
          <a:bodyPr wrap="square" anchor="t" lIns="0" rIns="0" tIns="0" bIns="0">
            <a:noAutofit/>
          </a:bodyPr>
          <a:lstStyle/>
          <a:p>
            <a:pPr algn="l">
              <a:lnSpc>
                <a:spcPct val="95000"/>
              </a:lnSpc>
              <a:spcBef>
                <a:spcPts val="0"/>
              </a:spcBef>
              <a:spcAft>
                <a:spcPts val="0"/>
              </a:spcAft>
            </a:pPr>
            <a:r>
              <a:rPr sz="1800" b="1" i="0">
                <a:solidFill>
                  <a:srgbClr val="FFB400"/>
                </a:solidFill>
                <a:latin typeface="Arial"/>
              </a:rPr>
              <a:t>( audio only )</a:t>
            </a:r>
          </a:p>
        </p:txBody>
      </p:sp>
      <p:sp>
        <p:nvSpPr>
          <p:cNvPr id="38" name="TextBox 37"/>
          <p:cNvSpPr txBox="1"/>
          <p:nvPr/>
        </p:nvSpPr>
        <p:spPr>
          <a:xfrm>
            <a:off x="5239512" y="4453128"/>
            <a:ext cx="2423160" cy="411480"/>
          </a:xfrm>
          <a:prstGeom prst="rect">
            <a:avLst/>
          </a:prstGeom>
          <a:noFill/>
        </p:spPr>
        <p:txBody>
          <a:bodyPr wrap="square" anchor="t" lIns="0" rIns="0" tIns="0" bIns="0">
            <a:noAutofit/>
          </a:bodyPr>
          <a:lstStyle/>
          <a:p>
            <a:pPr algn="l">
              <a:lnSpc>
                <a:spcPct val="100000"/>
              </a:lnSpc>
              <a:spcBef>
                <a:spcPts val="0"/>
              </a:spcBef>
              <a:spcAft>
                <a:spcPts val="0"/>
              </a:spcAft>
            </a:pPr>
            <a:r>
              <a:rPr sz="1100" b="0" i="1">
                <a:solidFill>
                  <a:srgbClr val="A9B3C0"/>
                </a:solidFill>
                <a:latin typeface="Arial"/>
              </a:rPr>
              <a:t>two-word positive phrase — NOT printed in the book; take it from the official audio</a:t>
            </a:r>
          </a:p>
        </p:txBody>
      </p:sp>
      <p:sp>
        <p:nvSpPr>
          <p:cNvPr id="39" name="Rounded Rectangle 38"/>
          <p:cNvSpPr/>
          <p:nvPr/>
        </p:nvSpPr>
        <p:spPr>
          <a:xfrm>
            <a:off x="8055864" y="3794760"/>
            <a:ext cx="3456432" cy="1188720"/>
          </a:xfrm>
          <a:prstGeom prst="roundRect">
            <a:avLst>
              <a:gd name="adj" fmla="val 10769"/>
            </a:avLst>
          </a:prstGeom>
          <a:solidFill>
            <a:srgbClr val="232B36"/>
          </a:solidFill>
          <a:ln w="19050">
            <a:solidFill>
              <a:srgbClr val="323C4A"/>
            </a:solidFill>
          </a:ln>
        </p:spPr>
        <p:txBody>
          <a:bodyPr rtlCol="0" anchor="ctr"/>
          <a:lstStyle/>
          <a:p>
            <a:pPr algn="ctr"/>
          </a:p>
        </p:txBody>
      </p:sp>
      <p:sp>
        <p:nvSpPr>
          <p:cNvPr id="40" name="Rounded Rectangle 39"/>
          <p:cNvSpPr/>
          <p:nvPr/>
        </p:nvSpPr>
        <p:spPr>
          <a:xfrm>
            <a:off x="8257032" y="3977640"/>
            <a:ext cx="502920" cy="502920"/>
          </a:xfrm>
          <a:prstGeom prst="roundRect">
            <a:avLst>
              <a:gd name="adj" fmla="val 21818"/>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1800" b="1" i="0">
                <a:solidFill>
                  <a:srgbClr val="12161C"/>
                </a:solidFill>
                <a:latin typeface="Arial Black"/>
              </a:rPr>
              <a:t>6</a:t>
            </a:r>
          </a:p>
        </p:txBody>
      </p:sp>
      <p:sp>
        <p:nvSpPr>
          <p:cNvPr id="41" name="TextBox 40"/>
          <p:cNvSpPr txBox="1"/>
          <p:nvPr/>
        </p:nvSpPr>
        <p:spPr>
          <a:xfrm>
            <a:off x="8924544" y="3941064"/>
            <a:ext cx="2423160" cy="502920"/>
          </a:xfrm>
          <a:prstGeom prst="rect">
            <a:avLst/>
          </a:prstGeom>
          <a:noFill/>
        </p:spPr>
        <p:txBody>
          <a:bodyPr wrap="square" anchor="t" lIns="0" rIns="0" tIns="0" bIns="0">
            <a:noAutofit/>
          </a:bodyPr>
          <a:lstStyle/>
          <a:p>
            <a:pPr algn="l">
              <a:lnSpc>
                <a:spcPct val="95000"/>
              </a:lnSpc>
              <a:spcBef>
                <a:spcPts val="0"/>
              </a:spcBef>
              <a:spcAft>
                <a:spcPts val="0"/>
              </a:spcAft>
            </a:pPr>
            <a:r>
              <a:rPr sz="1800" b="1" i="0">
                <a:solidFill>
                  <a:srgbClr val="F4F6F8"/>
                </a:solidFill>
                <a:latin typeface="Arial"/>
              </a:rPr>
              <a:t>testing</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685800" y="1554480"/>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1463040"/>
            <a:ext cx="7315200" cy="274320"/>
          </a:xfrm>
          <a:prstGeom prst="rect">
            <a:avLst/>
          </a:prstGeom>
          <a:noFill/>
        </p:spPr>
        <p:txBody>
          <a:bodyPr wrap="square" anchor="t" lIns="0" rIns="0" tIns="0" bIns="0">
            <a:noAutofit/>
          </a:bodyPr>
          <a:lstStyle/>
          <a:p>
            <a:pPr algn="l">
              <a:lnSpc>
                <a:spcPct val="100000"/>
              </a:lnSpc>
              <a:spcBef>
                <a:spcPts val="0"/>
              </a:spcBef>
              <a:spcAft>
                <a:spcPts val="0"/>
              </a:spcAft>
            </a:pPr>
            <a:r>
              <a:rPr sz="1500" b="1" i="0" spc="300">
                <a:solidFill>
                  <a:srgbClr val="A9B3C0"/>
                </a:solidFill>
                <a:latin typeface="Arial Narrow"/>
              </a:rPr>
              <a:t>TESTING ENGINEER</a:t>
            </a:r>
          </a:p>
        </p:txBody>
      </p:sp>
      <p:sp>
        <p:nvSpPr>
          <p:cNvPr id="4" name="TextBox 3"/>
          <p:cNvSpPr txBox="1"/>
          <p:nvPr/>
        </p:nvSpPr>
        <p:spPr>
          <a:xfrm>
            <a:off x="685800" y="2011680"/>
            <a:ext cx="10607040" cy="1097280"/>
          </a:xfrm>
          <a:prstGeom prst="rect">
            <a:avLst/>
          </a:prstGeom>
          <a:noFill/>
        </p:spPr>
        <p:txBody>
          <a:bodyPr wrap="square" anchor="t" lIns="0" rIns="0" tIns="0" bIns="0">
            <a:noAutofit/>
          </a:bodyPr>
          <a:lstStyle/>
          <a:p>
            <a:pPr algn="l">
              <a:lnSpc>
                <a:spcPct val="100000"/>
              </a:lnSpc>
              <a:spcBef>
                <a:spcPts val="0"/>
              </a:spcBef>
              <a:spcAft>
                <a:spcPts val="0"/>
              </a:spcAft>
            </a:pPr>
            <a:r>
              <a:rPr sz="4600" b="0" i="0">
                <a:solidFill>
                  <a:srgbClr val="F4F6F8"/>
                </a:solidFill>
                <a:latin typeface="Arial Black"/>
              </a:rPr>
              <a:t>BOARD MEETING IN 5 MINUTES.</a:t>
            </a:r>
          </a:p>
        </p:txBody>
      </p:sp>
      <p:sp>
        <p:nvSpPr>
          <p:cNvPr id="5" name="TextBox 4"/>
          <p:cNvSpPr txBox="1"/>
          <p:nvPr/>
        </p:nvSpPr>
        <p:spPr>
          <a:xfrm>
            <a:off x="713232" y="3246120"/>
            <a:ext cx="10058400" cy="822960"/>
          </a:xfrm>
          <a:prstGeom prst="rect">
            <a:avLst/>
          </a:prstGeom>
          <a:noFill/>
        </p:spPr>
        <p:txBody>
          <a:bodyPr wrap="square" anchor="t" lIns="0" rIns="0" tIns="0" bIns="0">
            <a:noAutofit/>
          </a:bodyPr>
          <a:lstStyle/>
          <a:p>
            <a:pPr algn="l">
              <a:lnSpc>
                <a:spcPct val="100000"/>
              </a:lnSpc>
              <a:spcBef>
                <a:spcPts val="0"/>
              </a:spcBef>
              <a:spcAft>
                <a:spcPts val="0"/>
              </a:spcAft>
            </a:pPr>
            <a:r>
              <a:rPr sz="2600" b="1" i="0" spc="100">
                <a:solidFill>
                  <a:srgbClr val="FFB400"/>
                </a:solidFill>
                <a:latin typeface="Arial Narrow"/>
              </a:rPr>
              <a:t>YOUR COMPANY MUST EXPLAIN THE NEW SEATBELT.</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12161C"/>
                </a:solidFill>
                <a:latin typeface="Arial Narrow"/>
              </a:rPr>
              <a:t>ACT 6 · DESIGN CHALLENGE</a:t>
            </a:r>
          </a:p>
        </p:txBody>
      </p:sp>
      <p:sp>
        <p:nvSpPr>
          <p:cNvPr id="4" name="TextBox 3"/>
          <p:cNvSpPr txBox="1"/>
          <p:nvPr/>
        </p:nvSpPr>
        <p:spPr>
          <a:xfrm>
            <a:off x="7315200" y="310896"/>
            <a:ext cx="4187952" cy="274320"/>
          </a:xfrm>
          <a:prstGeom prst="rect">
            <a:avLst/>
          </a:prstGeom>
          <a:noFill/>
        </p:spPr>
        <p:txBody>
          <a:bodyPr wrap="square" anchor="t" lIns="0" rIns="0" tIns="0" bIns="0">
            <a:noAutofit/>
          </a:bodyPr>
          <a:lstStyle/>
          <a:p>
            <a:pPr algn="r">
              <a:lnSpc>
                <a:spcPct val="100000"/>
              </a:lnSpc>
              <a:spcBef>
                <a:spcPts val="0"/>
              </a:spcBef>
              <a:spcAft>
                <a:spcPts val="0"/>
              </a:spcAft>
            </a:pPr>
            <a:r>
              <a:rPr sz="1300" b="1" i="0" spc="220">
                <a:solidFill>
                  <a:srgbClr val="8A93A0"/>
                </a:solidFill>
                <a:latin typeface="Arial Narrow"/>
              </a:rPr>
              <a:t>TESTING ENGINEER</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8A93A0"/>
                </a:solidFill>
                <a:latin typeface="Arial Narrow"/>
              </a:rPr>
              <a:t>ENERGY LAB  ·  CRASH TEST #05</a:t>
            </a:r>
          </a:p>
        </p:txBody>
      </p:sp>
      <p:sp>
        <p:nvSpPr>
          <p:cNvPr id="6" name="Rectangle 5"/>
          <p:cNvSpPr/>
          <p:nvPr/>
        </p:nvSpPr>
        <p:spPr>
          <a:xfrm>
            <a:off x="4526280" y="6510528"/>
            <a:ext cx="127363" cy="54864"/>
          </a:xfrm>
          <a:prstGeom prst="rect">
            <a:avLst/>
          </a:prstGeom>
          <a:solidFill>
            <a:srgbClr val="D9B55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D9B55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D9B55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D9B55A"/>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D9B55A"/>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D9B55A"/>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D9B55A"/>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D9B55A"/>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D9B55A"/>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D9B55A"/>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D9B55A"/>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FFB400"/>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D5D0C4"/>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D5D0C4"/>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8A93A0"/>
                </a:solidFill>
                <a:latin typeface="Arial Narrow"/>
              </a:rPr>
              <a:t>79</a:t>
            </a:fld>
          </a:p>
        </p:txBody>
      </p:sp>
      <p:sp>
        <p:nvSpPr>
          <p:cNvPr id="21" name="Rounded Rectangle 20"/>
          <p:cNvSpPr/>
          <p:nvPr/>
        </p:nvSpPr>
        <p:spPr>
          <a:xfrm>
            <a:off x="8732520" y="914400"/>
            <a:ext cx="2771235" cy="274320"/>
          </a:xfrm>
          <a:prstGeom prst="roundRect">
            <a:avLst>
              <a:gd name="adj" fmla="val 50000"/>
            </a:avLst>
          </a:prstGeom>
          <a:noFill/>
          <a:ln w="19050">
            <a:solidFill>
              <a:srgbClr val="0B6A96"/>
            </a:solidFill>
          </a:ln>
        </p:spPr>
        <p:txBody>
          <a:bodyPr rtlCol="0" anchor="ctr" wrap="square" lIns="0" rIns="0" tIns="0" bIns="0">
            <a:noAutofit/>
          </a:bodyPr>
          <a:lstStyle/>
          <a:p>
            <a:pPr algn="ctr">
              <a:lnSpc>
                <a:spcPct val="100000"/>
              </a:lnSpc>
              <a:spcBef>
                <a:spcPts val="0"/>
              </a:spcBef>
              <a:spcAft>
                <a:spcPts val="0"/>
              </a:spcAft>
            </a:pPr>
            <a:r>
              <a:rPr sz="1300" b="1" i="0" spc="200">
                <a:solidFill>
                  <a:srgbClr val="0B6A96"/>
                </a:solidFill>
                <a:latin typeface="Arial Narrow"/>
              </a:rPr>
              <a:t>TEXTBOOK · TASK 8 ROLES</a:t>
            </a:r>
          </a:p>
        </p:txBody>
      </p:sp>
      <p:sp>
        <p:nvSpPr>
          <p:cNvPr id="22" name="TextBox 21"/>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56606E"/>
                </a:solidFill>
                <a:latin typeface="Arial Narrow"/>
              </a:rPr>
              <a:t>SPEAKING · TASK 8</a:t>
            </a:r>
          </a:p>
        </p:txBody>
      </p:sp>
      <p:sp>
        <p:nvSpPr>
          <p:cNvPr id="23" name="TextBox 22"/>
          <p:cNvSpPr txBox="1"/>
          <p:nvPr/>
        </p:nvSpPr>
        <p:spPr>
          <a:xfrm>
            <a:off x="685800" y="1188720"/>
            <a:ext cx="10789920" cy="1005840"/>
          </a:xfrm>
          <a:prstGeom prst="rect">
            <a:avLst/>
          </a:prstGeom>
          <a:noFill/>
        </p:spPr>
        <p:txBody>
          <a:bodyPr wrap="square" anchor="t" lIns="0" rIns="0" tIns="0" bIns="0">
            <a:noAutofit/>
          </a:bodyPr>
          <a:lstStyle/>
          <a:p>
            <a:pPr algn="l">
              <a:lnSpc>
                <a:spcPct val="100000"/>
              </a:lnSpc>
              <a:spcBef>
                <a:spcPts val="0"/>
              </a:spcBef>
              <a:spcAft>
                <a:spcPts val="0"/>
              </a:spcAft>
            </a:pPr>
            <a:r>
              <a:rPr sz="3000" b="0" i="0">
                <a:solidFill>
                  <a:srgbClr val="12161C"/>
                </a:solidFill>
                <a:latin typeface="Arial Black"/>
              </a:rPr>
              <a:t>YOUR 45-SECOND PITCH MUST INCLUDE:</a:t>
            </a:r>
          </a:p>
        </p:txBody>
      </p:sp>
      <p:sp>
        <p:nvSpPr>
          <p:cNvPr id="24" name="Rounded Rectangle 23"/>
          <p:cNvSpPr/>
          <p:nvPr/>
        </p:nvSpPr>
        <p:spPr>
          <a:xfrm>
            <a:off x="685800" y="2423160"/>
            <a:ext cx="3456432" cy="1188720"/>
          </a:xfrm>
          <a:prstGeom prst="roundRect">
            <a:avLst>
              <a:gd name="adj" fmla="val 10769"/>
            </a:avLst>
          </a:prstGeom>
          <a:solidFill>
            <a:srgbClr val="FFFFFF"/>
          </a:solidFill>
          <a:ln w="19050">
            <a:solidFill>
              <a:srgbClr val="CFC9BC"/>
            </a:solidFill>
          </a:ln>
        </p:spPr>
        <p:txBody>
          <a:bodyPr rtlCol="0" anchor="ctr"/>
          <a:lstStyle/>
          <a:p>
            <a:pPr algn="ctr"/>
          </a:p>
        </p:txBody>
      </p:sp>
      <p:sp>
        <p:nvSpPr>
          <p:cNvPr id="25" name="Freeform 24"/>
          <p:cNvSpPr/>
          <p:nvPr/>
        </p:nvSpPr>
        <p:spPr>
          <a:xfrm>
            <a:off x="960120" y="2845613"/>
            <a:ext cx="384048" cy="307238"/>
          </a:xfrm>
          <a:custGeom>
            <a:avLst/>
            <a:gdLst/>
            <a:ahLst/>
            <a:cxnLst/>
            <a:rect l="l" t="t" r="r" b="b"/>
            <a:pathLst>
              <a:path w="384048" h="307238">
                <a:moveTo>
                  <a:pt x="0" y="172821"/>
                </a:moveTo>
                <a:lnTo>
                  <a:pt x="138257" y="307238"/>
                </a:lnTo>
                <a:lnTo>
                  <a:pt x="384048" y="0"/>
                </a:lnTo>
              </a:path>
            </a:pathLst>
          </a:custGeom>
          <a:noFill/>
          <a:ln w="63500" cap="rnd">
            <a:solidFill>
              <a:srgbClr val="1E8F52"/>
            </a:solidFill>
            <a:round/>
          </a:ln>
        </p:spPr>
        <p:txBody>
          <a:bodyPr rtlCol="0" anchor="ctr"/>
          <a:lstStyle/>
          <a:p>
            <a:pPr algn="ctr"/>
          </a:p>
        </p:txBody>
      </p:sp>
      <p:sp>
        <p:nvSpPr>
          <p:cNvPr id="26" name="TextBox 25"/>
          <p:cNvSpPr txBox="1"/>
          <p:nvPr/>
        </p:nvSpPr>
        <p:spPr>
          <a:xfrm>
            <a:off x="1554480" y="2715768"/>
            <a:ext cx="2423160" cy="640080"/>
          </a:xfrm>
          <a:prstGeom prst="rect">
            <a:avLst/>
          </a:prstGeom>
          <a:noFill/>
        </p:spPr>
        <p:txBody>
          <a:bodyPr wrap="square" anchor="ctr" lIns="0" rIns="0" tIns="0" bIns="0">
            <a:noAutofit/>
          </a:bodyPr>
          <a:lstStyle/>
          <a:p>
            <a:pPr algn="l">
              <a:lnSpc>
                <a:spcPct val="100000"/>
              </a:lnSpc>
              <a:spcBef>
                <a:spcPts val="0"/>
              </a:spcBef>
              <a:spcAft>
                <a:spcPts val="0"/>
              </a:spcAft>
            </a:pPr>
            <a:r>
              <a:rPr sz="1900" b="1" i="0">
                <a:solidFill>
                  <a:srgbClr val="12161C"/>
                </a:solidFill>
                <a:latin typeface="Arial"/>
              </a:rPr>
              <a:t>stopping distance</a:t>
            </a:r>
          </a:p>
        </p:txBody>
      </p:sp>
      <p:sp>
        <p:nvSpPr>
          <p:cNvPr id="27" name="Rounded Rectangle 26"/>
          <p:cNvSpPr/>
          <p:nvPr/>
        </p:nvSpPr>
        <p:spPr>
          <a:xfrm>
            <a:off x="4370832" y="2423160"/>
            <a:ext cx="3456432" cy="1188720"/>
          </a:xfrm>
          <a:prstGeom prst="roundRect">
            <a:avLst>
              <a:gd name="adj" fmla="val 10769"/>
            </a:avLst>
          </a:prstGeom>
          <a:solidFill>
            <a:srgbClr val="FFFFFF"/>
          </a:solidFill>
          <a:ln w="19050">
            <a:solidFill>
              <a:srgbClr val="CFC9BC"/>
            </a:solidFill>
          </a:ln>
        </p:spPr>
        <p:txBody>
          <a:bodyPr rtlCol="0" anchor="ctr"/>
          <a:lstStyle/>
          <a:p>
            <a:pPr algn="ctr"/>
          </a:p>
        </p:txBody>
      </p:sp>
      <p:sp>
        <p:nvSpPr>
          <p:cNvPr id="28" name="Freeform 27"/>
          <p:cNvSpPr/>
          <p:nvPr/>
        </p:nvSpPr>
        <p:spPr>
          <a:xfrm>
            <a:off x="4645152" y="2845613"/>
            <a:ext cx="384048" cy="307238"/>
          </a:xfrm>
          <a:custGeom>
            <a:avLst/>
            <a:gdLst/>
            <a:ahLst/>
            <a:cxnLst/>
            <a:rect l="l" t="t" r="r" b="b"/>
            <a:pathLst>
              <a:path w="384048" h="307238">
                <a:moveTo>
                  <a:pt x="0" y="172821"/>
                </a:moveTo>
                <a:lnTo>
                  <a:pt x="138257" y="307238"/>
                </a:lnTo>
                <a:lnTo>
                  <a:pt x="384048" y="0"/>
                </a:lnTo>
              </a:path>
            </a:pathLst>
          </a:custGeom>
          <a:noFill/>
          <a:ln w="63500" cap="rnd">
            <a:solidFill>
              <a:srgbClr val="1E8F52"/>
            </a:solidFill>
            <a:round/>
          </a:ln>
        </p:spPr>
        <p:txBody>
          <a:bodyPr rtlCol="0" anchor="ctr"/>
          <a:lstStyle/>
          <a:p>
            <a:pPr algn="ctr"/>
          </a:p>
        </p:txBody>
      </p:sp>
      <p:sp>
        <p:nvSpPr>
          <p:cNvPr id="29" name="TextBox 28"/>
          <p:cNvSpPr txBox="1"/>
          <p:nvPr/>
        </p:nvSpPr>
        <p:spPr>
          <a:xfrm>
            <a:off x="5239512" y="2715768"/>
            <a:ext cx="2423160" cy="640080"/>
          </a:xfrm>
          <a:prstGeom prst="rect">
            <a:avLst/>
          </a:prstGeom>
          <a:noFill/>
        </p:spPr>
        <p:txBody>
          <a:bodyPr wrap="square" anchor="ctr" lIns="0" rIns="0" tIns="0" bIns="0">
            <a:noAutofit/>
          </a:bodyPr>
          <a:lstStyle/>
          <a:p>
            <a:pPr algn="l">
              <a:lnSpc>
                <a:spcPct val="100000"/>
              </a:lnSpc>
              <a:spcBef>
                <a:spcPts val="0"/>
              </a:spcBef>
              <a:spcAft>
                <a:spcPts val="0"/>
              </a:spcAft>
            </a:pPr>
            <a:r>
              <a:rPr sz="1900" b="1" i="0">
                <a:solidFill>
                  <a:srgbClr val="12161C"/>
                </a:solidFill>
                <a:latin typeface="Arial"/>
              </a:rPr>
              <a:t>kinetic energy</a:t>
            </a:r>
          </a:p>
        </p:txBody>
      </p:sp>
      <p:sp>
        <p:nvSpPr>
          <p:cNvPr id="30" name="Rounded Rectangle 29"/>
          <p:cNvSpPr/>
          <p:nvPr/>
        </p:nvSpPr>
        <p:spPr>
          <a:xfrm>
            <a:off x="8055864" y="2423160"/>
            <a:ext cx="3456432" cy="1188720"/>
          </a:xfrm>
          <a:prstGeom prst="roundRect">
            <a:avLst>
              <a:gd name="adj" fmla="val 10769"/>
            </a:avLst>
          </a:prstGeom>
          <a:solidFill>
            <a:srgbClr val="FFFFFF"/>
          </a:solidFill>
          <a:ln w="19050">
            <a:solidFill>
              <a:srgbClr val="CFC9BC"/>
            </a:solidFill>
          </a:ln>
        </p:spPr>
        <p:txBody>
          <a:bodyPr rtlCol="0" anchor="ctr"/>
          <a:lstStyle/>
          <a:p>
            <a:pPr algn="ctr"/>
          </a:p>
        </p:txBody>
      </p:sp>
      <p:sp>
        <p:nvSpPr>
          <p:cNvPr id="31" name="Freeform 30"/>
          <p:cNvSpPr/>
          <p:nvPr/>
        </p:nvSpPr>
        <p:spPr>
          <a:xfrm>
            <a:off x="8330184" y="2845613"/>
            <a:ext cx="384048" cy="307238"/>
          </a:xfrm>
          <a:custGeom>
            <a:avLst/>
            <a:gdLst/>
            <a:ahLst/>
            <a:cxnLst/>
            <a:rect l="l" t="t" r="r" b="b"/>
            <a:pathLst>
              <a:path w="384048" h="307238">
                <a:moveTo>
                  <a:pt x="0" y="172821"/>
                </a:moveTo>
                <a:lnTo>
                  <a:pt x="138257" y="307238"/>
                </a:lnTo>
                <a:lnTo>
                  <a:pt x="384048" y="0"/>
                </a:lnTo>
              </a:path>
            </a:pathLst>
          </a:custGeom>
          <a:noFill/>
          <a:ln w="63500" cap="rnd">
            <a:solidFill>
              <a:srgbClr val="1E8F52"/>
            </a:solidFill>
            <a:round/>
          </a:ln>
        </p:spPr>
        <p:txBody>
          <a:bodyPr rtlCol="0" anchor="ctr"/>
          <a:lstStyle/>
          <a:p>
            <a:pPr algn="ctr"/>
          </a:p>
        </p:txBody>
      </p:sp>
      <p:sp>
        <p:nvSpPr>
          <p:cNvPr id="32" name="TextBox 31"/>
          <p:cNvSpPr txBox="1"/>
          <p:nvPr/>
        </p:nvSpPr>
        <p:spPr>
          <a:xfrm>
            <a:off x="8924544" y="2715768"/>
            <a:ext cx="2423160" cy="640080"/>
          </a:xfrm>
          <a:prstGeom prst="rect">
            <a:avLst/>
          </a:prstGeom>
          <a:noFill/>
        </p:spPr>
        <p:txBody>
          <a:bodyPr wrap="square" anchor="ctr" lIns="0" rIns="0" tIns="0" bIns="0">
            <a:noAutofit/>
          </a:bodyPr>
          <a:lstStyle/>
          <a:p>
            <a:pPr algn="l">
              <a:lnSpc>
                <a:spcPct val="100000"/>
              </a:lnSpc>
              <a:spcBef>
                <a:spcPts val="0"/>
              </a:spcBef>
              <a:spcAft>
                <a:spcPts val="0"/>
              </a:spcAft>
            </a:pPr>
            <a:r>
              <a:rPr sz="1900" b="1" i="0">
                <a:solidFill>
                  <a:srgbClr val="12161C"/>
                </a:solidFill>
                <a:latin typeface="Arial"/>
              </a:rPr>
              <a:t>transfer</a:t>
            </a:r>
          </a:p>
        </p:txBody>
      </p:sp>
      <p:sp>
        <p:nvSpPr>
          <p:cNvPr id="33" name="Rounded Rectangle 32"/>
          <p:cNvSpPr/>
          <p:nvPr/>
        </p:nvSpPr>
        <p:spPr>
          <a:xfrm>
            <a:off x="685800" y="3840480"/>
            <a:ext cx="3456432" cy="1188720"/>
          </a:xfrm>
          <a:prstGeom prst="roundRect">
            <a:avLst>
              <a:gd name="adj" fmla="val 10769"/>
            </a:avLst>
          </a:prstGeom>
          <a:solidFill>
            <a:srgbClr val="FFFFFF"/>
          </a:solidFill>
          <a:ln w="19050">
            <a:solidFill>
              <a:srgbClr val="CFC9BC"/>
            </a:solidFill>
          </a:ln>
        </p:spPr>
        <p:txBody>
          <a:bodyPr rtlCol="0" anchor="ctr"/>
          <a:lstStyle/>
          <a:p>
            <a:pPr algn="ctr"/>
          </a:p>
        </p:txBody>
      </p:sp>
      <p:sp>
        <p:nvSpPr>
          <p:cNvPr id="34" name="Freeform 33"/>
          <p:cNvSpPr/>
          <p:nvPr/>
        </p:nvSpPr>
        <p:spPr>
          <a:xfrm>
            <a:off x="960120" y="4262933"/>
            <a:ext cx="384048" cy="307238"/>
          </a:xfrm>
          <a:custGeom>
            <a:avLst/>
            <a:gdLst/>
            <a:ahLst/>
            <a:cxnLst/>
            <a:rect l="l" t="t" r="r" b="b"/>
            <a:pathLst>
              <a:path w="384048" h="307238">
                <a:moveTo>
                  <a:pt x="0" y="172821"/>
                </a:moveTo>
                <a:lnTo>
                  <a:pt x="138257" y="307238"/>
                </a:lnTo>
                <a:lnTo>
                  <a:pt x="384048" y="0"/>
                </a:lnTo>
              </a:path>
            </a:pathLst>
          </a:custGeom>
          <a:noFill/>
          <a:ln w="63500" cap="rnd">
            <a:solidFill>
              <a:srgbClr val="1E8F52"/>
            </a:solidFill>
            <a:round/>
          </a:ln>
        </p:spPr>
        <p:txBody>
          <a:bodyPr rtlCol="0" anchor="ctr"/>
          <a:lstStyle/>
          <a:p>
            <a:pPr algn="ctr"/>
          </a:p>
        </p:txBody>
      </p:sp>
      <p:sp>
        <p:nvSpPr>
          <p:cNvPr id="35" name="TextBox 34"/>
          <p:cNvSpPr txBox="1"/>
          <p:nvPr/>
        </p:nvSpPr>
        <p:spPr>
          <a:xfrm>
            <a:off x="1554480" y="4133088"/>
            <a:ext cx="2423160" cy="640080"/>
          </a:xfrm>
          <a:prstGeom prst="rect">
            <a:avLst/>
          </a:prstGeom>
          <a:noFill/>
        </p:spPr>
        <p:txBody>
          <a:bodyPr wrap="square" anchor="ctr" lIns="0" rIns="0" tIns="0" bIns="0">
            <a:noAutofit/>
          </a:bodyPr>
          <a:lstStyle/>
          <a:p>
            <a:pPr algn="l">
              <a:lnSpc>
                <a:spcPct val="100000"/>
              </a:lnSpc>
              <a:spcBef>
                <a:spcPts val="0"/>
              </a:spcBef>
              <a:spcAft>
                <a:spcPts val="0"/>
              </a:spcAft>
            </a:pPr>
            <a:r>
              <a:rPr sz="1900" b="1" i="0">
                <a:solidFill>
                  <a:srgbClr val="12161C"/>
                </a:solidFill>
                <a:latin typeface="Arial"/>
              </a:rPr>
              <a:t>force</a:t>
            </a:r>
          </a:p>
        </p:txBody>
      </p:sp>
      <p:sp>
        <p:nvSpPr>
          <p:cNvPr id="36" name="Rounded Rectangle 35"/>
          <p:cNvSpPr/>
          <p:nvPr/>
        </p:nvSpPr>
        <p:spPr>
          <a:xfrm>
            <a:off x="4370832" y="3840480"/>
            <a:ext cx="3456432" cy="1188720"/>
          </a:xfrm>
          <a:prstGeom prst="roundRect">
            <a:avLst>
              <a:gd name="adj" fmla="val 10769"/>
            </a:avLst>
          </a:prstGeom>
          <a:solidFill>
            <a:srgbClr val="FFFFFF"/>
          </a:solidFill>
          <a:ln w="19050">
            <a:solidFill>
              <a:srgbClr val="CFC9BC"/>
            </a:solidFill>
          </a:ln>
        </p:spPr>
        <p:txBody>
          <a:bodyPr rtlCol="0" anchor="ctr"/>
          <a:lstStyle/>
          <a:p>
            <a:pPr algn="ctr"/>
          </a:p>
        </p:txBody>
      </p:sp>
      <p:sp>
        <p:nvSpPr>
          <p:cNvPr id="37" name="Freeform 36"/>
          <p:cNvSpPr/>
          <p:nvPr/>
        </p:nvSpPr>
        <p:spPr>
          <a:xfrm>
            <a:off x="4645152" y="4262933"/>
            <a:ext cx="384048" cy="307238"/>
          </a:xfrm>
          <a:custGeom>
            <a:avLst/>
            <a:gdLst/>
            <a:ahLst/>
            <a:cxnLst/>
            <a:rect l="l" t="t" r="r" b="b"/>
            <a:pathLst>
              <a:path w="384048" h="307238">
                <a:moveTo>
                  <a:pt x="0" y="172821"/>
                </a:moveTo>
                <a:lnTo>
                  <a:pt x="138257" y="307238"/>
                </a:lnTo>
                <a:lnTo>
                  <a:pt x="384048" y="0"/>
                </a:lnTo>
              </a:path>
            </a:pathLst>
          </a:custGeom>
          <a:noFill/>
          <a:ln w="63500" cap="rnd">
            <a:solidFill>
              <a:srgbClr val="1E8F52"/>
            </a:solidFill>
            <a:round/>
          </a:ln>
        </p:spPr>
        <p:txBody>
          <a:bodyPr rtlCol="0" anchor="ctr"/>
          <a:lstStyle/>
          <a:p>
            <a:pPr algn="ctr"/>
          </a:p>
        </p:txBody>
      </p:sp>
      <p:sp>
        <p:nvSpPr>
          <p:cNvPr id="38" name="TextBox 37"/>
          <p:cNvSpPr txBox="1"/>
          <p:nvPr/>
        </p:nvSpPr>
        <p:spPr>
          <a:xfrm>
            <a:off x="5239512" y="4133088"/>
            <a:ext cx="2423160" cy="640080"/>
          </a:xfrm>
          <a:prstGeom prst="rect">
            <a:avLst/>
          </a:prstGeom>
          <a:noFill/>
        </p:spPr>
        <p:txBody>
          <a:bodyPr wrap="square" anchor="ctr" lIns="0" rIns="0" tIns="0" bIns="0">
            <a:noAutofit/>
          </a:bodyPr>
          <a:lstStyle/>
          <a:p>
            <a:pPr algn="l">
              <a:lnSpc>
                <a:spcPct val="100000"/>
              </a:lnSpc>
              <a:spcBef>
                <a:spcPts val="0"/>
              </a:spcBef>
              <a:spcAft>
                <a:spcPts val="0"/>
              </a:spcAft>
            </a:pPr>
            <a:r>
              <a:rPr sz="1900" b="1" i="0">
                <a:solidFill>
                  <a:srgbClr val="12161C"/>
                </a:solidFill>
                <a:latin typeface="Arial"/>
              </a:rPr>
              <a:t>one comparative</a:t>
            </a:r>
          </a:p>
        </p:txBody>
      </p:sp>
      <p:sp>
        <p:nvSpPr>
          <p:cNvPr id="39" name="Rounded Rectangle 38"/>
          <p:cNvSpPr/>
          <p:nvPr/>
        </p:nvSpPr>
        <p:spPr>
          <a:xfrm>
            <a:off x="8055864" y="3840480"/>
            <a:ext cx="3456432" cy="1188720"/>
          </a:xfrm>
          <a:prstGeom prst="roundRect">
            <a:avLst>
              <a:gd name="adj" fmla="val 10769"/>
            </a:avLst>
          </a:prstGeom>
          <a:solidFill>
            <a:srgbClr val="FFFFFF"/>
          </a:solidFill>
          <a:ln w="19050">
            <a:solidFill>
              <a:srgbClr val="CFC9BC"/>
            </a:solidFill>
          </a:ln>
        </p:spPr>
        <p:txBody>
          <a:bodyPr rtlCol="0" anchor="ctr"/>
          <a:lstStyle/>
          <a:p>
            <a:pPr algn="ctr"/>
          </a:p>
        </p:txBody>
      </p:sp>
      <p:sp>
        <p:nvSpPr>
          <p:cNvPr id="40" name="Freeform 39"/>
          <p:cNvSpPr/>
          <p:nvPr/>
        </p:nvSpPr>
        <p:spPr>
          <a:xfrm>
            <a:off x="8330184" y="4262933"/>
            <a:ext cx="384048" cy="307238"/>
          </a:xfrm>
          <a:custGeom>
            <a:avLst/>
            <a:gdLst/>
            <a:ahLst/>
            <a:cxnLst/>
            <a:rect l="l" t="t" r="r" b="b"/>
            <a:pathLst>
              <a:path w="384048" h="307238">
                <a:moveTo>
                  <a:pt x="0" y="172821"/>
                </a:moveTo>
                <a:lnTo>
                  <a:pt x="138257" y="307238"/>
                </a:lnTo>
                <a:lnTo>
                  <a:pt x="384048" y="0"/>
                </a:lnTo>
              </a:path>
            </a:pathLst>
          </a:custGeom>
          <a:noFill/>
          <a:ln w="63500" cap="rnd">
            <a:solidFill>
              <a:srgbClr val="1E8F52"/>
            </a:solidFill>
            <a:round/>
          </a:ln>
        </p:spPr>
        <p:txBody>
          <a:bodyPr rtlCol="0" anchor="ctr"/>
          <a:lstStyle/>
          <a:p>
            <a:pPr algn="ctr"/>
          </a:p>
        </p:txBody>
      </p:sp>
      <p:sp>
        <p:nvSpPr>
          <p:cNvPr id="41" name="TextBox 40"/>
          <p:cNvSpPr txBox="1"/>
          <p:nvPr/>
        </p:nvSpPr>
        <p:spPr>
          <a:xfrm>
            <a:off x="8924544" y="4133088"/>
            <a:ext cx="2423160" cy="640080"/>
          </a:xfrm>
          <a:prstGeom prst="rect">
            <a:avLst/>
          </a:prstGeom>
          <a:noFill/>
        </p:spPr>
        <p:txBody>
          <a:bodyPr wrap="square" anchor="ctr" lIns="0" rIns="0" tIns="0" bIns="0">
            <a:noAutofit/>
          </a:bodyPr>
          <a:lstStyle/>
          <a:p>
            <a:pPr algn="l">
              <a:lnSpc>
                <a:spcPct val="100000"/>
              </a:lnSpc>
              <a:spcBef>
                <a:spcPts val="0"/>
              </a:spcBef>
              <a:spcAft>
                <a:spcPts val="0"/>
              </a:spcAft>
            </a:pPr>
            <a:r>
              <a:rPr sz="1900" b="1" i="0">
                <a:solidFill>
                  <a:srgbClr val="12161C"/>
                </a:solidFill>
                <a:latin typeface="Arial"/>
              </a:rPr>
              <a:t>one future structure</a:t>
            </a:r>
          </a:p>
        </p:txBody>
      </p:sp>
      <p:sp>
        <p:nvSpPr>
          <p:cNvPr id="42" name="Rounded Rectangle 41"/>
          <p:cNvSpPr/>
          <p:nvPr/>
        </p:nvSpPr>
        <p:spPr>
          <a:xfrm>
            <a:off x="685800" y="5394960"/>
            <a:ext cx="10360152" cy="777240"/>
          </a:xfrm>
          <a:prstGeom prst="roundRect">
            <a:avLst>
              <a:gd name="adj" fmla="val 14117"/>
            </a:avLst>
          </a:prstGeom>
          <a:solidFill>
            <a:srgbClr val="FFB400"/>
          </a:solidFill>
          <a:ln>
            <a:noFill/>
          </a:ln>
        </p:spPr>
        <p:txBody>
          <a:bodyPr rtlCol="0" anchor="ctr"/>
          <a:lstStyle/>
          <a:p>
            <a:pPr algn="ctr"/>
          </a:p>
        </p:txBody>
      </p:sp>
      <p:sp>
        <p:nvSpPr>
          <p:cNvPr id="43" name="TextBox 42"/>
          <p:cNvSpPr txBox="1"/>
          <p:nvPr/>
        </p:nvSpPr>
        <p:spPr>
          <a:xfrm>
            <a:off x="960120" y="5394960"/>
            <a:ext cx="9875520" cy="777240"/>
          </a:xfrm>
          <a:prstGeom prst="rect">
            <a:avLst/>
          </a:prstGeom>
          <a:noFill/>
        </p:spPr>
        <p:txBody>
          <a:bodyPr wrap="square" anchor="ctr" lIns="0" rIns="0" tIns="0" bIns="0">
            <a:noAutofit/>
          </a:bodyPr>
          <a:lstStyle/>
          <a:p>
            <a:pPr algn="l">
              <a:lnSpc>
                <a:spcPct val="100000"/>
              </a:lnSpc>
              <a:spcBef>
                <a:spcPts val="0"/>
              </a:spcBef>
              <a:spcAft>
                <a:spcPts val="0"/>
              </a:spcAft>
            </a:pPr>
            <a:r>
              <a:rPr sz="2600" b="0" i="0">
                <a:solidFill>
                  <a:srgbClr val="12161C"/>
                </a:solidFill>
                <a:latin typeface="Arial Black"/>
              </a:rPr>
              <a:t>WHY IS YOUR DESIGN SAFER?</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A9B3C0"/>
                </a:solidFill>
                <a:latin typeface="Arial Narrow"/>
              </a:rPr>
              <a:t>ACT 6 · DESIGN CHALLENGE</a:t>
            </a:r>
          </a:p>
        </p:txBody>
      </p:sp>
      <p:sp>
        <p:nvSpPr>
          <p:cNvPr id="4" name="TextBox 3"/>
          <p:cNvSpPr txBox="1"/>
          <p:nvPr/>
        </p:nvSpPr>
        <p:spPr>
          <a:xfrm>
            <a:off x="7315200" y="310896"/>
            <a:ext cx="4187952" cy="274320"/>
          </a:xfrm>
          <a:prstGeom prst="rect">
            <a:avLst/>
          </a:prstGeom>
          <a:noFill/>
        </p:spPr>
        <p:txBody>
          <a:bodyPr wrap="square" anchor="t" lIns="0" rIns="0" tIns="0" bIns="0">
            <a:noAutofit/>
          </a:bodyPr>
          <a:lstStyle/>
          <a:p>
            <a:pPr algn="r">
              <a:lnSpc>
                <a:spcPct val="100000"/>
              </a:lnSpc>
              <a:spcBef>
                <a:spcPts val="0"/>
              </a:spcBef>
              <a:spcAft>
                <a:spcPts val="0"/>
              </a:spcAft>
            </a:pPr>
            <a:r>
              <a:rPr sz="1300" b="1" i="0" spc="220">
                <a:solidFill>
                  <a:srgbClr val="6F7A89"/>
                </a:solidFill>
                <a:latin typeface="Arial Narrow"/>
              </a:rPr>
              <a:t>TESTING ENGINEER</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6F7A89"/>
                </a:solidFill>
                <a:latin typeface="Arial Narrow"/>
              </a:rPr>
              <a:t>ENERGY LAB  ·  CRASH TEST #05</a:t>
            </a:r>
          </a:p>
        </p:txBody>
      </p:sp>
      <p:sp>
        <p:nvSpPr>
          <p:cNvPr id="6" name="Rectangle 5"/>
          <p:cNvSpPr/>
          <p:nvPr/>
        </p:nvSpPr>
        <p:spPr>
          <a:xfrm>
            <a:off x="4526280" y="6510528"/>
            <a:ext cx="127363" cy="54864"/>
          </a:xfrm>
          <a:prstGeom prst="rect">
            <a:avLst/>
          </a:prstGeom>
          <a:solidFill>
            <a:srgbClr val="8A6A1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8A6A1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8A6A1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8A6A1A"/>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8A6A1A"/>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8A6A1A"/>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8A6A1A"/>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8A6A1A"/>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8A6A1A"/>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8A6A1A"/>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8A6A1A"/>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FFB400"/>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2A3240"/>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2A3240"/>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6F7A89"/>
                </a:solidFill>
                <a:latin typeface="Arial Narrow"/>
              </a:rPr>
              <a:t>80</a:t>
            </a:fld>
          </a:p>
        </p:txBody>
      </p:sp>
      <p:sp>
        <p:nvSpPr>
          <p:cNvPr id="21" name="TextBox 20"/>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A9B3C0"/>
                </a:solidFill>
                <a:latin typeface="Arial Narrow"/>
              </a:rPr>
              <a:t>PREPARE YOUR PITCH</a:t>
            </a:r>
          </a:p>
        </p:txBody>
      </p:sp>
      <p:sp>
        <p:nvSpPr>
          <p:cNvPr id="22" name="TextBox 21"/>
          <p:cNvSpPr txBox="1"/>
          <p:nvPr/>
        </p:nvSpPr>
        <p:spPr>
          <a:xfrm>
            <a:off x="685800" y="1234440"/>
            <a:ext cx="10817352" cy="1463040"/>
          </a:xfrm>
          <a:prstGeom prst="rect">
            <a:avLst/>
          </a:prstGeom>
          <a:noFill/>
        </p:spPr>
        <p:txBody>
          <a:bodyPr wrap="square" anchor="t" lIns="0" rIns="0" tIns="0" bIns="0">
            <a:noAutofit/>
          </a:bodyPr>
          <a:lstStyle/>
          <a:p>
            <a:pPr algn="ctr">
              <a:lnSpc>
                <a:spcPct val="100000"/>
              </a:lnSpc>
              <a:spcBef>
                <a:spcPts val="0"/>
              </a:spcBef>
              <a:spcAft>
                <a:spcPts val="0"/>
              </a:spcAft>
            </a:pPr>
            <a:r>
              <a:rPr sz="9000" b="0" i="0">
                <a:solidFill>
                  <a:srgbClr val="FFB400"/>
                </a:solidFill>
                <a:latin typeface="Arial Black"/>
              </a:rPr>
              <a:t>4 MINUTES</a:t>
            </a:r>
          </a:p>
        </p:txBody>
      </p:sp>
      <p:sp>
        <p:nvSpPr>
          <p:cNvPr id="23" name="TextBox 22"/>
          <p:cNvSpPr txBox="1"/>
          <p:nvPr/>
        </p:nvSpPr>
        <p:spPr>
          <a:xfrm>
            <a:off x="685800" y="3108960"/>
            <a:ext cx="10817352" cy="457200"/>
          </a:xfrm>
          <a:prstGeom prst="rect">
            <a:avLst/>
          </a:prstGeom>
          <a:noFill/>
        </p:spPr>
        <p:txBody>
          <a:bodyPr wrap="square" anchor="t" lIns="0" rIns="0" tIns="0" bIns="0">
            <a:noAutofit/>
          </a:bodyPr>
          <a:lstStyle/>
          <a:p>
            <a:pPr algn="ctr">
              <a:lnSpc>
                <a:spcPct val="100000"/>
              </a:lnSpc>
              <a:spcBef>
                <a:spcPts val="0"/>
              </a:spcBef>
              <a:spcAft>
                <a:spcPts val="0"/>
              </a:spcAft>
            </a:pPr>
            <a:r>
              <a:rPr sz="2000" b="1" i="0" spc="150">
                <a:solidFill>
                  <a:srgbClr val="A9B3C0"/>
                </a:solidFill>
                <a:latin typeface="Arial Narrow"/>
              </a:rPr>
              <a:t>USE YOUR ZONE. WRITE KEY WORDS, NOT FULL SENTENCES.</a:t>
            </a:r>
          </a:p>
        </p:txBody>
      </p:sp>
      <p:sp>
        <p:nvSpPr>
          <p:cNvPr id="24" name="Rounded Rectangle 23"/>
          <p:cNvSpPr/>
          <p:nvPr/>
        </p:nvSpPr>
        <p:spPr>
          <a:xfrm>
            <a:off x="685800" y="3977640"/>
            <a:ext cx="2514600" cy="658368"/>
          </a:xfrm>
          <a:prstGeom prst="roundRect">
            <a:avLst>
              <a:gd name="adj" fmla="val 16666"/>
            </a:avLst>
          </a:prstGeom>
          <a:solidFill>
            <a:srgbClr val="232B36"/>
          </a:solidFill>
          <a:ln>
            <a:noFill/>
          </a:ln>
        </p:spPr>
        <p:txBody>
          <a:bodyPr rtlCol="0" anchor="ctr" wrap="square" lIns="0" rIns="0" tIns="0" bIns="0">
            <a:noAutofit/>
          </a:bodyPr>
          <a:lstStyle/>
          <a:p>
            <a:pPr algn="ctr">
              <a:lnSpc>
                <a:spcPct val="100000"/>
              </a:lnSpc>
              <a:spcBef>
                <a:spcPts val="0"/>
              </a:spcBef>
              <a:spcAft>
                <a:spcPts val="0"/>
              </a:spcAft>
            </a:pPr>
            <a:r>
              <a:rPr sz="1700" b="1" i="0">
                <a:solidFill>
                  <a:srgbClr val="A9B3C0"/>
                </a:solidFill>
                <a:latin typeface="Arial"/>
              </a:rPr>
              <a:t>ALPHA</a:t>
            </a:r>
          </a:p>
        </p:txBody>
      </p:sp>
      <p:sp>
        <p:nvSpPr>
          <p:cNvPr id="25" name="Rounded Rectangle 24"/>
          <p:cNvSpPr/>
          <p:nvPr/>
        </p:nvSpPr>
        <p:spPr>
          <a:xfrm>
            <a:off x="3456432" y="3977640"/>
            <a:ext cx="2514600" cy="658368"/>
          </a:xfrm>
          <a:prstGeom prst="roundRect">
            <a:avLst>
              <a:gd name="adj" fmla="val 16666"/>
            </a:avLst>
          </a:prstGeom>
          <a:solidFill>
            <a:srgbClr val="232B36"/>
          </a:solidFill>
          <a:ln>
            <a:noFill/>
          </a:ln>
        </p:spPr>
        <p:txBody>
          <a:bodyPr rtlCol="0" anchor="ctr" wrap="square" lIns="0" rIns="0" tIns="0" bIns="0">
            <a:noAutofit/>
          </a:bodyPr>
          <a:lstStyle/>
          <a:p>
            <a:pPr algn="ctr">
              <a:lnSpc>
                <a:spcPct val="100000"/>
              </a:lnSpc>
              <a:spcBef>
                <a:spcPts val="0"/>
              </a:spcBef>
              <a:spcAft>
                <a:spcPts val="0"/>
              </a:spcAft>
            </a:pPr>
            <a:r>
              <a:rPr sz="1700" b="1" i="0">
                <a:solidFill>
                  <a:srgbClr val="A9B3C0"/>
                </a:solidFill>
                <a:latin typeface="Arial"/>
              </a:rPr>
              <a:t>BRAVO</a:t>
            </a:r>
          </a:p>
        </p:txBody>
      </p:sp>
      <p:sp>
        <p:nvSpPr>
          <p:cNvPr id="26" name="Rounded Rectangle 25"/>
          <p:cNvSpPr/>
          <p:nvPr/>
        </p:nvSpPr>
        <p:spPr>
          <a:xfrm>
            <a:off x="6227064" y="3977640"/>
            <a:ext cx="2514600" cy="658368"/>
          </a:xfrm>
          <a:prstGeom prst="roundRect">
            <a:avLst>
              <a:gd name="adj" fmla="val 16666"/>
            </a:avLst>
          </a:prstGeom>
          <a:solidFill>
            <a:srgbClr val="232B36"/>
          </a:solidFill>
          <a:ln>
            <a:noFill/>
          </a:ln>
        </p:spPr>
        <p:txBody>
          <a:bodyPr rtlCol="0" anchor="ctr" wrap="square" lIns="0" rIns="0" tIns="0" bIns="0">
            <a:noAutofit/>
          </a:bodyPr>
          <a:lstStyle/>
          <a:p>
            <a:pPr algn="ctr">
              <a:lnSpc>
                <a:spcPct val="100000"/>
              </a:lnSpc>
              <a:spcBef>
                <a:spcPts val="0"/>
              </a:spcBef>
              <a:spcAft>
                <a:spcPts val="0"/>
              </a:spcAft>
            </a:pPr>
            <a:r>
              <a:rPr sz="1700" b="1" i="0">
                <a:solidFill>
                  <a:srgbClr val="A9B3C0"/>
                </a:solidFill>
                <a:latin typeface="Arial"/>
              </a:rPr>
              <a:t>CHARLIE</a:t>
            </a:r>
          </a:p>
        </p:txBody>
      </p:sp>
      <p:sp>
        <p:nvSpPr>
          <p:cNvPr id="27" name="Rounded Rectangle 26"/>
          <p:cNvSpPr/>
          <p:nvPr/>
        </p:nvSpPr>
        <p:spPr>
          <a:xfrm>
            <a:off x="8997696" y="3977640"/>
            <a:ext cx="2514600" cy="658368"/>
          </a:xfrm>
          <a:prstGeom prst="roundRect">
            <a:avLst>
              <a:gd name="adj" fmla="val 16666"/>
            </a:avLst>
          </a:prstGeom>
          <a:solidFill>
            <a:srgbClr val="232B36"/>
          </a:solidFill>
          <a:ln>
            <a:noFill/>
          </a:ln>
        </p:spPr>
        <p:txBody>
          <a:bodyPr rtlCol="0" anchor="ctr" wrap="square" lIns="0" rIns="0" tIns="0" bIns="0">
            <a:noAutofit/>
          </a:bodyPr>
          <a:lstStyle/>
          <a:p>
            <a:pPr algn="ctr">
              <a:lnSpc>
                <a:spcPct val="100000"/>
              </a:lnSpc>
              <a:spcBef>
                <a:spcPts val="0"/>
              </a:spcBef>
              <a:spcAft>
                <a:spcPts val="0"/>
              </a:spcAft>
            </a:pPr>
            <a:r>
              <a:rPr sz="1700" b="1" i="0">
                <a:solidFill>
                  <a:srgbClr val="A9B3C0"/>
                </a:solidFill>
                <a:latin typeface="Arial"/>
              </a:rPr>
              <a:t>DELTA</a:t>
            </a:r>
          </a:p>
        </p:txBody>
      </p:sp>
      <p:sp>
        <p:nvSpPr>
          <p:cNvPr id="28" name="Rounded Rectangle 27"/>
          <p:cNvSpPr/>
          <p:nvPr/>
        </p:nvSpPr>
        <p:spPr>
          <a:xfrm>
            <a:off x="685800" y="4846320"/>
            <a:ext cx="2514600" cy="658368"/>
          </a:xfrm>
          <a:prstGeom prst="roundRect">
            <a:avLst>
              <a:gd name="adj" fmla="val 16666"/>
            </a:avLst>
          </a:prstGeom>
          <a:solidFill>
            <a:srgbClr val="232B36"/>
          </a:solidFill>
          <a:ln>
            <a:noFill/>
          </a:ln>
        </p:spPr>
        <p:txBody>
          <a:bodyPr rtlCol="0" anchor="ctr" wrap="square" lIns="0" rIns="0" tIns="0" bIns="0">
            <a:noAutofit/>
          </a:bodyPr>
          <a:lstStyle/>
          <a:p>
            <a:pPr algn="ctr">
              <a:lnSpc>
                <a:spcPct val="100000"/>
              </a:lnSpc>
              <a:spcBef>
                <a:spcPts val="0"/>
              </a:spcBef>
              <a:spcAft>
                <a:spcPts val="0"/>
              </a:spcAft>
            </a:pPr>
            <a:r>
              <a:rPr sz="1700" b="1" i="0">
                <a:solidFill>
                  <a:srgbClr val="A9B3C0"/>
                </a:solidFill>
                <a:latin typeface="Arial"/>
              </a:rPr>
              <a:t>ECHO</a:t>
            </a:r>
          </a:p>
        </p:txBody>
      </p:sp>
      <p:sp>
        <p:nvSpPr>
          <p:cNvPr id="29" name="Rounded Rectangle 28"/>
          <p:cNvSpPr/>
          <p:nvPr/>
        </p:nvSpPr>
        <p:spPr>
          <a:xfrm>
            <a:off x="3456432" y="4846320"/>
            <a:ext cx="2514600" cy="658368"/>
          </a:xfrm>
          <a:prstGeom prst="roundRect">
            <a:avLst>
              <a:gd name="adj" fmla="val 16666"/>
            </a:avLst>
          </a:prstGeom>
          <a:solidFill>
            <a:srgbClr val="232B36"/>
          </a:solidFill>
          <a:ln>
            <a:noFill/>
          </a:ln>
        </p:spPr>
        <p:txBody>
          <a:bodyPr rtlCol="0" anchor="ctr" wrap="square" lIns="0" rIns="0" tIns="0" bIns="0">
            <a:noAutofit/>
          </a:bodyPr>
          <a:lstStyle/>
          <a:p>
            <a:pPr algn="ctr">
              <a:lnSpc>
                <a:spcPct val="100000"/>
              </a:lnSpc>
              <a:spcBef>
                <a:spcPts val="0"/>
              </a:spcBef>
              <a:spcAft>
                <a:spcPts val="0"/>
              </a:spcAft>
            </a:pPr>
            <a:r>
              <a:rPr sz="1700" b="1" i="0">
                <a:solidFill>
                  <a:srgbClr val="A9B3C0"/>
                </a:solidFill>
                <a:latin typeface="Arial"/>
              </a:rPr>
              <a:t>FOXTROT</a:t>
            </a:r>
          </a:p>
        </p:txBody>
      </p:sp>
      <p:sp>
        <p:nvSpPr>
          <p:cNvPr id="30" name="Rounded Rectangle 29"/>
          <p:cNvSpPr/>
          <p:nvPr/>
        </p:nvSpPr>
        <p:spPr>
          <a:xfrm>
            <a:off x="6227064" y="4846320"/>
            <a:ext cx="2514600" cy="658368"/>
          </a:xfrm>
          <a:prstGeom prst="roundRect">
            <a:avLst>
              <a:gd name="adj" fmla="val 16666"/>
            </a:avLst>
          </a:prstGeom>
          <a:solidFill>
            <a:srgbClr val="232B36"/>
          </a:solidFill>
          <a:ln>
            <a:noFill/>
          </a:ln>
        </p:spPr>
        <p:txBody>
          <a:bodyPr rtlCol="0" anchor="ctr" wrap="square" lIns="0" rIns="0" tIns="0" bIns="0">
            <a:noAutofit/>
          </a:bodyPr>
          <a:lstStyle/>
          <a:p>
            <a:pPr algn="ctr">
              <a:lnSpc>
                <a:spcPct val="100000"/>
              </a:lnSpc>
              <a:spcBef>
                <a:spcPts val="0"/>
              </a:spcBef>
              <a:spcAft>
                <a:spcPts val="0"/>
              </a:spcAft>
            </a:pPr>
            <a:r>
              <a:rPr sz="1700" b="1" i="0">
                <a:solidFill>
                  <a:srgbClr val="A9B3C0"/>
                </a:solidFill>
                <a:latin typeface="Arial"/>
              </a:rPr>
              <a:t>GOLF</a:t>
            </a:r>
          </a:p>
        </p:txBody>
      </p:sp>
      <p:sp>
        <p:nvSpPr>
          <p:cNvPr id="31" name="Rounded Rectangle 30"/>
          <p:cNvSpPr/>
          <p:nvPr/>
        </p:nvSpPr>
        <p:spPr>
          <a:xfrm>
            <a:off x="8997696" y="4846320"/>
            <a:ext cx="2514600" cy="658368"/>
          </a:xfrm>
          <a:prstGeom prst="roundRect">
            <a:avLst>
              <a:gd name="adj" fmla="val 16666"/>
            </a:avLst>
          </a:prstGeom>
          <a:solidFill>
            <a:srgbClr val="232B36"/>
          </a:solidFill>
          <a:ln>
            <a:noFill/>
          </a:ln>
        </p:spPr>
        <p:txBody>
          <a:bodyPr rtlCol="0" anchor="ctr" wrap="square" lIns="0" rIns="0" tIns="0" bIns="0">
            <a:noAutofit/>
          </a:bodyPr>
          <a:lstStyle/>
          <a:p>
            <a:pPr algn="ctr">
              <a:lnSpc>
                <a:spcPct val="100000"/>
              </a:lnSpc>
              <a:spcBef>
                <a:spcPts val="0"/>
              </a:spcBef>
              <a:spcAft>
                <a:spcPts val="0"/>
              </a:spcAft>
            </a:pPr>
            <a:r>
              <a:rPr sz="1700" b="1" i="0">
                <a:solidFill>
                  <a:srgbClr val="A9B3C0"/>
                </a:solidFill>
                <a:latin typeface="Arial"/>
              </a:rPr>
              <a:t>HOTEL</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A9B3C0"/>
                </a:solidFill>
                <a:latin typeface="Arial Narrow"/>
              </a:rPr>
              <a:t>ACT 6 · DESIGN CHALLENGE</a:t>
            </a:r>
          </a:p>
        </p:txBody>
      </p:sp>
      <p:sp>
        <p:nvSpPr>
          <p:cNvPr id="4" name="TextBox 3"/>
          <p:cNvSpPr txBox="1"/>
          <p:nvPr/>
        </p:nvSpPr>
        <p:spPr>
          <a:xfrm>
            <a:off x="7315200" y="310896"/>
            <a:ext cx="4187952" cy="274320"/>
          </a:xfrm>
          <a:prstGeom prst="rect">
            <a:avLst/>
          </a:prstGeom>
          <a:noFill/>
        </p:spPr>
        <p:txBody>
          <a:bodyPr wrap="square" anchor="t" lIns="0" rIns="0" tIns="0" bIns="0">
            <a:noAutofit/>
          </a:bodyPr>
          <a:lstStyle/>
          <a:p>
            <a:pPr algn="r">
              <a:lnSpc>
                <a:spcPct val="100000"/>
              </a:lnSpc>
              <a:spcBef>
                <a:spcPts val="0"/>
              </a:spcBef>
              <a:spcAft>
                <a:spcPts val="0"/>
              </a:spcAft>
            </a:pPr>
            <a:r>
              <a:rPr sz="1300" b="1" i="0" spc="220">
                <a:solidFill>
                  <a:srgbClr val="6F7A89"/>
                </a:solidFill>
                <a:latin typeface="Arial Narrow"/>
              </a:rPr>
              <a:t>TESTING ENGINEER</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6F7A89"/>
                </a:solidFill>
                <a:latin typeface="Arial Narrow"/>
              </a:rPr>
              <a:t>ENERGY LAB  ·  CRASH TEST #05</a:t>
            </a:r>
          </a:p>
        </p:txBody>
      </p:sp>
      <p:sp>
        <p:nvSpPr>
          <p:cNvPr id="6" name="Rectangle 5"/>
          <p:cNvSpPr/>
          <p:nvPr/>
        </p:nvSpPr>
        <p:spPr>
          <a:xfrm>
            <a:off x="4526280" y="6510528"/>
            <a:ext cx="127363" cy="54864"/>
          </a:xfrm>
          <a:prstGeom prst="rect">
            <a:avLst/>
          </a:prstGeom>
          <a:solidFill>
            <a:srgbClr val="8A6A1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8A6A1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8A6A1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8A6A1A"/>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8A6A1A"/>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8A6A1A"/>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8A6A1A"/>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8A6A1A"/>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8A6A1A"/>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8A6A1A"/>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8A6A1A"/>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FFB400"/>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2A3240"/>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2A3240"/>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6F7A89"/>
                </a:solidFill>
                <a:latin typeface="Arial Narrow"/>
              </a:rPr>
              <a:t>81</a:t>
            </a:fld>
          </a:p>
        </p:txBody>
      </p:sp>
      <p:sp>
        <p:nvSpPr>
          <p:cNvPr id="21" name="TextBox 20"/>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A9B3C0"/>
                </a:solidFill>
                <a:latin typeface="Arial Narrow"/>
              </a:rPr>
              <a:t>WHO PRESENTS FIRST?</a:t>
            </a:r>
          </a:p>
        </p:txBody>
      </p:sp>
      <p:sp>
        <p:nvSpPr>
          <p:cNvPr id="22" name="TextBox 21"/>
          <p:cNvSpPr txBox="1"/>
          <p:nvPr/>
        </p:nvSpPr>
        <p:spPr>
          <a:xfrm>
            <a:off x="685800" y="1188720"/>
            <a:ext cx="10789920" cy="1005840"/>
          </a:xfrm>
          <a:prstGeom prst="rect">
            <a:avLst/>
          </a:prstGeom>
          <a:noFill/>
        </p:spPr>
        <p:txBody>
          <a:bodyPr wrap="square" anchor="t" lIns="0" rIns="0" tIns="0" bIns="0">
            <a:noAutofit/>
          </a:bodyPr>
          <a:lstStyle/>
          <a:p>
            <a:pPr algn="l">
              <a:lnSpc>
                <a:spcPct val="100000"/>
              </a:lnSpc>
              <a:spcBef>
                <a:spcPts val="0"/>
              </a:spcBef>
              <a:spcAft>
                <a:spcPts val="0"/>
              </a:spcAft>
            </a:pPr>
            <a:r>
              <a:rPr sz="3800" b="0" i="0">
                <a:solidFill>
                  <a:srgbClr val="F4F6F8"/>
                </a:solidFill>
                <a:latin typeface="Arial Black"/>
              </a:rPr>
              <a:t>RANDOM COMPANY SELECTION</a:t>
            </a:r>
          </a:p>
        </p:txBody>
      </p:sp>
      <p:sp>
        <p:nvSpPr>
          <p:cNvPr id="23" name="Rounded Rectangle 22"/>
          <p:cNvSpPr/>
          <p:nvPr/>
        </p:nvSpPr>
        <p:spPr>
          <a:xfrm>
            <a:off x="685800" y="2377440"/>
            <a:ext cx="2514600" cy="1371600"/>
          </a:xfrm>
          <a:prstGeom prst="roundRect">
            <a:avLst>
              <a:gd name="adj" fmla="val 9333"/>
            </a:avLst>
          </a:prstGeom>
          <a:solidFill>
            <a:srgbClr val="1A2029"/>
          </a:solidFill>
          <a:ln w="19050">
            <a:solidFill>
              <a:srgbClr val="323C4A"/>
            </a:solidFill>
          </a:ln>
        </p:spPr>
        <p:txBody>
          <a:bodyPr rtlCol="0" anchor="ctr"/>
          <a:lstStyle/>
          <a:p>
            <a:pPr algn="ctr"/>
          </a:p>
        </p:txBody>
      </p:sp>
      <p:sp>
        <p:nvSpPr>
          <p:cNvPr id="24" name="Rounded Rectangle 23"/>
          <p:cNvSpPr/>
          <p:nvPr/>
        </p:nvSpPr>
        <p:spPr>
          <a:xfrm>
            <a:off x="886968" y="2560320"/>
            <a:ext cx="566928" cy="566928"/>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2600" b="1" i="0">
                <a:solidFill>
                  <a:srgbClr val="12161C"/>
                </a:solidFill>
                <a:latin typeface="Arial Black"/>
              </a:rPr>
              <a:t>A</a:t>
            </a:r>
          </a:p>
        </p:txBody>
      </p:sp>
      <p:sp>
        <p:nvSpPr>
          <p:cNvPr id="25" name="TextBox 24"/>
          <p:cNvSpPr txBox="1"/>
          <p:nvPr/>
        </p:nvSpPr>
        <p:spPr>
          <a:xfrm>
            <a:off x="886968" y="3218688"/>
            <a:ext cx="2194560" cy="411480"/>
          </a:xfrm>
          <a:prstGeom prst="rect">
            <a:avLst/>
          </a:prstGeom>
          <a:noFill/>
        </p:spPr>
        <p:txBody>
          <a:bodyPr wrap="square" anchor="t" lIns="0" rIns="0" tIns="0" bIns="0">
            <a:noAutofit/>
          </a:bodyPr>
          <a:lstStyle/>
          <a:p>
            <a:pPr algn="l">
              <a:lnSpc>
                <a:spcPct val="100000"/>
              </a:lnSpc>
              <a:spcBef>
                <a:spcPts val="0"/>
              </a:spcBef>
              <a:spcAft>
                <a:spcPts val="0"/>
              </a:spcAft>
            </a:pPr>
            <a:r>
              <a:rPr sz="2200" b="0" i="0">
                <a:solidFill>
                  <a:srgbClr val="F4F6F8"/>
                </a:solidFill>
                <a:latin typeface="Arial Black"/>
              </a:rPr>
              <a:t>ALPHA</a:t>
            </a:r>
          </a:p>
        </p:txBody>
      </p:sp>
      <p:sp>
        <p:nvSpPr>
          <p:cNvPr id="26" name="Rounded Rectangle 25"/>
          <p:cNvSpPr/>
          <p:nvPr/>
        </p:nvSpPr>
        <p:spPr>
          <a:xfrm>
            <a:off x="3456432" y="2377440"/>
            <a:ext cx="2514600" cy="1371600"/>
          </a:xfrm>
          <a:prstGeom prst="roundRect">
            <a:avLst>
              <a:gd name="adj" fmla="val 9333"/>
            </a:avLst>
          </a:prstGeom>
          <a:solidFill>
            <a:srgbClr val="1A2029"/>
          </a:solidFill>
          <a:ln w="19050">
            <a:solidFill>
              <a:srgbClr val="323C4A"/>
            </a:solidFill>
          </a:ln>
        </p:spPr>
        <p:txBody>
          <a:bodyPr rtlCol="0" anchor="ctr"/>
          <a:lstStyle/>
          <a:p>
            <a:pPr algn="ctr"/>
          </a:p>
        </p:txBody>
      </p:sp>
      <p:sp>
        <p:nvSpPr>
          <p:cNvPr id="27" name="Rounded Rectangle 26"/>
          <p:cNvSpPr/>
          <p:nvPr/>
        </p:nvSpPr>
        <p:spPr>
          <a:xfrm>
            <a:off x="3657600" y="2560320"/>
            <a:ext cx="566928" cy="566928"/>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2600" b="1" i="0">
                <a:solidFill>
                  <a:srgbClr val="12161C"/>
                </a:solidFill>
                <a:latin typeface="Arial Black"/>
              </a:rPr>
              <a:t>B</a:t>
            </a:r>
          </a:p>
        </p:txBody>
      </p:sp>
      <p:sp>
        <p:nvSpPr>
          <p:cNvPr id="28" name="TextBox 27"/>
          <p:cNvSpPr txBox="1"/>
          <p:nvPr/>
        </p:nvSpPr>
        <p:spPr>
          <a:xfrm>
            <a:off x="3657600" y="3218688"/>
            <a:ext cx="2194560" cy="411480"/>
          </a:xfrm>
          <a:prstGeom prst="rect">
            <a:avLst/>
          </a:prstGeom>
          <a:noFill/>
        </p:spPr>
        <p:txBody>
          <a:bodyPr wrap="square" anchor="t" lIns="0" rIns="0" tIns="0" bIns="0">
            <a:noAutofit/>
          </a:bodyPr>
          <a:lstStyle/>
          <a:p>
            <a:pPr algn="l">
              <a:lnSpc>
                <a:spcPct val="100000"/>
              </a:lnSpc>
              <a:spcBef>
                <a:spcPts val="0"/>
              </a:spcBef>
              <a:spcAft>
                <a:spcPts val="0"/>
              </a:spcAft>
            </a:pPr>
            <a:r>
              <a:rPr sz="2200" b="0" i="0">
                <a:solidFill>
                  <a:srgbClr val="F4F6F8"/>
                </a:solidFill>
                <a:latin typeface="Arial Black"/>
              </a:rPr>
              <a:t>BRAVO</a:t>
            </a:r>
          </a:p>
        </p:txBody>
      </p:sp>
      <p:sp>
        <p:nvSpPr>
          <p:cNvPr id="29" name="Rounded Rectangle 28"/>
          <p:cNvSpPr/>
          <p:nvPr/>
        </p:nvSpPr>
        <p:spPr>
          <a:xfrm>
            <a:off x="6227064" y="2377440"/>
            <a:ext cx="2514600" cy="1371600"/>
          </a:xfrm>
          <a:prstGeom prst="roundRect">
            <a:avLst>
              <a:gd name="adj" fmla="val 9333"/>
            </a:avLst>
          </a:prstGeom>
          <a:solidFill>
            <a:srgbClr val="1A2029"/>
          </a:solidFill>
          <a:ln w="19050">
            <a:solidFill>
              <a:srgbClr val="323C4A"/>
            </a:solidFill>
          </a:ln>
        </p:spPr>
        <p:txBody>
          <a:bodyPr rtlCol="0" anchor="ctr"/>
          <a:lstStyle/>
          <a:p>
            <a:pPr algn="ctr"/>
          </a:p>
        </p:txBody>
      </p:sp>
      <p:sp>
        <p:nvSpPr>
          <p:cNvPr id="30" name="Rounded Rectangle 29"/>
          <p:cNvSpPr/>
          <p:nvPr/>
        </p:nvSpPr>
        <p:spPr>
          <a:xfrm>
            <a:off x="6428232" y="2560320"/>
            <a:ext cx="566928" cy="566928"/>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2600" b="1" i="0">
                <a:solidFill>
                  <a:srgbClr val="12161C"/>
                </a:solidFill>
                <a:latin typeface="Arial Black"/>
              </a:rPr>
              <a:t>C</a:t>
            </a:r>
          </a:p>
        </p:txBody>
      </p:sp>
      <p:sp>
        <p:nvSpPr>
          <p:cNvPr id="31" name="TextBox 30"/>
          <p:cNvSpPr txBox="1"/>
          <p:nvPr/>
        </p:nvSpPr>
        <p:spPr>
          <a:xfrm>
            <a:off x="6428232" y="3218688"/>
            <a:ext cx="2194560" cy="411480"/>
          </a:xfrm>
          <a:prstGeom prst="rect">
            <a:avLst/>
          </a:prstGeom>
          <a:noFill/>
        </p:spPr>
        <p:txBody>
          <a:bodyPr wrap="square" anchor="t" lIns="0" rIns="0" tIns="0" bIns="0">
            <a:noAutofit/>
          </a:bodyPr>
          <a:lstStyle/>
          <a:p>
            <a:pPr algn="l">
              <a:lnSpc>
                <a:spcPct val="100000"/>
              </a:lnSpc>
              <a:spcBef>
                <a:spcPts val="0"/>
              </a:spcBef>
              <a:spcAft>
                <a:spcPts val="0"/>
              </a:spcAft>
            </a:pPr>
            <a:r>
              <a:rPr sz="2200" b="0" i="0">
                <a:solidFill>
                  <a:srgbClr val="F4F6F8"/>
                </a:solidFill>
                <a:latin typeface="Arial Black"/>
              </a:rPr>
              <a:t>CHARLIE</a:t>
            </a:r>
          </a:p>
        </p:txBody>
      </p:sp>
      <p:sp>
        <p:nvSpPr>
          <p:cNvPr id="32" name="Rounded Rectangle 31"/>
          <p:cNvSpPr/>
          <p:nvPr/>
        </p:nvSpPr>
        <p:spPr>
          <a:xfrm>
            <a:off x="8997696" y="2377440"/>
            <a:ext cx="2514600" cy="1371600"/>
          </a:xfrm>
          <a:prstGeom prst="roundRect">
            <a:avLst>
              <a:gd name="adj" fmla="val 9333"/>
            </a:avLst>
          </a:prstGeom>
          <a:solidFill>
            <a:srgbClr val="1A2029"/>
          </a:solidFill>
          <a:ln w="19050">
            <a:solidFill>
              <a:srgbClr val="323C4A"/>
            </a:solidFill>
          </a:ln>
        </p:spPr>
        <p:txBody>
          <a:bodyPr rtlCol="0" anchor="ctr"/>
          <a:lstStyle/>
          <a:p>
            <a:pPr algn="ctr"/>
          </a:p>
        </p:txBody>
      </p:sp>
      <p:sp>
        <p:nvSpPr>
          <p:cNvPr id="33" name="Rounded Rectangle 32"/>
          <p:cNvSpPr/>
          <p:nvPr/>
        </p:nvSpPr>
        <p:spPr>
          <a:xfrm>
            <a:off x="9198864" y="2560320"/>
            <a:ext cx="566928" cy="566928"/>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2600" b="1" i="0">
                <a:solidFill>
                  <a:srgbClr val="12161C"/>
                </a:solidFill>
                <a:latin typeface="Arial Black"/>
              </a:rPr>
              <a:t>D</a:t>
            </a:r>
          </a:p>
        </p:txBody>
      </p:sp>
      <p:sp>
        <p:nvSpPr>
          <p:cNvPr id="34" name="TextBox 33"/>
          <p:cNvSpPr txBox="1"/>
          <p:nvPr/>
        </p:nvSpPr>
        <p:spPr>
          <a:xfrm>
            <a:off x="9198864" y="3218688"/>
            <a:ext cx="2194560" cy="411480"/>
          </a:xfrm>
          <a:prstGeom prst="rect">
            <a:avLst/>
          </a:prstGeom>
          <a:noFill/>
        </p:spPr>
        <p:txBody>
          <a:bodyPr wrap="square" anchor="t" lIns="0" rIns="0" tIns="0" bIns="0">
            <a:noAutofit/>
          </a:bodyPr>
          <a:lstStyle/>
          <a:p>
            <a:pPr algn="l">
              <a:lnSpc>
                <a:spcPct val="100000"/>
              </a:lnSpc>
              <a:spcBef>
                <a:spcPts val="0"/>
              </a:spcBef>
              <a:spcAft>
                <a:spcPts val="0"/>
              </a:spcAft>
            </a:pPr>
            <a:r>
              <a:rPr sz="2200" b="0" i="0">
                <a:solidFill>
                  <a:srgbClr val="F4F6F8"/>
                </a:solidFill>
                <a:latin typeface="Arial Black"/>
              </a:rPr>
              <a:t>DELTA</a:t>
            </a:r>
          </a:p>
        </p:txBody>
      </p:sp>
      <p:sp>
        <p:nvSpPr>
          <p:cNvPr id="35" name="Rounded Rectangle 34"/>
          <p:cNvSpPr/>
          <p:nvPr/>
        </p:nvSpPr>
        <p:spPr>
          <a:xfrm>
            <a:off x="685800" y="3950208"/>
            <a:ext cx="2514600" cy="1371600"/>
          </a:xfrm>
          <a:prstGeom prst="roundRect">
            <a:avLst>
              <a:gd name="adj" fmla="val 9333"/>
            </a:avLst>
          </a:prstGeom>
          <a:solidFill>
            <a:srgbClr val="1A2029"/>
          </a:solidFill>
          <a:ln w="19050">
            <a:solidFill>
              <a:srgbClr val="323C4A"/>
            </a:solidFill>
          </a:ln>
        </p:spPr>
        <p:txBody>
          <a:bodyPr rtlCol="0" anchor="ctr"/>
          <a:lstStyle/>
          <a:p>
            <a:pPr algn="ctr"/>
          </a:p>
        </p:txBody>
      </p:sp>
      <p:sp>
        <p:nvSpPr>
          <p:cNvPr id="36" name="Rounded Rectangle 35"/>
          <p:cNvSpPr/>
          <p:nvPr/>
        </p:nvSpPr>
        <p:spPr>
          <a:xfrm>
            <a:off x="886968" y="4133088"/>
            <a:ext cx="566928" cy="566928"/>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2600" b="1" i="0">
                <a:solidFill>
                  <a:srgbClr val="12161C"/>
                </a:solidFill>
                <a:latin typeface="Arial Black"/>
              </a:rPr>
              <a:t>E</a:t>
            </a:r>
          </a:p>
        </p:txBody>
      </p:sp>
      <p:sp>
        <p:nvSpPr>
          <p:cNvPr id="37" name="TextBox 36"/>
          <p:cNvSpPr txBox="1"/>
          <p:nvPr/>
        </p:nvSpPr>
        <p:spPr>
          <a:xfrm>
            <a:off x="886968" y="4791456"/>
            <a:ext cx="2194560" cy="411480"/>
          </a:xfrm>
          <a:prstGeom prst="rect">
            <a:avLst/>
          </a:prstGeom>
          <a:noFill/>
        </p:spPr>
        <p:txBody>
          <a:bodyPr wrap="square" anchor="t" lIns="0" rIns="0" tIns="0" bIns="0">
            <a:noAutofit/>
          </a:bodyPr>
          <a:lstStyle/>
          <a:p>
            <a:pPr algn="l">
              <a:lnSpc>
                <a:spcPct val="100000"/>
              </a:lnSpc>
              <a:spcBef>
                <a:spcPts val="0"/>
              </a:spcBef>
              <a:spcAft>
                <a:spcPts val="0"/>
              </a:spcAft>
            </a:pPr>
            <a:r>
              <a:rPr sz="2200" b="0" i="0">
                <a:solidFill>
                  <a:srgbClr val="F4F6F8"/>
                </a:solidFill>
                <a:latin typeface="Arial Black"/>
              </a:rPr>
              <a:t>ECHO</a:t>
            </a:r>
          </a:p>
        </p:txBody>
      </p:sp>
      <p:sp>
        <p:nvSpPr>
          <p:cNvPr id="38" name="Rounded Rectangle 37"/>
          <p:cNvSpPr/>
          <p:nvPr/>
        </p:nvSpPr>
        <p:spPr>
          <a:xfrm>
            <a:off x="3456432" y="3950208"/>
            <a:ext cx="2514600" cy="1371600"/>
          </a:xfrm>
          <a:prstGeom prst="roundRect">
            <a:avLst>
              <a:gd name="adj" fmla="val 9333"/>
            </a:avLst>
          </a:prstGeom>
          <a:solidFill>
            <a:srgbClr val="1A2029"/>
          </a:solidFill>
          <a:ln w="19050">
            <a:solidFill>
              <a:srgbClr val="323C4A"/>
            </a:solidFill>
          </a:ln>
        </p:spPr>
        <p:txBody>
          <a:bodyPr rtlCol="0" anchor="ctr"/>
          <a:lstStyle/>
          <a:p>
            <a:pPr algn="ctr"/>
          </a:p>
        </p:txBody>
      </p:sp>
      <p:sp>
        <p:nvSpPr>
          <p:cNvPr id="39" name="Rounded Rectangle 38"/>
          <p:cNvSpPr/>
          <p:nvPr/>
        </p:nvSpPr>
        <p:spPr>
          <a:xfrm>
            <a:off x="3657600" y="4133088"/>
            <a:ext cx="566928" cy="566928"/>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2600" b="1" i="0">
                <a:solidFill>
                  <a:srgbClr val="12161C"/>
                </a:solidFill>
                <a:latin typeface="Arial Black"/>
              </a:rPr>
              <a:t>F</a:t>
            </a:r>
          </a:p>
        </p:txBody>
      </p:sp>
      <p:sp>
        <p:nvSpPr>
          <p:cNvPr id="40" name="TextBox 39"/>
          <p:cNvSpPr txBox="1"/>
          <p:nvPr/>
        </p:nvSpPr>
        <p:spPr>
          <a:xfrm>
            <a:off x="3657600" y="4791456"/>
            <a:ext cx="2194560" cy="411480"/>
          </a:xfrm>
          <a:prstGeom prst="rect">
            <a:avLst/>
          </a:prstGeom>
          <a:noFill/>
        </p:spPr>
        <p:txBody>
          <a:bodyPr wrap="square" anchor="t" lIns="0" rIns="0" tIns="0" bIns="0">
            <a:noAutofit/>
          </a:bodyPr>
          <a:lstStyle/>
          <a:p>
            <a:pPr algn="l">
              <a:lnSpc>
                <a:spcPct val="100000"/>
              </a:lnSpc>
              <a:spcBef>
                <a:spcPts val="0"/>
              </a:spcBef>
              <a:spcAft>
                <a:spcPts val="0"/>
              </a:spcAft>
            </a:pPr>
            <a:r>
              <a:rPr sz="2200" b="0" i="0">
                <a:solidFill>
                  <a:srgbClr val="F4F6F8"/>
                </a:solidFill>
                <a:latin typeface="Arial Black"/>
              </a:rPr>
              <a:t>FOXTROT</a:t>
            </a:r>
          </a:p>
        </p:txBody>
      </p:sp>
      <p:sp>
        <p:nvSpPr>
          <p:cNvPr id="41" name="Rounded Rectangle 40"/>
          <p:cNvSpPr/>
          <p:nvPr/>
        </p:nvSpPr>
        <p:spPr>
          <a:xfrm>
            <a:off x="6227064" y="3950208"/>
            <a:ext cx="2514600" cy="1371600"/>
          </a:xfrm>
          <a:prstGeom prst="roundRect">
            <a:avLst>
              <a:gd name="adj" fmla="val 9333"/>
            </a:avLst>
          </a:prstGeom>
          <a:solidFill>
            <a:srgbClr val="1A2029"/>
          </a:solidFill>
          <a:ln w="19050">
            <a:solidFill>
              <a:srgbClr val="323C4A"/>
            </a:solidFill>
          </a:ln>
        </p:spPr>
        <p:txBody>
          <a:bodyPr rtlCol="0" anchor="ctr"/>
          <a:lstStyle/>
          <a:p>
            <a:pPr algn="ctr"/>
          </a:p>
        </p:txBody>
      </p:sp>
      <p:sp>
        <p:nvSpPr>
          <p:cNvPr id="42" name="Rounded Rectangle 41"/>
          <p:cNvSpPr/>
          <p:nvPr/>
        </p:nvSpPr>
        <p:spPr>
          <a:xfrm>
            <a:off x="6428232" y="4133088"/>
            <a:ext cx="566928" cy="566928"/>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2600" b="1" i="0">
                <a:solidFill>
                  <a:srgbClr val="12161C"/>
                </a:solidFill>
                <a:latin typeface="Arial Black"/>
              </a:rPr>
              <a:t>G</a:t>
            </a:r>
          </a:p>
        </p:txBody>
      </p:sp>
      <p:sp>
        <p:nvSpPr>
          <p:cNvPr id="43" name="TextBox 42"/>
          <p:cNvSpPr txBox="1"/>
          <p:nvPr/>
        </p:nvSpPr>
        <p:spPr>
          <a:xfrm>
            <a:off x="6428232" y="4791456"/>
            <a:ext cx="2194560" cy="411480"/>
          </a:xfrm>
          <a:prstGeom prst="rect">
            <a:avLst/>
          </a:prstGeom>
          <a:noFill/>
        </p:spPr>
        <p:txBody>
          <a:bodyPr wrap="square" anchor="t" lIns="0" rIns="0" tIns="0" bIns="0">
            <a:noAutofit/>
          </a:bodyPr>
          <a:lstStyle/>
          <a:p>
            <a:pPr algn="l">
              <a:lnSpc>
                <a:spcPct val="100000"/>
              </a:lnSpc>
              <a:spcBef>
                <a:spcPts val="0"/>
              </a:spcBef>
              <a:spcAft>
                <a:spcPts val="0"/>
              </a:spcAft>
            </a:pPr>
            <a:r>
              <a:rPr sz="2200" b="0" i="0">
                <a:solidFill>
                  <a:srgbClr val="F4F6F8"/>
                </a:solidFill>
                <a:latin typeface="Arial Black"/>
              </a:rPr>
              <a:t>GOLF</a:t>
            </a:r>
          </a:p>
        </p:txBody>
      </p:sp>
      <p:sp>
        <p:nvSpPr>
          <p:cNvPr id="44" name="Rounded Rectangle 43"/>
          <p:cNvSpPr/>
          <p:nvPr/>
        </p:nvSpPr>
        <p:spPr>
          <a:xfrm>
            <a:off x="8997696" y="3950208"/>
            <a:ext cx="2514600" cy="1371600"/>
          </a:xfrm>
          <a:prstGeom prst="roundRect">
            <a:avLst>
              <a:gd name="adj" fmla="val 9333"/>
            </a:avLst>
          </a:prstGeom>
          <a:solidFill>
            <a:srgbClr val="1A2029"/>
          </a:solidFill>
          <a:ln w="19050">
            <a:solidFill>
              <a:srgbClr val="323C4A"/>
            </a:solidFill>
          </a:ln>
        </p:spPr>
        <p:txBody>
          <a:bodyPr rtlCol="0" anchor="ctr"/>
          <a:lstStyle/>
          <a:p>
            <a:pPr algn="ctr"/>
          </a:p>
        </p:txBody>
      </p:sp>
      <p:sp>
        <p:nvSpPr>
          <p:cNvPr id="45" name="Rounded Rectangle 44"/>
          <p:cNvSpPr/>
          <p:nvPr/>
        </p:nvSpPr>
        <p:spPr>
          <a:xfrm>
            <a:off x="9198864" y="4133088"/>
            <a:ext cx="566928" cy="566928"/>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2600" b="1" i="0">
                <a:solidFill>
                  <a:srgbClr val="12161C"/>
                </a:solidFill>
                <a:latin typeface="Arial Black"/>
              </a:rPr>
              <a:t>H</a:t>
            </a:r>
          </a:p>
        </p:txBody>
      </p:sp>
      <p:sp>
        <p:nvSpPr>
          <p:cNvPr id="46" name="TextBox 45"/>
          <p:cNvSpPr txBox="1"/>
          <p:nvPr/>
        </p:nvSpPr>
        <p:spPr>
          <a:xfrm>
            <a:off x="9198864" y="4791456"/>
            <a:ext cx="2194560" cy="411480"/>
          </a:xfrm>
          <a:prstGeom prst="rect">
            <a:avLst/>
          </a:prstGeom>
          <a:noFill/>
        </p:spPr>
        <p:txBody>
          <a:bodyPr wrap="square" anchor="t" lIns="0" rIns="0" tIns="0" bIns="0">
            <a:noAutofit/>
          </a:bodyPr>
          <a:lstStyle/>
          <a:p>
            <a:pPr algn="l">
              <a:lnSpc>
                <a:spcPct val="100000"/>
              </a:lnSpc>
              <a:spcBef>
                <a:spcPts val="0"/>
              </a:spcBef>
              <a:spcAft>
                <a:spcPts val="0"/>
              </a:spcAft>
            </a:pPr>
            <a:r>
              <a:rPr sz="2200" b="0" i="0">
                <a:solidFill>
                  <a:srgbClr val="F4F6F8"/>
                </a:solidFill>
                <a:latin typeface="Arial Black"/>
              </a:rPr>
              <a:t>HOTEL</a:t>
            </a:r>
          </a:p>
        </p:txBody>
      </p:sp>
      <p:sp>
        <p:nvSpPr>
          <p:cNvPr id="47" name="TextBox 46"/>
          <p:cNvSpPr txBox="1"/>
          <p:nvPr/>
        </p:nvSpPr>
        <p:spPr>
          <a:xfrm>
            <a:off x="685800" y="5669280"/>
            <a:ext cx="10817352" cy="457200"/>
          </a:xfrm>
          <a:prstGeom prst="rect">
            <a:avLst/>
          </a:prstGeom>
          <a:noFill/>
        </p:spPr>
        <p:txBody>
          <a:bodyPr wrap="square" anchor="t" lIns="0" rIns="0" tIns="0" bIns="0">
            <a:noAutofit/>
          </a:bodyPr>
          <a:lstStyle/>
          <a:p>
            <a:pPr algn="l">
              <a:lnSpc>
                <a:spcPct val="100000"/>
              </a:lnSpc>
              <a:spcBef>
                <a:spcPts val="0"/>
              </a:spcBef>
              <a:spcAft>
                <a:spcPts val="0"/>
              </a:spcAft>
            </a:pPr>
            <a:r>
              <a:rPr sz="1600" b="0" i="1">
                <a:solidFill>
                  <a:srgbClr val="A9B3C0"/>
                </a:solidFill>
                <a:latin typeface="Arial"/>
              </a:rPr>
              <a:t>Use extras/team_selector.html on the presenter laptop — or fold eight paper slips if Wi-Fi/laptop fails.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12161C"/>
                </a:solidFill>
                <a:latin typeface="Arial Narrow"/>
              </a:rPr>
              <a:t>ACT 7 · WRITING</a:t>
            </a:r>
          </a:p>
        </p:txBody>
      </p:sp>
      <p:sp>
        <p:nvSpPr>
          <p:cNvPr id="4" name="TextBox 3"/>
          <p:cNvSpPr txBox="1"/>
          <p:nvPr/>
        </p:nvSpPr>
        <p:spPr>
          <a:xfrm>
            <a:off x="7315200" y="310896"/>
            <a:ext cx="4187952" cy="274320"/>
          </a:xfrm>
          <a:prstGeom prst="rect">
            <a:avLst/>
          </a:prstGeom>
          <a:noFill/>
        </p:spPr>
        <p:txBody>
          <a:bodyPr wrap="square" anchor="t" lIns="0" rIns="0" tIns="0" bIns="0">
            <a:noAutofit/>
          </a:bodyPr>
          <a:lstStyle/>
          <a:p>
            <a:pPr algn="r">
              <a:lnSpc>
                <a:spcPct val="100000"/>
              </a:lnSpc>
              <a:spcBef>
                <a:spcPts val="0"/>
              </a:spcBef>
              <a:spcAft>
                <a:spcPts val="0"/>
              </a:spcAft>
            </a:pPr>
            <a:r>
              <a:rPr sz="1300" b="1" i="0" spc="220">
                <a:solidFill>
                  <a:srgbClr val="8A93A0"/>
                </a:solidFill>
                <a:latin typeface="Arial Narrow"/>
              </a:rPr>
              <a:t>CHIEF ENGINEER</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8A93A0"/>
                </a:solidFill>
                <a:latin typeface="Arial Narrow"/>
              </a:rPr>
              <a:t>ENERGY LAB  ·  CRASH TEST #05</a:t>
            </a:r>
          </a:p>
        </p:txBody>
      </p:sp>
      <p:sp>
        <p:nvSpPr>
          <p:cNvPr id="6" name="Rectangle 5"/>
          <p:cNvSpPr/>
          <p:nvPr/>
        </p:nvSpPr>
        <p:spPr>
          <a:xfrm>
            <a:off x="4526280" y="6510528"/>
            <a:ext cx="127363" cy="54864"/>
          </a:xfrm>
          <a:prstGeom prst="rect">
            <a:avLst/>
          </a:prstGeom>
          <a:solidFill>
            <a:srgbClr val="D9B55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D9B55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D9B55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D9B55A"/>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D9B55A"/>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D9B55A"/>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D9B55A"/>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D9B55A"/>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D9B55A"/>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D9B55A"/>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D9B55A"/>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D9B55A"/>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FFB400"/>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D5D0C4"/>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8A93A0"/>
                </a:solidFill>
                <a:latin typeface="Arial Narrow"/>
              </a:rPr>
              <a:t>82</a:t>
            </a:fld>
          </a:p>
        </p:txBody>
      </p:sp>
      <p:sp>
        <p:nvSpPr>
          <p:cNvPr id="21" name="Rounded Rectangle 20"/>
          <p:cNvSpPr/>
          <p:nvPr/>
        </p:nvSpPr>
        <p:spPr>
          <a:xfrm>
            <a:off x="8732520" y="914400"/>
            <a:ext cx="2114645" cy="274320"/>
          </a:xfrm>
          <a:prstGeom prst="roundRect">
            <a:avLst>
              <a:gd name="adj" fmla="val 50000"/>
            </a:avLst>
          </a:prstGeom>
          <a:noFill/>
          <a:ln w="19050">
            <a:solidFill>
              <a:srgbClr val="0B6A96"/>
            </a:solidFill>
          </a:ln>
        </p:spPr>
        <p:txBody>
          <a:bodyPr rtlCol="0" anchor="ctr" wrap="square" lIns="0" rIns="0" tIns="0" bIns="0">
            <a:noAutofit/>
          </a:bodyPr>
          <a:lstStyle/>
          <a:p>
            <a:pPr algn="ctr">
              <a:lnSpc>
                <a:spcPct val="100000"/>
              </a:lnSpc>
              <a:spcBef>
                <a:spcPts val="0"/>
              </a:spcBef>
              <a:spcAft>
                <a:spcPts val="0"/>
              </a:spcAft>
            </a:pPr>
            <a:r>
              <a:rPr sz="1300" b="1" i="0" spc="200">
                <a:solidFill>
                  <a:srgbClr val="0B6A96"/>
                </a:solidFill>
                <a:latin typeface="Arial Narrow"/>
              </a:rPr>
              <a:t>TEXTBOOK · TASK 9</a:t>
            </a:r>
          </a:p>
        </p:txBody>
      </p:sp>
      <p:sp>
        <p:nvSpPr>
          <p:cNvPr id="22" name="TextBox 21"/>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56606E"/>
                </a:solidFill>
                <a:latin typeface="Arial Narrow"/>
              </a:rPr>
              <a:t>ACT 7 · CHIEF ENGINEER TAKES OVER</a:t>
            </a:r>
          </a:p>
        </p:txBody>
      </p:sp>
      <p:sp>
        <p:nvSpPr>
          <p:cNvPr id="23" name="TextBox 22"/>
          <p:cNvSpPr txBox="1"/>
          <p:nvPr/>
        </p:nvSpPr>
        <p:spPr>
          <a:xfrm>
            <a:off x="685800" y="1188720"/>
            <a:ext cx="10789920" cy="1005840"/>
          </a:xfrm>
          <a:prstGeom prst="rect">
            <a:avLst/>
          </a:prstGeom>
          <a:noFill/>
        </p:spPr>
        <p:txBody>
          <a:bodyPr wrap="square" anchor="t" lIns="0" rIns="0" tIns="0" bIns="0">
            <a:noAutofit/>
          </a:bodyPr>
          <a:lstStyle/>
          <a:p>
            <a:pPr algn="l">
              <a:lnSpc>
                <a:spcPct val="100000"/>
              </a:lnSpc>
              <a:spcBef>
                <a:spcPts val="0"/>
              </a:spcBef>
              <a:spcAft>
                <a:spcPts val="0"/>
              </a:spcAft>
            </a:pPr>
            <a:r>
              <a:rPr sz="4400" b="0" i="0">
                <a:solidFill>
                  <a:srgbClr val="12161C"/>
                </a:solidFill>
                <a:latin typeface="Arial Black"/>
              </a:rPr>
              <a:t>ENGINEERING REPORT</a:t>
            </a:r>
          </a:p>
        </p:txBody>
      </p:sp>
      <p:sp>
        <p:nvSpPr>
          <p:cNvPr id="24" name="Rounded Rectangle 23"/>
          <p:cNvSpPr/>
          <p:nvPr/>
        </p:nvSpPr>
        <p:spPr>
          <a:xfrm>
            <a:off x="685800" y="2331720"/>
            <a:ext cx="3291840" cy="594360"/>
          </a:xfrm>
          <a:prstGeom prst="roundRect">
            <a:avLst>
              <a:gd name="adj" fmla="val 38461"/>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2200" b="1" i="0">
                <a:solidFill>
                  <a:srgbClr val="12161C"/>
                </a:solidFill>
                <a:latin typeface="Arial"/>
              </a:rPr>
              <a:t>100–120 WORDS</a:t>
            </a:r>
          </a:p>
        </p:txBody>
      </p:sp>
      <p:sp>
        <p:nvSpPr>
          <p:cNvPr id="25" name="Rounded Rectangle 24"/>
          <p:cNvSpPr/>
          <p:nvPr/>
        </p:nvSpPr>
        <p:spPr>
          <a:xfrm>
            <a:off x="685800" y="3200400"/>
            <a:ext cx="10360152" cy="658368"/>
          </a:xfrm>
          <a:prstGeom prst="roundRect">
            <a:avLst>
              <a:gd name="adj" fmla="val 19444"/>
            </a:avLst>
          </a:prstGeom>
          <a:solidFill>
            <a:srgbClr val="FFFFFF"/>
          </a:solidFill>
          <a:ln w="19050">
            <a:solidFill>
              <a:srgbClr val="CFC9BC"/>
            </a:solidFill>
          </a:ln>
        </p:spPr>
        <p:txBody>
          <a:bodyPr rtlCol="0" anchor="ctr"/>
          <a:lstStyle/>
          <a:p>
            <a:pPr algn="ctr"/>
          </a:p>
        </p:txBody>
      </p:sp>
      <p:sp>
        <p:nvSpPr>
          <p:cNvPr id="26" name="Rounded Rectangle 25"/>
          <p:cNvSpPr/>
          <p:nvPr/>
        </p:nvSpPr>
        <p:spPr>
          <a:xfrm>
            <a:off x="868680" y="3282696"/>
            <a:ext cx="493776" cy="493776"/>
          </a:xfrm>
          <a:prstGeom prst="roundRect">
            <a:avLst>
              <a:gd name="adj" fmla="val 22222"/>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1800" b="1" i="0">
                <a:solidFill>
                  <a:srgbClr val="12161C"/>
                </a:solidFill>
                <a:latin typeface="Arial Black"/>
              </a:rPr>
              <a:t>1</a:t>
            </a:r>
          </a:p>
        </p:txBody>
      </p:sp>
      <p:sp>
        <p:nvSpPr>
          <p:cNvPr id="27" name="TextBox 26"/>
          <p:cNvSpPr txBox="1"/>
          <p:nvPr/>
        </p:nvSpPr>
        <p:spPr>
          <a:xfrm>
            <a:off x="1508760" y="3200400"/>
            <a:ext cx="2377440" cy="658368"/>
          </a:xfrm>
          <a:prstGeom prst="rect">
            <a:avLst/>
          </a:prstGeom>
          <a:noFill/>
        </p:spPr>
        <p:txBody>
          <a:bodyPr wrap="square" anchor="ctr" lIns="0" rIns="0" tIns="0" bIns="0">
            <a:noAutofit/>
          </a:bodyPr>
          <a:lstStyle/>
          <a:p>
            <a:pPr algn="l">
              <a:lnSpc>
                <a:spcPct val="100000"/>
              </a:lnSpc>
              <a:spcBef>
                <a:spcPts val="0"/>
              </a:spcBef>
              <a:spcAft>
                <a:spcPts val="0"/>
              </a:spcAft>
            </a:pPr>
            <a:r>
              <a:rPr sz="1900" b="0" i="0">
                <a:solidFill>
                  <a:srgbClr val="12161C"/>
                </a:solidFill>
                <a:latin typeface="Arial Black"/>
              </a:rPr>
              <a:t>THE DESIGN</a:t>
            </a:r>
          </a:p>
        </p:txBody>
      </p:sp>
      <p:sp>
        <p:nvSpPr>
          <p:cNvPr id="28" name="TextBox 27"/>
          <p:cNvSpPr txBox="1"/>
          <p:nvPr/>
        </p:nvSpPr>
        <p:spPr>
          <a:xfrm>
            <a:off x="4023360" y="3200400"/>
            <a:ext cx="6766560" cy="658368"/>
          </a:xfrm>
          <a:prstGeom prst="rect">
            <a:avLst/>
          </a:prstGeom>
          <a:noFill/>
        </p:spPr>
        <p:txBody>
          <a:bodyPr wrap="square" anchor="ctr" lIns="0" rIns="0" tIns="0" bIns="0">
            <a:noAutofit/>
          </a:bodyPr>
          <a:lstStyle/>
          <a:p>
            <a:pPr algn="l">
              <a:lnSpc>
                <a:spcPct val="100000"/>
              </a:lnSpc>
              <a:spcBef>
                <a:spcPts val="0"/>
              </a:spcBef>
              <a:spcAft>
                <a:spcPts val="0"/>
              </a:spcAft>
            </a:pPr>
            <a:r>
              <a:rPr sz="1700" b="0" i="0">
                <a:solidFill>
                  <a:srgbClr val="56606E"/>
                </a:solidFill>
                <a:latin typeface="Arial"/>
              </a:rPr>
              <a:t>What are you changing?</a:t>
            </a:r>
          </a:p>
        </p:txBody>
      </p:sp>
      <p:sp>
        <p:nvSpPr>
          <p:cNvPr id="29" name="Rounded Rectangle 28"/>
          <p:cNvSpPr/>
          <p:nvPr/>
        </p:nvSpPr>
        <p:spPr>
          <a:xfrm>
            <a:off x="685800" y="3977640"/>
            <a:ext cx="10360152" cy="658368"/>
          </a:xfrm>
          <a:prstGeom prst="roundRect">
            <a:avLst>
              <a:gd name="adj" fmla="val 19444"/>
            </a:avLst>
          </a:prstGeom>
          <a:solidFill>
            <a:srgbClr val="FFFFFF"/>
          </a:solidFill>
          <a:ln w="19050">
            <a:solidFill>
              <a:srgbClr val="CFC9BC"/>
            </a:solidFill>
          </a:ln>
        </p:spPr>
        <p:txBody>
          <a:bodyPr rtlCol="0" anchor="ctr"/>
          <a:lstStyle/>
          <a:p>
            <a:pPr algn="ctr"/>
          </a:p>
        </p:txBody>
      </p:sp>
      <p:sp>
        <p:nvSpPr>
          <p:cNvPr id="30" name="Rounded Rectangle 29"/>
          <p:cNvSpPr/>
          <p:nvPr/>
        </p:nvSpPr>
        <p:spPr>
          <a:xfrm>
            <a:off x="868680" y="4059936"/>
            <a:ext cx="493776" cy="493776"/>
          </a:xfrm>
          <a:prstGeom prst="roundRect">
            <a:avLst>
              <a:gd name="adj" fmla="val 22222"/>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1800" b="1" i="0">
                <a:solidFill>
                  <a:srgbClr val="12161C"/>
                </a:solidFill>
                <a:latin typeface="Arial Black"/>
              </a:rPr>
              <a:t>2</a:t>
            </a:r>
          </a:p>
        </p:txBody>
      </p:sp>
      <p:sp>
        <p:nvSpPr>
          <p:cNvPr id="31" name="TextBox 30"/>
          <p:cNvSpPr txBox="1"/>
          <p:nvPr/>
        </p:nvSpPr>
        <p:spPr>
          <a:xfrm>
            <a:off x="1508760" y="3977640"/>
            <a:ext cx="2377440" cy="658368"/>
          </a:xfrm>
          <a:prstGeom prst="rect">
            <a:avLst/>
          </a:prstGeom>
          <a:noFill/>
        </p:spPr>
        <p:txBody>
          <a:bodyPr wrap="square" anchor="ctr" lIns="0" rIns="0" tIns="0" bIns="0">
            <a:noAutofit/>
          </a:bodyPr>
          <a:lstStyle/>
          <a:p>
            <a:pPr algn="l">
              <a:lnSpc>
                <a:spcPct val="100000"/>
              </a:lnSpc>
              <a:spcBef>
                <a:spcPts val="0"/>
              </a:spcBef>
              <a:spcAft>
                <a:spcPts val="0"/>
              </a:spcAft>
            </a:pPr>
            <a:r>
              <a:rPr sz="1900" b="0" i="0">
                <a:solidFill>
                  <a:srgbClr val="12161C"/>
                </a:solidFill>
                <a:latin typeface="Arial Black"/>
              </a:rPr>
              <a:t>ENERGY</a:t>
            </a:r>
          </a:p>
        </p:txBody>
      </p:sp>
      <p:sp>
        <p:nvSpPr>
          <p:cNvPr id="32" name="TextBox 31"/>
          <p:cNvSpPr txBox="1"/>
          <p:nvPr/>
        </p:nvSpPr>
        <p:spPr>
          <a:xfrm>
            <a:off x="4023360" y="3977640"/>
            <a:ext cx="6766560" cy="658368"/>
          </a:xfrm>
          <a:prstGeom prst="rect">
            <a:avLst/>
          </a:prstGeom>
          <a:noFill/>
        </p:spPr>
        <p:txBody>
          <a:bodyPr wrap="square" anchor="ctr" lIns="0" rIns="0" tIns="0" bIns="0">
            <a:noAutofit/>
          </a:bodyPr>
          <a:lstStyle/>
          <a:p>
            <a:pPr algn="l">
              <a:lnSpc>
                <a:spcPct val="100000"/>
              </a:lnSpc>
              <a:spcBef>
                <a:spcPts val="0"/>
              </a:spcBef>
              <a:spcAft>
                <a:spcPts val="0"/>
              </a:spcAft>
            </a:pPr>
            <a:r>
              <a:rPr sz="1700" b="0" i="0">
                <a:solidFill>
                  <a:srgbClr val="56606E"/>
                </a:solidFill>
                <a:latin typeface="Arial"/>
              </a:rPr>
              <a:t>What happens to stopping distance / energy / force?</a:t>
            </a:r>
          </a:p>
        </p:txBody>
      </p:sp>
      <p:sp>
        <p:nvSpPr>
          <p:cNvPr id="33" name="Rounded Rectangle 32"/>
          <p:cNvSpPr/>
          <p:nvPr/>
        </p:nvSpPr>
        <p:spPr>
          <a:xfrm>
            <a:off x="685800" y="4754880"/>
            <a:ext cx="10360152" cy="658368"/>
          </a:xfrm>
          <a:prstGeom prst="roundRect">
            <a:avLst>
              <a:gd name="adj" fmla="val 19444"/>
            </a:avLst>
          </a:prstGeom>
          <a:solidFill>
            <a:srgbClr val="FFFFFF"/>
          </a:solidFill>
          <a:ln w="19050">
            <a:solidFill>
              <a:srgbClr val="CFC9BC"/>
            </a:solidFill>
          </a:ln>
        </p:spPr>
        <p:txBody>
          <a:bodyPr rtlCol="0" anchor="ctr"/>
          <a:lstStyle/>
          <a:p>
            <a:pPr algn="ctr"/>
          </a:p>
        </p:txBody>
      </p:sp>
      <p:sp>
        <p:nvSpPr>
          <p:cNvPr id="34" name="Rounded Rectangle 33"/>
          <p:cNvSpPr/>
          <p:nvPr/>
        </p:nvSpPr>
        <p:spPr>
          <a:xfrm>
            <a:off x="868680" y="4837176"/>
            <a:ext cx="493776" cy="493776"/>
          </a:xfrm>
          <a:prstGeom prst="roundRect">
            <a:avLst>
              <a:gd name="adj" fmla="val 22222"/>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1800" b="1" i="0">
                <a:solidFill>
                  <a:srgbClr val="12161C"/>
                </a:solidFill>
                <a:latin typeface="Arial Black"/>
              </a:rPr>
              <a:t>3</a:t>
            </a:r>
          </a:p>
        </p:txBody>
      </p:sp>
      <p:sp>
        <p:nvSpPr>
          <p:cNvPr id="35" name="TextBox 34"/>
          <p:cNvSpPr txBox="1"/>
          <p:nvPr/>
        </p:nvSpPr>
        <p:spPr>
          <a:xfrm>
            <a:off x="1508760" y="4754880"/>
            <a:ext cx="2377440" cy="658368"/>
          </a:xfrm>
          <a:prstGeom prst="rect">
            <a:avLst/>
          </a:prstGeom>
          <a:noFill/>
        </p:spPr>
        <p:txBody>
          <a:bodyPr wrap="square" anchor="ctr" lIns="0" rIns="0" tIns="0" bIns="0">
            <a:noAutofit/>
          </a:bodyPr>
          <a:lstStyle/>
          <a:p>
            <a:pPr algn="l">
              <a:lnSpc>
                <a:spcPct val="100000"/>
              </a:lnSpc>
              <a:spcBef>
                <a:spcPts val="0"/>
              </a:spcBef>
              <a:spcAft>
                <a:spcPts val="0"/>
              </a:spcAft>
            </a:pPr>
            <a:r>
              <a:rPr sz="1900" b="0" i="0">
                <a:solidFill>
                  <a:srgbClr val="12161C"/>
                </a:solidFill>
                <a:latin typeface="Arial Black"/>
              </a:rPr>
              <a:t>SAFETY</a:t>
            </a:r>
          </a:p>
        </p:txBody>
      </p:sp>
      <p:sp>
        <p:nvSpPr>
          <p:cNvPr id="36" name="TextBox 35"/>
          <p:cNvSpPr txBox="1"/>
          <p:nvPr/>
        </p:nvSpPr>
        <p:spPr>
          <a:xfrm>
            <a:off x="4023360" y="4754880"/>
            <a:ext cx="6766560" cy="658368"/>
          </a:xfrm>
          <a:prstGeom prst="rect">
            <a:avLst/>
          </a:prstGeom>
          <a:noFill/>
        </p:spPr>
        <p:txBody>
          <a:bodyPr wrap="square" anchor="ctr" lIns="0" rIns="0" tIns="0" bIns="0">
            <a:noAutofit/>
          </a:bodyPr>
          <a:lstStyle/>
          <a:p>
            <a:pPr algn="l">
              <a:lnSpc>
                <a:spcPct val="100000"/>
              </a:lnSpc>
              <a:spcBef>
                <a:spcPts val="0"/>
              </a:spcBef>
              <a:spcAft>
                <a:spcPts val="0"/>
              </a:spcAft>
            </a:pPr>
            <a:r>
              <a:rPr sz="1700" b="0" i="0">
                <a:solidFill>
                  <a:srgbClr val="56606E"/>
                </a:solidFill>
                <a:latin typeface="Arial"/>
              </a:rPr>
              <a:t>Why does it reduce injuries?</a:t>
            </a:r>
          </a:p>
        </p:txBody>
      </p:sp>
      <p:sp>
        <p:nvSpPr>
          <p:cNvPr id="37" name="TextBox 36"/>
          <p:cNvSpPr txBox="1"/>
          <p:nvPr/>
        </p:nvSpPr>
        <p:spPr>
          <a:xfrm>
            <a:off x="685800" y="5715000"/>
            <a:ext cx="10515600" cy="365760"/>
          </a:xfrm>
          <a:prstGeom prst="rect">
            <a:avLst/>
          </a:prstGeom>
          <a:noFill/>
        </p:spPr>
        <p:txBody>
          <a:bodyPr wrap="square" anchor="t" lIns="0" rIns="0" tIns="0" bIns="0">
            <a:noAutofit/>
          </a:bodyPr>
          <a:lstStyle/>
          <a:p>
            <a:pPr algn="l">
              <a:lnSpc>
                <a:spcPct val="100000"/>
              </a:lnSpc>
              <a:spcBef>
                <a:spcPts val="0"/>
              </a:spcBef>
              <a:spcAft>
                <a:spcPts val="0"/>
              </a:spcAft>
            </a:pPr>
            <a:r>
              <a:rPr sz="1500" b="0" i="1">
                <a:solidFill>
                  <a:srgbClr val="9C5A00"/>
                </a:solidFill>
                <a:latin typeface="Arial"/>
              </a:rPr>
              <a:t>Write about: extending stopping distance · the effect on energy transfer · how this affects safety.</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5F3EE"/>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12161C"/>
                </a:solidFill>
                <a:latin typeface="Arial Narrow"/>
              </a:rPr>
              <a:t>ACT 7 · WRITING</a:t>
            </a:r>
          </a:p>
        </p:txBody>
      </p:sp>
      <p:sp>
        <p:nvSpPr>
          <p:cNvPr id="4" name="TextBox 3"/>
          <p:cNvSpPr txBox="1"/>
          <p:nvPr/>
        </p:nvSpPr>
        <p:spPr>
          <a:xfrm>
            <a:off x="7315200" y="310896"/>
            <a:ext cx="4187952" cy="274320"/>
          </a:xfrm>
          <a:prstGeom prst="rect">
            <a:avLst/>
          </a:prstGeom>
          <a:noFill/>
        </p:spPr>
        <p:txBody>
          <a:bodyPr wrap="square" anchor="t" lIns="0" rIns="0" tIns="0" bIns="0">
            <a:noAutofit/>
          </a:bodyPr>
          <a:lstStyle/>
          <a:p>
            <a:pPr algn="r">
              <a:lnSpc>
                <a:spcPct val="100000"/>
              </a:lnSpc>
              <a:spcBef>
                <a:spcPts val="0"/>
              </a:spcBef>
              <a:spcAft>
                <a:spcPts val="0"/>
              </a:spcAft>
            </a:pPr>
            <a:r>
              <a:rPr sz="1300" b="1" i="0" spc="220">
                <a:solidFill>
                  <a:srgbClr val="8A93A0"/>
                </a:solidFill>
                <a:latin typeface="Arial Narrow"/>
              </a:rPr>
              <a:t>CHIEF ENGINEER</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8A93A0"/>
                </a:solidFill>
                <a:latin typeface="Arial Narrow"/>
              </a:rPr>
              <a:t>ENERGY LAB  ·  CRASH TEST #05</a:t>
            </a:r>
          </a:p>
        </p:txBody>
      </p:sp>
      <p:sp>
        <p:nvSpPr>
          <p:cNvPr id="6" name="Rectangle 5"/>
          <p:cNvSpPr/>
          <p:nvPr/>
        </p:nvSpPr>
        <p:spPr>
          <a:xfrm>
            <a:off x="4526280" y="6510528"/>
            <a:ext cx="127363" cy="54864"/>
          </a:xfrm>
          <a:prstGeom prst="rect">
            <a:avLst/>
          </a:prstGeom>
          <a:solidFill>
            <a:srgbClr val="D9B55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D9B55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D9B55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D9B55A"/>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D9B55A"/>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D9B55A"/>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D9B55A"/>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D9B55A"/>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D9B55A"/>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D9B55A"/>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D9B55A"/>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D9B55A"/>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FFB400"/>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D5D0C4"/>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8A93A0"/>
                </a:solidFill>
                <a:latin typeface="Arial Narrow"/>
              </a:rPr>
              <a:t>83</a:t>
            </a:fld>
          </a:p>
        </p:txBody>
      </p:sp>
      <p:sp>
        <p:nvSpPr>
          <p:cNvPr id="21" name="TextBox 20"/>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56606E"/>
                </a:solidFill>
                <a:latin typeface="Arial Narrow"/>
              </a:rPr>
              <a:t>WRITING TOOLKIT</a:t>
            </a:r>
          </a:p>
        </p:txBody>
      </p:sp>
      <p:sp>
        <p:nvSpPr>
          <p:cNvPr id="22" name="TextBox 21"/>
          <p:cNvSpPr txBox="1"/>
          <p:nvPr/>
        </p:nvSpPr>
        <p:spPr>
          <a:xfrm>
            <a:off x="685800" y="1188720"/>
            <a:ext cx="10789920" cy="1005840"/>
          </a:xfrm>
          <a:prstGeom prst="rect">
            <a:avLst/>
          </a:prstGeom>
          <a:noFill/>
        </p:spPr>
        <p:txBody>
          <a:bodyPr wrap="square" anchor="t" lIns="0" rIns="0" tIns="0" bIns="0">
            <a:noAutofit/>
          </a:bodyPr>
          <a:lstStyle/>
          <a:p>
            <a:pPr algn="l">
              <a:lnSpc>
                <a:spcPct val="100000"/>
              </a:lnSpc>
              <a:spcBef>
                <a:spcPts val="0"/>
              </a:spcBef>
              <a:spcAft>
                <a:spcPts val="0"/>
              </a:spcAft>
            </a:pPr>
            <a:r>
              <a:rPr sz="4200" b="0" i="0">
                <a:solidFill>
                  <a:srgbClr val="12161C"/>
                </a:solidFill>
                <a:latin typeface="Arial Black"/>
              </a:rPr>
              <a:t>USEFUL CONNECTORS</a:t>
            </a:r>
          </a:p>
        </p:txBody>
      </p:sp>
      <p:sp>
        <p:nvSpPr>
          <p:cNvPr id="23" name="Rounded Rectangle 22"/>
          <p:cNvSpPr/>
          <p:nvPr/>
        </p:nvSpPr>
        <p:spPr>
          <a:xfrm>
            <a:off x="685800" y="2377440"/>
            <a:ext cx="3383280" cy="868680"/>
          </a:xfrm>
          <a:prstGeom prst="roundRect">
            <a:avLst>
              <a:gd name="adj" fmla="val 12631"/>
            </a:avLst>
          </a:prstGeom>
          <a:solidFill>
            <a:srgbClr val="E9E5DC"/>
          </a:solidFill>
          <a:ln>
            <a:noFill/>
          </a:ln>
        </p:spPr>
        <p:txBody>
          <a:bodyPr rtlCol="0" anchor="ctr" wrap="square" lIns="0" rIns="0" tIns="0" bIns="0">
            <a:noAutofit/>
          </a:bodyPr>
          <a:lstStyle/>
          <a:p>
            <a:pPr algn="ctr">
              <a:lnSpc>
                <a:spcPct val="100000"/>
              </a:lnSpc>
              <a:spcBef>
                <a:spcPts val="0"/>
              </a:spcBef>
              <a:spcAft>
                <a:spcPts val="0"/>
              </a:spcAft>
            </a:pPr>
            <a:r>
              <a:rPr sz="2200" b="1" i="0">
                <a:solidFill>
                  <a:srgbClr val="12161C"/>
                </a:solidFill>
                <a:latin typeface="Arial"/>
              </a:rPr>
              <a:t>First,</a:t>
            </a:r>
          </a:p>
        </p:txBody>
      </p:sp>
      <p:sp>
        <p:nvSpPr>
          <p:cNvPr id="24" name="Rounded Rectangle 23"/>
          <p:cNvSpPr/>
          <p:nvPr/>
        </p:nvSpPr>
        <p:spPr>
          <a:xfrm>
            <a:off x="4288536" y="2377440"/>
            <a:ext cx="3383280" cy="868680"/>
          </a:xfrm>
          <a:prstGeom prst="roundRect">
            <a:avLst>
              <a:gd name="adj" fmla="val 12631"/>
            </a:avLst>
          </a:prstGeom>
          <a:solidFill>
            <a:srgbClr val="E9E5DC"/>
          </a:solidFill>
          <a:ln>
            <a:noFill/>
          </a:ln>
        </p:spPr>
        <p:txBody>
          <a:bodyPr rtlCol="0" anchor="ctr" wrap="square" lIns="0" rIns="0" tIns="0" bIns="0">
            <a:noAutofit/>
          </a:bodyPr>
          <a:lstStyle/>
          <a:p>
            <a:pPr algn="ctr">
              <a:lnSpc>
                <a:spcPct val="100000"/>
              </a:lnSpc>
              <a:spcBef>
                <a:spcPts val="0"/>
              </a:spcBef>
              <a:spcAft>
                <a:spcPts val="0"/>
              </a:spcAft>
            </a:pPr>
            <a:r>
              <a:rPr sz="2200" b="1" i="0">
                <a:solidFill>
                  <a:srgbClr val="12161C"/>
                </a:solidFill>
                <a:latin typeface="Arial"/>
              </a:rPr>
              <a:t>When…</a:t>
            </a:r>
          </a:p>
        </p:txBody>
      </p:sp>
      <p:sp>
        <p:nvSpPr>
          <p:cNvPr id="25" name="Rounded Rectangle 24"/>
          <p:cNvSpPr/>
          <p:nvPr/>
        </p:nvSpPr>
        <p:spPr>
          <a:xfrm>
            <a:off x="7891272" y="2377440"/>
            <a:ext cx="3383280" cy="868680"/>
          </a:xfrm>
          <a:prstGeom prst="roundRect">
            <a:avLst>
              <a:gd name="adj" fmla="val 12631"/>
            </a:avLst>
          </a:prstGeom>
          <a:solidFill>
            <a:srgbClr val="E9E5DC"/>
          </a:solidFill>
          <a:ln>
            <a:noFill/>
          </a:ln>
        </p:spPr>
        <p:txBody>
          <a:bodyPr rtlCol="0" anchor="ctr" wrap="square" lIns="0" rIns="0" tIns="0" bIns="0">
            <a:noAutofit/>
          </a:bodyPr>
          <a:lstStyle/>
          <a:p>
            <a:pPr algn="ctr">
              <a:lnSpc>
                <a:spcPct val="100000"/>
              </a:lnSpc>
              <a:spcBef>
                <a:spcPts val="0"/>
              </a:spcBef>
              <a:spcAft>
                <a:spcPts val="0"/>
              </a:spcAft>
            </a:pPr>
            <a:r>
              <a:rPr sz="2200" b="1" i="0">
                <a:solidFill>
                  <a:srgbClr val="12161C"/>
                </a:solidFill>
                <a:latin typeface="Arial"/>
              </a:rPr>
              <a:t>As a result,</a:t>
            </a:r>
          </a:p>
        </p:txBody>
      </p:sp>
      <p:sp>
        <p:nvSpPr>
          <p:cNvPr id="26" name="Rounded Rectangle 25"/>
          <p:cNvSpPr/>
          <p:nvPr/>
        </p:nvSpPr>
        <p:spPr>
          <a:xfrm>
            <a:off x="685800" y="3429000"/>
            <a:ext cx="3383280" cy="868680"/>
          </a:xfrm>
          <a:prstGeom prst="roundRect">
            <a:avLst>
              <a:gd name="adj" fmla="val 12631"/>
            </a:avLst>
          </a:prstGeom>
          <a:solidFill>
            <a:srgbClr val="E9E5DC"/>
          </a:solidFill>
          <a:ln>
            <a:noFill/>
          </a:ln>
        </p:spPr>
        <p:txBody>
          <a:bodyPr rtlCol="0" anchor="ctr" wrap="square" lIns="0" rIns="0" tIns="0" bIns="0">
            <a:noAutofit/>
          </a:bodyPr>
          <a:lstStyle/>
          <a:p>
            <a:pPr algn="ctr">
              <a:lnSpc>
                <a:spcPct val="100000"/>
              </a:lnSpc>
              <a:spcBef>
                <a:spcPts val="0"/>
              </a:spcBef>
              <a:spcAft>
                <a:spcPts val="0"/>
              </a:spcAft>
            </a:pPr>
            <a:r>
              <a:rPr sz="2200" b="1" i="0">
                <a:solidFill>
                  <a:srgbClr val="12161C"/>
                </a:solidFill>
                <a:latin typeface="Arial"/>
              </a:rPr>
              <a:t>Therefore,</a:t>
            </a:r>
          </a:p>
        </p:txBody>
      </p:sp>
      <p:sp>
        <p:nvSpPr>
          <p:cNvPr id="27" name="Rounded Rectangle 26"/>
          <p:cNvSpPr/>
          <p:nvPr/>
        </p:nvSpPr>
        <p:spPr>
          <a:xfrm>
            <a:off x="4288536" y="3429000"/>
            <a:ext cx="3383280" cy="868680"/>
          </a:xfrm>
          <a:prstGeom prst="roundRect">
            <a:avLst>
              <a:gd name="adj" fmla="val 12631"/>
            </a:avLst>
          </a:prstGeom>
          <a:solidFill>
            <a:srgbClr val="E9E5DC"/>
          </a:solidFill>
          <a:ln>
            <a:noFill/>
          </a:ln>
        </p:spPr>
        <p:txBody>
          <a:bodyPr rtlCol="0" anchor="ctr" wrap="square" lIns="0" rIns="0" tIns="0" bIns="0">
            <a:noAutofit/>
          </a:bodyPr>
          <a:lstStyle/>
          <a:p>
            <a:pPr algn="ctr">
              <a:lnSpc>
                <a:spcPct val="100000"/>
              </a:lnSpc>
              <a:spcBef>
                <a:spcPts val="0"/>
              </a:spcBef>
              <a:spcAft>
                <a:spcPts val="0"/>
              </a:spcAft>
            </a:pPr>
            <a:r>
              <a:rPr sz="2200" b="1" i="0">
                <a:solidFill>
                  <a:srgbClr val="12161C"/>
                </a:solidFill>
                <a:latin typeface="Arial"/>
              </a:rPr>
              <a:t>This means that…</a:t>
            </a:r>
          </a:p>
        </p:txBody>
      </p:sp>
      <p:sp>
        <p:nvSpPr>
          <p:cNvPr id="28" name="TextBox 27"/>
          <p:cNvSpPr txBox="1"/>
          <p:nvPr/>
        </p:nvSpPr>
        <p:spPr>
          <a:xfrm>
            <a:off x="685800" y="4709160"/>
            <a:ext cx="10360152" cy="1005840"/>
          </a:xfrm>
          <a:prstGeom prst="rect">
            <a:avLst/>
          </a:prstGeom>
          <a:noFill/>
        </p:spPr>
        <p:txBody>
          <a:bodyPr wrap="square" anchor="t" lIns="0" rIns="0" tIns="0" bIns="0">
            <a:noAutofit/>
          </a:bodyPr>
          <a:lstStyle/>
          <a:p>
            <a:pPr algn="l">
              <a:lnSpc>
                <a:spcPct val="120000"/>
              </a:lnSpc>
              <a:spcBef>
                <a:spcPts val="0"/>
              </a:spcBef>
              <a:spcAft>
                <a:spcPts val="0"/>
              </a:spcAft>
            </a:pPr>
            <a:r>
              <a:rPr sz="2000" b="0" i="0">
                <a:solidFill>
                  <a:srgbClr val="12161C"/>
                </a:solidFill>
                <a:latin typeface="Arial"/>
              </a:rPr>
              <a:t>Do NOT write the full report on the board — </a:t>
            </a:r>
            <a:r>
              <a:rPr sz="2000" b="1" i="0">
                <a:solidFill>
                  <a:srgbClr val="9C5A00"/>
                </a:solidFill>
                <a:latin typeface="Arial"/>
              </a:rPr>
              <a:t>this is your writing, in your words.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0" y="0"/>
            <a:ext cx="12192000" cy="6858000"/>
          </a:xfrm>
          <a:prstGeom prst="rect">
            <a:avLst/>
          </a:prstGeom>
          <a:solidFill>
            <a:srgbClr val="0A0A0C"/>
          </a:solidFill>
          <a:ln>
            <a:noFill/>
          </a:ln>
        </p:spPr>
        <p:txBody>
          <a:bodyPr rtlCol="0" anchor="ctr"/>
          <a:lstStyle/>
          <a:p>
            <a:pPr algn="ctr"/>
          </a:p>
        </p:txBody>
      </p:sp>
      <p:sp>
        <p:nvSpPr>
          <p:cNvPr id="3" name="Oval 2"/>
          <p:cNvSpPr/>
          <p:nvPr/>
        </p:nvSpPr>
        <p:spPr>
          <a:xfrm>
            <a:off x="5090160" y="2423160"/>
            <a:ext cx="2011680" cy="2011680"/>
          </a:xfrm>
          <a:prstGeom prst="ellipse">
            <a:avLst/>
          </a:prstGeom>
          <a:noFill/>
          <a:ln w="15875">
            <a:solidFill>
              <a:srgbClr val="323C4A"/>
            </a:solidFill>
          </a:ln>
        </p:spPr>
        <p:txBody>
          <a:bodyPr rtlCol="0" anchor="ctr"/>
          <a:lstStyle/>
          <a:p>
            <a:pPr algn="ctr"/>
          </a:p>
        </p:txBody>
      </p:sp>
      <p:sp>
        <p:nvSpPr>
          <p:cNvPr id="4" name="Oval 3"/>
          <p:cNvSpPr/>
          <p:nvPr/>
        </p:nvSpPr>
        <p:spPr>
          <a:xfrm>
            <a:off x="4404360" y="1737360"/>
            <a:ext cx="3383280" cy="3383280"/>
          </a:xfrm>
          <a:prstGeom prst="ellipse">
            <a:avLst/>
          </a:prstGeom>
          <a:noFill/>
          <a:ln w="15875">
            <a:solidFill>
              <a:srgbClr val="323C4A"/>
            </a:solidFill>
          </a:ln>
        </p:spPr>
        <p:txBody>
          <a:bodyPr rtlCol="0" anchor="ctr"/>
          <a:lstStyle/>
          <a:p>
            <a:pPr algn="ctr"/>
          </a:p>
        </p:txBody>
      </p:sp>
      <p:sp>
        <p:nvSpPr>
          <p:cNvPr id="5" name="Oval 4"/>
          <p:cNvSpPr/>
          <p:nvPr/>
        </p:nvSpPr>
        <p:spPr>
          <a:xfrm>
            <a:off x="3718560" y="1051560"/>
            <a:ext cx="4754880" cy="4754880"/>
          </a:xfrm>
          <a:prstGeom prst="ellipse">
            <a:avLst/>
          </a:prstGeom>
          <a:noFill/>
          <a:ln w="15875">
            <a:solidFill>
              <a:srgbClr val="323C4A"/>
            </a:solidFill>
          </a:ln>
        </p:spPr>
        <p:txBody>
          <a:bodyPr rtlCol="0" anchor="ctr"/>
          <a:lstStyle/>
          <a:p>
            <a:pPr algn="ctr"/>
          </a:p>
        </p:txBody>
      </p:sp>
      <p:sp>
        <p:nvSpPr>
          <p:cNvPr id="6" name="Oval 5"/>
          <p:cNvSpPr/>
          <p:nvPr/>
        </p:nvSpPr>
        <p:spPr>
          <a:xfrm>
            <a:off x="3032760" y="365760"/>
            <a:ext cx="6126480" cy="6126480"/>
          </a:xfrm>
          <a:prstGeom prst="ellipse">
            <a:avLst/>
          </a:prstGeom>
          <a:noFill/>
          <a:ln w="15875">
            <a:solidFill>
              <a:srgbClr val="323C4A"/>
            </a:solidFill>
          </a:ln>
        </p:spPr>
        <p:txBody>
          <a:bodyPr rtlCol="0" anchor="ctr"/>
          <a:lstStyle/>
          <a:p>
            <a:pPr algn="ctr"/>
          </a:p>
        </p:txBody>
      </p:sp>
      <p:sp>
        <p:nvSpPr>
          <p:cNvPr id="7" name="Rectangle 6"/>
          <p:cNvSpPr/>
          <p:nvPr/>
        </p:nvSpPr>
        <p:spPr>
          <a:xfrm>
            <a:off x="685800" y="1234440"/>
            <a:ext cx="118872" cy="118872"/>
          </a:xfrm>
          <a:prstGeom prst="rect">
            <a:avLst/>
          </a:prstGeom>
          <a:solidFill>
            <a:srgbClr val="FFB400"/>
          </a:solidFill>
          <a:ln>
            <a:noFill/>
          </a:ln>
        </p:spPr>
        <p:txBody>
          <a:bodyPr rtlCol="0" anchor="ctr"/>
          <a:lstStyle/>
          <a:p>
            <a:pPr algn="ctr"/>
          </a:p>
        </p:txBody>
      </p:sp>
      <p:sp>
        <p:nvSpPr>
          <p:cNvPr id="8" name="TextBox 7"/>
          <p:cNvSpPr txBox="1"/>
          <p:nvPr/>
        </p:nvSpPr>
        <p:spPr>
          <a:xfrm>
            <a:off x="932688" y="1143000"/>
            <a:ext cx="7315200" cy="274320"/>
          </a:xfrm>
          <a:prstGeom prst="rect">
            <a:avLst/>
          </a:prstGeom>
          <a:noFill/>
        </p:spPr>
        <p:txBody>
          <a:bodyPr wrap="square" anchor="t" lIns="0" rIns="0" tIns="0" bIns="0">
            <a:noAutofit/>
          </a:bodyPr>
          <a:lstStyle/>
          <a:p>
            <a:pPr algn="l">
              <a:lnSpc>
                <a:spcPct val="100000"/>
              </a:lnSpc>
              <a:spcBef>
                <a:spcPts val="0"/>
              </a:spcBef>
              <a:spcAft>
                <a:spcPts val="0"/>
              </a:spcAft>
            </a:pPr>
            <a:r>
              <a:rPr sz="1500" b="1" i="0" spc="400">
                <a:solidFill>
                  <a:srgbClr val="A9B3C0"/>
                </a:solidFill>
                <a:latin typeface="Arial Narrow"/>
              </a:rPr>
              <a:t>FINAL CHALLENGE</a:t>
            </a:r>
          </a:p>
        </p:txBody>
      </p:sp>
      <p:sp>
        <p:nvSpPr>
          <p:cNvPr id="9" name="TextBox 8"/>
          <p:cNvSpPr txBox="1"/>
          <p:nvPr/>
        </p:nvSpPr>
        <p:spPr>
          <a:xfrm>
            <a:off x="685800" y="2606040"/>
            <a:ext cx="10817352" cy="1097280"/>
          </a:xfrm>
          <a:prstGeom prst="rect">
            <a:avLst/>
          </a:prstGeom>
          <a:noFill/>
        </p:spPr>
        <p:txBody>
          <a:bodyPr wrap="square" anchor="t" lIns="0" rIns="0" tIns="0" bIns="0">
            <a:noAutofit/>
          </a:bodyPr>
          <a:lstStyle/>
          <a:p>
            <a:pPr algn="ctr">
              <a:lnSpc>
                <a:spcPct val="100000"/>
              </a:lnSpc>
              <a:spcBef>
                <a:spcPts val="0"/>
              </a:spcBef>
              <a:spcAft>
                <a:spcPts val="0"/>
              </a:spcAft>
            </a:pPr>
            <a:r>
              <a:rPr sz="5600" b="0" i="0">
                <a:solidFill>
                  <a:srgbClr val="FFB400"/>
                </a:solidFill>
                <a:latin typeface="Arial Black"/>
              </a:rPr>
              <a:t>FINAL CRASH SIMULATION</a:t>
            </a:r>
          </a:p>
        </p:txBody>
      </p:sp>
      <p:sp>
        <p:nvSpPr>
          <p:cNvPr id="10" name="TextBox 9"/>
          <p:cNvSpPr txBox="1"/>
          <p:nvPr/>
        </p:nvSpPr>
        <p:spPr>
          <a:xfrm>
            <a:off x="685800" y="3749040"/>
            <a:ext cx="10817352" cy="548640"/>
          </a:xfrm>
          <a:prstGeom prst="rect">
            <a:avLst/>
          </a:prstGeom>
          <a:noFill/>
        </p:spPr>
        <p:txBody>
          <a:bodyPr wrap="square" anchor="t" lIns="0" rIns="0" tIns="0" bIns="0">
            <a:noAutofit/>
          </a:bodyPr>
          <a:lstStyle/>
          <a:p>
            <a:pPr algn="ctr">
              <a:lnSpc>
                <a:spcPct val="100000"/>
              </a:lnSpc>
              <a:spcBef>
                <a:spcPts val="0"/>
              </a:spcBef>
              <a:spcAft>
                <a:spcPts val="0"/>
              </a:spcAft>
            </a:pPr>
            <a:r>
              <a:rPr sz="2400" b="1" i="0" spc="200">
                <a:solidFill>
                  <a:srgbClr val="F4F6F8"/>
                </a:solidFill>
                <a:latin typeface="Arial Narrow"/>
              </a:rPr>
              <a:t>SYSTEM REQUIRES CORRECT SEQUENCE.</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A9B3C0"/>
                </a:solidFill>
                <a:latin typeface="Arial Narrow"/>
              </a:rPr>
              <a:t>ACT 8 · FINAL BOSS</a:t>
            </a:r>
          </a:p>
        </p:txBody>
      </p:sp>
      <p:sp>
        <p:nvSpPr>
          <p:cNvPr id="4" name="Rounded Rectangle 3"/>
          <p:cNvSpPr/>
          <p:nvPr/>
        </p:nvSpPr>
        <p:spPr>
          <a:xfrm>
            <a:off x="10058400" y="274320"/>
            <a:ext cx="1444752" cy="329184"/>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1500" b="1" i="0" spc="60">
                <a:solidFill>
                  <a:srgbClr val="12161C"/>
                </a:solidFill>
                <a:latin typeface="Arial"/>
              </a:rPr>
              <a:t>DOUBLE EP</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6F7A89"/>
                </a:solidFill>
                <a:latin typeface="Arial Narrow"/>
              </a:rPr>
              <a:t>ENERGY LAB  ·  CRASH TEST #05</a:t>
            </a:r>
          </a:p>
        </p:txBody>
      </p:sp>
      <p:sp>
        <p:nvSpPr>
          <p:cNvPr id="6" name="Rectangle 5"/>
          <p:cNvSpPr/>
          <p:nvPr/>
        </p:nvSpPr>
        <p:spPr>
          <a:xfrm>
            <a:off x="4526280" y="6510528"/>
            <a:ext cx="127363" cy="54864"/>
          </a:xfrm>
          <a:prstGeom prst="rect">
            <a:avLst/>
          </a:prstGeom>
          <a:solidFill>
            <a:srgbClr val="8A6A1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8A6A1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8A6A1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8A6A1A"/>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8A6A1A"/>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8A6A1A"/>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8A6A1A"/>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8A6A1A"/>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8A6A1A"/>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8A6A1A"/>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8A6A1A"/>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8A6A1A"/>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8A6A1A"/>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FFB400"/>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6F7A89"/>
                </a:solidFill>
                <a:latin typeface="Arial Narrow"/>
              </a:rPr>
              <a:t>85</a:t>
            </a:fld>
          </a:p>
        </p:txBody>
      </p:sp>
      <p:sp>
        <p:nvSpPr>
          <p:cNvPr id="21" name="TextBox 20"/>
          <p:cNvSpPr txBox="1"/>
          <p:nvPr/>
        </p:nvSpPr>
        <p:spPr>
          <a:xfrm>
            <a:off x="685800" y="91440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A9B3C0"/>
                </a:solidFill>
                <a:latin typeface="Arial Narrow"/>
              </a:rPr>
              <a:t>FINAL BOSS · PUT IN ORDER</a:t>
            </a:r>
          </a:p>
        </p:txBody>
      </p:sp>
      <p:sp>
        <p:nvSpPr>
          <p:cNvPr id="22" name="TextBox 21"/>
          <p:cNvSpPr txBox="1"/>
          <p:nvPr/>
        </p:nvSpPr>
        <p:spPr>
          <a:xfrm>
            <a:off x="685800" y="1188720"/>
            <a:ext cx="10789920" cy="1005840"/>
          </a:xfrm>
          <a:prstGeom prst="rect">
            <a:avLst/>
          </a:prstGeom>
          <a:noFill/>
        </p:spPr>
        <p:txBody>
          <a:bodyPr wrap="square" anchor="t" lIns="0" rIns="0" tIns="0" bIns="0">
            <a:noAutofit/>
          </a:bodyPr>
          <a:lstStyle/>
          <a:p>
            <a:pPr algn="l">
              <a:lnSpc>
                <a:spcPct val="100000"/>
              </a:lnSpc>
              <a:spcBef>
                <a:spcPts val="0"/>
              </a:spcBef>
              <a:spcAft>
                <a:spcPts val="0"/>
              </a:spcAft>
            </a:pPr>
            <a:r>
              <a:rPr sz="3400" b="0" i="0">
                <a:solidFill>
                  <a:srgbClr val="F4F6F8"/>
                </a:solidFill>
                <a:latin typeface="Arial Black"/>
              </a:rPr>
              <a:t>WHAT IS THE CORRECT SEQUENCE?</a:t>
            </a:r>
          </a:p>
        </p:txBody>
      </p:sp>
      <p:sp>
        <p:nvSpPr>
          <p:cNvPr id="23" name="Rounded Rectangle 22"/>
          <p:cNvSpPr/>
          <p:nvPr/>
        </p:nvSpPr>
        <p:spPr>
          <a:xfrm>
            <a:off x="685800" y="2423160"/>
            <a:ext cx="10360152" cy="749808"/>
          </a:xfrm>
          <a:prstGeom prst="roundRect">
            <a:avLst>
              <a:gd name="adj" fmla="val 17073"/>
            </a:avLst>
          </a:prstGeom>
          <a:solidFill>
            <a:srgbClr val="1A2029"/>
          </a:solidFill>
          <a:ln w="19050">
            <a:solidFill>
              <a:srgbClr val="323C4A"/>
            </a:solidFill>
          </a:ln>
        </p:spPr>
        <p:txBody>
          <a:bodyPr rtlCol="0" anchor="ctr"/>
          <a:lstStyle/>
          <a:p>
            <a:pPr algn="ctr"/>
          </a:p>
        </p:txBody>
      </p:sp>
      <p:sp>
        <p:nvSpPr>
          <p:cNvPr id="24" name="Rounded Rectangle 23"/>
          <p:cNvSpPr/>
          <p:nvPr/>
        </p:nvSpPr>
        <p:spPr>
          <a:xfrm>
            <a:off x="868680" y="2523744"/>
            <a:ext cx="548640" cy="548640"/>
          </a:xfrm>
          <a:prstGeom prst="roundRect">
            <a:avLst>
              <a:gd name="adj" fmla="val 23333"/>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2200" b="1" i="0">
                <a:solidFill>
                  <a:srgbClr val="12161C"/>
                </a:solidFill>
                <a:latin typeface="Arial Black"/>
              </a:rPr>
              <a:t>A</a:t>
            </a:r>
          </a:p>
        </p:txBody>
      </p:sp>
      <p:sp>
        <p:nvSpPr>
          <p:cNvPr id="25" name="TextBox 24"/>
          <p:cNvSpPr txBox="1"/>
          <p:nvPr/>
        </p:nvSpPr>
        <p:spPr>
          <a:xfrm>
            <a:off x="1600200" y="2423160"/>
            <a:ext cx="9235440" cy="749808"/>
          </a:xfrm>
          <a:prstGeom prst="rect">
            <a:avLst/>
          </a:prstGeom>
          <a:noFill/>
        </p:spPr>
        <p:txBody>
          <a:bodyPr wrap="square" anchor="ctr" lIns="0" rIns="0" tIns="0" bIns="0">
            <a:noAutofit/>
          </a:bodyPr>
          <a:lstStyle/>
          <a:p>
            <a:pPr algn="l">
              <a:lnSpc>
                <a:spcPct val="100000"/>
              </a:lnSpc>
              <a:spcBef>
                <a:spcPts val="0"/>
              </a:spcBef>
              <a:spcAft>
                <a:spcPts val="0"/>
              </a:spcAft>
            </a:pPr>
            <a:r>
              <a:rPr sz="2200" b="1" i="0">
                <a:solidFill>
                  <a:srgbClr val="F4F6F8"/>
                </a:solidFill>
                <a:latin typeface="Arial"/>
              </a:rPr>
              <a:t>FORCE ON PASSENGER DECREASES</a:t>
            </a:r>
          </a:p>
        </p:txBody>
      </p:sp>
      <p:sp>
        <p:nvSpPr>
          <p:cNvPr id="26" name="Rounded Rectangle 25"/>
          <p:cNvSpPr/>
          <p:nvPr/>
        </p:nvSpPr>
        <p:spPr>
          <a:xfrm>
            <a:off x="685800" y="3319272"/>
            <a:ext cx="10360152" cy="749808"/>
          </a:xfrm>
          <a:prstGeom prst="roundRect">
            <a:avLst>
              <a:gd name="adj" fmla="val 17073"/>
            </a:avLst>
          </a:prstGeom>
          <a:solidFill>
            <a:srgbClr val="1A2029"/>
          </a:solidFill>
          <a:ln w="19050">
            <a:solidFill>
              <a:srgbClr val="323C4A"/>
            </a:solidFill>
          </a:ln>
        </p:spPr>
        <p:txBody>
          <a:bodyPr rtlCol="0" anchor="ctr"/>
          <a:lstStyle/>
          <a:p>
            <a:pPr algn="ctr"/>
          </a:p>
        </p:txBody>
      </p:sp>
      <p:sp>
        <p:nvSpPr>
          <p:cNvPr id="27" name="Rounded Rectangle 26"/>
          <p:cNvSpPr/>
          <p:nvPr/>
        </p:nvSpPr>
        <p:spPr>
          <a:xfrm>
            <a:off x="868680" y="3419856"/>
            <a:ext cx="548640" cy="548640"/>
          </a:xfrm>
          <a:prstGeom prst="roundRect">
            <a:avLst>
              <a:gd name="adj" fmla="val 23333"/>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2200" b="1" i="0">
                <a:solidFill>
                  <a:srgbClr val="12161C"/>
                </a:solidFill>
                <a:latin typeface="Arial Black"/>
              </a:rPr>
              <a:t>B</a:t>
            </a:r>
          </a:p>
        </p:txBody>
      </p:sp>
      <p:sp>
        <p:nvSpPr>
          <p:cNvPr id="28" name="TextBox 27"/>
          <p:cNvSpPr txBox="1"/>
          <p:nvPr/>
        </p:nvSpPr>
        <p:spPr>
          <a:xfrm>
            <a:off x="1600200" y="3319272"/>
            <a:ext cx="9235440" cy="749808"/>
          </a:xfrm>
          <a:prstGeom prst="rect">
            <a:avLst/>
          </a:prstGeom>
          <a:noFill/>
        </p:spPr>
        <p:txBody>
          <a:bodyPr wrap="square" anchor="ctr" lIns="0" rIns="0" tIns="0" bIns="0">
            <a:noAutofit/>
          </a:bodyPr>
          <a:lstStyle/>
          <a:p>
            <a:pPr algn="l">
              <a:lnSpc>
                <a:spcPct val="100000"/>
              </a:lnSpc>
              <a:spcBef>
                <a:spcPts val="0"/>
              </a:spcBef>
              <a:spcAft>
                <a:spcPts val="0"/>
              </a:spcAft>
            </a:pPr>
            <a:r>
              <a:rPr sz="2200" b="1" i="0">
                <a:solidFill>
                  <a:srgbClr val="F4F6F8"/>
                </a:solidFill>
                <a:latin typeface="Arial"/>
              </a:rPr>
              <a:t>SEATBELT STRETCHES</a:t>
            </a:r>
          </a:p>
        </p:txBody>
      </p:sp>
      <p:sp>
        <p:nvSpPr>
          <p:cNvPr id="29" name="Rounded Rectangle 28"/>
          <p:cNvSpPr/>
          <p:nvPr/>
        </p:nvSpPr>
        <p:spPr>
          <a:xfrm>
            <a:off x="685800" y="4215384"/>
            <a:ext cx="10360152" cy="749808"/>
          </a:xfrm>
          <a:prstGeom prst="roundRect">
            <a:avLst>
              <a:gd name="adj" fmla="val 17073"/>
            </a:avLst>
          </a:prstGeom>
          <a:solidFill>
            <a:srgbClr val="1A2029"/>
          </a:solidFill>
          <a:ln w="19050">
            <a:solidFill>
              <a:srgbClr val="323C4A"/>
            </a:solidFill>
          </a:ln>
        </p:spPr>
        <p:txBody>
          <a:bodyPr rtlCol="0" anchor="ctr"/>
          <a:lstStyle/>
          <a:p>
            <a:pPr algn="ctr"/>
          </a:p>
        </p:txBody>
      </p:sp>
      <p:sp>
        <p:nvSpPr>
          <p:cNvPr id="30" name="Rounded Rectangle 29"/>
          <p:cNvSpPr/>
          <p:nvPr/>
        </p:nvSpPr>
        <p:spPr>
          <a:xfrm>
            <a:off x="868680" y="4315968"/>
            <a:ext cx="548640" cy="548640"/>
          </a:xfrm>
          <a:prstGeom prst="roundRect">
            <a:avLst>
              <a:gd name="adj" fmla="val 23333"/>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2200" b="1" i="0">
                <a:solidFill>
                  <a:srgbClr val="12161C"/>
                </a:solidFill>
                <a:latin typeface="Arial Black"/>
              </a:rPr>
              <a:t>C</a:t>
            </a:r>
          </a:p>
        </p:txBody>
      </p:sp>
      <p:sp>
        <p:nvSpPr>
          <p:cNvPr id="31" name="TextBox 30"/>
          <p:cNvSpPr txBox="1"/>
          <p:nvPr/>
        </p:nvSpPr>
        <p:spPr>
          <a:xfrm>
            <a:off x="1600200" y="4215384"/>
            <a:ext cx="9235440" cy="749808"/>
          </a:xfrm>
          <a:prstGeom prst="rect">
            <a:avLst/>
          </a:prstGeom>
          <a:noFill/>
        </p:spPr>
        <p:txBody>
          <a:bodyPr wrap="square" anchor="ctr" lIns="0" rIns="0" tIns="0" bIns="0">
            <a:noAutofit/>
          </a:bodyPr>
          <a:lstStyle/>
          <a:p>
            <a:pPr algn="l">
              <a:lnSpc>
                <a:spcPct val="100000"/>
              </a:lnSpc>
              <a:spcBef>
                <a:spcPts val="0"/>
              </a:spcBef>
              <a:spcAft>
                <a:spcPts val="0"/>
              </a:spcAft>
            </a:pPr>
            <a:r>
              <a:rPr sz="2200" b="1" i="0">
                <a:solidFill>
                  <a:srgbClr val="F4F6F8"/>
                </a:solidFill>
                <a:latin typeface="Arial"/>
              </a:rPr>
              <a:t>INJURIES DECREASE</a:t>
            </a:r>
          </a:p>
        </p:txBody>
      </p:sp>
      <p:sp>
        <p:nvSpPr>
          <p:cNvPr id="32" name="Rounded Rectangle 31"/>
          <p:cNvSpPr/>
          <p:nvPr/>
        </p:nvSpPr>
        <p:spPr>
          <a:xfrm>
            <a:off x="685800" y="5111496"/>
            <a:ext cx="10360152" cy="749808"/>
          </a:xfrm>
          <a:prstGeom prst="roundRect">
            <a:avLst>
              <a:gd name="adj" fmla="val 17073"/>
            </a:avLst>
          </a:prstGeom>
          <a:solidFill>
            <a:srgbClr val="1A2029"/>
          </a:solidFill>
          <a:ln w="19050">
            <a:solidFill>
              <a:srgbClr val="323C4A"/>
            </a:solidFill>
          </a:ln>
        </p:spPr>
        <p:txBody>
          <a:bodyPr rtlCol="0" anchor="ctr"/>
          <a:lstStyle/>
          <a:p>
            <a:pPr algn="ctr"/>
          </a:p>
        </p:txBody>
      </p:sp>
      <p:sp>
        <p:nvSpPr>
          <p:cNvPr id="33" name="Rounded Rectangle 32"/>
          <p:cNvSpPr/>
          <p:nvPr/>
        </p:nvSpPr>
        <p:spPr>
          <a:xfrm>
            <a:off x="868680" y="5212080"/>
            <a:ext cx="548640" cy="548640"/>
          </a:xfrm>
          <a:prstGeom prst="roundRect">
            <a:avLst>
              <a:gd name="adj" fmla="val 23333"/>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2200" b="1" i="0">
                <a:solidFill>
                  <a:srgbClr val="12161C"/>
                </a:solidFill>
                <a:latin typeface="Arial Black"/>
              </a:rPr>
              <a:t>D</a:t>
            </a:r>
          </a:p>
        </p:txBody>
      </p:sp>
      <p:sp>
        <p:nvSpPr>
          <p:cNvPr id="34" name="TextBox 33"/>
          <p:cNvSpPr txBox="1"/>
          <p:nvPr/>
        </p:nvSpPr>
        <p:spPr>
          <a:xfrm>
            <a:off x="1600200" y="5111496"/>
            <a:ext cx="9235440" cy="749808"/>
          </a:xfrm>
          <a:prstGeom prst="rect">
            <a:avLst/>
          </a:prstGeom>
          <a:noFill/>
        </p:spPr>
        <p:txBody>
          <a:bodyPr wrap="square" anchor="ctr" lIns="0" rIns="0" tIns="0" bIns="0">
            <a:noAutofit/>
          </a:bodyPr>
          <a:lstStyle/>
          <a:p>
            <a:pPr algn="l">
              <a:lnSpc>
                <a:spcPct val="100000"/>
              </a:lnSpc>
              <a:spcBef>
                <a:spcPts val="0"/>
              </a:spcBef>
              <a:spcAft>
                <a:spcPts val="0"/>
              </a:spcAft>
            </a:pPr>
            <a:r>
              <a:rPr sz="2200" b="1" i="0">
                <a:solidFill>
                  <a:srgbClr val="F4F6F8"/>
                </a:solidFill>
                <a:latin typeface="Arial"/>
              </a:rPr>
              <a:t>STOPPING DISTANCE INCREASES</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Rectangle 1"/>
          <p:cNvSpPr/>
          <p:nvPr/>
        </p:nvSpPr>
        <p:spPr>
          <a:xfrm>
            <a:off x="685800" y="384048"/>
            <a:ext cx="118872" cy="118872"/>
          </a:xfrm>
          <a:prstGeom prst="rect">
            <a:avLst/>
          </a:prstGeom>
          <a:solidFill>
            <a:srgbClr val="FFB400"/>
          </a:solidFill>
          <a:ln>
            <a:noFill/>
          </a:ln>
        </p:spPr>
        <p:txBody>
          <a:bodyPr rtlCol="0" anchor="ctr"/>
          <a:lstStyle/>
          <a:p>
            <a:pPr algn="ctr"/>
          </a:p>
        </p:txBody>
      </p:sp>
      <p:sp>
        <p:nvSpPr>
          <p:cNvPr id="3" name="TextBox 2"/>
          <p:cNvSpPr txBox="1"/>
          <p:nvPr/>
        </p:nvSpPr>
        <p:spPr>
          <a:xfrm>
            <a:off x="932688" y="310896"/>
            <a:ext cx="5943600" cy="274320"/>
          </a:xfrm>
          <a:prstGeom prst="rect">
            <a:avLst/>
          </a:prstGeom>
          <a:noFill/>
        </p:spPr>
        <p:txBody>
          <a:bodyPr wrap="square" anchor="t" lIns="0" rIns="0" tIns="0" bIns="0">
            <a:noAutofit/>
          </a:bodyPr>
          <a:lstStyle/>
          <a:p>
            <a:pPr algn="l">
              <a:lnSpc>
                <a:spcPct val="100000"/>
              </a:lnSpc>
              <a:spcBef>
                <a:spcPts val="0"/>
              </a:spcBef>
              <a:spcAft>
                <a:spcPts val="0"/>
              </a:spcAft>
            </a:pPr>
            <a:r>
              <a:rPr sz="1300" b="1" i="0" spc="220">
                <a:solidFill>
                  <a:srgbClr val="A9B3C0"/>
                </a:solidFill>
                <a:latin typeface="Arial Narrow"/>
              </a:rPr>
              <a:t>ACT 8 · FINAL BOSS</a:t>
            </a:r>
          </a:p>
        </p:txBody>
      </p:sp>
      <p:sp>
        <p:nvSpPr>
          <p:cNvPr id="4" name="Rounded Rectangle 3"/>
          <p:cNvSpPr/>
          <p:nvPr/>
        </p:nvSpPr>
        <p:spPr>
          <a:xfrm>
            <a:off x="10058400" y="274320"/>
            <a:ext cx="1444752" cy="329184"/>
          </a:xfrm>
          <a:prstGeom prst="roundRect">
            <a:avLst>
              <a:gd name="adj" fmla="val 50000"/>
            </a:avLst>
          </a:prstGeom>
          <a:solidFill>
            <a:srgbClr val="FFB400"/>
          </a:solidFill>
          <a:ln>
            <a:noFill/>
          </a:ln>
        </p:spPr>
        <p:txBody>
          <a:bodyPr rtlCol="0" anchor="ctr" wrap="square" lIns="0" rIns="0" tIns="0" bIns="0">
            <a:noAutofit/>
          </a:bodyPr>
          <a:lstStyle/>
          <a:p>
            <a:pPr algn="ctr">
              <a:lnSpc>
                <a:spcPct val="100000"/>
              </a:lnSpc>
              <a:spcBef>
                <a:spcPts val="0"/>
              </a:spcBef>
              <a:spcAft>
                <a:spcPts val="0"/>
              </a:spcAft>
            </a:pPr>
            <a:r>
              <a:rPr sz="1500" b="1" i="0" spc="60">
                <a:solidFill>
                  <a:srgbClr val="12161C"/>
                </a:solidFill>
                <a:latin typeface="Arial"/>
              </a:rPr>
              <a:t>DOUBLE EP</a:t>
            </a:r>
          </a:p>
        </p:txBody>
      </p:sp>
      <p:sp>
        <p:nvSpPr>
          <p:cNvPr id="5" name="TextBox 4"/>
          <p:cNvSpPr txBox="1"/>
          <p:nvPr/>
        </p:nvSpPr>
        <p:spPr>
          <a:xfrm>
            <a:off x="685800" y="6419088"/>
            <a:ext cx="3657600" cy="228600"/>
          </a:xfrm>
          <a:prstGeom prst="rect">
            <a:avLst/>
          </a:prstGeom>
          <a:noFill/>
        </p:spPr>
        <p:txBody>
          <a:bodyPr wrap="square" anchor="t" lIns="0" rIns="0" tIns="0" bIns="0">
            <a:noAutofit/>
          </a:bodyPr>
          <a:lstStyle/>
          <a:p>
            <a:pPr algn="l">
              <a:lnSpc>
                <a:spcPct val="100000"/>
              </a:lnSpc>
              <a:spcBef>
                <a:spcPts val="0"/>
              </a:spcBef>
              <a:spcAft>
                <a:spcPts val="0"/>
              </a:spcAft>
            </a:pPr>
            <a:r>
              <a:rPr sz="1100" b="1" i="0" spc="200">
                <a:solidFill>
                  <a:srgbClr val="6F7A89"/>
                </a:solidFill>
                <a:latin typeface="Arial Narrow"/>
              </a:rPr>
              <a:t>ENERGY LAB  ·  CRASH TEST #05</a:t>
            </a:r>
          </a:p>
        </p:txBody>
      </p:sp>
      <p:sp>
        <p:nvSpPr>
          <p:cNvPr id="6" name="Rectangle 5"/>
          <p:cNvSpPr/>
          <p:nvPr/>
        </p:nvSpPr>
        <p:spPr>
          <a:xfrm>
            <a:off x="4526280" y="6510528"/>
            <a:ext cx="127363" cy="54864"/>
          </a:xfrm>
          <a:prstGeom prst="rect">
            <a:avLst/>
          </a:prstGeom>
          <a:solidFill>
            <a:srgbClr val="8A6A1A"/>
          </a:solidFill>
          <a:ln>
            <a:noFill/>
          </a:ln>
        </p:spPr>
        <p:txBody>
          <a:bodyPr rtlCol="0" anchor="ctr"/>
          <a:lstStyle/>
          <a:p>
            <a:pPr algn="ctr"/>
          </a:p>
        </p:txBody>
      </p:sp>
      <p:sp>
        <p:nvSpPr>
          <p:cNvPr id="7" name="Rectangle 6"/>
          <p:cNvSpPr/>
          <p:nvPr/>
        </p:nvSpPr>
        <p:spPr>
          <a:xfrm>
            <a:off x="4676503" y="6510528"/>
            <a:ext cx="187452" cy="54864"/>
          </a:xfrm>
          <a:prstGeom prst="rect">
            <a:avLst/>
          </a:prstGeom>
          <a:solidFill>
            <a:srgbClr val="8A6A1A"/>
          </a:solidFill>
          <a:ln>
            <a:noFill/>
          </a:ln>
        </p:spPr>
        <p:txBody>
          <a:bodyPr rtlCol="0" anchor="ctr"/>
          <a:lstStyle/>
          <a:p>
            <a:pPr algn="ctr"/>
          </a:p>
        </p:txBody>
      </p:sp>
      <p:sp>
        <p:nvSpPr>
          <p:cNvPr id="8" name="Rectangle 7"/>
          <p:cNvSpPr/>
          <p:nvPr/>
        </p:nvSpPr>
        <p:spPr>
          <a:xfrm>
            <a:off x="4886815" y="6510528"/>
            <a:ext cx="157407" cy="54864"/>
          </a:xfrm>
          <a:prstGeom prst="rect">
            <a:avLst/>
          </a:prstGeom>
          <a:solidFill>
            <a:srgbClr val="8A6A1A"/>
          </a:solidFill>
          <a:ln>
            <a:noFill/>
          </a:ln>
        </p:spPr>
        <p:txBody>
          <a:bodyPr rtlCol="0" anchor="ctr"/>
          <a:lstStyle/>
          <a:p>
            <a:pPr algn="ctr"/>
          </a:p>
        </p:txBody>
      </p:sp>
      <p:sp>
        <p:nvSpPr>
          <p:cNvPr id="9" name="Rectangle 8"/>
          <p:cNvSpPr/>
          <p:nvPr/>
        </p:nvSpPr>
        <p:spPr>
          <a:xfrm>
            <a:off x="5067082" y="6510528"/>
            <a:ext cx="337675" cy="54864"/>
          </a:xfrm>
          <a:prstGeom prst="rect">
            <a:avLst/>
          </a:prstGeom>
          <a:solidFill>
            <a:srgbClr val="8A6A1A"/>
          </a:solidFill>
          <a:ln>
            <a:noFill/>
          </a:ln>
        </p:spPr>
        <p:txBody>
          <a:bodyPr rtlCol="0" anchor="ctr"/>
          <a:lstStyle/>
          <a:p>
            <a:pPr algn="ctr"/>
          </a:p>
        </p:txBody>
      </p:sp>
      <p:sp>
        <p:nvSpPr>
          <p:cNvPr id="10" name="Rectangle 9"/>
          <p:cNvSpPr/>
          <p:nvPr/>
        </p:nvSpPr>
        <p:spPr>
          <a:xfrm>
            <a:off x="5427617" y="6510528"/>
            <a:ext cx="247541" cy="54864"/>
          </a:xfrm>
          <a:prstGeom prst="rect">
            <a:avLst/>
          </a:prstGeom>
          <a:solidFill>
            <a:srgbClr val="8A6A1A"/>
          </a:solidFill>
          <a:ln>
            <a:noFill/>
          </a:ln>
        </p:spPr>
        <p:txBody>
          <a:bodyPr rtlCol="0" anchor="ctr"/>
          <a:lstStyle/>
          <a:p>
            <a:pPr algn="ctr"/>
          </a:p>
        </p:txBody>
      </p:sp>
      <p:sp>
        <p:nvSpPr>
          <p:cNvPr id="11" name="Rectangle 10"/>
          <p:cNvSpPr/>
          <p:nvPr/>
        </p:nvSpPr>
        <p:spPr>
          <a:xfrm>
            <a:off x="5698018" y="6510528"/>
            <a:ext cx="67274" cy="54864"/>
          </a:xfrm>
          <a:prstGeom prst="rect">
            <a:avLst/>
          </a:prstGeom>
          <a:solidFill>
            <a:srgbClr val="8A6A1A"/>
          </a:solidFill>
          <a:ln>
            <a:noFill/>
          </a:ln>
        </p:spPr>
        <p:txBody>
          <a:bodyPr rtlCol="0" anchor="ctr"/>
          <a:lstStyle/>
          <a:p>
            <a:pPr algn="ctr"/>
          </a:p>
        </p:txBody>
      </p:sp>
      <p:sp>
        <p:nvSpPr>
          <p:cNvPr id="12" name="Rectangle 11"/>
          <p:cNvSpPr/>
          <p:nvPr/>
        </p:nvSpPr>
        <p:spPr>
          <a:xfrm>
            <a:off x="5788152" y="6510528"/>
            <a:ext cx="397764" cy="54864"/>
          </a:xfrm>
          <a:prstGeom prst="rect">
            <a:avLst/>
          </a:prstGeom>
          <a:solidFill>
            <a:srgbClr val="8A6A1A"/>
          </a:solidFill>
          <a:ln>
            <a:noFill/>
          </a:ln>
        </p:spPr>
        <p:txBody>
          <a:bodyPr rtlCol="0" anchor="ctr"/>
          <a:lstStyle/>
          <a:p>
            <a:pPr algn="ctr"/>
          </a:p>
        </p:txBody>
      </p:sp>
      <p:sp>
        <p:nvSpPr>
          <p:cNvPr id="13" name="Rectangle 12"/>
          <p:cNvSpPr/>
          <p:nvPr/>
        </p:nvSpPr>
        <p:spPr>
          <a:xfrm>
            <a:off x="6208776" y="6510528"/>
            <a:ext cx="187452" cy="54864"/>
          </a:xfrm>
          <a:prstGeom prst="rect">
            <a:avLst/>
          </a:prstGeom>
          <a:solidFill>
            <a:srgbClr val="8A6A1A"/>
          </a:solidFill>
          <a:ln>
            <a:noFill/>
          </a:ln>
        </p:spPr>
        <p:txBody>
          <a:bodyPr rtlCol="0" anchor="ctr"/>
          <a:lstStyle/>
          <a:p>
            <a:pPr algn="ctr"/>
          </a:p>
        </p:txBody>
      </p:sp>
      <p:sp>
        <p:nvSpPr>
          <p:cNvPr id="14" name="Rectangle 13"/>
          <p:cNvSpPr/>
          <p:nvPr/>
        </p:nvSpPr>
        <p:spPr>
          <a:xfrm>
            <a:off x="6419088" y="6510528"/>
            <a:ext cx="367719" cy="54864"/>
          </a:xfrm>
          <a:prstGeom prst="rect">
            <a:avLst/>
          </a:prstGeom>
          <a:solidFill>
            <a:srgbClr val="8A6A1A"/>
          </a:solidFill>
          <a:ln>
            <a:noFill/>
          </a:ln>
        </p:spPr>
        <p:txBody>
          <a:bodyPr rtlCol="0" anchor="ctr"/>
          <a:lstStyle/>
          <a:p>
            <a:pPr algn="ctr"/>
          </a:p>
        </p:txBody>
      </p:sp>
      <p:sp>
        <p:nvSpPr>
          <p:cNvPr id="15" name="Rectangle 14"/>
          <p:cNvSpPr/>
          <p:nvPr/>
        </p:nvSpPr>
        <p:spPr>
          <a:xfrm>
            <a:off x="6809667" y="6510528"/>
            <a:ext cx="157407" cy="54864"/>
          </a:xfrm>
          <a:prstGeom prst="rect">
            <a:avLst/>
          </a:prstGeom>
          <a:solidFill>
            <a:srgbClr val="8A6A1A"/>
          </a:solidFill>
          <a:ln>
            <a:noFill/>
          </a:ln>
        </p:spPr>
        <p:txBody>
          <a:bodyPr rtlCol="0" anchor="ctr"/>
          <a:lstStyle/>
          <a:p>
            <a:pPr algn="ctr"/>
          </a:p>
        </p:txBody>
      </p:sp>
      <p:sp>
        <p:nvSpPr>
          <p:cNvPr id="16" name="Rectangle 15"/>
          <p:cNvSpPr/>
          <p:nvPr/>
        </p:nvSpPr>
        <p:spPr>
          <a:xfrm>
            <a:off x="6989935" y="6510528"/>
            <a:ext cx="217497" cy="54864"/>
          </a:xfrm>
          <a:prstGeom prst="rect">
            <a:avLst/>
          </a:prstGeom>
          <a:solidFill>
            <a:srgbClr val="8A6A1A"/>
          </a:solidFill>
          <a:ln>
            <a:noFill/>
          </a:ln>
        </p:spPr>
        <p:txBody>
          <a:bodyPr rtlCol="0" anchor="ctr"/>
          <a:lstStyle/>
          <a:p>
            <a:pPr algn="ctr"/>
          </a:p>
        </p:txBody>
      </p:sp>
      <p:sp>
        <p:nvSpPr>
          <p:cNvPr id="17" name="Rectangle 16"/>
          <p:cNvSpPr/>
          <p:nvPr/>
        </p:nvSpPr>
        <p:spPr>
          <a:xfrm>
            <a:off x="7230291" y="6510528"/>
            <a:ext cx="217497" cy="54864"/>
          </a:xfrm>
          <a:prstGeom prst="rect">
            <a:avLst/>
          </a:prstGeom>
          <a:solidFill>
            <a:srgbClr val="8A6A1A"/>
          </a:solidFill>
          <a:ln>
            <a:noFill/>
          </a:ln>
        </p:spPr>
        <p:txBody>
          <a:bodyPr rtlCol="0" anchor="ctr"/>
          <a:lstStyle/>
          <a:p>
            <a:pPr algn="ctr"/>
          </a:p>
        </p:txBody>
      </p:sp>
      <p:sp>
        <p:nvSpPr>
          <p:cNvPr id="18" name="Rectangle 17"/>
          <p:cNvSpPr/>
          <p:nvPr/>
        </p:nvSpPr>
        <p:spPr>
          <a:xfrm>
            <a:off x="7470648" y="6510528"/>
            <a:ext cx="97318" cy="54864"/>
          </a:xfrm>
          <a:prstGeom prst="rect">
            <a:avLst/>
          </a:prstGeom>
          <a:solidFill>
            <a:srgbClr val="8A6A1A"/>
          </a:solidFill>
          <a:ln>
            <a:noFill/>
          </a:ln>
        </p:spPr>
        <p:txBody>
          <a:bodyPr rtlCol="0" anchor="ctr"/>
          <a:lstStyle/>
          <a:p>
            <a:pPr algn="ctr"/>
          </a:p>
        </p:txBody>
      </p:sp>
      <p:sp>
        <p:nvSpPr>
          <p:cNvPr id="19" name="Rectangle 18"/>
          <p:cNvSpPr/>
          <p:nvPr/>
        </p:nvSpPr>
        <p:spPr>
          <a:xfrm>
            <a:off x="7590826" y="6510528"/>
            <a:ext cx="67274" cy="54864"/>
          </a:xfrm>
          <a:prstGeom prst="rect">
            <a:avLst/>
          </a:prstGeom>
          <a:solidFill>
            <a:srgbClr val="FFB400"/>
          </a:solidFill>
          <a:ln>
            <a:noFill/>
          </a:ln>
        </p:spPr>
        <p:txBody>
          <a:bodyPr rtlCol="0" anchor="ctr"/>
          <a:lstStyle/>
          <a:p>
            <a:pPr algn="ctr"/>
          </a:p>
        </p:txBody>
      </p:sp>
      <p:sp>
        <p:nvSpPr>
          <p:cNvPr id="20" name="TextBox 19"/>
          <p:cNvSpPr txBox="1"/>
          <p:nvPr/>
        </p:nvSpPr>
        <p:spPr>
          <a:xfrm>
            <a:off x="10607040" y="6400800"/>
            <a:ext cx="914400" cy="256032"/>
          </a:xfrm>
          <a:prstGeom prst="rect">
            <a:avLst/>
          </a:prstGeom>
          <a:noFill/>
        </p:spPr>
        <p:txBody>
          <a:bodyPr wrap="none" lIns="0" rIns="0" tIns="0" bIns="0">
            <a:spAutoFit/>
          </a:bodyPr>
          <a:lstStyle/>
          <a:p>
            <a:pPr algn="r"/>
            <a:fld id="{B6F15528-21DE-4FAA-801E-634DDDAF4B2B}" type="slidenum">
              <a:rPr lang="en-US" sz="1200" b="1">
                <a:solidFill>
                  <a:srgbClr val="6F7A89"/>
                </a:solidFill>
                <a:latin typeface="Arial Narrow"/>
              </a:rPr>
              <a:t>86</a:t>
            </a:fld>
          </a:p>
        </p:txBody>
      </p:sp>
      <p:sp>
        <p:nvSpPr>
          <p:cNvPr id="21" name="TextBox 20"/>
          <p:cNvSpPr txBox="1"/>
          <p:nvPr/>
        </p:nvSpPr>
        <p:spPr>
          <a:xfrm>
            <a:off x="685800" y="777240"/>
            <a:ext cx="9144000"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spc="300">
                <a:solidFill>
                  <a:srgbClr val="A9B3C0"/>
                </a:solidFill>
                <a:latin typeface="Arial Narrow"/>
              </a:rPr>
              <a:t>FINAL BOSS · CORRECT SEQUENCE</a:t>
            </a:r>
          </a:p>
        </p:txBody>
      </p:sp>
      <p:sp>
        <p:nvSpPr>
          <p:cNvPr id="22" name="Rounded Rectangle 21"/>
          <p:cNvSpPr/>
          <p:nvPr/>
        </p:nvSpPr>
        <p:spPr>
          <a:xfrm>
            <a:off x="685800" y="1417320"/>
            <a:ext cx="2468880" cy="502920"/>
          </a:xfrm>
          <a:prstGeom prst="roundRect">
            <a:avLst>
              <a:gd name="adj" fmla="val 18181"/>
            </a:avLst>
          </a:prstGeom>
          <a:solidFill>
            <a:srgbClr val="FFB400"/>
          </a:solidFill>
          <a:ln w="19050">
            <a:solidFill>
              <a:srgbClr val="323C4A"/>
            </a:solidFill>
          </a:ln>
        </p:spPr>
        <p:txBody>
          <a:bodyPr rtlCol="0" anchor="ctr"/>
          <a:lstStyle/>
          <a:p>
            <a:pPr algn="ctr"/>
          </a:p>
        </p:txBody>
      </p:sp>
      <p:sp>
        <p:nvSpPr>
          <p:cNvPr id="23" name="TextBox 22"/>
          <p:cNvSpPr txBox="1"/>
          <p:nvPr/>
        </p:nvSpPr>
        <p:spPr>
          <a:xfrm>
            <a:off x="685800" y="1417320"/>
            <a:ext cx="2468880" cy="502920"/>
          </a:xfrm>
          <a:prstGeom prst="rect">
            <a:avLst/>
          </a:prstGeom>
          <a:noFill/>
        </p:spPr>
        <p:txBody>
          <a:bodyPr wrap="square" anchor="ctr" lIns="0" rIns="0" tIns="0" bIns="0">
            <a:noAutofit/>
          </a:bodyPr>
          <a:lstStyle/>
          <a:p>
            <a:pPr algn="ctr">
              <a:lnSpc>
                <a:spcPct val="100000"/>
              </a:lnSpc>
              <a:spcBef>
                <a:spcPts val="0"/>
              </a:spcBef>
              <a:spcAft>
                <a:spcPts val="0"/>
              </a:spcAft>
            </a:pPr>
            <a:r>
              <a:rPr sz="2400" b="0" i="0">
                <a:solidFill>
                  <a:srgbClr val="12161C"/>
                </a:solidFill>
                <a:latin typeface="Arial Black"/>
              </a:rPr>
              <a:t>B</a:t>
            </a:r>
          </a:p>
        </p:txBody>
      </p:sp>
      <p:sp>
        <p:nvSpPr>
          <p:cNvPr id="24" name="Freeform 23"/>
          <p:cNvSpPr/>
          <p:nvPr/>
        </p:nvSpPr>
        <p:spPr>
          <a:xfrm>
            <a:off x="3246120" y="1527048"/>
            <a:ext cx="457200" cy="274320"/>
          </a:xfrm>
          <a:custGeom>
            <a:avLst/>
            <a:gdLst/>
            <a:ahLst/>
            <a:cxnLst/>
            <a:rect l="l" t="t" r="r" b="b"/>
            <a:pathLst>
              <a:path w="457200" h="274320">
                <a:moveTo>
                  <a:pt x="0" y="79553"/>
                </a:moveTo>
                <a:lnTo>
                  <a:pt x="251460" y="79553"/>
                </a:lnTo>
                <a:lnTo>
                  <a:pt x="251460" y="0"/>
                </a:lnTo>
                <a:lnTo>
                  <a:pt x="457200" y="137160"/>
                </a:lnTo>
                <a:lnTo>
                  <a:pt x="251460" y="274320"/>
                </a:lnTo>
                <a:lnTo>
                  <a:pt x="251460" y="194767"/>
                </a:lnTo>
                <a:lnTo>
                  <a:pt x="0" y="194767"/>
                </a:lnTo>
                <a:close/>
              </a:path>
            </a:pathLst>
          </a:custGeom>
          <a:solidFill>
            <a:srgbClr val="FFB400"/>
          </a:solidFill>
          <a:ln>
            <a:noFill/>
          </a:ln>
        </p:spPr>
        <p:txBody>
          <a:bodyPr rtlCol="0" anchor="ctr"/>
          <a:lstStyle/>
          <a:p>
            <a:pPr algn="ctr"/>
          </a:p>
        </p:txBody>
      </p:sp>
      <p:sp>
        <p:nvSpPr>
          <p:cNvPr id="25" name="Rounded Rectangle 24"/>
          <p:cNvSpPr/>
          <p:nvPr/>
        </p:nvSpPr>
        <p:spPr>
          <a:xfrm>
            <a:off x="685800" y="2057400"/>
            <a:ext cx="2468880" cy="502920"/>
          </a:xfrm>
          <a:prstGeom prst="roundRect">
            <a:avLst>
              <a:gd name="adj" fmla="val 18181"/>
            </a:avLst>
          </a:prstGeom>
          <a:solidFill>
            <a:srgbClr val="FFB400"/>
          </a:solidFill>
          <a:ln w="19050">
            <a:solidFill>
              <a:srgbClr val="323C4A"/>
            </a:solidFill>
          </a:ln>
        </p:spPr>
        <p:txBody>
          <a:bodyPr rtlCol="0" anchor="ctr"/>
          <a:lstStyle/>
          <a:p>
            <a:pPr algn="ctr"/>
          </a:p>
        </p:txBody>
      </p:sp>
      <p:sp>
        <p:nvSpPr>
          <p:cNvPr id="26" name="TextBox 25"/>
          <p:cNvSpPr txBox="1"/>
          <p:nvPr/>
        </p:nvSpPr>
        <p:spPr>
          <a:xfrm>
            <a:off x="685800" y="2057400"/>
            <a:ext cx="2468880" cy="502920"/>
          </a:xfrm>
          <a:prstGeom prst="rect">
            <a:avLst/>
          </a:prstGeom>
          <a:noFill/>
        </p:spPr>
        <p:txBody>
          <a:bodyPr wrap="square" anchor="ctr" lIns="0" rIns="0" tIns="0" bIns="0">
            <a:noAutofit/>
          </a:bodyPr>
          <a:lstStyle/>
          <a:p>
            <a:pPr algn="ctr">
              <a:lnSpc>
                <a:spcPct val="100000"/>
              </a:lnSpc>
              <a:spcBef>
                <a:spcPts val="0"/>
              </a:spcBef>
              <a:spcAft>
                <a:spcPts val="0"/>
              </a:spcAft>
            </a:pPr>
            <a:r>
              <a:rPr sz="2400" b="0" i="0">
                <a:solidFill>
                  <a:srgbClr val="12161C"/>
                </a:solidFill>
                <a:latin typeface="Arial Black"/>
              </a:rPr>
              <a:t>D</a:t>
            </a:r>
          </a:p>
        </p:txBody>
      </p:sp>
      <p:sp>
        <p:nvSpPr>
          <p:cNvPr id="27" name="Freeform 26"/>
          <p:cNvSpPr/>
          <p:nvPr/>
        </p:nvSpPr>
        <p:spPr>
          <a:xfrm>
            <a:off x="3246120" y="2167128"/>
            <a:ext cx="457200" cy="274320"/>
          </a:xfrm>
          <a:custGeom>
            <a:avLst/>
            <a:gdLst/>
            <a:ahLst/>
            <a:cxnLst/>
            <a:rect l="l" t="t" r="r" b="b"/>
            <a:pathLst>
              <a:path w="457200" h="274320">
                <a:moveTo>
                  <a:pt x="0" y="79553"/>
                </a:moveTo>
                <a:lnTo>
                  <a:pt x="251460" y="79553"/>
                </a:lnTo>
                <a:lnTo>
                  <a:pt x="251460" y="0"/>
                </a:lnTo>
                <a:lnTo>
                  <a:pt x="457200" y="137160"/>
                </a:lnTo>
                <a:lnTo>
                  <a:pt x="251460" y="274320"/>
                </a:lnTo>
                <a:lnTo>
                  <a:pt x="251460" y="194767"/>
                </a:lnTo>
                <a:lnTo>
                  <a:pt x="0" y="194767"/>
                </a:lnTo>
                <a:close/>
              </a:path>
            </a:pathLst>
          </a:custGeom>
          <a:solidFill>
            <a:srgbClr val="FFB400"/>
          </a:solidFill>
          <a:ln>
            <a:noFill/>
          </a:ln>
        </p:spPr>
        <p:txBody>
          <a:bodyPr rtlCol="0" anchor="ctr"/>
          <a:lstStyle/>
          <a:p>
            <a:pPr algn="ctr"/>
          </a:p>
        </p:txBody>
      </p:sp>
      <p:sp>
        <p:nvSpPr>
          <p:cNvPr id="28" name="Rounded Rectangle 27"/>
          <p:cNvSpPr/>
          <p:nvPr/>
        </p:nvSpPr>
        <p:spPr>
          <a:xfrm>
            <a:off x="685800" y="2697480"/>
            <a:ext cx="2468880" cy="502920"/>
          </a:xfrm>
          <a:prstGeom prst="roundRect">
            <a:avLst>
              <a:gd name="adj" fmla="val 18181"/>
            </a:avLst>
          </a:prstGeom>
          <a:solidFill>
            <a:srgbClr val="FFB400"/>
          </a:solidFill>
          <a:ln w="19050">
            <a:solidFill>
              <a:srgbClr val="323C4A"/>
            </a:solidFill>
          </a:ln>
        </p:spPr>
        <p:txBody>
          <a:bodyPr rtlCol="0" anchor="ctr"/>
          <a:lstStyle/>
          <a:p>
            <a:pPr algn="ctr"/>
          </a:p>
        </p:txBody>
      </p:sp>
      <p:sp>
        <p:nvSpPr>
          <p:cNvPr id="29" name="TextBox 28"/>
          <p:cNvSpPr txBox="1"/>
          <p:nvPr/>
        </p:nvSpPr>
        <p:spPr>
          <a:xfrm>
            <a:off x="685800" y="2697480"/>
            <a:ext cx="2468880" cy="502920"/>
          </a:xfrm>
          <a:prstGeom prst="rect">
            <a:avLst/>
          </a:prstGeom>
          <a:noFill/>
        </p:spPr>
        <p:txBody>
          <a:bodyPr wrap="square" anchor="ctr" lIns="0" rIns="0" tIns="0" bIns="0">
            <a:noAutofit/>
          </a:bodyPr>
          <a:lstStyle/>
          <a:p>
            <a:pPr algn="ctr">
              <a:lnSpc>
                <a:spcPct val="100000"/>
              </a:lnSpc>
              <a:spcBef>
                <a:spcPts val="0"/>
              </a:spcBef>
              <a:spcAft>
                <a:spcPts val="0"/>
              </a:spcAft>
            </a:pPr>
            <a:r>
              <a:rPr sz="2400" b="0" i="0">
                <a:solidFill>
                  <a:srgbClr val="12161C"/>
                </a:solidFill>
                <a:latin typeface="Arial Black"/>
              </a:rPr>
              <a:t>A</a:t>
            </a:r>
          </a:p>
        </p:txBody>
      </p:sp>
      <p:sp>
        <p:nvSpPr>
          <p:cNvPr id="30" name="Freeform 29"/>
          <p:cNvSpPr/>
          <p:nvPr/>
        </p:nvSpPr>
        <p:spPr>
          <a:xfrm>
            <a:off x="3246120" y="2807208"/>
            <a:ext cx="457200" cy="274320"/>
          </a:xfrm>
          <a:custGeom>
            <a:avLst/>
            <a:gdLst/>
            <a:ahLst/>
            <a:cxnLst/>
            <a:rect l="l" t="t" r="r" b="b"/>
            <a:pathLst>
              <a:path w="457200" h="274320">
                <a:moveTo>
                  <a:pt x="0" y="79553"/>
                </a:moveTo>
                <a:lnTo>
                  <a:pt x="251460" y="79553"/>
                </a:lnTo>
                <a:lnTo>
                  <a:pt x="251460" y="0"/>
                </a:lnTo>
                <a:lnTo>
                  <a:pt x="457200" y="137160"/>
                </a:lnTo>
                <a:lnTo>
                  <a:pt x="251460" y="274320"/>
                </a:lnTo>
                <a:lnTo>
                  <a:pt x="251460" y="194767"/>
                </a:lnTo>
                <a:lnTo>
                  <a:pt x="0" y="194767"/>
                </a:lnTo>
                <a:close/>
              </a:path>
            </a:pathLst>
          </a:custGeom>
          <a:solidFill>
            <a:srgbClr val="FFB400"/>
          </a:solidFill>
          <a:ln>
            <a:noFill/>
          </a:ln>
        </p:spPr>
        <p:txBody>
          <a:bodyPr rtlCol="0" anchor="ctr"/>
          <a:lstStyle/>
          <a:p>
            <a:pPr algn="ctr"/>
          </a:p>
        </p:txBody>
      </p:sp>
      <p:sp>
        <p:nvSpPr>
          <p:cNvPr id="31" name="Rounded Rectangle 30"/>
          <p:cNvSpPr/>
          <p:nvPr/>
        </p:nvSpPr>
        <p:spPr>
          <a:xfrm>
            <a:off x="685800" y="3337560"/>
            <a:ext cx="2468880" cy="502920"/>
          </a:xfrm>
          <a:prstGeom prst="roundRect">
            <a:avLst>
              <a:gd name="adj" fmla="val 18181"/>
            </a:avLst>
          </a:prstGeom>
          <a:solidFill>
            <a:srgbClr val="FFB400"/>
          </a:solidFill>
          <a:ln w="19050">
            <a:solidFill>
              <a:srgbClr val="323C4A"/>
            </a:solidFill>
          </a:ln>
        </p:spPr>
        <p:txBody>
          <a:bodyPr rtlCol="0" anchor="ctr"/>
          <a:lstStyle/>
          <a:p>
            <a:pPr algn="ctr"/>
          </a:p>
        </p:txBody>
      </p:sp>
      <p:sp>
        <p:nvSpPr>
          <p:cNvPr id="32" name="TextBox 31"/>
          <p:cNvSpPr txBox="1"/>
          <p:nvPr/>
        </p:nvSpPr>
        <p:spPr>
          <a:xfrm>
            <a:off x="685800" y="3337560"/>
            <a:ext cx="2468880" cy="502920"/>
          </a:xfrm>
          <a:prstGeom prst="rect">
            <a:avLst/>
          </a:prstGeom>
          <a:noFill/>
        </p:spPr>
        <p:txBody>
          <a:bodyPr wrap="square" anchor="ctr" lIns="0" rIns="0" tIns="0" bIns="0">
            <a:noAutofit/>
          </a:bodyPr>
          <a:lstStyle/>
          <a:p>
            <a:pPr algn="ctr">
              <a:lnSpc>
                <a:spcPct val="100000"/>
              </a:lnSpc>
              <a:spcBef>
                <a:spcPts val="0"/>
              </a:spcBef>
              <a:spcAft>
                <a:spcPts val="0"/>
              </a:spcAft>
            </a:pPr>
            <a:r>
              <a:rPr sz="2400" b="0" i="0">
                <a:solidFill>
                  <a:srgbClr val="12161C"/>
                </a:solidFill>
                <a:latin typeface="Arial Black"/>
              </a:rPr>
              <a:t>C</a:t>
            </a:r>
          </a:p>
        </p:txBody>
      </p:sp>
      <p:sp>
        <p:nvSpPr>
          <p:cNvPr id="33" name="Rounded Rectangle 32"/>
          <p:cNvSpPr/>
          <p:nvPr/>
        </p:nvSpPr>
        <p:spPr>
          <a:xfrm>
            <a:off x="3931920" y="1417320"/>
            <a:ext cx="7086600" cy="502920"/>
          </a:xfrm>
          <a:prstGeom prst="roundRect">
            <a:avLst>
              <a:gd name="adj" fmla="val 18181"/>
            </a:avLst>
          </a:prstGeom>
          <a:solidFill>
            <a:srgbClr val="232B36"/>
          </a:solidFill>
          <a:ln>
            <a:noFill/>
          </a:ln>
        </p:spPr>
        <p:txBody>
          <a:bodyPr rtlCol="0" anchor="ctr" wrap="square" lIns="0" rIns="0" tIns="0" bIns="0">
            <a:noAutofit/>
          </a:bodyPr>
          <a:lstStyle/>
          <a:p>
            <a:pPr algn="ctr">
              <a:lnSpc>
                <a:spcPct val="100000"/>
              </a:lnSpc>
              <a:spcBef>
                <a:spcPts val="0"/>
              </a:spcBef>
              <a:spcAft>
                <a:spcPts val="0"/>
              </a:spcAft>
            </a:pPr>
            <a:r>
              <a:rPr sz="2200" b="1" i="0">
                <a:solidFill>
                  <a:srgbClr val="F4F6F8"/>
                </a:solidFill>
                <a:latin typeface="Arial"/>
              </a:rPr>
              <a:t>SEATBELT STRETCHES</a:t>
            </a:r>
          </a:p>
        </p:txBody>
      </p:sp>
      <p:sp>
        <p:nvSpPr>
          <p:cNvPr id="34" name="Rounded Rectangle 33"/>
          <p:cNvSpPr/>
          <p:nvPr/>
        </p:nvSpPr>
        <p:spPr>
          <a:xfrm>
            <a:off x="3931920" y="2057400"/>
            <a:ext cx="7086600" cy="502920"/>
          </a:xfrm>
          <a:prstGeom prst="roundRect">
            <a:avLst>
              <a:gd name="adj" fmla="val 18181"/>
            </a:avLst>
          </a:prstGeom>
          <a:solidFill>
            <a:srgbClr val="232B36"/>
          </a:solidFill>
          <a:ln>
            <a:noFill/>
          </a:ln>
        </p:spPr>
        <p:txBody>
          <a:bodyPr rtlCol="0" anchor="ctr" wrap="square" lIns="0" rIns="0" tIns="0" bIns="0">
            <a:noAutofit/>
          </a:bodyPr>
          <a:lstStyle/>
          <a:p>
            <a:pPr algn="ctr">
              <a:lnSpc>
                <a:spcPct val="100000"/>
              </a:lnSpc>
              <a:spcBef>
                <a:spcPts val="0"/>
              </a:spcBef>
              <a:spcAft>
                <a:spcPts val="0"/>
              </a:spcAft>
            </a:pPr>
            <a:r>
              <a:rPr sz="2200" b="1" i="0">
                <a:solidFill>
                  <a:srgbClr val="F4F6F8"/>
                </a:solidFill>
                <a:latin typeface="Arial"/>
              </a:rPr>
              <a:t>STOPPING DISTANCE ↑</a:t>
            </a:r>
          </a:p>
        </p:txBody>
      </p:sp>
      <p:sp>
        <p:nvSpPr>
          <p:cNvPr id="35" name="Rounded Rectangle 34"/>
          <p:cNvSpPr/>
          <p:nvPr/>
        </p:nvSpPr>
        <p:spPr>
          <a:xfrm>
            <a:off x="3931920" y="2697480"/>
            <a:ext cx="7086600" cy="502920"/>
          </a:xfrm>
          <a:prstGeom prst="roundRect">
            <a:avLst>
              <a:gd name="adj" fmla="val 18181"/>
            </a:avLst>
          </a:prstGeom>
          <a:solidFill>
            <a:srgbClr val="232B36"/>
          </a:solidFill>
          <a:ln>
            <a:noFill/>
          </a:ln>
        </p:spPr>
        <p:txBody>
          <a:bodyPr rtlCol="0" anchor="ctr" wrap="square" lIns="0" rIns="0" tIns="0" bIns="0">
            <a:noAutofit/>
          </a:bodyPr>
          <a:lstStyle/>
          <a:p>
            <a:pPr algn="ctr">
              <a:lnSpc>
                <a:spcPct val="100000"/>
              </a:lnSpc>
              <a:spcBef>
                <a:spcPts val="0"/>
              </a:spcBef>
              <a:spcAft>
                <a:spcPts val="0"/>
              </a:spcAft>
            </a:pPr>
            <a:r>
              <a:rPr sz="2200" b="1" i="0">
                <a:solidFill>
                  <a:srgbClr val="F4F6F8"/>
                </a:solidFill>
                <a:latin typeface="Arial"/>
              </a:rPr>
              <a:t>FORCE ↓</a:t>
            </a:r>
          </a:p>
        </p:txBody>
      </p:sp>
      <p:sp>
        <p:nvSpPr>
          <p:cNvPr id="36" name="Rounded Rectangle 35"/>
          <p:cNvSpPr/>
          <p:nvPr/>
        </p:nvSpPr>
        <p:spPr>
          <a:xfrm>
            <a:off x="3931920" y="3337560"/>
            <a:ext cx="7086600" cy="502920"/>
          </a:xfrm>
          <a:prstGeom prst="roundRect">
            <a:avLst>
              <a:gd name="adj" fmla="val 18181"/>
            </a:avLst>
          </a:prstGeom>
          <a:solidFill>
            <a:srgbClr val="232B36"/>
          </a:solidFill>
          <a:ln>
            <a:noFill/>
          </a:ln>
        </p:spPr>
        <p:txBody>
          <a:bodyPr rtlCol="0" anchor="ctr" wrap="square" lIns="0" rIns="0" tIns="0" bIns="0">
            <a:noAutofit/>
          </a:bodyPr>
          <a:lstStyle/>
          <a:p>
            <a:pPr algn="ctr">
              <a:lnSpc>
                <a:spcPct val="100000"/>
              </a:lnSpc>
              <a:spcBef>
                <a:spcPts val="0"/>
              </a:spcBef>
              <a:spcAft>
                <a:spcPts val="0"/>
              </a:spcAft>
            </a:pPr>
            <a:r>
              <a:rPr sz="2200" b="1" i="0">
                <a:solidFill>
                  <a:srgbClr val="F4F6F8"/>
                </a:solidFill>
                <a:latin typeface="Arial"/>
              </a:rPr>
              <a:t>INJURIES ↓</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Oval 1"/>
          <p:cNvSpPr/>
          <p:nvPr/>
        </p:nvSpPr>
        <p:spPr>
          <a:xfrm>
            <a:off x="5181600" y="2286000"/>
            <a:ext cx="1828800" cy="1828800"/>
          </a:xfrm>
          <a:prstGeom prst="ellipse">
            <a:avLst/>
          </a:prstGeom>
          <a:noFill/>
          <a:ln w="15875">
            <a:solidFill>
              <a:srgbClr val="323C4A"/>
            </a:solidFill>
          </a:ln>
        </p:spPr>
        <p:txBody>
          <a:bodyPr rtlCol="0" anchor="ctr"/>
          <a:lstStyle/>
          <a:p>
            <a:pPr algn="ctr"/>
          </a:p>
        </p:txBody>
      </p:sp>
      <p:sp>
        <p:nvSpPr>
          <p:cNvPr id="3" name="Oval 2"/>
          <p:cNvSpPr/>
          <p:nvPr/>
        </p:nvSpPr>
        <p:spPr>
          <a:xfrm>
            <a:off x="4450080" y="1554480"/>
            <a:ext cx="3291840" cy="3291840"/>
          </a:xfrm>
          <a:prstGeom prst="ellipse">
            <a:avLst/>
          </a:prstGeom>
          <a:noFill/>
          <a:ln w="15875">
            <a:solidFill>
              <a:srgbClr val="323C4A"/>
            </a:solidFill>
          </a:ln>
        </p:spPr>
        <p:txBody>
          <a:bodyPr rtlCol="0" anchor="ctr"/>
          <a:lstStyle/>
          <a:p>
            <a:pPr algn="ctr"/>
          </a:p>
        </p:txBody>
      </p:sp>
      <p:sp>
        <p:nvSpPr>
          <p:cNvPr id="4" name="Oval 3"/>
          <p:cNvSpPr/>
          <p:nvPr/>
        </p:nvSpPr>
        <p:spPr>
          <a:xfrm>
            <a:off x="3718560" y="822960"/>
            <a:ext cx="4754880" cy="4754880"/>
          </a:xfrm>
          <a:prstGeom prst="ellipse">
            <a:avLst/>
          </a:prstGeom>
          <a:noFill/>
          <a:ln w="15875">
            <a:solidFill>
              <a:srgbClr val="323C4A"/>
            </a:solidFill>
          </a:ln>
        </p:spPr>
        <p:txBody>
          <a:bodyPr rtlCol="0" anchor="ctr"/>
          <a:lstStyle/>
          <a:p>
            <a:pPr algn="ctr"/>
          </a:p>
        </p:txBody>
      </p:sp>
      <p:cxnSp>
        <p:nvCxnSpPr>
          <p:cNvPr id="5" name="Connector 4"/>
          <p:cNvCxnSpPr/>
          <p:nvPr/>
        </p:nvCxnSpPr>
        <p:spPr>
          <a:xfrm>
            <a:off x="3261360" y="3200400"/>
            <a:ext cx="5669280" cy="0"/>
          </a:xfrm>
          <a:prstGeom prst="line">
            <a:avLst/>
          </a:prstGeom>
          <a:ln w="12700">
            <a:solidFill>
              <a:srgbClr val="323C4A"/>
            </a:solidFill>
          </a:ln>
        </p:spPr>
      </p:cxnSp>
      <p:cxnSp>
        <p:nvCxnSpPr>
          <p:cNvPr id="6" name="Connector 5"/>
          <p:cNvCxnSpPr/>
          <p:nvPr/>
        </p:nvCxnSpPr>
        <p:spPr>
          <a:xfrm>
            <a:off x="6096000" y="548640"/>
            <a:ext cx="0" cy="5303520"/>
          </a:xfrm>
          <a:prstGeom prst="line">
            <a:avLst/>
          </a:prstGeom>
          <a:ln w="12700">
            <a:solidFill>
              <a:srgbClr val="323C4A"/>
            </a:solidFill>
          </a:ln>
        </p:spPr>
      </p:cxnSp>
      <p:sp>
        <p:nvSpPr>
          <p:cNvPr id="7" name="Freeform 6"/>
          <p:cNvSpPr/>
          <p:nvPr/>
        </p:nvSpPr>
        <p:spPr>
          <a:xfrm>
            <a:off x="5638800" y="2834640"/>
            <a:ext cx="914400" cy="731520"/>
          </a:xfrm>
          <a:custGeom>
            <a:avLst/>
            <a:gdLst/>
            <a:ahLst/>
            <a:cxnLst/>
            <a:rect l="l" t="t" r="r" b="b"/>
            <a:pathLst>
              <a:path w="914400" h="731520">
                <a:moveTo>
                  <a:pt x="0" y="411480"/>
                </a:moveTo>
                <a:lnTo>
                  <a:pt x="329184" y="731520"/>
                </a:lnTo>
                <a:lnTo>
                  <a:pt x="914400" y="0"/>
                </a:lnTo>
              </a:path>
            </a:pathLst>
          </a:custGeom>
          <a:noFill/>
          <a:ln w="101600" cap="rnd">
            <a:solidFill>
              <a:srgbClr val="34C77B"/>
            </a:solidFill>
            <a:round/>
          </a:ln>
        </p:spPr>
        <p:txBody>
          <a:bodyPr rtlCol="0" anchor="ctr"/>
          <a:lstStyle/>
          <a:p>
            <a:pPr algn="ctr"/>
          </a:p>
        </p:txBody>
      </p:sp>
      <p:sp>
        <p:nvSpPr>
          <p:cNvPr id="8" name="TextBox 7"/>
          <p:cNvSpPr txBox="1"/>
          <p:nvPr/>
        </p:nvSpPr>
        <p:spPr>
          <a:xfrm>
            <a:off x="685800" y="4572000"/>
            <a:ext cx="10817352" cy="457200"/>
          </a:xfrm>
          <a:prstGeom prst="rect">
            <a:avLst/>
          </a:prstGeom>
          <a:noFill/>
        </p:spPr>
        <p:txBody>
          <a:bodyPr wrap="square" anchor="t" lIns="0" rIns="0" tIns="0" bIns="0">
            <a:noAutofit/>
          </a:bodyPr>
          <a:lstStyle/>
          <a:p>
            <a:pPr algn="ctr">
              <a:lnSpc>
                <a:spcPct val="100000"/>
              </a:lnSpc>
              <a:spcBef>
                <a:spcPts val="0"/>
              </a:spcBef>
              <a:spcAft>
                <a:spcPts val="0"/>
              </a:spcAft>
            </a:pPr>
            <a:r>
              <a:rPr sz="2000" b="1" i="0" spc="300">
                <a:solidFill>
                  <a:srgbClr val="A9B3C0"/>
                </a:solidFill>
                <a:latin typeface="Arial Narrow"/>
              </a:rPr>
              <a:t>ENERGY LAB  ·  CRASH TEST #05</a:t>
            </a:r>
          </a:p>
        </p:txBody>
      </p:sp>
      <p:sp>
        <p:nvSpPr>
          <p:cNvPr id="9" name="TextBox 8"/>
          <p:cNvSpPr txBox="1"/>
          <p:nvPr/>
        </p:nvSpPr>
        <p:spPr>
          <a:xfrm>
            <a:off x="685800" y="5074920"/>
            <a:ext cx="10817352" cy="914400"/>
          </a:xfrm>
          <a:prstGeom prst="rect">
            <a:avLst/>
          </a:prstGeom>
          <a:noFill/>
        </p:spPr>
        <p:txBody>
          <a:bodyPr wrap="square" anchor="t" lIns="0" rIns="0" tIns="0" bIns="0">
            <a:noAutofit/>
          </a:bodyPr>
          <a:lstStyle/>
          <a:p>
            <a:pPr algn="ctr">
              <a:lnSpc>
                <a:spcPct val="100000"/>
              </a:lnSpc>
              <a:spcBef>
                <a:spcPts val="0"/>
              </a:spcBef>
              <a:spcAft>
                <a:spcPts val="0"/>
              </a:spcAft>
            </a:pPr>
            <a:r>
              <a:rPr sz="4600" b="0" i="0">
                <a:solidFill>
                  <a:srgbClr val="FFB400"/>
                </a:solidFill>
                <a:latin typeface="Arial Black"/>
              </a:rPr>
              <a:t>ENGINEERS CERTIFIED</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0E1116"/>
        </a:solidFill>
        <a:effectLst/>
      </p:bgPr>
    </p:bg>
    <p:spTree>
      <p:nvGrpSpPr>
        <p:cNvPr id="1" name=""/>
        <p:cNvGrpSpPr/>
        <p:nvPr/>
      </p:nvGrpSpPr>
      <p:grpSpPr/>
      <p:sp>
        <p:nvSpPr>
          <p:cNvPr id="2" name="Oval 1"/>
          <p:cNvSpPr/>
          <p:nvPr/>
        </p:nvSpPr>
        <p:spPr>
          <a:xfrm>
            <a:off x="5044440" y="1691640"/>
            <a:ext cx="2103120" cy="2103120"/>
          </a:xfrm>
          <a:prstGeom prst="ellipse">
            <a:avLst/>
          </a:prstGeom>
          <a:solidFill>
            <a:srgbClr val="F4F1E8"/>
          </a:solidFill>
          <a:ln w="43815">
            <a:solidFill>
              <a:srgbClr val="6F7A89"/>
            </a:solidFill>
          </a:ln>
        </p:spPr>
        <p:txBody>
          <a:bodyPr rtlCol="0" anchor="ctr"/>
          <a:lstStyle/>
          <a:p>
            <a:pPr algn="ctr"/>
          </a:p>
        </p:txBody>
      </p:sp>
      <p:sp>
        <p:nvSpPr>
          <p:cNvPr id="3" name="Freeform 2"/>
          <p:cNvSpPr/>
          <p:nvPr/>
        </p:nvSpPr>
        <p:spPr>
          <a:xfrm>
            <a:off x="5344697" y="2127987"/>
            <a:ext cx="193813" cy="1214998"/>
          </a:xfrm>
          <a:custGeom>
            <a:avLst/>
            <a:gdLst/>
            <a:ahLst/>
            <a:cxnLst/>
            <a:rect l="l" t="t" r="r" b="b"/>
            <a:pathLst>
              <a:path w="193813" h="1214998">
                <a:moveTo>
                  <a:pt x="0" y="0"/>
                </a:moveTo>
                <a:lnTo>
                  <a:pt x="30994" y="46826"/>
                </a:lnTo>
                <a:lnTo>
                  <a:pt x="59494" y="95210"/>
                </a:lnTo>
                <a:lnTo>
                  <a:pt x="85424" y="145020"/>
                </a:lnTo>
                <a:lnTo>
                  <a:pt x="108710" y="196118"/>
                </a:lnTo>
                <a:lnTo>
                  <a:pt x="129291" y="248365"/>
                </a:lnTo>
                <a:lnTo>
                  <a:pt x="147109" y="301618"/>
                </a:lnTo>
                <a:lnTo>
                  <a:pt x="162116" y="355730"/>
                </a:lnTo>
                <a:lnTo>
                  <a:pt x="174270" y="410553"/>
                </a:lnTo>
                <a:lnTo>
                  <a:pt x="183538" y="465937"/>
                </a:lnTo>
                <a:lnTo>
                  <a:pt x="189895" y="521731"/>
                </a:lnTo>
                <a:lnTo>
                  <a:pt x="193323" y="577780"/>
                </a:lnTo>
                <a:lnTo>
                  <a:pt x="193813" y="633932"/>
                </a:lnTo>
                <a:lnTo>
                  <a:pt x="191363" y="690033"/>
                </a:lnTo>
                <a:lnTo>
                  <a:pt x="185981" y="745929"/>
                </a:lnTo>
                <a:lnTo>
                  <a:pt x="177681" y="801467"/>
                </a:lnTo>
                <a:lnTo>
                  <a:pt x="166486" y="856494"/>
                </a:lnTo>
                <a:lnTo>
                  <a:pt x="152426" y="910859"/>
                </a:lnTo>
                <a:lnTo>
                  <a:pt x="135540" y="964415"/>
                </a:lnTo>
                <a:lnTo>
                  <a:pt x="115874" y="1017013"/>
                </a:lnTo>
                <a:lnTo>
                  <a:pt x="93483" y="1068510"/>
                </a:lnTo>
                <a:lnTo>
                  <a:pt x="68427" y="1118764"/>
                </a:lnTo>
                <a:lnTo>
                  <a:pt x="40775" y="1167638"/>
                </a:lnTo>
                <a:lnTo>
                  <a:pt x="10603" y="1214998"/>
                </a:lnTo>
              </a:path>
            </a:pathLst>
          </a:custGeom>
          <a:noFill/>
          <a:ln w="46736" cap="rnd">
            <a:solidFill>
              <a:srgbClr val="F0525A"/>
            </a:solidFill>
            <a:round/>
          </a:ln>
        </p:spPr>
        <p:txBody>
          <a:bodyPr rtlCol="0" anchor="ctr"/>
          <a:lstStyle/>
          <a:p>
            <a:pPr algn="ctr"/>
          </a:p>
        </p:txBody>
      </p:sp>
      <p:sp>
        <p:nvSpPr>
          <p:cNvPr id="4" name="Freeform 3"/>
          <p:cNvSpPr/>
          <p:nvPr/>
        </p:nvSpPr>
        <p:spPr>
          <a:xfrm>
            <a:off x="6653490" y="2127987"/>
            <a:ext cx="193813" cy="1214998"/>
          </a:xfrm>
          <a:custGeom>
            <a:avLst/>
            <a:gdLst/>
            <a:ahLst/>
            <a:cxnLst/>
            <a:rect l="l" t="t" r="r" b="b"/>
            <a:pathLst>
              <a:path w="193813" h="1214998">
                <a:moveTo>
                  <a:pt x="193813" y="0"/>
                </a:moveTo>
                <a:lnTo>
                  <a:pt x="162819" y="46826"/>
                </a:lnTo>
                <a:lnTo>
                  <a:pt x="134319" y="95210"/>
                </a:lnTo>
                <a:lnTo>
                  <a:pt x="108389" y="145020"/>
                </a:lnTo>
                <a:lnTo>
                  <a:pt x="85103" y="196118"/>
                </a:lnTo>
                <a:lnTo>
                  <a:pt x="64522" y="248365"/>
                </a:lnTo>
                <a:lnTo>
                  <a:pt x="46704" y="301618"/>
                </a:lnTo>
                <a:lnTo>
                  <a:pt x="31697" y="355730"/>
                </a:lnTo>
                <a:lnTo>
                  <a:pt x="19543" y="410553"/>
                </a:lnTo>
                <a:lnTo>
                  <a:pt x="10275" y="465937"/>
                </a:lnTo>
                <a:lnTo>
                  <a:pt x="3918" y="521731"/>
                </a:lnTo>
                <a:lnTo>
                  <a:pt x="490" y="577780"/>
                </a:lnTo>
                <a:lnTo>
                  <a:pt x="0" y="633932"/>
                </a:lnTo>
                <a:lnTo>
                  <a:pt x="2450" y="690033"/>
                </a:lnTo>
                <a:lnTo>
                  <a:pt x="7832" y="745929"/>
                </a:lnTo>
                <a:lnTo>
                  <a:pt x="16132" y="801467"/>
                </a:lnTo>
                <a:lnTo>
                  <a:pt x="27327" y="856494"/>
                </a:lnTo>
                <a:lnTo>
                  <a:pt x="41387" y="910859"/>
                </a:lnTo>
                <a:lnTo>
                  <a:pt x="58273" y="964415"/>
                </a:lnTo>
                <a:lnTo>
                  <a:pt x="77939" y="1017013"/>
                </a:lnTo>
                <a:lnTo>
                  <a:pt x="100330" y="1068510"/>
                </a:lnTo>
                <a:lnTo>
                  <a:pt x="125386" y="1118764"/>
                </a:lnTo>
                <a:lnTo>
                  <a:pt x="153038" y="1167638"/>
                </a:lnTo>
                <a:lnTo>
                  <a:pt x="183210" y="1214998"/>
                </a:lnTo>
              </a:path>
            </a:pathLst>
          </a:custGeom>
          <a:noFill/>
          <a:ln w="46736" cap="rnd">
            <a:solidFill>
              <a:srgbClr val="F0525A"/>
            </a:solidFill>
            <a:round/>
          </a:ln>
        </p:spPr>
        <p:txBody>
          <a:bodyPr rtlCol="0" anchor="ctr"/>
          <a:lstStyle/>
          <a:p>
            <a:pPr algn="ctr"/>
          </a:p>
        </p:txBody>
      </p:sp>
      <p:sp>
        <p:nvSpPr>
          <p:cNvPr id="5" name="TextBox 4"/>
          <p:cNvSpPr txBox="1"/>
          <p:nvPr/>
        </p:nvSpPr>
        <p:spPr>
          <a:xfrm>
            <a:off x="685800" y="4206240"/>
            <a:ext cx="10817352" cy="1463040"/>
          </a:xfrm>
          <a:prstGeom prst="rect">
            <a:avLst/>
          </a:prstGeom>
          <a:noFill/>
        </p:spPr>
        <p:txBody>
          <a:bodyPr wrap="square" anchor="t" lIns="0" rIns="0" tIns="0" bIns="0">
            <a:noAutofit/>
          </a:bodyPr>
          <a:lstStyle/>
          <a:p>
            <a:pPr algn="ctr">
              <a:lnSpc>
                <a:spcPct val="105000"/>
              </a:lnSpc>
              <a:spcBef>
                <a:spcPts val="0"/>
              </a:spcBef>
              <a:spcAft>
                <a:spcPts val="0"/>
              </a:spcAft>
            </a:pPr>
            <a:r>
              <a:rPr sz="4600" b="0" i="0">
                <a:solidFill>
                  <a:srgbClr val="F4F6F8"/>
                </a:solidFill>
                <a:latin typeface="Arial Black"/>
              </a:rPr>
              <a:t>THANK YOU,</a:t>
            </a:r>
          </a:p>
          <a:p>
            <a:pPr algn="ctr">
              <a:lnSpc>
                <a:spcPct val="105000"/>
              </a:lnSpc>
              <a:spcBef>
                <a:spcPts val="0"/>
              </a:spcBef>
              <a:spcAft>
                <a:spcPts val="0"/>
              </a:spcAft>
            </a:pPr>
            <a:r>
              <a:rPr sz="4600" b="0" i="0">
                <a:solidFill>
                  <a:srgbClr val="F4F6F8"/>
                </a:solidFill>
                <a:latin typeface="Arial Black"/>
              </a:rPr>
              <a:t>ENGINEERS.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ENERGY LAB — CRASH TEST #05 (English for Engineering, Unit 5: Energy)</dc:title>
  <dc:subject>Career Paths: Engineering, Unit 5 — Energy, pp. 12–13</dc:subject>
  <dc:creator>Energy Lab presentation team</dc:creator>
  <cp:keywords>energy, potential energy, kinetic energy, stopping distance, seatbelt</cp:keywords>
  <dc:description>105-minute interactive lesson for ~90 first-year engineering students.</dc:description>
  <cp:lastModifiedBy>Steve Canny</cp:lastModifiedBy>
  <cp:revision>1</cp:revision>
  <dcterms:created xsi:type="dcterms:W3CDTF">2013-01-27T09:14:16Z</dcterms:created>
  <dcterms:modified xsi:type="dcterms:W3CDTF">2013-01-27T09:15:58Z</dcterms:modified>
  <cp:category/>
</cp:coreProperties>
</file>